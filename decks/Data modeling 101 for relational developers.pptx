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840" r:id="rId5"/>
    <p:sldMasterId id="2147484872" r:id="rId6"/>
  </p:sldMasterIdLst>
  <p:notesMasterIdLst>
    <p:notesMasterId r:id="rId83"/>
  </p:notesMasterIdLst>
  <p:handoutMasterIdLst>
    <p:handoutMasterId r:id="rId84"/>
  </p:handoutMasterIdLst>
  <p:sldIdLst>
    <p:sldId id="2042" r:id="rId7"/>
    <p:sldId id="2049" r:id="rId8"/>
    <p:sldId id="2100" r:id="rId9"/>
    <p:sldId id="2099" r:id="rId10"/>
    <p:sldId id="2098" r:id="rId11"/>
    <p:sldId id="2044" r:id="rId12"/>
    <p:sldId id="2045" r:id="rId13"/>
    <p:sldId id="2047" r:id="rId14"/>
    <p:sldId id="2053" r:id="rId15"/>
    <p:sldId id="2054" r:id="rId16"/>
    <p:sldId id="2055" r:id="rId17"/>
    <p:sldId id="2056" r:id="rId18"/>
    <p:sldId id="2057" r:id="rId19"/>
    <p:sldId id="2058" r:id="rId20"/>
    <p:sldId id="2059" r:id="rId21"/>
    <p:sldId id="2063" r:id="rId22"/>
    <p:sldId id="2066" r:id="rId23"/>
    <p:sldId id="2067" r:id="rId24"/>
    <p:sldId id="2068" r:id="rId25"/>
    <p:sldId id="2069" r:id="rId26"/>
    <p:sldId id="2070" r:id="rId27"/>
    <p:sldId id="2089" r:id="rId28"/>
    <p:sldId id="2071" r:id="rId29"/>
    <p:sldId id="2072" r:id="rId30"/>
    <p:sldId id="2061" r:id="rId31"/>
    <p:sldId id="2073" r:id="rId32"/>
    <p:sldId id="2074" r:id="rId33"/>
    <p:sldId id="2075" r:id="rId34"/>
    <p:sldId id="2060" r:id="rId35"/>
    <p:sldId id="2064" r:id="rId36"/>
    <p:sldId id="2076" r:id="rId37"/>
    <p:sldId id="2077" r:id="rId38"/>
    <p:sldId id="2078" r:id="rId39"/>
    <p:sldId id="2079" r:id="rId40"/>
    <p:sldId id="2080" r:id="rId41"/>
    <p:sldId id="2082" r:id="rId42"/>
    <p:sldId id="2083" r:id="rId43"/>
    <p:sldId id="2081" r:id="rId44"/>
    <p:sldId id="2084" r:id="rId45"/>
    <p:sldId id="2085" r:id="rId46"/>
    <p:sldId id="2086" r:id="rId47"/>
    <p:sldId id="2087" r:id="rId48"/>
    <p:sldId id="2088" r:id="rId49"/>
    <p:sldId id="2090" r:id="rId50"/>
    <p:sldId id="2091" r:id="rId51"/>
    <p:sldId id="2093" r:id="rId52"/>
    <p:sldId id="2092" r:id="rId53"/>
    <p:sldId id="2095" r:id="rId54"/>
    <p:sldId id="2096" r:id="rId55"/>
    <p:sldId id="2097" r:id="rId56"/>
    <p:sldId id="2101" r:id="rId57"/>
    <p:sldId id="2102" r:id="rId58"/>
    <p:sldId id="2103" r:id="rId59"/>
    <p:sldId id="2104" r:id="rId60"/>
    <p:sldId id="2105" r:id="rId61"/>
    <p:sldId id="2106" r:id="rId62"/>
    <p:sldId id="2107" r:id="rId63"/>
    <p:sldId id="2108" r:id="rId64"/>
    <p:sldId id="2110" r:id="rId65"/>
    <p:sldId id="2111" r:id="rId66"/>
    <p:sldId id="2109" r:id="rId67"/>
    <p:sldId id="2112" r:id="rId68"/>
    <p:sldId id="2113" r:id="rId69"/>
    <p:sldId id="2114" r:id="rId70"/>
    <p:sldId id="2115" r:id="rId71"/>
    <p:sldId id="2116" r:id="rId72"/>
    <p:sldId id="2117" r:id="rId73"/>
    <p:sldId id="2118" r:id="rId74"/>
    <p:sldId id="2119" r:id="rId75"/>
    <p:sldId id="2120" r:id="rId76"/>
    <p:sldId id="2121" r:id="rId77"/>
    <p:sldId id="2122" r:id="rId78"/>
    <p:sldId id="2094" r:id="rId79"/>
    <p:sldId id="2123" r:id="rId80"/>
    <p:sldId id="2124" r:id="rId81"/>
    <p:sldId id="2125" r:id="rId8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id="{38B656EC-D568-4EF7-8842-9FA1AE1192C9}">
          <p14:sldIdLst>
            <p14:sldId id="2042"/>
            <p14:sldId id="2049"/>
            <p14:sldId id="2100"/>
            <p14:sldId id="2099"/>
            <p14:sldId id="2098"/>
            <p14:sldId id="2044"/>
            <p14:sldId id="2045"/>
            <p14:sldId id="2047"/>
            <p14:sldId id="2053"/>
            <p14:sldId id="2054"/>
            <p14:sldId id="2055"/>
            <p14:sldId id="2056"/>
            <p14:sldId id="2057"/>
            <p14:sldId id="2058"/>
            <p14:sldId id="2059"/>
            <p14:sldId id="2063"/>
            <p14:sldId id="2066"/>
            <p14:sldId id="2067"/>
            <p14:sldId id="2068"/>
            <p14:sldId id="2069"/>
            <p14:sldId id="2070"/>
            <p14:sldId id="2089"/>
            <p14:sldId id="2071"/>
            <p14:sldId id="2072"/>
            <p14:sldId id="2061"/>
            <p14:sldId id="2073"/>
            <p14:sldId id="2074"/>
            <p14:sldId id="2075"/>
            <p14:sldId id="2060"/>
            <p14:sldId id="2064"/>
            <p14:sldId id="2076"/>
            <p14:sldId id="2077"/>
            <p14:sldId id="2078"/>
            <p14:sldId id="2079"/>
            <p14:sldId id="2080"/>
            <p14:sldId id="2082"/>
            <p14:sldId id="2083"/>
            <p14:sldId id="2081"/>
            <p14:sldId id="2084"/>
            <p14:sldId id="2085"/>
            <p14:sldId id="2086"/>
            <p14:sldId id="2087"/>
            <p14:sldId id="2088"/>
            <p14:sldId id="2090"/>
            <p14:sldId id="2091"/>
            <p14:sldId id="2093"/>
            <p14:sldId id="2092"/>
            <p14:sldId id="2095"/>
            <p14:sldId id="2096"/>
            <p14:sldId id="2097"/>
            <p14:sldId id="2101"/>
            <p14:sldId id="2102"/>
            <p14:sldId id="2103"/>
            <p14:sldId id="2104"/>
            <p14:sldId id="2105"/>
            <p14:sldId id="2106"/>
            <p14:sldId id="2107"/>
            <p14:sldId id="2108"/>
            <p14:sldId id="2110"/>
            <p14:sldId id="2111"/>
            <p14:sldId id="2109"/>
            <p14:sldId id="2112"/>
            <p14:sldId id="2113"/>
            <p14:sldId id="2114"/>
            <p14:sldId id="2115"/>
            <p14:sldId id="2116"/>
            <p14:sldId id="2117"/>
            <p14:sldId id="2118"/>
            <p14:sldId id="2119"/>
            <p14:sldId id="2120"/>
            <p14:sldId id="2121"/>
            <p14:sldId id="2122"/>
            <p14:sldId id="2094"/>
            <p14:sldId id="2123"/>
            <p14:sldId id="2124"/>
            <p14:sldId id="212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D83B01"/>
    <a:srgbClr val="50E6FF"/>
    <a:srgbClr val="FEF000"/>
    <a:srgbClr val="3B2E58"/>
    <a:srgbClr val="243A5E"/>
    <a:srgbClr val="274B47"/>
    <a:srgbClr val="2F2F2F"/>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228" autoAdjust="0"/>
    <p:restoredTop sz="66459" autoAdjust="0"/>
  </p:normalViewPr>
  <p:slideViewPr>
    <p:cSldViewPr snapToGrid="0">
      <p:cViewPr varScale="1">
        <p:scale>
          <a:sx n="86" d="100"/>
          <a:sy n="86" d="100"/>
        </p:scale>
        <p:origin x="60" y="300"/>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0"/>
    </p:cViewPr>
  </p:sorterViewPr>
  <p:notesViewPr>
    <p:cSldViewPr snapToGrid="0" showGuides="1">
      <p:cViewPr varScale="1">
        <p:scale>
          <a:sx n="113" d="100"/>
          <a:sy n="113" d="100"/>
        </p:scale>
        <p:origin x="531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viewProps" Target="viewProp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12/9/2025 5:34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12/9/2025 5:34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session is only 45-minute-long so we'll only take questions at the end.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240633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working with Azure Cosmos DB – and unless your workload is very trivial (low amount of data stored and low throughput requirements) – your data will likely be </a:t>
            </a:r>
            <a:r>
              <a:rPr lang="en-US" b="1" dirty="0"/>
              <a:t>stored on a number of different physical servers</a:t>
            </a:r>
            <a:r>
              <a:rPr lang="en-US" dirty="0"/>
              <a:t>. This is something that's </a:t>
            </a:r>
            <a:r>
              <a:rPr lang="en-US" b="1" dirty="0"/>
              <a:t>abstracted by our concept of "containers"</a:t>
            </a:r>
            <a:r>
              <a:rPr lang="en-US" dirty="0"/>
              <a:t>, but under the hood you're usually </a:t>
            </a:r>
            <a:r>
              <a:rPr lang="en-US" b="1" dirty="0"/>
              <a:t>dealing with a cluster of servers</a:t>
            </a:r>
            <a:r>
              <a:rPr lang="en-US" dirty="0"/>
              <a:t>.</a:t>
            </a:r>
          </a:p>
          <a:p>
            <a:endParaRPr lang="en-US" dirty="0"/>
          </a:p>
          <a:p>
            <a:r>
              <a:rPr lang="en-US" dirty="0"/>
              <a:t>And that's how we achieve horizontal scalability, by enabling:</a:t>
            </a:r>
          </a:p>
          <a:p>
            <a:pPr marL="171450" indent="-171450">
              <a:buFontTx/>
              <a:buChar char="-"/>
            </a:pPr>
            <a:r>
              <a:rPr lang="en-US" dirty="0"/>
              <a:t>Unlimited storage (when you need more storage, we add more servers to your cluster)</a:t>
            </a:r>
          </a:p>
          <a:p>
            <a:pPr marL="171450" indent="-171450">
              <a:buFontTx/>
              <a:buChar char="-"/>
            </a:pPr>
            <a:r>
              <a:rPr lang="en-US" dirty="0"/>
              <a:t>Unlimited throughput (when you need more throughput, same happens)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15796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working with relational databases, you have the ability to define relational constraints between the different entities you're storing. This lets you define things like foreign keys between entity types and perform JOIN operations across these entity types.</a:t>
            </a:r>
          </a:p>
          <a:p>
            <a:endParaRPr lang="en-US" dirty="0"/>
          </a:p>
          <a:p>
            <a:r>
              <a:rPr lang="en-US" dirty="0"/>
              <a:t>Non-relational databases like Cosmos DB don't implement these relational constraints. Why?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492637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explained, Azure Cosmos DB is a </a:t>
            </a:r>
            <a:r>
              <a:rPr lang="en-US" b="1" dirty="0"/>
              <a:t>non-relational, horizontally scalable</a:t>
            </a:r>
            <a:r>
              <a:rPr lang="en-US" dirty="0"/>
              <a:t> database.</a:t>
            </a:r>
            <a:br>
              <a:rPr lang="en-US" dirty="0"/>
            </a:br>
            <a:r>
              <a:rPr lang="en-US" dirty="0"/>
              <a:t>That means your data isn’t stored on a single machine—instead, it is automatically </a:t>
            </a:r>
            <a:r>
              <a:rPr lang="en-US" b="1" dirty="0"/>
              <a:t>distributed across many servers</a:t>
            </a:r>
            <a:r>
              <a:rPr lang="en-US" dirty="0"/>
              <a:t>, which can scale from tens to hundreds or even thousands depending on your storage and throughput needs.</a:t>
            </a:r>
          </a:p>
          <a:p>
            <a:r>
              <a:rPr lang="en-US" dirty="0"/>
              <a:t>Because the data is distributed, Cosmos DB is optimized for </a:t>
            </a:r>
            <a:r>
              <a:rPr lang="en-US" b="1" dirty="0"/>
              <a:t>fast, predictable performance</a:t>
            </a:r>
            <a:r>
              <a:rPr lang="en-US" dirty="0"/>
              <a:t> and </a:t>
            </a:r>
            <a:r>
              <a:rPr lang="en-US" b="1" dirty="0"/>
              <a:t>high availability</a:t>
            </a:r>
            <a:r>
              <a:rPr lang="en-US" dirty="0"/>
              <a:t>. However, this also means Cosmos DB does </a:t>
            </a:r>
            <a:r>
              <a:rPr lang="en-US" b="1" dirty="0"/>
              <a:t>not</a:t>
            </a:r>
            <a:r>
              <a:rPr lang="en-US" dirty="0"/>
              <a:t> support traditional relational database features like foreign keys or joins that enforce constraints across multiple tables. Doing so across many servers would create performance bottlenecks and reduce availability—both of which contradict Cosmos DB’s design and SLA commitments.</a:t>
            </a:r>
          </a:p>
          <a:p>
            <a:r>
              <a:rPr lang="en-US" dirty="0"/>
              <a:t>So, for predictable, low-latency performance at global scale, Cosmos DB </a:t>
            </a:r>
            <a:r>
              <a:rPr lang="en-US" b="1" dirty="0"/>
              <a:t>doesn’t expose mechanisms for enforcing relational constraints</a:t>
            </a:r>
            <a:r>
              <a:rPr lang="en-US" dirty="0"/>
              <a:t>. Instead, applications model relationships differently—often embedding data or using denormalized document structures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196279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dirty="0"/>
              <a:t>1️⃣ “It sure is! Most workloads are actually relational”</a:t>
            </a:r>
          </a:p>
          <a:p>
            <a:r>
              <a:rPr lang="en-US" sz="900" dirty="0"/>
              <a:t>Cosmos DB </a:t>
            </a:r>
            <a:r>
              <a:rPr lang="en-US" sz="900" i="1" dirty="0"/>
              <a:t>can</a:t>
            </a:r>
            <a:r>
              <a:rPr lang="en-US" sz="900" dirty="0"/>
              <a:t> support relational-style scenarios (entities related to each other), such as:</a:t>
            </a:r>
          </a:p>
          <a:p>
            <a:r>
              <a:rPr lang="en-US" sz="900" dirty="0"/>
              <a:t>- Orders and Customers</a:t>
            </a:r>
          </a:p>
          <a:p>
            <a:r>
              <a:rPr lang="en-US" sz="900" dirty="0"/>
              <a:t>- Users and Devices</a:t>
            </a:r>
          </a:p>
          <a:p>
            <a:r>
              <a:rPr lang="en-US" sz="900" dirty="0"/>
              <a:t>- Products and Categories</a:t>
            </a:r>
          </a:p>
          <a:p>
            <a:r>
              <a:rPr lang="en-US" sz="900" dirty="0"/>
              <a:t>Most applications naturally contain relationships between data items, even if they don't live in a relational database.</a:t>
            </a:r>
          </a:p>
          <a:p>
            <a:r>
              <a:rPr lang="en-US" sz="900" b="1" dirty="0"/>
              <a:t>Cosmos DB can model these relationships — but not with JOINs or foreign keys like SQL Server.</a:t>
            </a:r>
          </a:p>
          <a:p>
            <a:endParaRPr lang="en-US" sz="900" b="1" dirty="0"/>
          </a:p>
          <a:p>
            <a:r>
              <a:rPr lang="en-US" sz="900" b="1" dirty="0"/>
              <a:t>2️⃣ “Need to use different techniques to implement relations between entities”</a:t>
            </a:r>
          </a:p>
          <a:p>
            <a:r>
              <a:rPr lang="en-US" sz="900" dirty="0"/>
              <a:t>Since Cosmos DB does not enforce relational constraints:</a:t>
            </a:r>
          </a:p>
          <a:p>
            <a:r>
              <a:rPr lang="en-US" sz="900" dirty="0"/>
              <a:t>❌ No foreign keys</a:t>
            </a:r>
          </a:p>
          <a:p>
            <a:r>
              <a:rPr lang="en-US" sz="900" dirty="0"/>
              <a:t>❌ No cascading deletes</a:t>
            </a:r>
          </a:p>
          <a:p>
            <a:r>
              <a:rPr lang="en-US" sz="900" dirty="0"/>
              <a:t>❌ Cross-partition JOINs are expensive</a:t>
            </a:r>
          </a:p>
          <a:p>
            <a:r>
              <a:rPr lang="en-US" sz="900" dirty="0"/>
              <a:t>You must use </a:t>
            </a:r>
            <a:r>
              <a:rPr lang="en-US" sz="900" b="1" dirty="0"/>
              <a:t>NoSQL modeling patterns</a:t>
            </a:r>
            <a:r>
              <a:rPr lang="en-US" sz="900" dirty="0"/>
              <a:t>, such as:</a:t>
            </a:r>
          </a:p>
          <a:p>
            <a:r>
              <a:rPr lang="en-US" sz="900" b="1" dirty="0"/>
              <a:t>Embedding</a:t>
            </a:r>
            <a:r>
              <a:rPr lang="en-US" sz="900" dirty="0"/>
              <a:t> (</a:t>
            </a:r>
            <a:r>
              <a:rPr lang="en-US" sz="900" dirty="0" err="1"/>
              <a:t>denormalizing</a:t>
            </a:r>
            <a:r>
              <a:rPr lang="en-US" sz="900" dirty="0"/>
              <a:t> into one document)</a:t>
            </a:r>
          </a:p>
          <a:p>
            <a:r>
              <a:rPr lang="en-US" sz="900" b="1" dirty="0"/>
              <a:t>Referencing</a:t>
            </a:r>
            <a:r>
              <a:rPr lang="en-US" sz="900" dirty="0"/>
              <a:t> (storing IDs and fetching separately)</a:t>
            </a:r>
          </a:p>
          <a:p>
            <a:r>
              <a:rPr lang="en-US" sz="900" b="1" dirty="0"/>
              <a:t>Materialized views</a:t>
            </a:r>
            <a:endParaRPr lang="en-US" sz="900" dirty="0"/>
          </a:p>
          <a:p>
            <a:r>
              <a:rPr lang="en-US" sz="900" b="1" dirty="0"/>
              <a:t>Hierarchies and aggregates</a:t>
            </a:r>
            <a:endParaRPr lang="en-US" sz="900" dirty="0"/>
          </a:p>
          <a:p>
            <a:r>
              <a:rPr lang="en-US" sz="900" dirty="0"/>
              <a:t>Cosmos DB relational modeling is </a:t>
            </a:r>
            <a:r>
              <a:rPr lang="en-US" sz="900" i="1" dirty="0"/>
              <a:t>application driven</a:t>
            </a:r>
            <a:r>
              <a:rPr lang="en-US" sz="900" dirty="0"/>
              <a:t>, not schema driven.</a:t>
            </a:r>
          </a:p>
          <a:p>
            <a:endParaRPr lang="en-US" sz="900" dirty="0"/>
          </a:p>
          <a:p>
            <a:r>
              <a:rPr lang="en-US" sz="900" b="1" dirty="0"/>
              <a:t>3️⃣ “Approach is very different from designing a data model for relational databases”</a:t>
            </a:r>
          </a:p>
          <a:p>
            <a:r>
              <a:rPr lang="en-US" sz="900" dirty="0"/>
              <a:t>What works in SQL Server </a:t>
            </a:r>
            <a:r>
              <a:rPr lang="en-US" sz="900" b="1" dirty="0"/>
              <a:t>can be an anti-pattern in Cosmos DB</a:t>
            </a:r>
            <a:r>
              <a:rPr lang="en-US" sz="900" dirty="0"/>
              <a:t>.</a:t>
            </a:r>
          </a:p>
          <a:p>
            <a:r>
              <a:rPr lang="en-US" sz="900" dirty="0"/>
              <a:t>Examples:</a:t>
            </a:r>
          </a:p>
          <a:p>
            <a:r>
              <a:rPr lang="en-US" sz="900" b="1" dirty="0"/>
              <a:t>❌ SQL intuition</a:t>
            </a:r>
          </a:p>
          <a:p>
            <a:r>
              <a:rPr lang="en-US" sz="900" dirty="0"/>
              <a:t>Normalize everything → many tables → rely on JOINs</a:t>
            </a:r>
          </a:p>
          <a:p>
            <a:r>
              <a:rPr lang="en-US" sz="900" b="1" dirty="0"/>
              <a:t>❌ What happens in Cosmos</a:t>
            </a:r>
          </a:p>
          <a:p>
            <a:r>
              <a:rPr lang="en-US" sz="900" dirty="0"/>
              <a:t>Too many round trips</a:t>
            </a:r>
            <a:br>
              <a:rPr lang="en-US" sz="900" dirty="0"/>
            </a:br>
            <a:r>
              <a:rPr lang="en-US" sz="900" dirty="0"/>
              <a:t>Too many cross-partition queries</a:t>
            </a:r>
            <a:br>
              <a:rPr lang="en-US" sz="900" dirty="0"/>
            </a:br>
            <a:r>
              <a:rPr lang="en-US" sz="900" dirty="0"/>
              <a:t>High RU cost</a:t>
            </a:r>
          </a:p>
          <a:p>
            <a:r>
              <a:rPr lang="en-US" sz="900" b="1" dirty="0"/>
              <a:t>✔ NoSQL intuition</a:t>
            </a:r>
          </a:p>
          <a:p>
            <a:r>
              <a:rPr lang="en-US" sz="900" dirty="0" err="1"/>
              <a:t>Denormalize</a:t>
            </a:r>
            <a:r>
              <a:rPr lang="en-US" sz="900" dirty="0"/>
              <a:t> where needed</a:t>
            </a:r>
            <a:br>
              <a:rPr lang="en-US" sz="900" dirty="0"/>
            </a:br>
            <a:r>
              <a:rPr lang="en-US" sz="900" dirty="0"/>
              <a:t>Optimize for </a:t>
            </a:r>
            <a:r>
              <a:rPr lang="en-US" sz="900" i="1" dirty="0"/>
              <a:t>how your app queries the data</a:t>
            </a:r>
            <a:br>
              <a:rPr lang="en-US" sz="900" dirty="0"/>
            </a:br>
            <a:r>
              <a:rPr lang="en-US" sz="900" dirty="0"/>
              <a:t>Design for </a:t>
            </a:r>
            <a:r>
              <a:rPr lang="en-US" sz="900" i="1" dirty="0"/>
              <a:t>one-to-few</a:t>
            </a:r>
            <a:r>
              <a:rPr lang="en-US" sz="900" dirty="0"/>
              <a:t> or </a:t>
            </a:r>
            <a:r>
              <a:rPr lang="en-US" sz="900" i="1" dirty="0"/>
              <a:t>one-to-many</a:t>
            </a:r>
            <a:r>
              <a:rPr lang="en-US" sz="900" dirty="0"/>
              <a:t> patterns</a:t>
            </a:r>
          </a:p>
          <a:p>
            <a:r>
              <a:rPr lang="en-US" sz="900" dirty="0"/>
              <a:t>This is why Cosmos DB data modeling requires </a:t>
            </a:r>
            <a:r>
              <a:rPr lang="en-US" sz="900" b="1" dirty="0"/>
              <a:t>rethinking the shape of data</a:t>
            </a:r>
            <a:r>
              <a:rPr lang="en-US" sz="900" dirty="0"/>
              <a:t>.</a:t>
            </a:r>
          </a:p>
          <a:p>
            <a:endParaRPr lang="en-US" sz="900" dirty="0"/>
          </a:p>
          <a:p>
            <a:endParaRPr lang="en-US" sz="900" dirty="0"/>
          </a:p>
          <a:p>
            <a:endParaRPr lang="en-US" sz="90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5:48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736618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 concrete example that almost everyone recognizes — an e-commerce workload.</a:t>
            </a:r>
          </a:p>
          <a:p>
            <a:r>
              <a:rPr lang="en-US" dirty="0"/>
              <a:t>We typically have three main groups of data:</a:t>
            </a:r>
          </a:p>
          <a:p>
            <a:r>
              <a:rPr lang="en-US" dirty="0"/>
              <a:t>Customers</a:t>
            </a:r>
          </a:p>
          <a:p>
            <a:r>
              <a:rPr lang="en-US" dirty="0"/>
              <a:t>Products, along with categories and tags</a:t>
            </a:r>
          </a:p>
          <a:p>
            <a:r>
              <a:rPr lang="en-US" dirty="0"/>
              <a:t>Sales orders</a:t>
            </a:r>
          </a:p>
          <a:p>
            <a:r>
              <a:rPr lang="en-US" dirty="0"/>
              <a:t>On the right side, I’m showing the </a:t>
            </a:r>
            <a:r>
              <a:rPr lang="en-US" i="1" dirty="0"/>
              <a:t>relational</a:t>
            </a:r>
            <a:r>
              <a:rPr lang="en-US" dirty="0"/>
              <a:t> entity diagram — what we would normally design if we were using a SQL database like SQL Server.</a:t>
            </a:r>
          </a:p>
          <a:p>
            <a:r>
              <a:rPr lang="en-US" dirty="0"/>
              <a:t>If we were working with a relational system, this ER diagram would actually be enough to start designing our database schema. The relationships between tables — Customer to Addresses, Products to Categories, </a:t>
            </a:r>
            <a:r>
              <a:rPr lang="en-US" dirty="0" err="1"/>
              <a:t>SalesOrder</a:t>
            </a:r>
            <a:r>
              <a:rPr lang="en-US" dirty="0"/>
              <a:t> to </a:t>
            </a:r>
            <a:r>
              <a:rPr lang="en-US" dirty="0" err="1"/>
              <a:t>SalesOrderDetails</a:t>
            </a:r>
            <a:r>
              <a:rPr lang="en-US" dirty="0"/>
              <a:t> — give us a clear picture of how the data fits together.</a:t>
            </a:r>
          </a:p>
          <a:p>
            <a:r>
              <a:rPr lang="en-US" dirty="0"/>
              <a:t>However, when we switch to Cosmos DB, this diagram is still useful — but only for understanding the </a:t>
            </a:r>
            <a:r>
              <a:rPr lang="en-US" i="1" dirty="0"/>
              <a:t>logical relationships</a:t>
            </a:r>
            <a:r>
              <a:rPr lang="en-US" dirty="0"/>
              <a:t> between entities. Cosmos DB is a non-relational, document database, so we cannot rely on JOINs, constraints, or foreign key enforcement the same way we do in SQL.</a:t>
            </a:r>
          </a:p>
          <a:p>
            <a:r>
              <a:rPr lang="en-US" dirty="0"/>
              <a:t>Instead, what really drives our data model in Cosmos DB is </a:t>
            </a:r>
            <a:r>
              <a:rPr lang="en-US" b="1" dirty="0"/>
              <a:t>how the application needs to access the data</a:t>
            </a:r>
            <a:r>
              <a:rPr lang="en-US" dirty="0"/>
              <a:t> — its access patterns, query patterns, and transactional boundaries.</a:t>
            </a:r>
          </a:p>
          <a:p>
            <a:r>
              <a:rPr lang="en-US" dirty="0"/>
              <a:t>The relationships in the diagram help us understand the domain, but they don’t tell us:</a:t>
            </a:r>
          </a:p>
          <a:p>
            <a:r>
              <a:rPr lang="en-US" dirty="0"/>
              <a:t>which entities should be embedded together,</a:t>
            </a:r>
          </a:p>
          <a:p>
            <a:r>
              <a:rPr lang="en-US" dirty="0"/>
              <a:t>which ones should be referenced,</a:t>
            </a:r>
          </a:p>
          <a:p>
            <a:r>
              <a:rPr lang="en-US" dirty="0"/>
              <a:t>or how we should choose partition keys.</a:t>
            </a:r>
          </a:p>
          <a:p>
            <a:r>
              <a:rPr lang="en-US" dirty="0"/>
              <a:t>All of those decisions depend entirely on the patterns of how the application reads and writes data.</a:t>
            </a:r>
          </a:p>
          <a:p>
            <a:r>
              <a:rPr lang="en-US" dirty="0"/>
              <a:t>As we continue, you’ll see that many of our Cosmos DB modeling choices — such as embedding order details into the order document — come directly from understanding these access patterns rather than simply translating the ERD table-by-table.”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130206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e-commerce platform would obviously need to implement many more kinds of requests, but this subset is enough to guide our first implementation and illustrate the different design techniques we want to showcase.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919913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looking at the Customer entity.</a:t>
            </a:r>
            <a:br>
              <a:rPr lang="en-US" dirty="0"/>
            </a:br>
            <a:r>
              <a:rPr lang="en-US" dirty="0"/>
              <a:t>On the top, we see the relational model: a Customer table, a </a:t>
            </a:r>
            <a:r>
              <a:rPr lang="en-US" dirty="0" err="1"/>
              <a:t>CustomerAddress</a:t>
            </a:r>
            <a:r>
              <a:rPr lang="en-US" dirty="0"/>
              <a:t> table, and a </a:t>
            </a:r>
            <a:r>
              <a:rPr lang="en-US" dirty="0" err="1"/>
              <a:t>CustomerPassword</a:t>
            </a:r>
            <a:r>
              <a:rPr lang="en-US" dirty="0"/>
              <a:t> table. Each table has its own primary key, and they’re all connected through foreign keys.</a:t>
            </a:r>
          </a:p>
          <a:p>
            <a:r>
              <a:rPr lang="en-US" dirty="0"/>
              <a:t>If we were to take the most naïve approach to Cosmos DB, we might simply translate each table into its own JSON document — one JSON document for the customer, one for address, and one for password. That’s what you see at the bottom.</a:t>
            </a:r>
          </a:p>
          <a:p>
            <a:r>
              <a:rPr lang="en-US" dirty="0"/>
              <a:t>We’re keeping the relationships exactly the same as in SQL — the </a:t>
            </a:r>
            <a:r>
              <a:rPr lang="en-US" dirty="0" err="1"/>
              <a:t>CustomerAddress</a:t>
            </a:r>
            <a:r>
              <a:rPr lang="en-US" dirty="0"/>
              <a:t> document still points to the Customer with a </a:t>
            </a:r>
            <a:r>
              <a:rPr lang="en-US" sz="882" kern="1200" dirty="0" err="1">
                <a:solidFill>
                  <a:schemeClr val="tx1"/>
                </a:solidFill>
                <a:latin typeface="Segoe UI" panose="020B0502040204020203" pitchFamily="34" charset="0"/>
                <a:ea typeface="+mn-ea"/>
                <a:cs typeface="+mn-cs"/>
              </a:rPr>
              <a:t>customerId</a:t>
            </a:r>
            <a:r>
              <a:rPr lang="en-US" dirty="0"/>
              <a:t>, and the </a:t>
            </a:r>
            <a:r>
              <a:rPr lang="en-US" dirty="0" err="1"/>
              <a:t>CustomerPassword</a:t>
            </a:r>
            <a:r>
              <a:rPr lang="en-US" dirty="0"/>
              <a:t> document also references the same </a:t>
            </a:r>
            <a:r>
              <a:rPr lang="en-US" sz="882" kern="1200" dirty="0" err="1">
                <a:solidFill>
                  <a:schemeClr val="tx1"/>
                </a:solidFill>
                <a:latin typeface="Segoe UI" panose="020B0502040204020203" pitchFamily="34" charset="0"/>
                <a:ea typeface="+mn-ea"/>
                <a:cs typeface="+mn-cs"/>
              </a:rPr>
              <a:t>customerId</a:t>
            </a:r>
            <a:r>
              <a:rPr lang="en-US" dirty="0"/>
              <a:t>.</a:t>
            </a:r>
          </a:p>
          <a:p>
            <a:r>
              <a:rPr lang="en-US" dirty="0"/>
              <a:t>But notice that this isn’t leveraging Cosmos DB’s strengths yet.</a:t>
            </a:r>
            <a:br>
              <a:rPr lang="en-US" dirty="0"/>
            </a:br>
            <a:r>
              <a:rPr lang="en-US" dirty="0"/>
              <a:t>This representation works, but it behaves very much like a relational system:</a:t>
            </a:r>
          </a:p>
          <a:p>
            <a:r>
              <a:rPr lang="en-US" dirty="0"/>
              <a:t>We still have references instead of embedding.</a:t>
            </a:r>
          </a:p>
          <a:p>
            <a:r>
              <a:rPr lang="en-US" dirty="0"/>
              <a:t>Queries now require multiple document lookups.</a:t>
            </a:r>
          </a:p>
          <a:p>
            <a:r>
              <a:rPr lang="en-US" dirty="0"/>
              <a:t>We have no guarantee of transactional consistency across these three documents.</a:t>
            </a:r>
          </a:p>
          <a:p>
            <a:r>
              <a:rPr lang="en-US" dirty="0"/>
              <a:t>This step is useful only as a baseline to understand the starting point.</a:t>
            </a:r>
            <a:br>
              <a:rPr lang="en-US" dirty="0"/>
            </a:br>
            <a:r>
              <a:rPr lang="en-US" dirty="0"/>
              <a:t>In the next slides, we’ll explore how we can evolve this model into something better suited for Cosmos DB — by rethinking the shape of the data based on how it’s actually accessed.”</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4049197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a much better way to model the Customer entity in Cosmos DB.</a:t>
            </a:r>
          </a:p>
          <a:p>
            <a:r>
              <a:rPr lang="en-US" dirty="0"/>
              <a:t>Because Cosmos DB stores </a:t>
            </a:r>
            <a:r>
              <a:rPr lang="en-US" b="1" dirty="0"/>
              <a:t>JSON documents</a:t>
            </a:r>
            <a:r>
              <a:rPr lang="en-US" dirty="0"/>
              <a:t>, we’re not limited to flat tables like in a relational database. We can take all the information related to a customer — their profile, their addresses, and even their password metadata — and store it together inside </a:t>
            </a:r>
            <a:r>
              <a:rPr lang="en-US" b="1" dirty="0"/>
              <a:t>one single JSON document</a:t>
            </a:r>
            <a:r>
              <a:rPr lang="en-US" dirty="0"/>
              <a:t>.</a:t>
            </a:r>
          </a:p>
          <a:p>
            <a:r>
              <a:rPr lang="en-US" dirty="0"/>
              <a:t>In this example, I’ve embedded:</a:t>
            </a:r>
          </a:p>
          <a:p>
            <a:r>
              <a:rPr lang="en-US" dirty="0"/>
              <a:t>An </a:t>
            </a:r>
            <a:r>
              <a:rPr lang="en-US" b="1" dirty="0"/>
              <a:t>array of addresses</a:t>
            </a:r>
            <a:r>
              <a:rPr lang="en-US" dirty="0"/>
              <a:t>, since a customer can have multiple addresses</a:t>
            </a:r>
          </a:p>
          <a:p>
            <a:r>
              <a:rPr lang="en-US" dirty="0"/>
              <a:t>A </a:t>
            </a:r>
            <a:r>
              <a:rPr lang="en-US" b="1" dirty="0"/>
              <a:t>password object</a:t>
            </a:r>
            <a:r>
              <a:rPr lang="en-US" dirty="0"/>
              <a:t>, since that’s a 1-to-1 relationship</a:t>
            </a:r>
          </a:p>
          <a:p>
            <a:r>
              <a:rPr lang="en-US" dirty="0"/>
              <a:t>This approach fits perfectly with Cosmos DB’s document model because:</a:t>
            </a:r>
          </a:p>
          <a:p>
            <a:r>
              <a:rPr lang="en-US" dirty="0"/>
              <a:t>We avoid joins — the entire customer record lives in one place</a:t>
            </a:r>
          </a:p>
          <a:p>
            <a:r>
              <a:rPr lang="en-US" dirty="0"/>
              <a:t>Retrieval becomes extremely fast and efficient</a:t>
            </a:r>
          </a:p>
          <a:p>
            <a:r>
              <a:rPr lang="en-US" dirty="0"/>
              <a:t>Consistency is simplified, because all related data is updated together</a:t>
            </a:r>
          </a:p>
          <a:p>
            <a:r>
              <a:rPr lang="en-US" dirty="0"/>
              <a:t>This is a great example of how we rethink data modeling when we move from relational to Cosmos DB:</a:t>
            </a:r>
            <a:br>
              <a:rPr lang="en-US" dirty="0"/>
            </a:br>
            <a:r>
              <a:rPr lang="en-US" b="1" dirty="0"/>
              <a:t>Instead of splitting data across multiple tables, we design our JSON documents around how the application actually uses the data.</a:t>
            </a:r>
            <a:r>
              <a:rPr lang="en-US" dirty="0"/>
              <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4177250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how JSON documents can be shaped, the next question is: </a:t>
            </a:r>
            <a:r>
              <a:rPr lang="en-US" i="1" dirty="0"/>
              <a:t>should we embed data or reference it?</a:t>
            </a:r>
            <a:endParaRPr lang="en-US" dirty="0"/>
          </a:p>
          <a:p>
            <a:r>
              <a:rPr lang="en-US" dirty="0"/>
              <a:t>This slide shows three different ways we could model the Customer entity:</a:t>
            </a:r>
          </a:p>
          <a:p>
            <a:r>
              <a:rPr lang="en-US" dirty="0"/>
              <a:t>On the left, everything is </a:t>
            </a:r>
            <a:r>
              <a:rPr lang="en-US" b="1" dirty="0"/>
              <a:t>embedded</a:t>
            </a:r>
            <a:r>
              <a:rPr lang="en-US" dirty="0"/>
              <a:t> inside a single document — the customer profile, their addresses, and the password object.</a:t>
            </a:r>
          </a:p>
          <a:p>
            <a:r>
              <a:rPr lang="en-US" dirty="0"/>
              <a:t>In the middle, the customer document embeds some data but keeps addresses separate.</a:t>
            </a:r>
          </a:p>
          <a:p>
            <a:r>
              <a:rPr lang="en-US" dirty="0"/>
              <a:t>And on the right, we split everything into separate documents and link them using IDs — similar to how a relational database would work.</a:t>
            </a:r>
          </a:p>
          <a:p>
            <a:r>
              <a:rPr lang="en-US" dirty="0"/>
              <a:t>All three approaches are valid in Cosmos DB, but each comes with trade-offs. The key is to think about how your application actually </a:t>
            </a:r>
            <a:r>
              <a:rPr lang="en-US" b="1" dirty="0"/>
              <a:t>accesses</a:t>
            </a:r>
            <a:r>
              <a:rPr lang="en-US" dirty="0"/>
              <a:t> the data. Cosmos DB is optimized for scenarios where related data is stored together. But if something grows unbounded — like thousands of orders per customer — embedding becomes inefficient, and referencing makes more sense.</a:t>
            </a:r>
          </a:p>
          <a:p>
            <a:r>
              <a:rPr lang="en-US" dirty="0"/>
              <a:t>This slide is meant to show that the document model is flexible. You’re not forced into one approach — instead, you choose what fits your workload best.”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283771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make this more concrete with simple rules.</a:t>
            </a:r>
          </a:p>
          <a:p>
            <a:r>
              <a:rPr lang="en-US" b="1" dirty="0"/>
              <a:t>Embed data when:</a:t>
            </a:r>
          </a:p>
          <a:p>
            <a:r>
              <a:rPr lang="en-US" dirty="0"/>
              <a:t>You have a </a:t>
            </a:r>
            <a:r>
              <a:rPr lang="en-US" b="1" dirty="0"/>
              <a:t>1-to-1</a:t>
            </a:r>
            <a:r>
              <a:rPr lang="en-US" dirty="0"/>
              <a:t> relationship</a:t>
            </a:r>
          </a:p>
          <a:p>
            <a:r>
              <a:rPr lang="en-US" dirty="0"/>
              <a:t>Or a </a:t>
            </a:r>
            <a:r>
              <a:rPr lang="en-US" b="1" dirty="0"/>
              <a:t>1-to-few</a:t>
            </a:r>
            <a:r>
              <a:rPr lang="en-US" dirty="0"/>
              <a:t> relationship</a:t>
            </a:r>
          </a:p>
          <a:p>
            <a:r>
              <a:rPr lang="en-US" dirty="0"/>
              <a:t>And when the related items are usually </a:t>
            </a:r>
            <a:r>
              <a:rPr lang="en-US" b="1" dirty="0"/>
              <a:t>queried or updated together</a:t>
            </a:r>
            <a:endParaRPr lang="en-US" dirty="0"/>
          </a:p>
          <a:p>
            <a:r>
              <a:rPr lang="en-US" dirty="0"/>
              <a:t>Embedding keeps the data co-located in the same physical partition, so lookups are fast and operations cost fewer </a:t>
            </a:r>
            <a:r>
              <a:rPr lang="en-US" dirty="0" err="1"/>
              <a:t>RUs.</a:t>
            </a:r>
            <a:endParaRPr lang="en-US" dirty="0"/>
          </a:p>
          <a:p>
            <a:r>
              <a:rPr lang="en-US" b="1" dirty="0"/>
              <a:t>Use references when:</a:t>
            </a:r>
          </a:p>
          <a:p>
            <a:r>
              <a:rPr lang="en-US" dirty="0"/>
              <a:t>You have a </a:t>
            </a:r>
            <a:r>
              <a:rPr lang="en-US" b="1" dirty="0"/>
              <a:t>1-to-many</a:t>
            </a:r>
            <a:r>
              <a:rPr lang="en-US" dirty="0"/>
              <a:t> relationship — especially when the ‘many’ side can grow without limit</a:t>
            </a:r>
          </a:p>
          <a:p>
            <a:r>
              <a:rPr lang="en-US" dirty="0"/>
              <a:t>You have a </a:t>
            </a:r>
            <a:r>
              <a:rPr lang="en-US" b="1" dirty="0"/>
              <a:t>many-to-many</a:t>
            </a:r>
            <a:r>
              <a:rPr lang="en-US" dirty="0"/>
              <a:t> relationship</a:t>
            </a:r>
          </a:p>
          <a:p>
            <a:r>
              <a:rPr lang="en-US" dirty="0"/>
              <a:t>Or when the related items are </a:t>
            </a:r>
            <a:r>
              <a:rPr lang="en-US" b="1" dirty="0"/>
              <a:t>queried or updated independently</a:t>
            </a:r>
            <a:endParaRPr lang="en-US" dirty="0"/>
          </a:p>
          <a:p>
            <a:r>
              <a:rPr lang="en-US" dirty="0"/>
              <a:t>Referencing avoids oversized documents and keeps writes more efficient when data changes at different rates.</a:t>
            </a:r>
          </a:p>
          <a:p>
            <a:r>
              <a:rPr lang="en-US" dirty="0"/>
              <a:t>So the rule of thumb is:</a:t>
            </a:r>
            <a:br>
              <a:rPr lang="en-US" dirty="0"/>
            </a:br>
            <a:r>
              <a:rPr lang="en-US" dirty="0"/>
              <a:t>▶ </a:t>
            </a:r>
            <a:r>
              <a:rPr lang="en-US" b="1" dirty="0"/>
              <a:t>Embed for performance and simplicity</a:t>
            </a:r>
            <a:r>
              <a:rPr lang="en-US" dirty="0"/>
              <a:t> when the data naturally belongs together</a:t>
            </a:r>
            <a:br>
              <a:rPr lang="en-US" dirty="0"/>
            </a:br>
            <a:r>
              <a:rPr lang="en-US" dirty="0"/>
              <a:t>▶ </a:t>
            </a:r>
            <a:r>
              <a:rPr lang="en-US" b="1" dirty="0"/>
              <a:t>Reference for scalability</a:t>
            </a:r>
            <a:r>
              <a:rPr lang="en-US" dirty="0"/>
              <a:t> when the relationship fan-out is large or the items evolve separately</a:t>
            </a:r>
          </a:p>
          <a:p>
            <a:r>
              <a:rPr lang="en-US" dirty="0"/>
              <a:t>These two concepts — embed vs reference — are at the heart of modeling in Cosmos DB, and mastering them is what leads to efficient, scalable applications.”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6:06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983070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we’ve looked at our relational schema, let’s start modeling our first entity in Cosmos DB: the Customer.”</a:t>
            </a:r>
            <a:endParaRPr lang="en-US" dirty="0"/>
          </a:p>
          <a:p>
            <a:r>
              <a:rPr lang="en-US" b="1" dirty="0"/>
              <a:t>“In a traditional relational database, customer data is spread across multiple tables—Customer, </a:t>
            </a:r>
            <a:r>
              <a:rPr lang="en-US" b="1" dirty="0" err="1"/>
              <a:t>CustomerAddress</a:t>
            </a:r>
            <a:r>
              <a:rPr lang="en-US" b="1" dirty="0"/>
              <a:t>, </a:t>
            </a:r>
            <a:r>
              <a:rPr lang="en-US" b="1" dirty="0" err="1"/>
              <a:t>CustomerPassword</a:t>
            </a:r>
            <a:r>
              <a:rPr lang="en-US" b="1" dirty="0"/>
              <a:t>, and so on. But because Cosmos DB stores JSON documents, we have the freedom to bring all of that related information together into a single document.”</a:t>
            </a:r>
            <a:endParaRPr lang="en-US" dirty="0"/>
          </a:p>
          <a:p>
            <a:r>
              <a:rPr lang="en-US" b="1" dirty="0"/>
              <a:t>“In this example, we embed everything that belongs to the customer: basic profile fields, an array of addresses, and even the password object. This works well because these relationships are </a:t>
            </a:r>
            <a:r>
              <a:rPr lang="en-US" b="1" i="1" dirty="0"/>
              <a:t>1-to-1</a:t>
            </a:r>
            <a:r>
              <a:rPr lang="en-US" b="1" dirty="0"/>
              <a:t> or </a:t>
            </a:r>
            <a:r>
              <a:rPr lang="en-US" b="1" i="1" dirty="0"/>
              <a:t>1-to-few</a:t>
            </a:r>
            <a:r>
              <a:rPr lang="en-US" b="1" dirty="0"/>
              <a:t>, and more importantly, we almost always retrieve this information together.”</a:t>
            </a:r>
            <a:endParaRPr lang="en-US" dirty="0"/>
          </a:p>
          <a:p>
            <a:r>
              <a:rPr lang="en-US" b="1" dirty="0"/>
              <a:t>“Embedding improves read performance, reduces the number of queries, and keeps related data consistent because it lives inside a single document.”</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681250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we’ve defined our first entity, the Customer, the next step is to decide how we’re going to store these documents in Cosmos DB.”</a:t>
            </a:r>
            <a:endParaRPr lang="en-US" dirty="0"/>
          </a:p>
          <a:p>
            <a:r>
              <a:rPr lang="en-US" b="1" dirty="0"/>
              <a:t>“We’ll place all customer documents inside a container named </a:t>
            </a:r>
            <a:r>
              <a:rPr lang="en-US" b="1" i="1" dirty="0"/>
              <a:t>customers</a:t>
            </a:r>
            <a:r>
              <a:rPr lang="en-US" b="1" dirty="0"/>
              <a:t>. A container is essentially the logical bucket where all documents of the same type live.”</a:t>
            </a:r>
            <a:endParaRPr lang="en-US" dirty="0"/>
          </a:p>
          <a:p>
            <a:r>
              <a:rPr lang="en-US" b="1" dirty="0"/>
              <a:t>“However, when we create a new container in Cosmos DB, we </a:t>
            </a:r>
            <a:r>
              <a:rPr lang="en-US" b="1" i="1" dirty="0"/>
              <a:t>must</a:t>
            </a:r>
            <a:r>
              <a:rPr lang="en-US" b="1" dirty="0"/>
              <a:t> choose a partition key. This is a critical design decision because the partition key determines how data is distributed across the system, how efficiently queries run, and how well the solution scales as data grows.”</a:t>
            </a:r>
            <a:endParaRPr lang="en-US" dirty="0"/>
          </a:p>
          <a:p>
            <a:r>
              <a:rPr lang="en-US" b="1" dirty="0"/>
              <a:t>“So before we continue modeling, we need to answer one important question: What should the partition key be for our customer documents?”</a:t>
            </a:r>
            <a:br>
              <a:rPr lang="en-US" b="1" dirty="0"/>
            </a:br>
            <a:r>
              <a:rPr lang="en-US" dirty="0"/>
              <a:t>“To make that decision, we first need to understand what partitioning actually is and why Cosmos DB depends on it—so let’s take a look at how partitioning works.”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747089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 I mentioned earlier, a Cosmos DB container is really just an abstraction that sits on top of many physical servers behind the scenes. Cosmos DB automatically distributes your data across these servers so it can scale horizontally.”</a:t>
            </a:r>
            <a:endParaRPr lang="en-US" dirty="0"/>
          </a:p>
          <a:p>
            <a:r>
              <a:rPr lang="en-US" b="1" dirty="0"/>
              <a:t>“This distribution process is called </a:t>
            </a:r>
            <a:r>
              <a:rPr lang="en-US" b="1" i="1" dirty="0"/>
              <a:t>partitioning</a:t>
            </a:r>
            <a:r>
              <a:rPr lang="en-US" b="1" dirty="0"/>
              <a:t>. Instead of storing all your data on a single machine—which would quickly become a bottleneck—Cosmos DB spreads the data across multiple partitions. Each partition lives on a different physical server.”</a:t>
            </a:r>
            <a:endParaRPr lang="en-US" dirty="0"/>
          </a:p>
          <a:p>
            <a:r>
              <a:rPr lang="en-US" b="1" dirty="0"/>
              <a:t>“This is how Cosmos DB achieves virtually unlimited scalability: if your workload grows, Azure can simply add more partitions behind the scenes.”</a:t>
            </a:r>
            <a:endParaRPr lang="en-US" dirty="0"/>
          </a:p>
          <a:p>
            <a:r>
              <a:rPr lang="en-US" b="1" dirty="0"/>
              <a:t>“So when we talk about choosing a partition key, what we’re really doing is deciding </a:t>
            </a:r>
            <a:r>
              <a:rPr lang="en-US" b="1" i="1" dirty="0"/>
              <a:t>how</a:t>
            </a:r>
            <a:r>
              <a:rPr lang="en-US" b="1" dirty="0"/>
              <a:t> Cosmos DB should divide our data across all these machines.”</a:t>
            </a:r>
            <a:br>
              <a:rPr lang="en-US" b="1" dirty="0"/>
            </a:br>
            <a:r>
              <a:rPr lang="en-US" dirty="0"/>
              <a:t>“To understand why the partition key matters so much, let’s take a closer look at what these partitions actually are—both the logical partitions we design and the physical partitions managed by Cosmos DB.”</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72642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store documents inside a Cosmos DB container, those documents don’t all sit on one machine. They get distributed across many physical servers.</a:t>
            </a:r>
            <a:br>
              <a:rPr lang="en-US" b="1" dirty="0"/>
            </a:br>
            <a:r>
              <a:rPr lang="en-US" b="1" dirty="0"/>
              <a:t>But from our perspective as users, we’re not assigning documents to servers. We never say: ‘put this document on server A and this one on server B.’”</a:t>
            </a:r>
            <a:endParaRPr lang="en-US" dirty="0"/>
          </a:p>
          <a:p>
            <a:r>
              <a:rPr lang="en-US" b="1" dirty="0"/>
              <a:t>“Instead, Cosmos DB introduces the concept of </a:t>
            </a:r>
            <a:r>
              <a:rPr lang="en-US" b="1" i="1" dirty="0"/>
              <a:t>logical partitions</a:t>
            </a:r>
            <a:r>
              <a:rPr lang="en-US" b="1" dirty="0"/>
              <a:t>. These are simply groups of documents that share the same partition key value.</a:t>
            </a:r>
            <a:br>
              <a:rPr lang="en-US" b="1" dirty="0"/>
            </a:br>
            <a:r>
              <a:rPr lang="en-US" b="1" dirty="0"/>
              <a:t>Cosmos DB automatically maps these logical partitions to different physical servers behind the scenes.”</a:t>
            </a:r>
            <a:endParaRPr lang="en-US" dirty="0"/>
          </a:p>
          <a:p>
            <a:r>
              <a:rPr lang="en-US" b="1" dirty="0"/>
              <a:t>“So even though the data ends up spread across multiple machines, we don’t think in terms of physical hardware. We think in terms of logical partitions.</a:t>
            </a:r>
            <a:br>
              <a:rPr lang="en-US" b="1" dirty="0"/>
            </a:br>
            <a:r>
              <a:rPr lang="en-US" b="1" dirty="0"/>
              <a:t>When we insert a document, the main question Cosmos DB asks is:</a:t>
            </a:r>
            <a:br>
              <a:rPr lang="en-US" b="1" dirty="0"/>
            </a:br>
            <a:r>
              <a:rPr lang="en-US" b="1" dirty="0"/>
              <a:t>‘Which logical partition does this belong to?’”</a:t>
            </a:r>
            <a:endParaRPr lang="en-US" dirty="0"/>
          </a:p>
          <a:p>
            <a:r>
              <a:rPr lang="en-US" b="1" dirty="0"/>
              <a:t>“Once that decision is made, Cosmos DB handles the rest—routing, scaling, placement—without us needing to worry about the actual physical layout.”</a:t>
            </a:r>
            <a:br>
              <a:rPr lang="en-US" b="1" dirty="0"/>
            </a:br>
            <a:r>
              <a:rPr lang="en-US" dirty="0"/>
              <a:t>“Now that we understand what a logical partition is, the next question becomes: </a:t>
            </a:r>
            <a:r>
              <a:rPr lang="en-US" i="1" dirty="0"/>
              <a:t>how does Cosmos DB decide which logical partition a document belongs to?</a:t>
            </a:r>
            <a:br>
              <a:rPr lang="en-US" dirty="0"/>
            </a:br>
            <a:r>
              <a:rPr lang="en-US" dirty="0"/>
              <a:t>That’s where the partition key comes into play.”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705550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is where the partition key really comes into play.</a:t>
            </a:r>
            <a:br>
              <a:rPr lang="en-US" b="1" dirty="0"/>
            </a:br>
            <a:r>
              <a:rPr lang="en-US" b="1" dirty="0"/>
              <a:t>When we create a Cosmos DB container, we must specify a </a:t>
            </a:r>
            <a:r>
              <a:rPr lang="en-US" b="1" i="1" dirty="0"/>
              <a:t>partition key</a:t>
            </a:r>
            <a:r>
              <a:rPr lang="en-US" b="1" dirty="0"/>
              <a:t>. This is simply the name of a property in our documents. Cosmos DB reads that property’s value and uses it to determine which logical partition the document belongs to.”</a:t>
            </a:r>
            <a:endParaRPr lang="en-US" dirty="0"/>
          </a:p>
          <a:p>
            <a:r>
              <a:rPr lang="en-US" b="1" dirty="0"/>
              <a:t>“In this example, the partition key is </a:t>
            </a:r>
            <a:r>
              <a:rPr lang="en-US" sz="882" b="1" kern="1200" dirty="0">
                <a:solidFill>
                  <a:schemeClr val="tx1"/>
                </a:solidFill>
                <a:latin typeface="Segoe UI" panose="020B0502040204020203" pitchFamily="34" charset="0"/>
                <a:ea typeface="+mn-ea"/>
                <a:cs typeface="+mn-cs"/>
              </a:rPr>
              <a:t>/username</a:t>
            </a:r>
            <a:r>
              <a:rPr lang="en-US" b="1" dirty="0"/>
              <a:t>.</a:t>
            </a:r>
            <a:br>
              <a:rPr lang="en-US" b="1" dirty="0"/>
            </a:br>
            <a:r>
              <a:rPr lang="en-US" b="1" dirty="0"/>
              <a:t>So every document with the same username value is automatically grouped into the same logical partition.”</a:t>
            </a:r>
            <a:endParaRPr lang="en-US" dirty="0"/>
          </a:p>
          <a:p>
            <a:r>
              <a:rPr lang="en-US" b="1" dirty="0"/>
              <a:t>“If the username is ‘Andrew,’ all of Andrew’s documents live in one logical partition.</a:t>
            </a:r>
            <a:br>
              <a:rPr lang="en-US" b="1" dirty="0"/>
            </a:br>
            <a:r>
              <a:rPr lang="en-US" b="1" dirty="0"/>
              <a:t>If the username is ‘Deborah,’ her documents go into a different logical partition, and the same applies for Tim, Luis, Theo, Mark, and so on.”</a:t>
            </a:r>
            <a:endParaRPr lang="en-US" dirty="0"/>
          </a:p>
          <a:p>
            <a:r>
              <a:rPr lang="en-US" b="1" dirty="0"/>
              <a:t>“We’re not manually organizing data — Cosmos DB does the grouping for us based on the partition key value.”</a:t>
            </a:r>
            <a:br>
              <a:rPr lang="en-US" b="1" dirty="0"/>
            </a:br>
            <a:r>
              <a:rPr lang="en-US" dirty="0"/>
              <a:t>“Now that we know how documents are grouped into logical partitions, the next important question is: </a:t>
            </a:r>
            <a:r>
              <a:rPr lang="en-US" i="1" dirty="0"/>
              <a:t>how big can these partitions get, and what limits should we be aware of?</a:t>
            </a:r>
            <a:br>
              <a:rPr lang="en-US" dirty="0"/>
            </a:br>
            <a:r>
              <a:rPr lang="en-US" dirty="0"/>
              <a:t>Let’s look at partition size limits next.”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192248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talk about partitioning in Cosmos DB, there are two very important size constraints we must keep in mind as we design our data model.”</a:t>
            </a:r>
            <a:endParaRPr lang="en-US" dirty="0"/>
          </a:p>
          <a:p>
            <a:r>
              <a:rPr lang="en-US" b="1" dirty="0"/>
              <a:t>“First — each </a:t>
            </a:r>
            <a:r>
              <a:rPr lang="en-US" b="1" i="1" dirty="0"/>
              <a:t>individual document</a:t>
            </a:r>
            <a:r>
              <a:rPr lang="en-US" b="1" dirty="0"/>
              <a:t> has a maximum size of 2 MB.</a:t>
            </a:r>
            <a:br>
              <a:rPr lang="en-US" b="1" dirty="0"/>
            </a:br>
            <a:r>
              <a:rPr lang="en-US" b="1" dirty="0"/>
              <a:t>This means no single JSON document can exceed 2 MB in size. So if you were thinking about embedding extremely large arrays or binary data, Cosmos will stop you at that limit.”</a:t>
            </a:r>
            <a:endParaRPr lang="en-US" dirty="0"/>
          </a:p>
          <a:p>
            <a:r>
              <a:rPr lang="en-US" b="1" dirty="0"/>
              <a:t>“Second — each </a:t>
            </a:r>
            <a:r>
              <a:rPr lang="en-US" b="1" i="1" dirty="0"/>
              <a:t>logical partition</a:t>
            </a:r>
            <a:r>
              <a:rPr lang="en-US" b="1" dirty="0"/>
              <a:t> can store up to 20 GB of data.</a:t>
            </a:r>
            <a:br>
              <a:rPr lang="en-US" b="1" dirty="0"/>
            </a:br>
            <a:r>
              <a:rPr lang="en-US" b="1" dirty="0"/>
              <a:t>That means all documents that share the same partition key value must fit within 20 GB. If our partition key is </a:t>
            </a:r>
            <a:r>
              <a:rPr lang="en-US" sz="882" b="1" kern="1200" dirty="0">
                <a:solidFill>
                  <a:schemeClr val="tx1"/>
                </a:solidFill>
                <a:latin typeface="Segoe UI" panose="020B0502040204020203" pitchFamily="34" charset="0"/>
                <a:ea typeface="+mn-ea"/>
                <a:cs typeface="+mn-cs"/>
              </a:rPr>
              <a:t>/username</a:t>
            </a:r>
            <a:r>
              <a:rPr lang="en-US" b="1" dirty="0"/>
              <a:t>, then all documents for ‘Andrew’ must fit within a single 20 GB logical partition, all documents for ‘Deborah’ must fit within their own 20 GB partition, and so on.”</a:t>
            </a:r>
            <a:endParaRPr lang="en-US" dirty="0"/>
          </a:p>
          <a:p>
            <a:r>
              <a:rPr lang="en-US" b="1" dirty="0"/>
              <a:t>“These two limits are why choosing the right partition key matters — we need to make sure we’re not creating partitions that will grow too large over time.”</a:t>
            </a:r>
            <a:br>
              <a:rPr lang="en-US" b="1" dirty="0"/>
            </a:br>
            <a:r>
              <a:rPr lang="en-US" dirty="0"/>
              <a:t>“And now that we understand the size limits of each partition, the next question is: </a:t>
            </a:r>
            <a:r>
              <a:rPr lang="en-US" i="1" dirty="0"/>
              <a:t>what happens when a partition gets too hot — when too many requests are hitting the same partition?</a:t>
            </a:r>
            <a:br>
              <a:rPr lang="en-US" dirty="0"/>
            </a:br>
            <a:r>
              <a:rPr lang="en-US" dirty="0"/>
              <a:t>Let’s move on to partition throughput and the concept of ‘hot partitions.’”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955095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 know partitions have size limits, there’s another important concept to understand: workload distribution.”</a:t>
            </a:r>
            <a:endParaRPr lang="en-US" dirty="0"/>
          </a:p>
          <a:p>
            <a:r>
              <a:rPr lang="en-US" b="1" dirty="0"/>
              <a:t>“What we want is for our data — and our traffic — to be evenly distributed across all logical partitions. That means reads and writes should ideally be spread out, so no single partition has to handle a disproportionate amount of work.”</a:t>
            </a:r>
            <a:endParaRPr lang="en-US" dirty="0"/>
          </a:p>
          <a:p>
            <a:r>
              <a:rPr lang="en-US" b="1" dirty="0"/>
              <a:t>“But in the example on the screen, one partition is receiving almost all the documents, while the others barely get anything. This situation is called a hot partition.</a:t>
            </a:r>
            <a:br>
              <a:rPr lang="en-US" b="1" dirty="0"/>
            </a:br>
            <a:r>
              <a:rPr lang="en-US" b="1" dirty="0"/>
              <a:t>A hot partition becomes a performance bottleneck because Cosmos DB must throttle requests when one partition receives too much load. Even if the total throughput of the database is high, your workload slows down because one partition gets overwhelmed.”</a:t>
            </a:r>
            <a:endParaRPr lang="en-US" dirty="0"/>
          </a:p>
          <a:p>
            <a:r>
              <a:rPr lang="en-US" b="1" dirty="0"/>
              <a:t>“So the goal in partition design is to avoid this kind of imbalance and make sure your partition key helps spread the data and the traffic evenly.”</a:t>
            </a:r>
            <a:br>
              <a:rPr lang="en-US" b="1" dirty="0"/>
            </a:br>
            <a:r>
              <a:rPr lang="en-US" dirty="0"/>
              <a:t>“Now let’s look at what happens on the query side — because the partition key not only affects where data is written, it also determines how efficiently we can </a:t>
            </a:r>
            <a:r>
              <a:rPr lang="en-US" i="1" dirty="0"/>
              <a:t>read</a:t>
            </a:r>
            <a:r>
              <a:rPr lang="en-US" dirty="0"/>
              <a:t> it.”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3800220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“Just like data distribution, throughput distribution matters just as much.”</a:t>
            </a:r>
            <a:endParaRPr lang="en-US" dirty="0"/>
          </a:p>
          <a:p>
            <a:r>
              <a:rPr lang="en-US" b="1" dirty="0"/>
              <a:t>“Even if your documents are evenly spread across partitions, your </a:t>
            </a:r>
            <a:r>
              <a:rPr lang="en-US" b="1" i="1" dirty="0"/>
              <a:t>requests</a:t>
            </a:r>
            <a:r>
              <a:rPr lang="en-US" b="1" dirty="0"/>
              <a:t> might not be.</a:t>
            </a:r>
            <a:br>
              <a:rPr lang="en-US" b="1" dirty="0"/>
            </a:br>
            <a:r>
              <a:rPr lang="en-US" b="1" dirty="0"/>
              <a:t>If most of your reads or writes end up targeting the same logical partition — like the one highlighted here — that partition becomes a throughput bottleneck.”</a:t>
            </a:r>
            <a:endParaRPr lang="en-US" dirty="0"/>
          </a:p>
          <a:p>
            <a:r>
              <a:rPr lang="en-US" b="1" dirty="0"/>
              <a:t>“Cosmos DB enforces throughput limits </a:t>
            </a:r>
            <a:r>
              <a:rPr lang="en-US" b="1" i="1" dirty="0"/>
              <a:t>per partition</a:t>
            </a:r>
            <a:r>
              <a:rPr lang="en-US" b="1" dirty="0"/>
              <a:t>.</a:t>
            </a:r>
            <a:br>
              <a:rPr lang="en-US" b="1" dirty="0"/>
            </a:br>
            <a:r>
              <a:rPr lang="en-US" b="1" dirty="0"/>
              <a:t>So if one partition receives five times more traffic than the others, it will start throttling, even if your container has plenty of RU/s allocated overall.”</a:t>
            </a:r>
            <a:endParaRPr lang="en-US" dirty="0"/>
          </a:p>
          <a:p>
            <a:r>
              <a:rPr lang="en-US" b="1" dirty="0"/>
              <a:t>“This is another form of a </a:t>
            </a:r>
            <a:r>
              <a:rPr lang="en-US" b="1" i="1" dirty="0"/>
              <a:t>hot partition</a:t>
            </a:r>
            <a:r>
              <a:rPr lang="en-US" b="1" dirty="0"/>
              <a:t>: not because of data volume, but because of request volume. And this can severely limit the scalability of your model.”</a:t>
            </a:r>
            <a:br>
              <a:rPr lang="en-US" b="1" dirty="0"/>
            </a:br>
            <a:r>
              <a:rPr lang="en-US" dirty="0"/>
              <a:t>“So now that we understand why evenly distributing both data and traffic matters, let’s look at how the partition key directly affects query performance — specifically, whether a query can target one partition or needs to fan out across all of them.”</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2459874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“At this point, the main takeaway is that a good partitioning strategy should give us a layout that looks like this.”</a:t>
            </a:r>
            <a:endParaRPr lang="en-US" dirty="0"/>
          </a:p>
          <a:p>
            <a:r>
              <a:rPr lang="en-US" b="1" dirty="0"/>
              <a:t>“We want both storage </a:t>
            </a:r>
            <a:r>
              <a:rPr lang="en-US" b="1" i="1" dirty="0"/>
              <a:t>and</a:t>
            </a:r>
            <a:r>
              <a:rPr lang="en-US" b="1" dirty="0"/>
              <a:t> throughput to be more or less evenly distributed across all logical partitions.</a:t>
            </a:r>
            <a:br>
              <a:rPr lang="en-US" b="1" dirty="0"/>
            </a:br>
            <a:r>
              <a:rPr lang="en-US" b="1" dirty="0"/>
              <a:t>That means no single partition should accumulate too much data, and no single partition should receive a disproportionate number of requests.”</a:t>
            </a:r>
            <a:endParaRPr lang="en-US" dirty="0"/>
          </a:p>
          <a:p>
            <a:r>
              <a:rPr lang="en-US" b="1" dirty="0"/>
              <a:t>“When both data and traffic are balanced, Cosmos DB can scale out efficiently — each partition contributes evenly to overall throughput, and we avoid the bottlenecks caused by hot partitions.”</a:t>
            </a:r>
            <a:br>
              <a:rPr lang="en-US" b="1" dirty="0"/>
            </a:br>
            <a:r>
              <a:rPr lang="en-US" dirty="0"/>
              <a:t>“Now that we know what ‘good’ looks like, let’s see how a well-designed partition key helps us achieve this — starting with how it affects query efficiency.”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2055425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“This slide shows why choosing the right partition key matters so much for both performance and scalability.”</a:t>
            </a:r>
            <a:endParaRPr lang="en-US" dirty="0"/>
          </a:p>
          <a:p>
            <a:r>
              <a:rPr lang="en-US" b="1" dirty="0"/>
              <a:t>“In this example, our container is partitioned by </a:t>
            </a:r>
            <a:r>
              <a:rPr lang="en-US" b="1" i="1" dirty="0"/>
              <a:t>username</a:t>
            </a:r>
            <a:r>
              <a:rPr lang="en-US" b="1" dirty="0"/>
              <a:t>. When we run a query such as:</a:t>
            </a:r>
            <a:br>
              <a:rPr lang="en-US" b="1" dirty="0"/>
            </a:br>
            <a:r>
              <a:rPr lang="en-US" sz="882" b="1" kern="1200" dirty="0">
                <a:solidFill>
                  <a:schemeClr val="tx1"/>
                </a:solidFill>
                <a:latin typeface="Segoe UI" panose="020B0502040204020203" pitchFamily="34" charset="0"/>
                <a:ea typeface="+mn-ea"/>
                <a:cs typeface="+mn-cs"/>
              </a:rPr>
              <a:t>SELECT * FROM c WHERE </a:t>
            </a:r>
            <a:r>
              <a:rPr lang="en-US" sz="882" b="1" kern="1200" dirty="0" err="1">
                <a:solidFill>
                  <a:schemeClr val="tx1"/>
                </a:solidFill>
                <a:latin typeface="Segoe UI" panose="020B0502040204020203" pitchFamily="34" charset="0"/>
                <a:ea typeface="+mn-ea"/>
                <a:cs typeface="+mn-cs"/>
              </a:rPr>
              <a:t>c.username</a:t>
            </a:r>
            <a:r>
              <a:rPr lang="en-US" sz="882" b="1" kern="1200" dirty="0">
                <a:solidFill>
                  <a:schemeClr val="tx1"/>
                </a:solidFill>
                <a:latin typeface="Segoe UI" panose="020B0502040204020203" pitchFamily="34" charset="0"/>
                <a:ea typeface="+mn-ea"/>
                <a:cs typeface="+mn-cs"/>
              </a:rPr>
              <a:t> = 'Mark'</a:t>
            </a:r>
            <a:br>
              <a:rPr lang="en-US" b="1" dirty="0"/>
            </a:br>
            <a:r>
              <a:rPr lang="en-US" b="1" dirty="0"/>
              <a:t>Cosmos DB recognizes that </a:t>
            </a:r>
            <a:r>
              <a:rPr lang="en-US" b="1" i="1" dirty="0"/>
              <a:t>username</a:t>
            </a:r>
            <a:r>
              <a:rPr lang="en-US" b="1" dirty="0"/>
              <a:t> is the partition key, so it instantly knows exactly which single logical partition to target — the one containing Mark’s data.”</a:t>
            </a:r>
            <a:endParaRPr lang="en-US" dirty="0"/>
          </a:p>
          <a:p>
            <a:r>
              <a:rPr lang="en-US" b="1" dirty="0"/>
              <a:t>“This means the query touches only </a:t>
            </a:r>
            <a:r>
              <a:rPr lang="en-US" b="1" i="1" dirty="0"/>
              <a:t>one</a:t>
            </a:r>
            <a:r>
              <a:rPr lang="en-US" b="1" dirty="0"/>
              <a:t> logical partition, which typically lives on </a:t>
            </a:r>
            <a:r>
              <a:rPr lang="en-US" b="1" i="1" dirty="0"/>
              <a:t>one</a:t>
            </a:r>
            <a:r>
              <a:rPr lang="en-US" b="1" dirty="0"/>
              <a:t> physical server.</a:t>
            </a:r>
            <a:br>
              <a:rPr lang="en-US" b="1" dirty="0"/>
            </a:br>
            <a:r>
              <a:rPr lang="en-US" b="1" dirty="0"/>
              <a:t>That’s extremely efficient because:</a:t>
            </a:r>
            <a:endParaRPr lang="en-US" dirty="0"/>
          </a:p>
          <a:p>
            <a:r>
              <a:rPr lang="en-US" b="1" dirty="0"/>
              <a:t>Only one partition is scanned — no cross-partition work</a:t>
            </a:r>
            <a:endParaRPr lang="en-US" dirty="0"/>
          </a:p>
          <a:p>
            <a:r>
              <a:rPr lang="en-US" b="1" dirty="0"/>
              <a:t>Latency is predictable</a:t>
            </a:r>
            <a:endParaRPr lang="en-US" dirty="0"/>
          </a:p>
          <a:p>
            <a:r>
              <a:rPr lang="en-US" b="1" dirty="0"/>
              <a:t>RUs consumed are low</a:t>
            </a:r>
            <a:endParaRPr lang="en-US" dirty="0"/>
          </a:p>
          <a:p>
            <a:r>
              <a:rPr lang="en-US" b="1" dirty="0"/>
              <a:t>Performance doesn’t degrade as your data grows</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“This is one of the key benefits of good partition design: a single-partition query effectively decouples performance from total data size.”</a:t>
            </a:r>
            <a:br>
              <a:rPr lang="en-US" b="1" dirty="0"/>
            </a:br>
            <a:r>
              <a:rPr lang="en-US" b="1" dirty="0"/>
              <a:t>“But… this only works when our queries line up with our partition key.</a:t>
            </a:r>
            <a:br>
              <a:rPr lang="en-US" b="1" dirty="0"/>
            </a:br>
            <a:r>
              <a:rPr lang="en-US" b="1" dirty="0"/>
              <a:t>Let’s look at what happens when they don’t — and Cosmos is forced to fan the query out across </a:t>
            </a:r>
            <a:r>
              <a:rPr lang="en-US" b="1" i="1" dirty="0"/>
              <a:t>every</a:t>
            </a:r>
            <a:r>
              <a:rPr lang="en-US" b="1" dirty="0"/>
              <a:t> partition.”</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6507148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let’s look at a query that does </a:t>
            </a:r>
            <a:r>
              <a:rPr lang="en-US" b="1" i="1" dirty="0"/>
              <a:t>not</a:t>
            </a:r>
            <a:r>
              <a:rPr lang="en-US" b="1" dirty="0"/>
              <a:t> use the partition key.”</a:t>
            </a:r>
            <a:endParaRPr lang="en-US" dirty="0"/>
          </a:p>
          <a:p>
            <a:r>
              <a:rPr lang="en-US" b="1" dirty="0"/>
              <a:t>“In this example, the query filters on </a:t>
            </a:r>
            <a:r>
              <a:rPr lang="en-US" sz="882" b="1" kern="1200" dirty="0" err="1">
                <a:solidFill>
                  <a:schemeClr val="tx1"/>
                </a:solidFill>
                <a:latin typeface="Segoe UI" panose="020B0502040204020203" pitchFamily="34" charset="0"/>
                <a:ea typeface="+mn-ea"/>
                <a:cs typeface="+mn-cs"/>
              </a:rPr>
              <a:t>favoriteColor</a:t>
            </a:r>
            <a:r>
              <a:rPr lang="en-US" sz="882" b="1" kern="1200" dirty="0">
                <a:solidFill>
                  <a:schemeClr val="tx1"/>
                </a:solidFill>
                <a:latin typeface="Segoe UI" panose="020B0502040204020203" pitchFamily="34" charset="0"/>
                <a:ea typeface="+mn-ea"/>
                <a:cs typeface="+mn-cs"/>
              </a:rPr>
              <a:t> = 'orange'</a:t>
            </a:r>
            <a:r>
              <a:rPr lang="en-US" b="1" dirty="0"/>
              <a:t>.</a:t>
            </a:r>
            <a:br>
              <a:rPr lang="en-US" b="1" dirty="0"/>
            </a:br>
            <a:r>
              <a:rPr lang="en-US" b="1" dirty="0"/>
              <a:t>The problem is: Cosmos DB has no idea which partition contains the orange documents, because </a:t>
            </a:r>
            <a:r>
              <a:rPr lang="en-US" b="1" i="1" dirty="0" err="1"/>
              <a:t>favoriteColor</a:t>
            </a:r>
            <a:r>
              <a:rPr lang="en-US" b="1" i="1" dirty="0"/>
              <a:t> is not our partition key</a:t>
            </a:r>
            <a:r>
              <a:rPr lang="en-US" b="1" dirty="0"/>
              <a:t>.”</a:t>
            </a:r>
            <a:endParaRPr lang="en-US" dirty="0"/>
          </a:p>
          <a:p>
            <a:r>
              <a:rPr lang="en-US" b="1" dirty="0"/>
              <a:t>“So what happens? Cosmos DB is forced to </a:t>
            </a:r>
            <a:r>
              <a:rPr lang="en-US" b="1" i="1" dirty="0"/>
              <a:t>fan out</a:t>
            </a:r>
            <a:r>
              <a:rPr lang="en-US" b="1" dirty="0"/>
              <a:t> the query to </a:t>
            </a:r>
            <a:r>
              <a:rPr lang="en-US" b="1" i="1" dirty="0"/>
              <a:t>every</a:t>
            </a:r>
            <a:r>
              <a:rPr lang="en-US" b="1" dirty="0"/>
              <a:t> logical partition in the container.</a:t>
            </a:r>
            <a:br>
              <a:rPr lang="en-US" b="1" dirty="0"/>
            </a:br>
            <a:r>
              <a:rPr lang="en-US" b="1" dirty="0"/>
              <a:t>That means it has to ask every single partition:</a:t>
            </a:r>
            <a:br>
              <a:rPr lang="en-US" b="1" dirty="0"/>
            </a:br>
            <a:r>
              <a:rPr lang="en-US" b="1" dirty="0"/>
              <a:t>‘Do you have any orange documents?’”</a:t>
            </a:r>
            <a:endParaRPr lang="en-US" dirty="0"/>
          </a:p>
          <a:p>
            <a:r>
              <a:rPr lang="en-US" b="1" dirty="0"/>
              <a:t>“This still works — Cosmos DB will return the correct results — but there’s a cost:”</a:t>
            </a:r>
            <a:endParaRPr lang="en-US" dirty="0"/>
          </a:p>
          <a:p>
            <a:r>
              <a:rPr lang="en-US" b="1" dirty="0"/>
              <a:t>Higher latency</a:t>
            </a:r>
            <a:r>
              <a:rPr lang="en-US" dirty="0"/>
              <a:t> because multiple partitions must be scanned</a:t>
            </a:r>
          </a:p>
          <a:p>
            <a:r>
              <a:rPr lang="en-US" b="1" dirty="0"/>
              <a:t>Higher RU consumption</a:t>
            </a:r>
            <a:endParaRPr lang="en-US" dirty="0"/>
          </a:p>
          <a:p>
            <a:r>
              <a:rPr lang="en-US" b="1" dirty="0"/>
              <a:t>Lower scalability</a:t>
            </a:r>
            <a:r>
              <a:rPr lang="en-US" dirty="0"/>
              <a:t> because the number of partitions grows with your data</a:t>
            </a:r>
          </a:p>
          <a:p>
            <a:r>
              <a:rPr lang="en-US" b="1" dirty="0"/>
              <a:t>“And this cost only gets worse as your data scales, because the query must touch </a:t>
            </a:r>
            <a:r>
              <a:rPr lang="en-US" b="1" i="1" dirty="0"/>
              <a:t>more and more</a:t>
            </a:r>
            <a:r>
              <a:rPr lang="en-US" b="1" dirty="0"/>
              <a:t> partitions over time.”</a:t>
            </a:r>
            <a:br>
              <a:rPr lang="en-US" b="1" dirty="0"/>
            </a:br>
            <a:r>
              <a:rPr lang="en-US" dirty="0"/>
              <a:t>“So ideally, we want to design our partition key in a way that avoids these expensive cross-partition queries as much as possible.</a:t>
            </a:r>
            <a:br>
              <a:rPr lang="en-US" dirty="0"/>
            </a:br>
            <a:r>
              <a:rPr lang="en-US" dirty="0"/>
              <a:t>Next, let’s look at how we actually choose a good partition key for our customer model.”</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514368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 understand how partitioning works — logical partitions, hot partitions, throughput distribution, and the impact of the partition key — the next question is: </a:t>
            </a:r>
            <a:r>
              <a:rPr lang="en-US" b="1" i="1" dirty="0"/>
              <a:t>how do we choose the right partition key for our customer data?</a:t>
            </a:r>
            <a:r>
              <a:rPr lang="en-US" b="1" dirty="0"/>
              <a:t>”</a:t>
            </a:r>
            <a:endParaRPr lang="en-US" dirty="0"/>
          </a:p>
          <a:p>
            <a:r>
              <a:rPr lang="en-US" b="1" dirty="0"/>
              <a:t>“Here we have a sample customer document. It contains properties like first name, last name, email, phone number, addresses, and so on.</a:t>
            </a:r>
            <a:br>
              <a:rPr lang="en-US" b="1" dirty="0"/>
            </a:br>
            <a:r>
              <a:rPr lang="en-US" b="1" dirty="0"/>
              <a:t>But which one of these should we use as the partition key?</a:t>
            </a:r>
            <a:br>
              <a:rPr lang="en-US" b="1" dirty="0"/>
            </a:br>
            <a:r>
              <a:rPr lang="en-US" b="1" dirty="0"/>
              <a:t>And more importantly… what makes a partition key </a:t>
            </a:r>
            <a:r>
              <a:rPr lang="en-US" b="1" i="1" dirty="0"/>
              <a:t>good</a:t>
            </a:r>
            <a:r>
              <a:rPr lang="en-US" b="1" dirty="0"/>
              <a:t> or </a:t>
            </a:r>
            <a:r>
              <a:rPr lang="en-US" b="1" i="1" dirty="0"/>
              <a:t>bad</a:t>
            </a:r>
            <a:r>
              <a:rPr lang="en-US" b="1" dirty="0"/>
              <a:t>?”</a:t>
            </a:r>
            <a:br>
              <a:rPr lang="en-US" b="1" dirty="0"/>
            </a:br>
            <a:r>
              <a:rPr lang="en-US" dirty="0"/>
              <a:t>“To answer that, let’s take a step back and think about how this container will actually be used — what kinds of operations we’ll run most frequently.”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5039671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 choose the right partition key, we always start by looking at how the data will actually be used.</a:t>
            </a:r>
            <a:br>
              <a:rPr lang="en-US" b="1" dirty="0"/>
            </a:br>
            <a:r>
              <a:rPr lang="en-US" b="1" dirty="0"/>
              <a:t>For our </a:t>
            </a:r>
            <a:r>
              <a:rPr lang="en-US" b="1" i="1" dirty="0"/>
              <a:t>customers</a:t>
            </a:r>
            <a:r>
              <a:rPr lang="en-US" b="1" dirty="0"/>
              <a:t> container, the two core operations are very simple:</a:t>
            </a:r>
            <a:br>
              <a:rPr lang="en-US" b="1" dirty="0"/>
            </a:br>
            <a:r>
              <a:rPr lang="en-US" b="1" dirty="0"/>
              <a:t>– Creating a customer</a:t>
            </a:r>
            <a:br>
              <a:rPr lang="en-US" b="1" dirty="0"/>
            </a:br>
            <a:r>
              <a:rPr lang="en-US" b="1" dirty="0"/>
              <a:t>– Retrieving a customer by ID.”</a:t>
            </a:r>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“Creating a customer is a straightforward write, and retrieving a customer by ID is a very common read pattern. So our partition key should support these operations efficiently, without causing cross-partition queries.”</a:t>
            </a:r>
            <a:br>
              <a:rPr lang="en-US" b="1" dirty="0"/>
            </a:br>
            <a:r>
              <a:rPr lang="en-US" b="1" dirty="0"/>
              <a:t>“With that in mind, let’s see what happens if we choose the customer ID as our partition key.”</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2681108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based on the operations we just reviewed, choosing </a:t>
            </a:r>
            <a:r>
              <a:rPr lang="en-US" b="1" i="1" dirty="0"/>
              <a:t>id</a:t>
            </a:r>
            <a:r>
              <a:rPr lang="en-US" b="1" dirty="0"/>
              <a:t> as the partition key actually makes a lot of sense.</a:t>
            </a:r>
            <a:br>
              <a:rPr lang="en-US" b="1" dirty="0"/>
            </a:br>
            <a:r>
              <a:rPr lang="en-US" b="1" dirty="0"/>
              <a:t>Every time we create a new customer, they automatically get a unique ID.</a:t>
            </a:r>
            <a:br>
              <a:rPr lang="en-US" b="1" dirty="0"/>
            </a:br>
            <a:r>
              <a:rPr lang="en-US" b="1" dirty="0"/>
              <a:t>And whenever we retrieve a customer, we always do it by ID as well.”</a:t>
            </a:r>
            <a:endParaRPr lang="en-US" dirty="0"/>
          </a:p>
          <a:p>
            <a:r>
              <a:rPr lang="en-US" b="1" dirty="0"/>
              <a:t>“This means every request naturally targets a single logical partition, which gives us predictable performance and avoids unnecessary cross-partition queries.</a:t>
            </a:r>
            <a:br>
              <a:rPr lang="en-US" b="1" dirty="0"/>
            </a:br>
            <a:r>
              <a:rPr lang="en-US" b="1" dirty="0"/>
              <a:t>In other words, using the customer’s ID as the partition key aligns perfectly with how this data is accessed.”</a:t>
            </a:r>
            <a:br>
              <a:rPr lang="en-US" b="1" dirty="0"/>
            </a:br>
            <a:r>
              <a:rPr lang="en-US" dirty="0"/>
              <a:t>“Now let’s visualize what this looks like when the data is actually distributed across partitions.”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015738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when we choose </a:t>
            </a:r>
            <a:r>
              <a:rPr lang="en-US" b="1" i="1" dirty="0"/>
              <a:t>id</a:t>
            </a:r>
            <a:r>
              <a:rPr lang="en-US" b="1" dirty="0"/>
              <a:t> as the partition key, something interesting happens:</a:t>
            </a:r>
            <a:br>
              <a:rPr lang="en-US" b="1" dirty="0"/>
            </a:br>
            <a:r>
              <a:rPr lang="en-US" b="1" dirty="0"/>
              <a:t>we end up with as many logical partitions as we have customers.</a:t>
            </a:r>
            <a:br>
              <a:rPr lang="en-US" b="1" dirty="0"/>
            </a:br>
            <a:r>
              <a:rPr lang="en-US" b="1" dirty="0"/>
              <a:t>Each customer gets their own logical partition with exactly one document inside.”</a:t>
            </a:r>
            <a:endParaRPr lang="en-US" dirty="0"/>
          </a:p>
          <a:p>
            <a:r>
              <a:rPr lang="en-US" b="1" dirty="0"/>
              <a:t>“And that’s perfectly okay.</a:t>
            </a:r>
            <a:br>
              <a:rPr lang="en-US" b="1" dirty="0"/>
            </a:br>
            <a:r>
              <a:rPr lang="en-US" b="1" dirty="0"/>
              <a:t>People sometimes worry that having a very large number of logical partitions is a problem—but it isn’t.</a:t>
            </a:r>
            <a:br>
              <a:rPr lang="en-US" b="1" dirty="0"/>
            </a:br>
            <a:r>
              <a:rPr lang="en-US" b="1" dirty="0"/>
              <a:t>Logical partitions are just a virtual concept. Cosmos DB automatically groups many logical partitions together on the same physical servers.</a:t>
            </a:r>
            <a:br>
              <a:rPr lang="en-US" b="1" dirty="0"/>
            </a:br>
            <a:r>
              <a:rPr lang="en-US" b="1" dirty="0"/>
              <a:t>There’s no performance penalty, and there’s no upper limit on how many logical partitions you can have in a container.”</a:t>
            </a:r>
            <a:endParaRPr lang="en-US" dirty="0"/>
          </a:p>
          <a:p>
            <a:r>
              <a:rPr lang="en-US" b="1" dirty="0"/>
              <a:t>“So even though this diagram shows lots of little partitions, Cosmos DB handles all of this behind the scenes.</a:t>
            </a:r>
            <a:br>
              <a:rPr lang="en-US" b="1" dirty="0"/>
            </a:br>
            <a:r>
              <a:rPr lang="en-US" b="1" dirty="0"/>
              <a:t>You never have to manage or balance them manually.”</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3083086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walked through the customer entity and used it as our example to understand embedding, referencing, and partitioning, let’s move on to the next part of our data model: </a:t>
            </a:r>
            <a:r>
              <a:rPr lang="en-US" i="1" dirty="0"/>
              <a:t>product categories</a:t>
            </a:r>
            <a:r>
              <a:rPr lang="en-US" dirty="0"/>
              <a:t>.</a:t>
            </a:r>
          </a:p>
          <a:p>
            <a:r>
              <a:rPr lang="en-US" dirty="0"/>
              <a:t>On the screen here, you can see the relational diagram again. This helps us visualize where product categories sit in the overall domain.</a:t>
            </a:r>
            <a:br>
              <a:rPr lang="en-US" dirty="0"/>
            </a:br>
            <a:r>
              <a:rPr lang="en-US" dirty="0"/>
              <a:t>In a traditional SQL model, product categories are connected to products through a simple one-to-many relationship—one category can contain many products.</a:t>
            </a:r>
          </a:p>
          <a:p>
            <a:r>
              <a:rPr lang="en-US" dirty="0"/>
              <a:t>As we transition into Cosmos DB, we'll think about how to model this entity in a document-oriented world and, importantly, how to choose an appropriate partition key based on the operations our application needs to support.”**</a:t>
            </a:r>
          </a:p>
          <a:p>
            <a:r>
              <a:rPr lang="en-US" b="1" dirty="0"/>
              <a:t>Transition:</a:t>
            </a:r>
            <a:br>
              <a:rPr lang="en-US" dirty="0"/>
            </a:br>
            <a:r>
              <a:rPr lang="en-US" b="1" dirty="0"/>
              <a:t>“With that context in mind, let’s take a closer look at how we should store product categories inside Cosmos DB.”</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6:46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2134945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“Let’s move on to product categories.</a:t>
            </a:r>
            <a:br>
              <a:rPr lang="en-US" b="1" dirty="0"/>
            </a:br>
            <a:r>
              <a:rPr lang="en-US" b="1" dirty="0"/>
              <a:t>This one is very simple — the relational table has just two fields: </a:t>
            </a:r>
            <a:r>
              <a:rPr lang="en-US" sz="882" b="1" kern="1200" dirty="0">
                <a:solidFill>
                  <a:schemeClr val="tx1"/>
                </a:solidFill>
                <a:latin typeface="Segoe UI" panose="020B0502040204020203" pitchFamily="34" charset="0"/>
                <a:ea typeface="+mn-ea"/>
                <a:cs typeface="+mn-cs"/>
              </a:rPr>
              <a:t>id</a:t>
            </a:r>
            <a:r>
              <a:rPr lang="en-US" b="1" dirty="0"/>
              <a:t> and </a:t>
            </a:r>
            <a:r>
              <a:rPr lang="en-US" sz="882" b="1" kern="1200" dirty="0">
                <a:solidFill>
                  <a:schemeClr val="tx1"/>
                </a:solidFill>
                <a:latin typeface="Segoe UI" panose="020B0502040204020203" pitchFamily="34" charset="0"/>
                <a:ea typeface="+mn-ea"/>
                <a:cs typeface="+mn-cs"/>
              </a:rPr>
              <a:t>name</a:t>
            </a:r>
            <a:r>
              <a:rPr lang="en-US" b="1" dirty="0"/>
              <a:t>.</a:t>
            </a:r>
            <a:br>
              <a:rPr lang="en-US" b="1" dirty="0"/>
            </a:br>
            <a:r>
              <a:rPr lang="en-US" b="1" dirty="0"/>
              <a:t>So we translate it directly into a small JSON document with those same fields.”</a:t>
            </a:r>
            <a:endParaRPr lang="en-US" dirty="0"/>
          </a:p>
          <a:p>
            <a:r>
              <a:rPr lang="en-US" b="1" dirty="0"/>
              <a:t>Transition:</a:t>
            </a:r>
            <a:br>
              <a:rPr lang="en-US" dirty="0"/>
            </a:br>
            <a:r>
              <a:rPr lang="en-US" b="1" dirty="0"/>
              <a:t>“Next, let’s see how we store these categories in a container and think about the right partition key.”</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12752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 have the JSON document for a product category, we need a place to store it.</a:t>
            </a:r>
            <a:br>
              <a:rPr lang="en-US" b="1" dirty="0"/>
            </a:br>
            <a:r>
              <a:rPr lang="en-US" b="1" dirty="0"/>
              <a:t>So we create a new container called </a:t>
            </a:r>
            <a:r>
              <a:rPr lang="en-US" sz="882" b="1" kern="1200" dirty="0" err="1">
                <a:solidFill>
                  <a:schemeClr val="tx1"/>
                </a:solidFill>
                <a:latin typeface="Segoe UI" panose="020B0502040204020203" pitchFamily="34" charset="0"/>
                <a:ea typeface="+mn-ea"/>
                <a:cs typeface="+mn-cs"/>
              </a:rPr>
              <a:t>productCategories</a:t>
            </a:r>
            <a:r>
              <a:rPr lang="en-US" b="1" dirty="0"/>
              <a:t>.</a:t>
            </a:r>
            <a:br>
              <a:rPr lang="en-US" b="1" dirty="0"/>
            </a:br>
            <a:r>
              <a:rPr lang="en-US" b="1" dirty="0"/>
              <a:t>The only question left is: what should the partition key be?”</a:t>
            </a:r>
            <a:endParaRPr lang="en-US" dirty="0"/>
          </a:p>
          <a:p>
            <a:r>
              <a:rPr lang="en-US" b="1" dirty="0"/>
              <a:t>Transition:</a:t>
            </a:r>
            <a:br>
              <a:rPr lang="en-US" dirty="0"/>
            </a:br>
            <a:r>
              <a:rPr lang="en-US" b="1" dirty="0"/>
              <a:t>“To figure that out, let’s look at the operations we’ll perform on product categories.”</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20260528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think about the operations we need to support for product categories.</a:t>
            </a:r>
            <a:br>
              <a:rPr lang="en-US" dirty="0"/>
            </a:br>
            <a:r>
              <a:rPr lang="en-US" dirty="0"/>
              <a:t>We need to create a category, edit a category, and—most importantly—list all categories.</a:t>
            </a:r>
          </a:p>
          <a:p>
            <a:r>
              <a:rPr lang="en-US" dirty="0"/>
              <a:t>That last operation usually means running a query like </a:t>
            </a:r>
            <a:r>
              <a:rPr lang="en-US" i="1" dirty="0"/>
              <a:t>SELECT * FROM c</a:t>
            </a:r>
            <a:r>
              <a:rPr lang="en-US" dirty="0"/>
              <a:t>, which returns everything in the container.</a:t>
            </a:r>
          </a:p>
          <a:p>
            <a:r>
              <a:rPr lang="en-US" dirty="0"/>
              <a:t>To make that query fast and single-partition, all product categories should ideally live in the </a:t>
            </a:r>
            <a:r>
              <a:rPr lang="en-US" b="1" dirty="0"/>
              <a:t>same logical partition</a:t>
            </a:r>
            <a:r>
              <a:rPr lang="en-US" dirty="0"/>
              <a:t>.”**</a:t>
            </a:r>
          </a:p>
          <a:p>
            <a:r>
              <a:rPr lang="en-US" b="1" dirty="0"/>
              <a:t>Transition:</a:t>
            </a:r>
            <a:br>
              <a:rPr lang="en-US" dirty="0"/>
            </a:br>
            <a:r>
              <a:rPr lang="en-US" b="1" dirty="0"/>
              <a:t>“So knowing that we always read all categories together, what partition key should we choose?”</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9797881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make the </a:t>
            </a:r>
            <a:r>
              <a:rPr lang="en-US" i="1" dirty="0"/>
              <a:t>SELECT * FROM c</a:t>
            </a:r>
            <a:r>
              <a:rPr lang="en-US" dirty="0"/>
              <a:t> query single-partition, we need all product categories to live in the same logical partition.</a:t>
            </a:r>
            <a:br>
              <a:rPr lang="en-US" dirty="0"/>
            </a:br>
            <a:r>
              <a:rPr lang="en-US" dirty="0"/>
              <a:t>One simple trick is to introduce a field that has the same value for every category.</a:t>
            </a:r>
            <a:br>
              <a:rPr lang="en-US" dirty="0"/>
            </a:br>
            <a:r>
              <a:rPr lang="en-US" dirty="0"/>
              <a:t>Here, we add a property called </a:t>
            </a:r>
            <a:r>
              <a:rPr lang="en-US" b="1" dirty="0"/>
              <a:t>type</a:t>
            </a:r>
            <a:r>
              <a:rPr lang="en-US" dirty="0"/>
              <a:t>, and we set it to </a:t>
            </a:r>
            <a:r>
              <a:rPr lang="en-US" b="1" dirty="0"/>
              <a:t>'category'</a:t>
            </a:r>
            <a:r>
              <a:rPr lang="en-US" dirty="0"/>
              <a:t> for every document.</a:t>
            </a:r>
          </a:p>
          <a:p>
            <a:r>
              <a:rPr lang="en-US" dirty="0"/>
              <a:t>That means we can use </a:t>
            </a:r>
            <a:r>
              <a:rPr lang="en-US" sz="882" kern="1200" dirty="0">
                <a:solidFill>
                  <a:schemeClr val="tx1"/>
                </a:solidFill>
                <a:latin typeface="Segoe UI" panose="020B0502040204020203" pitchFamily="34" charset="0"/>
                <a:ea typeface="+mn-ea"/>
                <a:cs typeface="+mn-cs"/>
              </a:rPr>
              <a:t>type</a:t>
            </a:r>
            <a:r>
              <a:rPr lang="en-US" dirty="0"/>
              <a:t> as the partition key, and all documents will automatically land in the same logical partition.”**</a:t>
            </a:r>
          </a:p>
          <a:p>
            <a:r>
              <a:rPr lang="en-US" b="1" dirty="0"/>
              <a:t>Transition:</a:t>
            </a:r>
            <a:br>
              <a:rPr lang="en-US" dirty="0"/>
            </a:br>
            <a:r>
              <a:rPr lang="en-US" b="1" dirty="0"/>
              <a:t>“This approach might look a little strange at first, but we’ll refine and optimize this design as we move forward. Next, let’s apply the same thinking to product tags.”</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1436924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we’ve finished designing product categories, let’s move on to the next entity in our data model: product tags.</a:t>
            </a:r>
            <a:br>
              <a:rPr lang="en-US" b="1" dirty="0"/>
            </a:br>
            <a:r>
              <a:rPr lang="en-US" b="1" dirty="0"/>
              <a:t>Just like before, we start by looking at how tags fit into the relational diagram—how they relate to products and how they’re used in the system.”</a:t>
            </a:r>
            <a:endParaRPr lang="en-US" dirty="0"/>
          </a:p>
          <a:p>
            <a:r>
              <a:rPr lang="en-US" b="1" dirty="0"/>
              <a:t>Transition:</a:t>
            </a:r>
            <a:br>
              <a:rPr lang="en-US" dirty="0"/>
            </a:br>
            <a:r>
              <a:rPr lang="en-US" b="1" dirty="0"/>
              <a:t>“With that context in mind, let’s translate this entity into a JSON document and think about how we’ll store it in Cosmos DB.”</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6:56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487649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the same process for product tags, we start by defining the JSON document.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9499580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store tags in their own container named '</a:t>
            </a:r>
            <a:r>
              <a:rPr lang="en-US" dirty="0" err="1"/>
              <a:t>productTags</a:t>
            </a:r>
            <a:r>
              <a:rPr lang="en-US" dirty="0"/>
              <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2126238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product tags.</a:t>
            </a:r>
            <a:br>
              <a:rPr lang="en-US" dirty="0"/>
            </a:br>
            <a:r>
              <a:rPr lang="en-US" dirty="0"/>
              <a:t>When we examine the operations we need to support—creating a tag, editing a tag, and listing all tags—we notice something interesting: tags follow the exact same access patterns as product categories.</a:t>
            </a:r>
          </a:p>
          <a:p>
            <a:r>
              <a:rPr lang="en-US" dirty="0"/>
              <a:t>Because of that, we can apply the very same partitioning strategy here as well.”**</a:t>
            </a:r>
          </a:p>
          <a:p>
            <a:r>
              <a:rPr lang="en-US" b="1" dirty="0"/>
              <a:t>Transition:</a:t>
            </a:r>
            <a:br>
              <a:rPr lang="en-US" dirty="0"/>
            </a:br>
            <a:r>
              <a:rPr lang="en-US" b="1" dirty="0"/>
              <a:t>“So let’s use that approach and see what the resulting document and partition key would look like.”</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2297254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is partitioning the container by 'type', which will be set to 'tag' in each document.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571224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look at our products!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3776987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on to Products.</a:t>
            </a:r>
            <a:br>
              <a:rPr lang="en-US" dirty="0"/>
            </a:br>
            <a:r>
              <a:rPr lang="en-US" dirty="0"/>
              <a:t>Just like before, we start by translating the relational schema into a JSON document. So we include all the expected fields: id, </a:t>
            </a:r>
            <a:r>
              <a:rPr lang="en-US" dirty="0" err="1"/>
              <a:t>categoryId</a:t>
            </a:r>
            <a:r>
              <a:rPr lang="en-US" dirty="0"/>
              <a:t>, SKU, name, description, price, and so on.</a:t>
            </a:r>
          </a:p>
          <a:p>
            <a:r>
              <a:rPr lang="en-US" dirty="0"/>
              <a:t>But there’s one extra piece we need to account for: the relationship with tags.</a:t>
            </a:r>
            <a:br>
              <a:rPr lang="en-US" dirty="0"/>
            </a:br>
            <a:r>
              <a:rPr lang="en-US" dirty="0"/>
              <a:t>Since a product can have several tags — a 1-to-few relationship — the simplest and most efficient approach is to embed a list of tag IDs directly inside each product document.”**</a:t>
            </a:r>
          </a:p>
          <a:p>
            <a:r>
              <a:rPr lang="en-US" b="1" dirty="0"/>
              <a:t>Transition:</a:t>
            </a:r>
            <a:br>
              <a:rPr lang="en-US" dirty="0"/>
            </a:br>
            <a:r>
              <a:rPr lang="en-US" b="1" dirty="0"/>
              <a:t>“With that structure defined, the next step is to think about how we want to store these products inside a container — and specifically, which partition key will give us the best performance.”</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364280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store products in their own container, named 'products'.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74200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access patterns for products so we can choose the right partition key.</a:t>
            </a:r>
            <a:br>
              <a:rPr lang="en-US" dirty="0"/>
            </a:br>
            <a:r>
              <a:rPr lang="en-US" dirty="0"/>
              <a:t>For products, we need to support three main operations: creating a product, editing a product, and retrieving all products that belong to a specific category — including showing the category name and the tag names.</a:t>
            </a:r>
          </a:p>
          <a:p>
            <a:r>
              <a:rPr lang="en-US" dirty="0"/>
              <a:t>The key query here is the one at the bottom:</a:t>
            </a:r>
            <a:br>
              <a:rPr lang="en-US" dirty="0"/>
            </a:br>
            <a:r>
              <a:rPr lang="en-US" sz="882" kern="1200" dirty="0">
                <a:solidFill>
                  <a:schemeClr val="tx1"/>
                </a:solidFill>
                <a:latin typeface="Segoe UI" panose="020B0502040204020203" pitchFamily="34" charset="0"/>
                <a:ea typeface="+mn-ea"/>
                <a:cs typeface="+mn-cs"/>
              </a:rPr>
              <a:t>SELECT * FROM c WHERE </a:t>
            </a:r>
            <a:r>
              <a:rPr lang="en-US" sz="882" kern="1200" dirty="0" err="1">
                <a:solidFill>
                  <a:schemeClr val="tx1"/>
                </a:solidFill>
                <a:latin typeface="Segoe UI" panose="020B0502040204020203" pitchFamily="34" charset="0"/>
                <a:ea typeface="+mn-ea"/>
                <a:cs typeface="+mn-cs"/>
              </a:rPr>
              <a:t>c.categoryId</a:t>
            </a:r>
            <a:r>
              <a:rPr lang="en-US" sz="882" kern="1200" dirty="0">
                <a:solidFill>
                  <a:schemeClr val="tx1"/>
                </a:solidFill>
                <a:latin typeface="Segoe UI" panose="020B0502040204020203" pitchFamily="34" charset="0"/>
                <a:ea typeface="+mn-ea"/>
                <a:cs typeface="+mn-cs"/>
              </a:rPr>
              <a:t> = '</a:t>
            </a:r>
            <a:r>
              <a:rPr lang="en-US" sz="882" kern="1200" dirty="0" err="1">
                <a:solidFill>
                  <a:schemeClr val="tx1"/>
                </a:solidFill>
                <a:latin typeface="Segoe UI" panose="020B0502040204020203" pitchFamily="34" charset="0"/>
                <a:ea typeface="+mn-ea"/>
                <a:cs typeface="+mn-cs"/>
              </a:rPr>
              <a:t>CategoryA</a:t>
            </a:r>
            <a:r>
              <a:rPr lang="en-US" sz="882" kern="1200" dirty="0">
                <a:solidFill>
                  <a:schemeClr val="tx1"/>
                </a:solidFill>
                <a:latin typeface="Segoe UI" panose="020B0502040204020203" pitchFamily="34" charset="0"/>
                <a:ea typeface="+mn-ea"/>
                <a:cs typeface="+mn-cs"/>
              </a:rPr>
              <a:t>'</a:t>
            </a:r>
            <a:endParaRPr lang="en-US" dirty="0"/>
          </a:p>
          <a:p>
            <a:r>
              <a:rPr lang="en-US" dirty="0"/>
              <a:t>This query returns all products for a given category.</a:t>
            </a:r>
            <a:br>
              <a:rPr lang="en-US" dirty="0"/>
            </a:br>
            <a:r>
              <a:rPr lang="en-US" dirty="0"/>
              <a:t>To make this query efficient — meaning it hits only one logical partition — all products that belong to the same category must be stored in the same partition.</a:t>
            </a:r>
          </a:p>
          <a:p>
            <a:r>
              <a:rPr lang="en-US" dirty="0"/>
              <a:t>That naturally points us toward using </a:t>
            </a:r>
            <a:r>
              <a:rPr lang="en-US" b="1" dirty="0" err="1"/>
              <a:t>categoryId</a:t>
            </a:r>
            <a:r>
              <a:rPr lang="en-US" b="1" dirty="0"/>
              <a:t> as the partition key</a:t>
            </a:r>
            <a:r>
              <a:rPr lang="en-US" dirty="0"/>
              <a:t>, because it groups all products from the same category together and keeps this query single-partition.”**</a:t>
            </a:r>
          </a:p>
          <a:p>
            <a:r>
              <a:rPr lang="en-US" b="1" dirty="0"/>
              <a:t>Transition:</a:t>
            </a:r>
            <a:br>
              <a:rPr lang="en-US" dirty="0"/>
            </a:br>
            <a:r>
              <a:rPr lang="en-US" b="1" dirty="0"/>
              <a:t>“But that raises another question: how do we return the category name and the tag names if Cosmos DB doesn’t support joins? Let’s take a look at that next.”</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18861552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decided that </a:t>
            </a:r>
            <a:r>
              <a:rPr lang="en-US" sz="882" kern="1200" dirty="0" err="1">
                <a:solidFill>
                  <a:schemeClr val="tx1"/>
                </a:solidFill>
                <a:latin typeface="Segoe UI" panose="020B0502040204020203" pitchFamily="34" charset="0"/>
                <a:ea typeface="+mn-ea"/>
                <a:cs typeface="+mn-cs"/>
              </a:rPr>
              <a:t>categoryId</a:t>
            </a:r>
            <a:r>
              <a:rPr lang="en-US" dirty="0"/>
              <a:t> is the right partition key because it lets us retrieve all products for a category quickly.</a:t>
            </a:r>
            <a:br>
              <a:rPr lang="en-US" dirty="0"/>
            </a:br>
            <a:r>
              <a:rPr lang="en-US" dirty="0"/>
              <a:t>But there's still a problem: when I query a product, I only get IDs — the </a:t>
            </a:r>
            <a:r>
              <a:rPr lang="en-US" sz="882" kern="1200" dirty="0" err="1">
                <a:solidFill>
                  <a:schemeClr val="tx1"/>
                </a:solidFill>
                <a:latin typeface="Segoe UI" panose="020B0502040204020203" pitchFamily="34" charset="0"/>
                <a:ea typeface="+mn-ea"/>
                <a:cs typeface="+mn-cs"/>
              </a:rPr>
              <a:t>categoryId</a:t>
            </a:r>
            <a:r>
              <a:rPr lang="en-US" dirty="0"/>
              <a:t> and a list of </a:t>
            </a:r>
            <a:r>
              <a:rPr lang="en-US" sz="882" kern="1200" dirty="0" err="1">
                <a:solidFill>
                  <a:schemeClr val="tx1"/>
                </a:solidFill>
                <a:latin typeface="Segoe UI" panose="020B0502040204020203" pitchFamily="34" charset="0"/>
                <a:ea typeface="+mn-ea"/>
                <a:cs typeface="+mn-cs"/>
              </a:rPr>
              <a:t>tagIds</a:t>
            </a:r>
            <a:r>
              <a:rPr lang="en-US" dirty="0"/>
              <a:t>.</a:t>
            </a:r>
          </a:p>
          <a:p>
            <a:r>
              <a:rPr lang="en-US" dirty="0"/>
              <a:t>What I </a:t>
            </a:r>
            <a:r>
              <a:rPr lang="en-US" i="1" dirty="0"/>
              <a:t>really</a:t>
            </a:r>
            <a:r>
              <a:rPr lang="en-US" dirty="0"/>
              <a:t> need to show in the application is the category </a:t>
            </a:r>
            <a:r>
              <a:rPr lang="en-US" i="1" dirty="0"/>
              <a:t>name</a:t>
            </a:r>
            <a:r>
              <a:rPr lang="en-US" dirty="0"/>
              <a:t> and the tag </a:t>
            </a:r>
            <a:r>
              <a:rPr lang="en-US" i="1" dirty="0"/>
              <a:t>names</a:t>
            </a:r>
            <a:r>
              <a:rPr lang="en-US" dirty="0"/>
              <a:t>.</a:t>
            </a:r>
            <a:br>
              <a:rPr lang="en-US" dirty="0"/>
            </a:br>
            <a:r>
              <a:rPr lang="en-US" dirty="0"/>
              <a:t>In a relational database, I would solve this with joins.</a:t>
            </a:r>
            <a:br>
              <a:rPr lang="en-US" dirty="0"/>
            </a:br>
            <a:r>
              <a:rPr lang="en-US" dirty="0"/>
              <a:t>But in Cosmos DB, we can't perform joins across containers.</a:t>
            </a:r>
          </a:p>
          <a:p>
            <a:r>
              <a:rPr lang="en-US" dirty="0"/>
              <a:t>So this is where we need to think about how to make that data available in a single query response.”**</a:t>
            </a:r>
          </a:p>
          <a:p>
            <a:r>
              <a:rPr lang="en-US" b="1" dirty="0"/>
              <a:t>Transition:</a:t>
            </a:r>
            <a:br>
              <a:rPr lang="en-US" dirty="0"/>
            </a:br>
            <a:r>
              <a:rPr lang="en-US" b="1" dirty="0"/>
              <a:t>“To solve this, we move into one of the most important concepts in NoSQL design: denormalization.”</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44</a:t>
            </a:fld>
            <a:endParaRPr lang="en-US" dirty="0"/>
          </a:p>
        </p:txBody>
      </p:sp>
    </p:spTree>
    <p:extLst>
      <p:ext uri="{BB962C8B-B14F-4D97-AF65-F5344CB8AC3E}">
        <p14:creationId xmlns:p14="http://schemas.microsoft.com/office/powerpoint/2010/main" val="7368983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into the classic problem: how do we return the category </a:t>
            </a:r>
            <a:r>
              <a:rPr lang="en-US" i="1" dirty="0"/>
              <a:t>name</a:t>
            </a:r>
            <a:r>
              <a:rPr lang="en-US" dirty="0"/>
              <a:t> and tag </a:t>
            </a:r>
            <a:r>
              <a:rPr lang="en-US" i="1" dirty="0"/>
              <a:t>names</a:t>
            </a:r>
            <a:r>
              <a:rPr lang="en-US" dirty="0"/>
              <a:t> for each product?</a:t>
            </a:r>
            <a:br>
              <a:rPr lang="en-US" dirty="0"/>
            </a:br>
            <a:r>
              <a:rPr lang="en-US" dirty="0"/>
              <a:t>If this were a relational database, we’d just write a JOIN. But in Cosmos DB, containers don’t support cross-container joins.</a:t>
            </a:r>
          </a:p>
          <a:p>
            <a:r>
              <a:rPr lang="en-US" dirty="0"/>
              <a:t>So the only way to do this in a normalized model is to run multiple queries:</a:t>
            </a:r>
            <a:br>
              <a:rPr lang="en-US" dirty="0"/>
            </a:br>
            <a:r>
              <a:rPr lang="en-US" dirty="0"/>
              <a:t>• First query: get all products for the category.</a:t>
            </a:r>
            <a:br>
              <a:rPr lang="en-US" dirty="0"/>
            </a:br>
            <a:r>
              <a:rPr lang="en-US" dirty="0"/>
              <a:t>• Second query: look up the category name.</a:t>
            </a:r>
            <a:br>
              <a:rPr lang="en-US" dirty="0"/>
            </a:br>
            <a:r>
              <a:rPr lang="en-US" dirty="0"/>
              <a:t>• Third query: for each product, fetch its tag names.</a:t>
            </a:r>
          </a:p>
          <a:p>
            <a:r>
              <a:rPr lang="en-US" dirty="0"/>
              <a:t>This technically works — but it’s slow, it’s expensive, and it doesn’t scale.</a:t>
            </a:r>
            <a:br>
              <a:rPr lang="en-US" dirty="0"/>
            </a:br>
            <a:r>
              <a:rPr lang="en-US" dirty="0"/>
              <a:t>Anyone coming from SQL is going to say, ‘Where are my JOINs?’</a:t>
            </a:r>
          </a:p>
          <a:p>
            <a:r>
              <a:rPr lang="en-US" dirty="0"/>
              <a:t>This is exactly why we need to think differently in NoSQL and start optimizing the data model for the queries we need to serve.”**</a:t>
            </a:r>
          </a:p>
          <a:p>
            <a:r>
              <a:rPr lang="en-US" b="1" dirty="0"/>
              <a:t>Transition:</a:t>
            </a:r>
            <a:br>
              <a:rPr lang="en-US" dirty="0"/>
            </a:br>
            <a:r>
              <a:rPr lang="en-US" b="1" dirty="0"/>
              <a:t>“And that leads us into denormalization — one of the most important concepts in non-relational modeling.”</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45</a:t>
            </a:fld>
            <a:endParaRPr lang="en-US" dirty="0"/>
          </a:p>
        </p:txBody>
      </p:sp>
    </p:spTree>
    <p:extLst>
      <p:ext uri="{BB962C8B-B14F-4D97-AF65-F5344CB8AC3E}">
        <p14:creationId xmlns:p14="http://schemas.microsoft.com/office/powerpoint/2010/main" val="19151782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46</a:t>
            </a:fld>
            <a:endParaRPr lang="en-US" dirty="0"/>
          </a:p>
        </p:txBody>
      </p:sp>
    </p:spTree>
    <p:extLst>
      <p:ext uri="{BB962C8B-B14F-4D97-AF65-F5344CB8AC3E}">
        <p14:creationId xmlns:p14="http://schemas.microsoft.com/office/powerpoint/2010/main" val="17719684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all those extra queries and missing JOINs, we </a:t>
            </a:r>
            <a:r>
              <a:rPr lang="en-US" dirty="0" err="1"/>
              <a:t>denormalize</a:t>
            </a:r>
            <a:r>
              <a:rPr lang="en-US" dirty="0"/>
              <a:t>.</a:t>
            </a:r>
            <a:br>
              <a:rPr lang="en-US" dirty="0"/>
            </a:br>
            <a:r>
              <a:rPr lang="en-US" dirty="0"/>
              <a:t>That means we store the data we need </a:t>
            </a:r>
            <a:r>
              <a:rPr lang="en-US" i="1" dirty="0"/>
              <a:t>directly inside the product document</a:t>
            </a:r>
            <a:r>
              <a:rPr lang="en-US" dirty="0"/>
              <a:t>.</a:t>
            </a:r>
          </a:p>
          <a:p>
            <a:r>
              <a:rPr lang="en-US" dirty="0"/>
              <a:t>So instead of returning only a category ID and tag IDs, we also embed:</a:t>
            </a:r>
            <a:br>
              <a:rPr lang="en-US" dirty="0"/>
            </a:br>
            <a:r>
              <a:rPr lang="en-US" dirty="0"/>
              <a:t>• the category name,</a:t>
            </a:r>
            <a:br>
              <a:rPr lang="en-US" dirty="0"/>
            </a:br>
            <a:r>
              <a:rPr lang="en-US" dirty="0"/>
              <a:t>• and for each tag, both its ID and its name.</a:t>
            </a:r>
          </a:p>
          <a:p>
            <a:r>
              <a:rPr lang="en-US" dirty="0"/>
              <a:t>By doing this, a single read from the products container gives us everything the UI needs — no lookups, no joins, no fan-out queries.</a:t>
            </a:r>
          </a:p>
          <a:p>
            <a:r>
              <a:rPr lang="en-US" dirty="0"/>
              <a:t>This works great for read performance…</a:t>
            </a:r>
            <a:br>
              <a:rPr lang="en-US" dirty="0"/>
            </a:br>
            <a:r>
              <a:rPr lang="en-US" dirty="0"/>
              <a:t>But now we have a new challenge: what happens if someone renames a category or a tag?</a:t>
            </a:r>
            <a:br>
              <a:rPr lang="en-US" dirty="0"/>
            </a:br>
            <a:r>
              <a:rPr lang="en-US" dirty="0"/>
              <a:t>All the products that copied that name would now be out of sync.</a:t>
            </a:r>
          </a:p>
          <a:p>
            <a:r>
              <a:rPr lang="en-US" dirty="0"/>
              <a:t>And that’s why we need to think about keeping everything consistent.”**</a:t>
            </a:r>
          </a:p>
          <a:p>
            <a:r>
              <a:rPr lang="en-US" b="1" dirty="0"/>
              <a:t>Transition:</a:t>
            </a:r>
            <a:br>
              <a:rPr lang="en-US" dirty="0"/>
            </a:br>
            <a:r>
              <a:rPr lang="en-US" b="1" dirty="0"/>
              <a:t>“So let’s talk about how we keep these denormalized fields in sync — and that’s where Cosmos DB’s change feed comes in.”</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47</a:t>
            </a:fld>
            <a:endParaRPr lang="en-US" dirty="0"/>
          </a:p>
        </p:txBody>
      </p:sp>
    </p:spTree>
    <p:extLst>
      <p:ext uri="{BB962C8B-B14F-4D97-AF65-F5344CB8AC3E}">
        <p14:creationId xmlns:p14="http://schemas.microsoft.com/office/powerpoint/2010/main" val="3119728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we're </a:t>
            </a:r>
            <a:r>
              <a:rPr lang="en-US" dirty="0" err="1"/>
              <a:t>denormalizing</a:t>
            </a:r>
            <a:r>
              <a:rPr lang="en-US" dirty="0"/>
              <a:t> category and tag names into each product, we need a way to keep everything consistent.</a:t>
            </a:r>
          </a:p>
          <a:p>
            <a:r>
              <a:rPr lang="en-US" dirty="0"/>
              <a:t>If someone renames a category or a tag, we want that change to automatically flow into every product that uses it.</a:t>
            </a:r>
          </a:p>
          <a:p>
            <a:r>
              <a:rPr lang="en-US" dirty="0"/>
              <a:t>That means:</a:t>
            </a:r>
            <a:br>
              <a:rPr lang="en-US" dirty="0"/>
            </a:br>
            <a:r>
              <a:rPr lang="en-US" dirty="0"/>
              <a:t>• when a category name changes → update all products in that category</a:t>
            </a:r>
            <a:br>
              <a:rPr lang="en-US" dirty="0"/>
            </a:br>
            <a:r>
              <a:rPr lang="en-US" dirty="0"/>
              <a:t>• when a tag name changes → update all products that contain that tag</a:t>
            </a:r>
          </a:p>
          <a:p>
            <a:r>
              <a:rPr lang="en-US" dirty="0"/>
              <a:t>So the goal is simple: any update in the </a:t>
            </a:r>
            <a:r>
              <a:rPr lang="en-US" sz="882" kern="1200" dirty="0" err="1">
                <a:solidFill>
                  <a:schemeClr val="tx1"/>
                </a:solidFill>
                <a:latin typeface="Segoe UI" panose="020B0502040204020203" pitchFamily="34" charset="0"/>
                <a:ea typeface="+mn-ea"/>
                <a:cs typeface="+mn-cs"/>
              </a:rPr>
              <a:t>productCategories</a:t>
            </a:r>
            <a:r>
              <a:rPr lang="en-US" dirty="0"/>
              <a:t> or </a:t>
            </a:r>
            <a:r>
              <a:rPr lang="en-US" sz="882" kern="1200" dirty="0" err="1">
                <a:solidFill>
                  <a:schemeClr val="tx1"/>
                </a:solidFill>
                <a:latin typeface="Segoe UI" panose="020B0502040204020203" pitchFamily="34" charset="0"/>
                <a:ea typeface="+mn-ea"/>
                <a:cs typeface="+mn-cs"/>
              </a:rPr>
              <a:t>productTags</a:t>
            </a:r>
            <a:r>
              <a:rPr lang="en-US" dirty="0"/>
              <a:t> containers should be reflected in the </a:t>
            </a:r>
            <a:r>
              <a:rPr lang="en-US" sz="882" kern="1200" dirty="0">
                <a:solidFill>
                  <a:schemeClr val="tx1"/>
                </a:solidFill>
                <a:latin typeface="Segoe UI" panose="020B0502040204020203" pitchFamily="34" charset="0"/>
                <a:ea typeface="+mn-ea"/>
                <a:cs typeface="+mn-cs"/>
              </a:rPr>
              <a:t>products</a:t>
            </a:r>
            <a:r>
              <a:rPr lang="en-US" dirty="0"/>
              <a:t> container as well, without us manually touching every document.”**</a:t>
            </a:r>
          </a:p>
          <a:p>
            <a:r>
              <a:rPr lang="en-US" b="1" dirty="0"/>
              <a:t>Transition:</a:t>
            </a:r>
            <a:br>
              <a:rPr lang="en-US" dirty="0"/>
            </a:br>
            <a:r>
              <a:rPr lang="en-US" b="1" dirty="0"/>
              <a:t>“And this is exactly what Cosmos DB’s change feed is designed for — so let’s look at how it helps us keep everything in sync.”</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48</a:t>
            </a:fld>
            <a:endParaRPr lang="en-US" dirty="0"/>
          </a:p>
        </p:txBody>
      </p:sp>
    </p:spTree>
    <p:extLst>
      <p:ext uri="{BB962C8B-B14F-4D97-AF65-F5344CB8AC3E}">
        <p14:creationId xmlns:p14="http://schemas.microsoft.com/office/powerpoint/2010/main" val="32199451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our products in sync when a category or tag changes, Cosmos DB gives us exactly the feature we need: the change feed.</a:t>
            </a:r>
          </a:p>
          <a:p>
            <a:r>
              <a:rPr lang="en-US" dirty="0"/>
              <a:t>The change feed is basically a stream of every change that happens inside a container — any insert, any update.</a:t>
            </a:r>
            <a:br>
              <a:rPr lang="en-US" dirty="0"/>
            </a:br>
            <a:r>
              <a:rPr lang="en-US" dirty="0"/>
              <a:t>So whenever a category or tag is modified, the change feed will automatically surface that event.</a:t>
            </a:r>
          </a:p>
          <a:p>
            <a:r>
              <a:rPr lang="en-US" dirty="0"/>
              <a:t>We can then listen to those events and update the corresponding products right away, keeping everything consistent.”**</a:t>
            </a:r>
          </a:p>
          <a:p>
            <a:r>
              <a:rPr lang="en-US" b="1" dirty="0"/>
              <a:t>Transition:</a:t>
            </a:r>
            <a:br>
              <a:rPr lang="en-US" dirty="0"/>
            </a:br>
            <a:r>
              <a:rPr lang="en-US" b="1" dirty="0"/>
              <a:t>“Now let’s see how we use the change feed to push those updates into the products container.”</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49</a:t>
            </a:fld>
            <a:endParaRPr lang="en-US" dirty="0"/>
          </a:p>
        </p:txBody>
      </p:sp>
    </p:spTree>
    <p:extLst>
      <p:ext uri="{BB962C8B-B14F-4D97-AF65-F5344CB8AC3E}">
        <p14:creationId xmlns:p14="http://schemas.microsoft.com/office/powerpoint/2010/main" val="22869346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everything synchronized, we add two small Azure Functions — one watching the category container and one watching the tag container.</a:t>
            </a:r>
            <a:br>
              <a:rPr lang="en-US" dirty="0"/>
            </a:br>
            <a:r>
              <a:rPr lang="en-US" dirty="0"/>
              <a:t>Each function listens to the change feed for its container.</a:t>
            </a:r>
            <a:br>
              <a:rPr lang="en-US" dirty="0"/>
            </a:br>
            <a:r>
              <a:rPr lang="en-US" dirty="0"/>
              <a:t>Whenever a category or tag is updated, the function picks up that change and immediately updates all related products.</a:t>
            </a:r>
          </a:p>
          <a:p>
            <a:r>
              <a:rPr lang="en-US" dirty="0"/>
              <a:t>This ensures that product documents always contain the latest category name and tag names without requiring joins.”**</a:t>
            </a:r>
          </a:p>
          <a:p>
            <a:r>
              <a:rPr lang="en-US" b="1" dirty="0"/>
              <a:t>Transition:</a:t>
            </a:r>
            <a:br>
              <a:rPr lang="en-US" dirty="0"/>
            </a:br>
            <a:r>
              <a:rPr lang="en-US" b="1" dirty="0"/>
              <a:t>“Now that products, categories, and tags stay in sync, let’s move on to sales orders.”</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50</a:t>
            </a:fld>
            <a:endParaRPr lang="en-US" dirty="0"/>
          </a:p>
        </p:txBody>
      </p:sp>
    </p:spTree>
    <p:extLst>
      <p:ext uri="{BB962C8B-B14F-4D97-AF65-F5344CB8AC3E}">
        <p14:creationId xmlns:p14="http://schemas.microsoft.com/office/powerpoint/2010/main" val="19668931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let's look at our sales order.</a:t>
            </a:r>
          </a:p>
          <a:p>
            <a:endParaRPr lang="en-US" dirty="0"/>
          </a:p>
          <a:p>
            <a:r>
              <a:rPr lang="en-US" dirty="0"/>
              <a:t>Same process, we start by creating the JSON form of each entity.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52</a:t>
            </a:fld>
            <a:endParaRPr lang="en-US" dirty="0"/>
          </a:p>
        </p:txBody>
      </p:sp>
    </p:spTree>
    <p:extLst>
      <p:ext uri="{BB962C8B-B14F-4D97-AF65-F5344CB8AC3E}">
        <p14:creationId xmlns:p14="http://schemas.microsoft.com/office/powerpoint/2010/main" val="25897638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obviously another good candidate for embedding, as it makes sense to embed the sales order details together with the sales order.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53</a:t>
            </a:fld>
            <a:endParaRPr lang="en-US" dirty="0"/>
          </a:p>
        </p:txBody>
      </p:sp>
    </p:spTree>
    <p:extLst>
      <p:ext uri="{BB962C8B-B14F-4D97-AF65-F5344CB8AC3E}">
        <p14:creationId xmlns:p14="http://schemas.microsoft.com/office/powerpoint/2010/main" val="2724440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could store sales orders in their own container.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54</a:t>
            </a:fld>
            <a:endParaRPr lang="en-US" dirty="0"/>
          </a:p>
        </p:txBody>
      </p:sp>
    </p:spTree>
    <p:extLst>
      <p:ext uri="{BB962C8B-B14F-4D97-AF65-F5344CB8AC3E}">
        <p14:creationId xmlns:p14="http://schemas.microsoft.com/office/powerpoint/2010/main" val="36071914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again, we look at the expected requests to decide on the partition key.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55</a:t>
            </a:fld>
            <a:endParaRPr lang="en-US" dirty="0"/>
          </a:p>
        </p:txBody>
      </p:sp>
    </p:spTree>
    <p:extLst>
      <p:ext uri="{BB962C8B-B14F-4D97-AF65-F5344CB8AC3E}">
        <p14:creationId xmlns:p14="http://schemas.microsoft.com/office/powerpoint/2010/main" val="35116463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sales orders.</a:t>
            </a:r>
            <a:br>
              <a:rPr lang="en-US" dirty="0"/>
            </a:br>
            <a:r>
              <a:rPr lang="en-US" dirty="0"/>
              <a:t>One of the key operations we need to support is </a:t>
            </a:r>
            <a:r>
              <a:rPr lang="en-US" i="1" dirty="0"/>
              <a:t>listing all sales orders for a specific customer</a:t>
            </a:r>
            <a:r>
              <a:rPr lang="en-US" dirty="0"/>
              <a:t>.</a:t>
            </a:r>
          </a:p>
          <a:p>
            <a:r>
              <a:rPr lang="en-US" dirty="0"/>
              <a:t>To do that efficiently, we want the query:</a:t>
            </a:r>
            <a:br>
              <a:rPr lang="en-US" dirty="0"/>
            </a:br>
            <a:r>
              <a:rPr lang="en-US" sz="882" b="1" kern="1200" dirty="0">
                <a:solidFill>
                  <a:schemeClr val="tx1"/>
                </a:solidFill>
                <a:latin typeface="Segoe UI" panose="020B0502040204020203" pitchFamily="34" charset="0"/>
                <a:ea typeface="+mn-ea"/>
                <a:cs typeface="+mn-cs"/>
              </a:rPr>
              <a:t>SELECT * FROM c WHERE </a:t>
            </a:r>
            <a:r>
              <a:rPr lang="en-US" sz="882" b="1" kern="1200" dirty="0" err="1">
                <a:solidFill>
                  <a:schemeClr val="tx1"/>
                </a:solidFill>
                <a:latin typeface="Segoe UI" panose="020B0502040204020203" pitchFamily="34" charset="0"/>
                <a:ea typeface="+mn-ea"/>
                <a:cs typeface="+mn-cs"/>
              </a:rPr>
              <a:t>c.customerId</a:t>
            </a:r>
            <a:r>
              <a:rPr lang="en-US" sz="882" b="1" kern="1200" dirty="0">
                <a:solidFill>
                  <a:schemeClr val="tx1"/>
                </a:solidFill>
                <a:latin typeface="Segoe UI" panose="020B0502040204020203" pitchFamily="34" charset="0"/>
                <a:ea typeface="+mn-ea"/>
                <a:cs typeface="+mn-cs"/>
              </a:rPr>
              <a:t> = 'CustomerA'</a:t>
            </a:r>
            <a:br>
              <a:rPr lang="en-US" dirty="0"/>
            </a:br>
            <a:r>
              <a:rPr lang="en-US" dirty="0"/>
              <a:t>to be a </a:t>
            </a:r>
            <a:r>
              <a:rPr lang="en-US" b="1" dirty="0"/>
              <a:t>single-partition query</a:t>
            </a:r>
            <a:r>
              <a:rPr lang="en-US" dirty="0"/>
              <a:t>.</a:t>
            </a:r>
          </a:p>
          <a:p>
            <a:r>
              <a:rPr lang="en-US" dirty="0"/>
              <a:t>That means all sales orders belonging to the same customer must live in the same logical partition.</a:t>
            </a:r>
            <a:br>
              <a:rPr lang="en-US" dirty="0"/>
            </a:br>
            <a:r>
              <a:rPr lang="en-US" dirty="0"/>
              <a:t>So naturally, </a:t>
            </a:r>
            <a:r>
              <a:rPr lang="en-US" sz="882" b="1" kern="1200" dirty="0" err="1">
                <a:solidFill>
                  <a:schemeClr val="tx1"/>
                </a:solidFill>
                <a:latin typeface="Segoe UI" panose="020B0502040204020203" pitchFamily="34" charset="0"/>
                <a:ea typeface="+mn-ea"/>
                <a:cs typeface="+mn-cs"/>
              </a:rPr>
              <a:t>customerId</a:t>
            </a:r>
            <a:r>
              <a:rPr lang="en-US" b="1" dirty="0"/>
              <a:t> becomes the right partition key</a:t>
            </a:r>
            <a:r>
              <a:rPr lang="en-US" dirty="0"/>
              <a:t> for the </a:t>
            </a:r>
            <a:r>
              <a:rPr lang="en-US" sz="882" kern="1200" dirty="0" err="1">
                <a:solidFill>
                  <a:schemeClr val="tx1"/>
                </a:solidFill>
                <a:latin typeface="Segoe UI" panose="020B0502040204020203" pitchFamily="34" charset="0"/>
                <a:ea typeface="+mn-ea"/>
                <a:cs typeface="+mn-cs"/>
              </a:rPr>
              <a:t>salesOrders</a:t>
            </a:r>
            <a:r>
              <a:rPr lang="en-US" dirty="0"/>
              <a:t> container.</a:t>
            </a:r>
          </a:p>
          <a:p>
            <a:r>
              <a:rPr lang="en-US" dirty="0"/>
              <a:t>This way, creating a new sales order and retrieving every order for a given customer are both optimized and scalable.”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56</a:t>
            </a:fld>
            <a:endParaRPr lang="en-US" dirty="0"/>
          </a:p>
        </p:txBody>
      </p:sp>
    </p:spTree>
    <p:extLst>
      <p:ext uri="{BB962C8B-B14F-4D97-AF65-F5344CB8AC3E}">
        <p14:creationId xmlns:p14="http://schemas.microsoft.com/office/powerpoint/2010/main" val="6946826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t>
            </a:r>
            <a:r>
              <a:rPr lang="en-US" dirty="0" err="1"/>
              <a:t>customerId</a:t>
            </a:r>
            <a:r>
              <a:rPr lang="en-US" dirty="0"/>
              <a:t> would be a suitable partition key here.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57</a:t>
            </a:fld>
            <a:endParaRPr lang="en-US" dirty="0"/>
          </a:p>
        </p:txBody>
      </p:sp>
    </p:spTree>
    <p:extLst>
      <p:ext uri="{BB962C8B-B14F-4D97-AF65-F5344CB8AC3E}">
        <p14:creationId xmlns:p14="http://schemas.microsoft.com/office/powerpoint/2010/main" val="19249228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let’s take a quick step back.</a:t>
            </a:r>
            <a:br>
              <a:rPr lang="en-US" dirty="0"/>
            </a:br>
            <a:r>
              <a:rPr lang="en-US" dirty="0"/>
              <a:t>If we look at all the containers we’ve created so far, something interesting shows up: we already have a container that’s partitioned by </a:t>
            </a:r>
            <a:r>
              <a:rPr lang="en-US" i="1" dirty="0" err="1"/>
              <a:t>customerId</a:t>
            </a:r>
            <a:r>
              <a:rPr lang="en-US" dirty="0"/>
              <a:t> — our </a:t>
            </a:r>
            <a:r>
              <a:rPr lang="en-US" i="1" dirty="0"/>
              <a:t>customers</a:t>
            </a:r>
            <a:r>
              <a:rPr lang="en-US" dirty="0"/>
              <a:t> container.</a:t>
            </a:r>
          </a:p>
          <a:p>
            <a:r>
              <a:rPr lang="en-US" dirty="0"/>
              <a:t>And this is the exact same partition key we just selected for sales orders.</a:t>
            </a:r>
            <a:br>
              <a:rPr lang="en-US" dirty="0"/>
            </a:br>
            <a:r>
              <a:rPr lang="en-US" dirty="0"/>
              <a:t>So that raises a natural question: if both entity types share the same partition key, could we store customers and sales orders together in the same container?”**</a:t>
            </a:r>
            <a:br>
              <a:rPr lang="en-US" dirty="0"/>
            </a:br>
            <a:r>
              <a:rPr lang="en-US" dirty="0"/>
              <a:t>“This brings us to an important capability of Cosmos DB: the ability to mix different entity types in the same container when it benefits our access patterns.”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58</a:t>
            </a:fld>
            <a:endParaRPr lang="en-US" dirty="0"/>
          </a:p>
        </p:txBody>
      </p:sp>
    </p:spTree>
    <p:extLst>
      <p:ext uri="{BB962C8B-B14F-4D97-AF65-F5344CB8AC3E}">
        <p14:creationId xmlns:p14="http://schemas.microsoft.com/office/powerpoint/2010/main" val="1241101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that we’ve noticed both customers and sales orders share the same partition key, let’s talk about a powerful capability of Cosmos DB.</a:t>
            </a:r>
          </a:p>
          <a:p>
            <a:r>
              <a:rPr lang="en-US" dirty="0"/>
              <a:t>Cosmos DB is completely schema-agnostic, meaning it doesn’t require every item in a container to follow the same shape or structure.</a:t>
            </a:r>
            <a:br>
              <a:rPr lang="en-US" dirty="0"/>
            </a:br>
            <a:r>
              <a:rPr lang="en-US" dirty="0"/>
              <a:t>Because of that, we </a:t>
            </a:r>
            <a:r>
              <a:rPr lang="en-US" i="1" dirty="0"/>
              <a:t>can</a:t>
            </a:r>
            <a:r>
              <a:rPr lang="en-US" dirty="0"/>
              <a:t> store different entity types together in the same container—</a:t>
            </a:r>
            <a:r>
              <a:rPr lang="en-US" b="1" dirty="0"/>
              <a:t>as long as it makes sense for our access patterns</a:t>
            </a:r>
            <a:r>
              <a:rPr lang="en-US" dirty="0"/>
              <a:t>.</a:t>
            </a:r>
          </a:p>
          <a:p>
            <a:r>
              <a:rPr lang="en-US" dirty="0"/>
              <a:t>This approach works well when two entity types:</a:t>
            </a:r>
            <a:br>
              <a:rPr lang="en-US" dirty="0"/>
            </a:br>
            <a:r>
              <a:rPr lang="en-US" dirty="0"/>
              <a:t>• share similar access patterns, and</a:t>
            </a:r>
            <a:br>
              <a:rPr lang="en-US" dirty="0"/>
            </a:br>
            <a:r>
              <a:rPr lang="en-US" dirty="0"/>
              <a:t>• share the same partition key.</a:t>
            </a:r>
          </a:p>
          <a:p>
            <a:r>
              <a:rPr lang="en-US" dirty="0"/>
              <a:t>And conveniently, both of those are true for customers and sales orders.”**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8:13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59</a:t>
            </a:fld>
            <a:endParaRPr lang="en-US" dirty="0"/>
          </a:p>
        </p:txBody>
      </p:sp>
    </p:spTree>
    <p:extLst>
      <p:ext uri="{BB962C8B-B14F-4D97-AF65-F5344CB8AC3E}">
        <p14:creationId xmlns:p14="http://schemas.microsoft.com/office/powerpoint/2010/main" val="8421099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instead of storing customers and sales orders in the same container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60</a:t>
            </a:fld>
            <a:endParaRPr lang="en-US" dirty="0"/>
          </a:p>
        </p:txBody>
      </p:sp>
    </p:spTree>
    <p:extLst>
      <p:ext uri="{BB962C8B-B14F-4D97-AF65-F5344CB8AC3E}">
        <p14:creationId xmlns:p14="http://schemas.microsoft.com/office/powerpoint/2010/main" val="21613585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put them both in the customers container.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61</a:t>
            </a:fld>
            <a:endParaRPr lang="en-US" dirty="0"/>
          </a:p>
        </p:txBody>
      </p:sp>
    </p:spTree>
    <p:extLst>
      <p:ext uri="{BB962C8B-B14F-4D97-AF65-F5344CB8AC3E}">
        <p14:creationId xmlns:p14="http://schemas.microsoft.com/office/powerpoint/2010/main" val="15099645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 want to store customers and sales orders together in the same container, we just need to make a couple of small adjustments.</a:t>
            </a:r>
          </a:p>
          <a:p>
            <a:r>
              <a:rPr lang="en-US" dirty="0"/>
              <a:t>First, we’ll change the container’s partition key from </a:t>
            </a:r>
            <a:r>
              <a:rPr lang="en-US" sz="882" kern="1200" dirty="0">
                <a:solidFill>
                  <a:schemeClr val="tx1"/>
                </a:solidFill>
                <a:latin typeface="Segoe UI" panose="020B0502040204020203" pitchFamily="34" charset="0"/>
                <a:ea typeface="+mn-ea"/>
                <a:cs typeface="+mn-cs"/>
              </a:rPr>
              <a:t>id</a:t>
            </a:r>
            <a:r>
              <a:rPr lang="en-US" dirty="0"/>
              <a:t> to </a:t>
            </a:r>
            <a:r>
              <a:rPr lang="en-US" sz="882" kern="1200" dirty="0" err="1">
                <a:solidFill>
                  <a:schemeClr val="tx1"/>
                </a:solidFill>
                <a:latin typeface="Segoe UI" panose="020B0502040204020203" pitchFamily="34" charset="0"/>
                <a:ea typeface="+mn-ea"/>
                <a:cs typeface="+mn-cs"/>
              </a:rPr>
              <a:t>customerId</a:t>
            </a:r>
            <a:r>
              <a:rPr lang="en-US" dirty="0"/>
              <a:t>.</a:t>
            </a:r>
            <a:br>
              <a:rPr lang="en-US" dirty="0"/>
            </a:br>
            <a:r>
              <a:rPr lang="en-US" dirty="0"/>
              <a:t>That way, both customers </a:t>
            </a:r>
            <a:r>
              <a:rPr lang="en-US" i="1" dirty="0"/>
              <a:t>and</a:t>
            </a:r>
            <a:r>
              <a:rPr lang="en-US" dirty="0"/>
              <a:t> their sales orders naturally land in the same logical partition.</a:t>
            </a:r>
          </a:p>
          <a:p>
            <a:r>
              <a:rPr lang="en-US" dirty="0"/>
              <a:t>Second, we add a </a:t>
            </a:r>
            <a:r>
              <a:rPr lang="en-US" sz="882" kern="1200" dirty="0" err="1">
                <a:solidFill>
                  <a:schemeClr val="tx1"/>
                </a:solidFill>
                <a:latin typeface="Segoe UI" panose="020B0502040204020203" pitchFamily="34" charset="0"/>
                <a:ea typeface="+mn-ea"/>
                <a:cs typeface="+mn-cs"/>
              </a:rPr>
              <a:t>customerId</a:t>
            </a:r>
            <a:r>
              <a:rPr lang="en-US" dirty="0"/>
              <a:t> field to the customer document itself.</a:t>
            </a:r>
            <a:br>
              <a:rPr lang="en-US" dirty="0"/>
            </a:br>
            <a:r>
              <a:rPr lang="en-US" dirty="0"/>
              <a:t>That ensures every item we store—customers or orders—has the same partition key value available.</a:t>
            </a:r>
          </a:p>
          <a:p>
            <a:r>
              <a:rPr lang="en-US" dirty="0"/>
              <a:t>And for customer documents, </a:t>
            </a:r>
            <a:r>
              <a:rPr lang="en-US" sz="882" kern="1200" dirty="0">
                <a:solidFill>
                  <a:schemeClr val="tx1"/>
                </a:solidFill>
                <a:latin typeface="Segoe UI" panose="020B0502040204020203" pitchFamily="34" charset="0"/>
                <a:ea typeface="+mn-ea"/>
                <a:cs typeface="+mn-cs"/>
              </a:rPr>
              <a:t>id</a:t>
            </a:r>
            <a:r>
              <a:rPr lang="en-US" dirty="0"/>
              <a:t> and </a:t>
            </a:r>
            <a:r>
              <a:rPr lang="en-US" sz="882" kern="1200" dirty="0" err="1">
                <a:solidFill>
                  <a:schemeClr val="tx1"/>
                </a:solidFill>
                <a:latin typeface="Segoe UI" panose="020B0502040204020203" pitchFamily="34" charset="0"/>
                <a:ea typeface="+mn-ea"/>
                <a:cs typeface="+mn-cs"/>
              </a:rPr>
              <a:t>customerId</a:t>
            </a:r>
            <a:r>
              <a:rPr lang="en-US" dirty="0"/>
              <a:t> will simply carry the exact same value.”**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62</a:t>
            </a:fld>
            <a:endParaRPr lang="en-US" dirty="0"/>
          </a:p>
        </p:txBody>
      </p:sp>
    </p:spTree>
    <p:extLst>
      <p:ext uri="{BB962C8B-B14F-4D97-AF65-F5344CB8AC3E}">
        <p14:creationId xmlns:p14="http://schemas.microsoft.com/office/powerpoint/2010/main" val="2634306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customers and sales orders live in the same container and share the same partition key, we need one more thing to make querying easier.</a:t>
            </a:r>
          </a:p>
          <a:p>
            <a:r>
              <a:rPr lang="en-US" dirty="0"/>
              <a:t>We add a simple </a:t>
            </a:r>
            <a:r>
              <a:rPr lang="en-US" sz="882" kern="1200" dirty="0">
                <a:solidFill>
                  <a:schemeClr val="tx1"/>
                </a:solidFill>
                <a:latin typeface="Segoe UI" panose="020B0502040204020203" pitchFamily="34" charset="0"/>
                <a:ea typeface="+mn-ea"/>
                <a:cs typeface="+mn-cs"/>
              </a:rPr>
              <a:t>type</a:t>
            </a:r>
            <a:r>
              <a:rPr lang="en-US" dirty="0"/>
              <a:t> property to each document.</a:t>
            </a:r>
            <a:br>
              <a:rPr lang="en-US" dirty="0"/>
            </a:br>
            <a:r>
              <a:rPr lang="en-US" dirty="0"/>
              <a:t>This lets us distinguish customers from sales orders when we query the container—because even though they share the same partition, we still want to filter them independently.</a:t>
            </a:r>
          </a:p>
          <a:p>
            <a:r>
              <a:rPr lang="en-US" dirty="0"/>
              <a:t>So a sales order will have </a:t>
            </a:r>
            <a:r>
              <a:rPr lang="en-US" sz="882" kern="1200" dirty="0">
                <a:solidFill>
                  <a:schemeClr val="tx1"/>
                </a:solidFill>
                <a:latin typeface="Segoe UI" panose="020B0502040204020203" pitchFamily="34" charset="0"/>
                <a:ea typeface="+mn-ea"/>
                <a:cs typeface="+mn-cs"/>
              </a:rPr>
              <a:t>type: "</a:t>
            </a:r>
            <a:r>
              <a:rPr lang="en-US" sz="882" kern="1200" dirty="0" err="1">
                <a:solidFill>
                  <a:schemeClr val="tx1"/>
                </a:solidFill>
                <a:latin typeface="Segoe UI" panose="020B0502040204020203" pitchFamily="34" charset="0"/>
                <a:ea typeface="+mn-ea"/>
                <a:cs typeface="+mn-cs"/>
              </a:rPr>
              <a:t>salesOrder</a:t>
            </a:r>
            <a:r>
              <a:rPr lang="en-US" sz="882" kern="1200" dirty="0">
                <a:solidFill>
                  <a:schemeClr val="tx1"/>
                </a:solidFill>
                <a:latin typeface="Segoe UI" panose="020B0502040204020203" pitchFamily="34" charset="0"/>
                <a:ea typeface="+mn-ea"/>
                <a:cs typeface="+mn-cs"/>
              </a:rPr>
              <a:t>"</a:t>
            </a:r>
            <a:r>
              <a:rPr lang="en-US" dirty="0"/>
              <a:t> and a customer will have </a:t>
            </a:r>
            <a:r>
              <a:rPr lang="en-US" sz="882" kern="1200" dirty="0">
                <a:solidFill>
                  <a:schemeClr val="tx1"/>
                </a:solidFill>
                <a:latin typeface="Segoe UI" panose="020B0502040204020203" pitchFamily="34" charset="0"/>
                <a:ea typeface="+mn-ea"/>
                <a:cs typeface="+mn-cs"/>
              </a:rPr>
              <a:t>type: "customer"</a:t>
            </a:r>
            <a:r>
              <a:rPr lang="en-US" dirty="0"/>
              <a:t>.</a:t>
            </a:r>
            <a:br>
              <a:rPr lang="en-US" dirty="0"/>
            </a:br>
            <a:r>
              <a:rPr lang="en-US" dirty="0"/>
              <a:t>This tiny addition makes our queries clean, predictable, and efficient.”**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63</a:t>
            </a:fld>
            <a:endParaRPr lang="en-US" dirty="0"/>
          </a:p>
        </p:txBody>
      </p:sp>
    </p:spTree>
    <p:extLst>
      <p:ext uri="{BB962C8B-B14F-4D97-AF65-F5344CB8AC3E}">
        <p14:creationId xmlns:p14="http://schemas.microsoft.com/office/powerpoint/2010/main" val="17960587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clarify what our container now looks like.</a:t>
            </a:r>
            <a:br>
              <a:rPr lang="en-US" dirty="0"/>
            </a:br>
            <a:r>
              <a:rPr lang="en-US" dirty="0"/>
              <a:t>Since we’re partitioning by </a:t>
            </a:r>
            <a:r>
              <a:rPr lang="en-US" sz="882" kern="1200" dirty="0" err="1">
                <a:solidFill>
                  <a:schemeClr val="tx1"/>
                </a:solidFill>
                <a:latin typeface="Segoe UI" panose="020B0502040204020203" pitchFamily="34" charset="0"/>
                <a:ea typeface="+mn-ea"/>
                <a:cs typeface="+mn-cs"/>
              </a:rPr>
              <a:t>customerId</a:t>
            </a:r>
            <a:r>
              <a:rPr lang="en-US" dirty="0"/>
              <a:t>, each logical partition will represent exactly one customer — and all of that customer’s sales orders.</a:t>
            </a:r>
          </a:p>
          <a:p>
            <a:r>
              <a:rPr lang="en-US" dirty="0"/>
              <a:t>So Customer A has their customer document and all their orders in one partition.</a:t>
            </a:r>
            <a:br>
              <a:rPr lang="en-US" dirty="0"/>
            </a:br>
            <a:r>
              <a:rPr lang="en-US" dirty="0"/>
              <a:t>Same for Customer B, Customer C, and so on.</a:t>
            </a:r>
          </a:p>
          <a:p>
            <a:r>
              <a:rPr lang="en-US" dirty="0"/>
              <a:t>This means any query that needs ‘all orders for a customer’ stays within a single partition, giving us predictable and efficient performance.”**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64</a:t>
            </a:fld>
            <a:endParaRPr lang="en-US" dirty="0"/>
          </a:p>
        </p:txBody>
      </p:sp>
    </p:spTree>
    <p:extLst>
      <p:ext uri="{BB962C8B-B14F-4D97-AF65-F5344CB8AC3E}">
        <p14:creationId xmlns:p14="http://schemas.microsoft.com/office/powerpoint/2010/main" val="11869648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customers and their sales orders live in the same logical partition, querying becomes very straightforward.</a:t>
            </a:r>
            <a:br>
              <a:rPr lang="en-US" dirty="0"/>
            </a:br>
            <a:r>
              <a:rPr lang="en-US" dirty="0"/>
              <a:t>If I want all sales orders for Customer A, I simply filter by </a:t>
            </a:r>
            <a:r>
              <a:rPr lang="en-US" sz="882" kern="1200" dirty="0" err="1">
                <a:solidFill>
                  <a:schemeClr val="tx1"/>
                </a:solidFill>
                <a:latin typeface="Segoe UI" panose="020B0502040204020203" pitchFamily="34" charset="0"/>
                <a:ea typeface="+mn-ea"/>
                <a:cs typeface="+mn-cs"/>
              </a:rPr>
              <a:t>customerId</a:t>
            </a:r>
            <a:r>
              <a:rPr lang="en-US" dirty="0"/>
              <a:t> and by </a:t>
            </a:r>
            <a:r>
              <a:rPr lang="en-US" sz="882" kern="1200" dirty="0">
                <a:solidFill>
                  <a:schemeClr val="tx1"/>
                </a:solidFill>
                <a:latin typeface="Segoe UI" panose="020B0502040204020203" pitchFamily="34" charset="0"/>
                <a:ea typeface="+mn-ea"/>
                <a:cs typeface="+mn-cs"/>
              </a:rPr>
              <a:t>type = '</a:t>
            </a:r>
            <a:r>
              <a:rPr lang="en-US" sz="882" kern="1200" dirty="0" err="1">
                <a:solidFill>
                  <a:schemeClr val="tx1"/>
                </a:solidFill>
                <a:latin typeface="Segoe UI" panose="020B0502040204020203" pitchFamily="34" charset="0"/>
                <a:ea typeface="+mn-ea"/>
                <a:cs typeface="+mn-cs"/>
              </a:rPr>
              <a:t>salesOrder</a:t>
            </a:r>
            <a:r>
              <a:rPr lang="en-US" sz="882" kern="1200" dirty="0">
                <a:solidFill>
                  <a:schemeClr val="tx1"/>
                </a:solidFill>
                <a:latin typeface="Segoe UI" panose="020B0502040204020203" pitchFamily="34" charset="0"/>
                <a:ea typeface="+mn-ea"/>
                <a:cs typeface="+mn-cs"/>
              </a:rPr>
              <a:t>'</a:t>
            </a:r>
            <a:r>
              <a:rPr lang="en-US" dirty="0"/>
              <a:t>.</a:t>
            </a:r>
          </a:p>
          <a:p>
            <a:r>
              <a:rPr lang="en-US" dirty="0"/>
              <a:t>This gives me exactly the documents I need, all from a single partition, which keeps the query fast and predictable.”**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65</a:t>
            </a:fld>
            <a:endParaRPr lang="en-US" dirty="0"/>
          </a:p>
        </p:txBody>
      </p:sp>
    </p:spTree>
    <p:extLst>
      <p:ext uri="{BB962C8B-B14F-4D97-AF65-F5344CB8AC3E}">
        <p14:creationId xmlns:p14="http://schemas.microsoft.com/office/powerpoint/2010/main" val="23118387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we’ve covered how to create a sales order and how to list all sales orders for a customer.</a:t>
            </a:r>
            <a:br>
              <a:rPr lang="en-US" dirty="0"/>
            </a:br>
            <a:r>
              <a:rPr lang="en-US" dirty="0"/>
              <a:t>There’s one more requirement we need to support: listing customers by the number of sales orders they’ve placed.</a:t>
            </a:r>
          </a:p>
          <a:p>
            <a:r>
              <a:rPr lang="en-US" dirty="0"/>
              <a:t>To do that, we need to count the sales orders for each customer, sort the customers by that count, and then return the matching customer documents.</a:t>
            </a:r>
          </a:p>
          <a:p>
            <a:r>
              <a:rPr lang="en-US" dirty="0"/>
              <a:t>But even though customers and sales orders now live in the same container, this type of aggregation isn’t something Cosmos DB can express directly in its query language.”**</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66</a:t>
            </a:fld>
            <a:endParaRPr lang="en-US" dirty="0"/>
          </a:p>
        </p:txBody>
      </p:sp>
    </p:spTree>
    <p:extLst>
      <p:ext uri="{BB962C8B-B14F-4D97-AF65-F5344CB8AC3E}">
        <p14:creationId xmlns:p14="http://schemas.microsoft.com/office/powerpoint/2010/main" val="36355753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again, the solution is to </a:t>
            </a:r>
            <a:r>
              <a:rPr lang="en-US" dirty="0" err="1"/>
              <a:t>denormalize</a:t>
            </a:r>
            <a:r>
              <a:rPr lang="en-US" dirty="0"/>
              <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67</a:t>
            </a:fld>
            <a:endParaRPr lang="en-US" dirty="0"/>
          </a:p>
        </p:txBody>
      </p:sp>
    </p:spTree>
    <p:extLst>
      <p:ext uri="{BB962C8B-B14F-4D97-AF65-F5344CB8AC3E}">
        <p14:creationId xmlns:p14="http://schemas.microsoft.com/office/powerpoint/2010/main" val="41520798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 handle this requirement, we’re going to </a:t>
            </a:r>
            <a:r>
              <a:rPr lang="en-US" b="1" dirty="0" err="1"/>
              <a:t>denormalize</a:t>
            </a:r>
            <a:r>
              <a:rPr lang="en-US" b="1" dirty="0"/>
              <a:t> the number of sales orders directly into the customer document.</a:t>
            </a:r>
            <a:br>
              <a:rPr lang="en-US" b="1" dirty="0"/>
            </a:br>
            <a:r>
              <a:rPr lang="en-US" b="1" dirty="0"/>
              <a:t>That means each customer will store a field like </a:t>
            </a:r>
            <a:r>
              <a:rPr lang="en-US" sz="882" b="1" kern="1200" dirty="0" err="1">
                <a:solidFill>
                  <a:schemeClr val="tx1"/>
                </a:solidFill>
                <a:latin typeface="Segoe UI" panose="020B0502040204020203" pitchFamily="34" charset="0"/>
                <a:ea typeface="+mn-ea"/>
                <a:cs typeface="+mn-cs"/>
              </a:rPr>
              <a:t>salesOrderCount</a:t>
            </a:r>
            <a:r>
              <a:rPr lang="en-US" b="1" dirty="0"/>
              <a:t>, which we’ll keep updated whenever new orders are created.</a:t>
            </a:r>
            <a:br>
              <a:rPr lang="en-US" b="1" dirty="0"/>
            </a:br>
            <a:r>
              <a:rPr lang="en-US" b="1" dirty="0"/>
              <a:t>This lets us sort customers by order count quickly without needing complex queries.”</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68</a:t>
            </a:fld>
            <a:endParaRPr lang="en-US" dirty="0"/>
          </a:p>
        </p:txBody>
      </p:sp>
    </p:spTree>
    <p:extLst>
      <p:ext uri="{BB962C8B-B14F-4D97-AF65-F5344CB8AC3E}">
        <p14:creationId xmlns:p14="http://schemas.microsoft.com/office/powerpoint/2010/main" val="11094946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we want to achieve is that…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69</a:t>
            </a:fld>
            <a:endParaRPr lang="en-US" dirty="0"/>
          </a:p>
        </p:txBody>
      </p:sp>
    </p:spTree>
    <p:extLst>
      <p:ext uri="{BB962C8B-B14F-4D97-AF65-F5344CB8AC3E}">
        <p14:creationId xmlns:p14="http://schemas.microsoft.com/office/powerpoint/2010/main" val="38991384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we add a sales order, we also update the corresponding customer to increment its count of sales orders.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70</a:t>
            </a:fld>
            <a:endParaRPr lang="en-US" dirty="0"/>
          </a:p>
        </p:txBody>
      </p:sp>
    </p:spTree>
    <p:extLst>
      <p:ext uri="{BB962C8B-B14F-4D97-AF65-F5344CB8AC3E}">
        <p14:creationId xmlns:p14="http://schemas.microsoft.com/office/powerpoint/2010/main" val="5249341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“Because customers and their sales orders now live in the same logical partition, we can take advantage of Cosmos DB’s transactional capabilities.</a:t>
            </a:r>
            <a:br>
              <a:rPr lang="en-US" b="1" dirty="0"/>
            </a:br>
            <a:r>
              <a:rPr lang="en-US" b="1" dirty="0"/>
              <a:t>This means we can update the customer document and create a new sales order document together, in a single atomic operation.”</a:t>
            </a:r>
            <a:endParaRPr lang="en-US" dirty="0"/>
          </a:p>
          <a:p>
            <a:r>
              <a:rPr lang="en-US" b="1" dirty="0"/>
              <a:t>“So instead of just inserting a new sales order on its own, we call a stored procedure.</a:t>
            </a:r>
            <a:br>
              <a:rPr lang="en-US" b="1" dirty="0"/>
            </a:br>
            <a:r>
              <a:rPr lang="en-US" b="1" dirty="0"/>
              <a:t>That stored procedure does two things at once: it increments the customer’s </a:t>
            </a:r>
            <a:r>
              <a:rPr lang="en-US" sz="882" b="1" kern="1200" dirty="0" err="1">
                <a:solidFill>
                  <a:schemeClr val="tx1"/>
                </a:solidFill>
                <a:latin typeface="Segoe UI" panose="020B0502040204020203" pitchFamily="34" charset="0"/>
                <a:ea typeface="+mn-ea"/>
                <a:cs typeface="+mn-cs"/>
              </a:rPr>
              <a:t>salesOrderCount</a:t>
            </a:r>
            <a:r>
              <a:rPr lang="en-US" b="1" dirty="0"/>
              <a:t>, and it adds the new sales order document.</a:t>
            </a:r>
            <a:br>
              <a:rPr lang="en-US" b="1" dirty="0"/>
            </a:br>
            <a:r>
              <a:rPr lang="en-US" b="1" dirty="0"/>
              <a:t>Both updates succeed or fail together, ensuring the data stays perfectly consistent.”</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71</a:t>
            </a:fld>
            <a:endParaRPr lang="en-US" dirty="0"/>
          </a:p>
        </p:txBody>
      </p:sp>
    </p:spTree>
    <p:extLst>
      <p:ext uri="{BB962C8B-B14F-4D97-AF65-F5344CB8AC3E}">
        <p14:creationId xmlns:p14="http://schemas.microsoft.com/office/powerpoint/2010/main" val="20899741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that each customer document includes a </a:t>
            </a:r>
            <a:r>
              <a:rPr lang="en-US" sz="882" b="1" kern="1200" dirty="0" err="1">
                <a:solidFill>
                  <a:schemeClr val="tx1"/>
                </a:solidFill>
                <a:latin typeface="Segoe UI" panose="020B0502040204020203" pitchFamily="34" charset="0"/>
                <a:ea typeface="+mn-ea"/>
                <a:cs typeface="+mn-cs"/>
              </a:rPr>
              <a:t>salesOrderCount</a:t>
            </a:r>
            <a:r>
              <a:rPr lang="en-US" b="1" dirty="0"/>
              <a:t>, we can finally answer the last request:</a:t>
            </a:r>
            <a:br>
              <a:rPr lang="en-US" b="1" dirty="0"/>
            </a:br>
            <a:r>
              <a:rPr lang="en-US" b="1" i="1" dirty="0"/>
              <a:t>list customers by the number of sales orders they’ve placed.</a:t>
            </a:r>
            <a:r>
              <a:rPr lang="en-US" b="1" dirty="0"/>
              <a:t>”</a:t>
            </a:r>
            <a:endParaRPr lang="en-US" dirty="0"/>
          </a:p>
          <a:p>
            <a:r>
              <a:rPr lang="en-US" b="1" dirty="0"/>
              <a:t>“Since the count is already denormalized into the customer document, the query becomes very simple.</a:t>
            </a:r>
            <a:br>
              <a:rPr lang="en-US" b="1" dirty="0"/>
            </a:br>
            <a:r>
              <a:rPr lang="en-US" b="1" dirty="0"/>
              <a:t>We just filter for customers and order them by </a:t>
            </a:r>
            <a:r>
              <a:rPr lang="en-US" sz="882" b="1" kern="1200" dirty="0" err="1">
                <a:solidFill>
                  <a:schemeClr val="tx1"/>
                </a:solidFill>
                <a:latin typeface="Segoe UI" panose="020B0502040204020203" pitchFamily="34" charset="0"/>
                <a:ea typeface="+mn-ea"/>
                <a:cs typeface="+mn-cs"/>
              </a:rPr>
              <a:t>salesOrderCount</a:t>
            </a:r>
            <a:r>
              <a:rPr lang="en-US" b="1" dirty="0"/>
              <a:t> in descending order.”</a:t>
            </a:r>
            <a:endParaRPr lang="en-US" dirty="0"/>
          </a:p>
          <a:p>
            <a:r>
              <a:rPr lang="en-US" b="1" dirty="0"/>
              <a:t>“And just like that, what used to be an expensive cross-document aggregation becomes a fast, single-partition query.”</a:t>
            </a:r>
            <a:endParaRPr lang="en-US"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72</a:t>
            </a:fld>
            <a:endParaRPr lang="en-US" dirty="0"/>
          </a:p>
        </p:txBody>
      </p:sp>
    </p:spTree>
    <p:extLst>
      <p:ext uri="{BB962C8B-B14F-4D97-AF65-F5344CB8AC3E}">
        <p14:creationId xmlns:p14="http://schemas.microsoft.com/office/powerpoint/2010/main" val="19553343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exercise, we've created the following container to support our design.</a:t>
            </a:r>
          </a:p>
          <a:p>
            <a:endParaRPr lang="en-US" dirty="0"/>
          </a:p>
          <a:p>
            <a:r>
              <a:rPr lang="en-US" dirty="0"/>
              <a:t>Note that there is an opportunity for a quick optimization here: because categories and tags share the same partition key…</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73</a:t>
            </a:fld>
            <a:endParaRPr lang="en-US" dirty="0"/>
          </a:p>
        </p:txBody>
      </p:sp>
    </p:spTree>
    <p:extLst>
      <p:ext uri="{BB962C8B-B14F-4D97-AF65-F5344CB8AC3E}">
        <p14:creationId xmlns:p14="http://schemas.microsoft.com/office/powerpoint/2010/main" val="21243179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just group them together in the same container, which we would rename to '</a:t>
            </a:r>
            <a:r>
              <a:rPr lang="en-US" dirty="0" err="1"/>
              <a:t>productMeta</a:t>
            </a:r>
            <a:r>
              <a:rPr lang="en-US" dirty="0"/>
              <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12/9/2025 5:34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74</a:t>
            </a:fld>
            <a:endParaRPr lang="en-US" dirty="0"/>
          </a:p>
        </p:txBody>
      </p:sp>
    </p:spTree>
    <p:extLst>
      <p:ext uri="{BB962C8B-B14F-4D97-AF65-F5344CB8AC3E}">
        <p14:creationId xmlns:p14="http://schemas.microsoft.com/office/powerpoint/2010/main" val="806519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Picture 6" descr="Microsoft Ignite cube graphic">
            <a:extLst>
              <a:ext uri="{FF2B5EF4-FFF2-40B4-BE49-F238E27FC236}">
                <a16:creationId xmlns:a16="http://schemas.microsoft.com/office/drawing/2014/main" id="{AEB1E43F-243E-134D-9418-B32A73E0E48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38046" y="0"/>
            <a:ext cx="8053953"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Freeform 5" descr="Microsoft Ignite logo">
            <a:extLst>
              <a:ext uri="{FF2B5EF4-FFF2-40B4-BE49-F238E27FC236}">
                <a16:creationId xmlns:a16="http://schemas.microsoft.com/office/drawing/2014/main" id="{6DBD6B5B-68FC-44F2-A470-9C584137632D}"/>
              </a:ext>
            </a:extLst>
          </p:cNvPr>
          <p:cNvSpPr>
            <a:spLocks noEditPoints="1"/>
          </p:cNvSpPr>
          <p:nvPr userDrawn="1"/>
        </p:nvSpPr>
        <p:spPr bwMode="black">
          <a:xfrm>
            <a:off x="593725" y="2865438"/>
            <a:ext cx="3040063" cy="1547813"/>
          </a:xfrm>
          <a:custGeom>
            <a:avLst/>
            <a:gdLst>
              <a:gd name="T0" fmla="*/ 882 w 1710"/>
              <a:gd name="T1" fmla="*/ 598 h 862"/>
              <a:gd name="T2" fmla="*/ 1008 w 1710"/>
              <a:gd name="T3" fmla="*/ 652 h 862"/>
              <a:gd name="T4" fmla="*/ 991 w 1710"/>
              <a:gd name="T5" fmla="*/ 711 h 862"/>
              <a:gd name="T6" fmla="*/ 845 w 1710"/>
              <a:gd name="T7" fmla="*/ 579 h 862"/>
              <a:gd name="T8" fmla="*/ 697 w 1710"/>
              <a:gd name="T9" fmla="*/ 504 h 862"/>
              <a:gd name="T10" fmla="*/ 697 w 1710"/>
              <a:gd name="T11" fmla="*/ 709 h 862"/>
              <a:gd name="T12" fmla="*/ 752 w 1710"/>
              <a:gd name="T13" fmla="*/ 722 h 862"/>
              <a:gd name="T14" fmla="*/ 745 w 1710"/>
              <a:gd name="T15" fmla="*/ 553 h 862"/>
              <a:gd name="T16" fmla="*/ 574 w 1710"/>
              <a:gd name="T17" fmla="*/ 482 h 862"/>
              <a:gd name="T18" fmla="*/ 623 w 1710"/>
              <a:gd name="T19" fmla="*/ 462 h 862"/>
              <a:gd name="T20" fmla="*/ 626 w 1710"/>
              <a:gd name="T21" fmla="*/ 553 h 862"/>
              <a:gd name="T22" fmla="*/ 394 w 1710"/>
              <a:gd name="T23" fmla="*/ 588 h 862"/>
              <a:gd name="T24" fmla="*/ 393 w 1710"/>
              <a:gd name="T25" fmla="*/ 763 h 862"/>
              <a:gd name="T26" fmla="*/ 485 w 1710"/>
              <a:gd name="T27" fmla="*/ 763 h 862"/>
              <a:gd name="T28" fmla="*/ 249 w 1710"/>
              <a:gd name="T29" fmla="*/ 639 h 862"/>
              <a:gd name="T30" fmla="*/ 140 w 1710"/>
              <a:gd name="T31" fmla="*/ 662 h 862"/>
              <a:gd name="T32" fmla="*/ 249 w 1710"/>
              <a:gd name="T33" fmla="*/ 639 h 862"/>
              <a:gd name="T34" fmla="*/ 179 w 1710"/>
              <a:gd name="T35" fmla="*/ 862 h 862"/>
              <a:gd name="T36" fmla="*/ 248 w 1710"/>
              <a:gd name="T37" fmla="*/ 727 h 862"/>
              <a:gd name="T38" fmla="*/ 116 w 1710"/>
              <a:gd name="T39" fmla="*/ 579 h 862"/>
              <a:gd name="T40" fmla="*/ 0 w 1710"/>
              <a:gd name="T41" fmla="*/ 763 h 862"/>
              <a:gd name="T42" fmla="*/ 0 w 1710"/>
              <a:gd name="T43" fmla="*/ 763 h 862"/>
              <a:gd name="T44" fmla="*/ 1660 w 1710"/>
              <a:gd name="T45" fmla="*/ 43 h 862"/>
              <a:gd name="T46" fmla="*/ 1530 w 1710"/>
              <a:gd name="T47" fmla="*/ 105 h 862"/>
              <a:gd name="T48" fmla="*/ 1559 w 1710"/>
              <a:gd name="T49" fmla="*/ 0 h 862"/>
              <a:gd name="T50" fmla="*/ 1447 w 1710"/>
              <a:gd name="T51" fmla="*/ 142 h 862"/>
              <a:gd name="T52" fmla="*/ 1577 w 1710"/>
              <a:gd name="T53" fmla="*/ 142 h 862"/>
              <a:gd name="T54" fmla="*/ 1710 w 1710"/>
              <a:gd name="T55" fmla="*/ 312 h 862"/>
              <a:gd name="T56" fmla="*/ 1660 w 1710"/>
              <a:gd name="T57" fmla="*/ 142 h 862"/>
              <a:gd name="T58" fmla="*/ 1325 w 1710"/>
              <a:gd name="T59" fmla="*/ 138 h 862"/>
              <a:gd name="T60" fmla="*/ 1368 w 1710"/>
              <a:gd name="T61" fmla="*/ 263 h 862"/>
              <a:gd name="T62" fmla="*/ 1402 w 1710"/>
              <a:gd name="T63" fmla="*/ 289 h 862"/>
              <a:gd name="T64" fmla="*/ 1327 w 1710"/>
              <a:gd name="T65" fmla="*/ 100 h 862"/>
              <a:gd name="T66" fmla="*/ 1129 w 1710"/>
              <a:gd name="T67" fmla="*/ 193 h 862"/>
              <a:gd name="T68" fmla="*/ 1089 w 1710"/>
              <a:gd name="T69" fmla="*/ 150 h 862"/>
              <a:gd name="T70" fmla="*/ 1177 w 1710"/>
              <a:gd name="T71" fmla="*/ 109 h 862"/>
              <a:gd name="T72" fmla="*/ 1039 w 1710"/>
              <a:gd name="T73" fmla="*/ 162 h 862"/>
              <a:gd name="T74" fmla="*/ 1112 w 1710"/>
              <a:gd name="T75" fmla="*/ 231 h 862"/>
              <a:gd name="T76" fmla="*/ 1039 w 1710"/>
              <a:gd name="T77" fmla="*/ 264 h 862"/>
              <a:gd name="T78" fmla="*/ 1181 w 1710"/>
              <a:gd name="T79" fmla="*/ 285 h 862"/>
              <a:gd name="T80" fmla="*/ 840 w 1710"/>
              <a:gd name="T81" fmla="*/ 211 h 862"/>
              <a:gd name="T82" fmla="*/ 943 w 1710"/>
              <a:gd name="T83" fmla="*/ 157 h 862"/>
              <a:gd name="T84" fmla="*/ 820 w 1710"/>
              <a:gd name="T85" fmla="*/ 290 h 862"/>
              <a:gd name="T86" fmla="*/ 1007 w 1710"/>
              <a:gd name="T87" fmla="*/ 209 h 862"/>
              <a:gd name="T88" fmla="*/ 701 w 1710"/>
              <a:gd name="T89" fmla="*/ 214 h 862"/>
              <a:gd name="T90" fmla="*/ 755 w 1710"/>
              <a:gd name="T91" fmla="*/ 101 h 862"/>
              <a:gd name="T92" fmla="*/ 653 w 1710"/>
              <a:gd name="T93" fmla="*/ 105 h 862"/>
              <a:gd name="T94" fmla="*/ 610 w 1710"/>
              <a:gd name="T95" fmla="*/ 264 h 862"/>
              <a:gd name="T96" fmla="*/ 563 w 1710"/>
              <a:gd name="T97" fmla="*/ 138 h 862"/>
              <a:gd name="T98" fmla="*/ 446 w 1710"/>
              <a:gd name="T99" fmla="*/ 215 h 862"/>
              <a:gd name="T100" fmla="*/ 386 w 1710"/>
              <a:gd name="T101" fmla="*/ 61 h 862"/>
              <a:gd name="T102" fmla="*/ 386 w 1710"/>
              <a:gd name="T103" fmla="*/ 7 h 862"/>
              <a:gd name="T104" fmla="*/ 362 w 1710"/>
              <a:gd name="T105" fmla="*/ 315 h 862"/>
              <a:gd name="T106" fmla="*/ 362 w 1710"/>
              <a:gd name="T107" fmla="*/ 315 h 862"/>
              <a:gd name="T108" fmla="*/ 267 w 1710"/>
              <a:gd name="T109" fmla="*/ 315 h 862"/>
              <a:gd name="T110" fmla="*/ 173 w 1710"/>
              <a:gd name="T111" fmla="*/ 315 h 862"/>
              <a:gd name="T112" fmla="*/ 45 w 1710"/>
              <a:gd name="T113" fmla="*/ 125 h 862"/>
              <a:gd name="T114" fmla="*/ 146 w 1710"/>
              <a:gd name="T115" fmla="*/ 216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10" h="862">
                <a:moveTo>
                  <a:pt x="962" y="637"/>
                </a:moveTo>
                <a:lnTo>
                  <a:pt x="962" y="637"/>
                </a:lnTo>
                <a:cubicBezTo>
                  <a:pt x="962" y="620"/>
                  <a:pt x="957" y="607"/>
                  <a:pt x="950" y="597"/>
                </a:cubicBezTo>
                <a:cubicBezTo>
                  <a:pt x="942" y="588"/>
                  <a:pt x="931" y="583"/>
                  <a:pt x="917" y="583"/>
                </a:cubicBezTo>
                <a:cubicBezTo>
                  <a:pt x="903" y="583"/>
                  <a:pt x="891" y="588"/>
                  <a:pt x="882" y="598"/>
                </a:cubicBezTo>
                <a:cubicBezTo>
                  <a:pt x="872" y="608"/>
                  <a:pt x="867" y="621"/>
                  <a:pt x="864" y="637"/>
                </a:cubicBezTo>
                <a:lnTo>
                  <a:pt x="962" y="637"/>
                </a:lnTo>
                <a:close/>
                <a:moveTo>
                  <a:pt x="984" y="575"/>
                </a:moveTo>
                <a:lnTo>
                  <a:pt x="984" y="575"/>
                </a:lnTo>
                <a:cubicBezTo>
                  <a:pt x="1000" y="594"/>
                  <a:pt x="1008" y="620"/>
                  <a:pt x="1008" y="652"/>
                </a:cubicBezTo>
                <a:lnTo>
                  <a:pt x="1008" y="671"/>
                </a:lnTo>
                <a:lnTo>
                  <a:pt x="864" y="671"/>
                </a:lnTo>
                <a:cubicBezTo>
                  <a:pt x="865" y="690"/>
                  <a:pt x="871" y="705"/>
                  <a:pt x="882" y="715"/>
                </a:cubicBezTo>
                <a:cubicBezTo>
                  <a:pt x="894" y="726"/>
                  <a:pt x="909" y="731"/>
                  <a:pt x="929" y="731"/>
                </a:cubicBezTo>
                <a:cubicBezTo>
                  <a:pt x="952" y="731"/>
                  <a:pt x="972" y="725"/>
                  <a:pt x="991" y="711"/>
                </a:cubicBezTo>
                <a:lnTo>
                  <a:pt x="991" y="750"/>
                </a:lnTo>
                <a:cubicBezTo>
                  <a:pt x="972" y="762"/>
                  <a:pt x="947" y="768"/>
                  <a:pt x="915" y="768"/>
                </a:cubicBezTo>
                <a:cubicBezTo>
                  <a:pt x="884" y="768"/>
                  <a:pt x="860" y="758"/>
                  <a:pt x="843" y="739"/>
                </a:cubicBezTo>
                <a:cubicBezTo>
                  <a:pt x="825" y="720"/>
                  <a:pt x="816" y="693"/>
                  <a:pt x="816" y="658"/>
                </a:cubicBezTo>
                <a:cubicBezTo>
                  <a:pt x="816" y="626"/>
                  <a:pt x="826" y="599"/>
                  <a:pt x="845" y="579"/>
                </a:cubicBezTo>
                <a:cubicBezTo>
                  <a:pt x="865" y="558"/>
                  <a:pt x="889" y="548"/>
                  <a:pt x="917" y="548"/>
                </a:cubicBezTo>
                <a:cubicBezTo>
                  <a:pt x="946" y="548"/>
                  <a:pt x="968" y="557"/>
                  <a:pt x="984" y="575"/>
                </a:cubicBezTo>
                <a:close/>
                <a:moveTo>
                  <a:pt x="745" y="491"/>
                </a:moveTo>
                <a:lnTo>
                  <a:pt x="745" y="491"/>
                </a:lnTo>
                <a:lnTo>
                  <a:pt x="697" y="504"/>
                </a:lnTo>
                <a:lnTo>
                  <a:pt x="697" y="553"/>
                </a:lnTo>
                <a:lnTo>
                  <a:pt x="662" y="553"/>
                </a:lnTo>
                <a:lnTo>
                  <a:pt x="662" y="590"/>
                </a:lnTo>
                <a:lnTo>
                  <a:pt x="697" y="590"/>
                </a:lnTo>
                <a:lnTo>
                  <a:pt x="697" y="709"/>
                </a:lnTo>
                <a:cubicBezTo>
                  <a:pt x="697" y="748"/>
                  <a:pt x="718" y="767"/>
                  <a:pt x="758" y="767"/>
                </a:cubicBezTo>
                <a:cubicBezTo>
                  <a:pt x="774" y="767"/>
                  <a:pt x="786" y="765"/>
                  <a:pt x="795" y="760"/>
                </a:cubicBezTo>
                <a:lnTo>
                  <a:pt x="795" y="723"/>
                </a:lnTo>
                <a:cubicBezTo>
                  <a:pt x="789" y="727"/>
                  <a:pt x="782" y="730"/>
                  <a:pt x="774" y="730"/>
                </a:cubicBezTo>
                <a:cubicBezTo>
                  <a:pt x="764" y="730"/>
                  <a:pt x="756" y="727"/>
                  <a:pt x="752" y="722"/>
                </a:cubicBezTo>
                <a:cubicBezTo>
                  <a:pt x="747" y="716"/>
                  <a:pt x="745" y="707"/>
                  <a:pt x="745" y="695"/>
                </a:cubicBezTo>
                <a:lnTo>
                  <a:pt x="745" y="590"/>
                </a:lnTo>
                <a:lnTo>
                  <a:pt x="795" y="590"/>
                </a:lnTo>
                <a:lnTo>
                  <a:pt x="795" y="553"/>
                </a:lnTo>
                <a:lnTo>
                  <a:pt x="745" y="553"/>
                </a:lnTo>
                <a:lnTo>
                  <a:pt x="745" y="491"/>
                </a:lnTo>
                <a:close/>
                <a:moveTo>
                  <a:pt x="602" y="454"/>
                </a:moveTo>
                <a:lnTo>
                  <a:pt x="602" y="454"/>
                </a:lnTo>
                <a:cubicBezTo>
                  <a:pt x="595" y="454"/>
                  <a:pt x="588" y="457"/>
                  <a:pt x="582" y="462"/>
                </a:cubicBezTo>
                <a:cubicBezTo>
                  <a:pt x="577" y="467"/>
                  <a:pt x="574" y="474"/>
                  <a:pt x="574" y="482"/>
                </a:cubicBezTo>
                <a:cubicBezTo>
                  <a:pt x="574" y="489"/>
                  <a:pt x="577" y="496"/>
                  <a:pt x="582" y="501"/>
                </a:cubicBezTo>
                <a:cubicBezTo>
                  <a:pt x="588" y="506"/>
                  <a:pt x="595" y="509"/>
                  <a:pt x="602" y="509"/>
                </a:cubicBezTo>
                <a:cubicBezTo>
                  <a:pt x="610" y="509"/>
                  <a:pt x="617" y="506"/>
                  <a:pt x="623" y="501"/>
                </a:cubicBezTo>
                <a:cubicBezTo>
                  <a:pt x="629" y="495"/>
                  <a:pt x="631" y="489"/>
                  <a:pt x="631" y="482"/>
                </a:cubicBezTo>
                <a:cubicBezTo>
                  <a:pt x="631" y="474"/>
                  <a:pt x="629" y="467"/>
                  <a:pt x="623" y="462"/>
                </a:cubicBezTo>
                <a:cubicBezTo>
                  <a:pt x="617" y="457"/>
                  <a:pt x="610" y="454"/>
                  <a:pt x="602" y="454"/>
                </a:cubicBezTo>
                <a:close/>
                <a:moveTo>
                  <a:pt x="578" y="763"/>
                </a:moveTo>
                <a:lnTo>
                  <a:pt x="578" y="763"/>
                </a:lnTo>
                <a:lnTo>
                  <a:pt x="626" y="763"/>
                </a:lnTo>
                <a:lnTo>
                  <a:pt x="626" y="553"/>
                </a:lnTo>
                <a:lnTo>
                  <a:pt x="578" y="553"/>
                </a:lnTo>
                <a:lnTo>
                  <a:pt x="578" y="763"/>
                </a:lnTo>
                <a:close/>
                <a:moveTo>
                  <a:pt x="462" y="548"/>
                </a:moveTo>
                <a:lnTo>
                  <a:pt x="462" y="548"/>
                </a:lnTo>
                <a:cubicBezTo>
                  <a:pt x="433" y="548"/>
                  <a:pt x="410" y="561"/>
                  <a:pt x="394" y="588"/>
                </a:cubicBezTo>
                <a:lnTo>
                  <a:pt x="393" y="588"/>
                </a:lnTo>
                <a:lnTo>
                  <a:pt x="393" y="553"/>
                </a:lnTo>
                <a:lnTo>
                  <a:pt x="346" y="553"/>
                </a:lnTo>
                <a:lnTo>
                  <a:pt x="346" y="763"/>
                </a:lnTo>
                <a:lnTo>
                  <a:pt x="393" y="763"/>
                </a:lnTo>
                <a:lnTo>
                  <a:pt x="393" y="643"/>
                </a:lnTo>
                <a:cubicBezTo>
                  <a:pt x="393" y="626"/>
                  <a:pt x="398" y="613"/>
                  <a:pt x="407" y="602"/>
                </a:cubicBezTo>
                <a:cubicBezTo>
                  <a:pt x="417" y="591"/>
                  <a:pt x="429" y="585"/>
                  <a:pt x="443" y="585"/>
                </a:cubicBezTo>
                <a:cubicBezTo>
                  <a:pt x="471" y="585"/>
                  <a:pt x="485" y="605"/>
                  <a:pt x="485" y="644"/>
                </a:cubicBezTo>
                <a:lnTo>
                  <a:pt x="485" y="763"/>
                </a:lnTo>
                <a:lnTo>
                  <a:pt x="533" y="763"/>
                </a:lnTo>
                <a:lnTo>
                  <a:pt x="533" y="634"/>
                </a:lnTo>
                <a:cubicBezTo>
                  <a:pt x="533" y="606"/>
                  <a:pt x="527" y="585"/>
                  <a:pt x="514" y="570"/>
                </a:cubicBezTo>
                <a:cubicBezTo>
                  <a:pt x="502" y="555"/>
                  <a:pt x="485" y="548"/>
                  <a:pt x="462" y="548"/>
                </a:cubicBezTo>
                <a:close/>
                <a:moveTo>
                  <a:pt x="249" y="639"/>
                </a:moveTo>
                <a:lnTo>
                  <a:pt x="249" y="639"/>
                </a:lnTo>
                <a:cubicBezTo>
                  <a:pt x="249" y="624"/>
                  <a:pt x="244" y="612"/>
                  <a:pt x="234" y="601"/>
                </a:cubicBezTo>
                <a:cubicBezTo>
                  <a:pt x="224" y="591"/>
                  <a:pt x="212" y="586"/>
                  <a:pt x="197" y="586"/>
                </a:cubicBezTo>
                <a:cubicBezTo>
                  <a:pt x="179" y="586"/>
                  <a:pt x="165" y="592"/>
                  <a:pt x="155" y="606"/>
                </a:cubicBezTo>
                <a:cubicBezTo>
                  <a:pt x="145" y="619"/>
                  <a:pt x="140" y="638"/>
                  <a:pt x="140" y="662"/>
                </a:cubicBezTo>
                <a:cubicBezTo>
                  <a:pt x="140" y="682"/>
                  <a:pt x="145" y="699"/>
                  <a:pt x="154" y="711"/>
                </a:cubicBezTo>
                <a:cubicBezTo>
                  <a:pt x="164" y="723"/>
                  <a:pt x="177" y="730"/>
                  <a:pt x="193" y="730"/>
                </a:cubicBezTo>
                <a:cubicBezTo>
                  <a:pt x="210" y="730"/>
                  <a:pt x="223" y="724"/>
                  <a:pt x="233" y="712"/>
                </a:cubicBezTo>
                <a:cubicBezTo>
                  <a:pt x="243" y="700"/>
                  <a:pt x="249" y="685"/>
                  <a:pt x="249" y="666"/>
                </a:cubicBezTo>
                <a:lnTo>
                  <a:pt x="249" y="639"/>
                </a:lnTo>
                <a:close/>
                <a:moveTo>
                  <a:pt x="248" y="553"/>
                </a:moveTo>
                <a:lnTo>
                  <a:pt x="248" y="553"/>
                </a:lnTo>
                <a:lnTo>
                  <a:pt x="296" y="553"/>
                </a:lnTo>
                <a:lnTo>
                  <a:pt x="296" y="746"/>
                </a:lnTo>
                <a:cubicBezTo>
                  <a:pt x="296" y="823"/>
                  <a:pt x="257" y="862"/>
                  <a:pt x="179" y="862"/>
                </a:cubicBezTo>
                <a:cubicBezTo>
                  <a:pt x="152" y="862"/>
                  <a:pt x="128" y="857"/>
                  <a:pt x="108" y="848"/>
                </a:cubicBezTo>
                <a:lnTo>
                  <a:pt x="108" y="804"/>
                </a:lnTo>
                <a:cubicBezTo>
                  <a:pt x="131" y="817"/>
                  <a:pt x="153" y="824"/>
                  <a:pt x="173" y="824"/>
                </a:cubicBezTo>
                <a:cubicBezTo>
                  <a:pt x="223" y="824"/>
                  <a:pt x="248" y="799"/>
                  <a:pt x="248" y="750"/>
                </a:cubicBezTo>
                <a:lnTo>
                  <a:pt x="248" y="727"/>
                </a:lnTo>
                <a:lnTo>
                  <a:pt x="247" y="727"/>
                </a:lnTo>
                <a:cubicBezTo>
                  <a:pt x="232" y="754"/>
                  <a:pt x="208" y="768"/>
                  <a:pt x="176" y="768"/>
                </a:cubicBezTo>
                <a:cubicBezTo>
                  <a:pt x="151" y="768"/>
                  <a:pt x="130" y="758"/>
                  <a:pt x="115" y="740"/>
                </a:cubicBezTo>
                <a:cubicBezTo>
                  <a:pt x="99" y="721"/>
                  <a:pt x="91" y="696"/>
                  <a:pt x="91" y="664"/>
                </a:cubicBezTo>
                <a:cubicBezTo>
                  <a:pt x="91" y="629"/>
                  <a:pt x="99" y="600"/>
                  <a:pt x="116" y="579"/>
                </a:cubicBezTo>
                <a:cubicBezTo>
                  <a:pt x="133" y="558"/>
                  <a:pt x="156" y="548"/>
                  <a:pt x="186" y="548"/>
                </a:cubicBezTo>
                <a:cubicBezTo>
                  <a:pt x="213" y="548"/>
                  <a:pt x="234" y="559"/>
                  <a:pt x="247" y="582"/>
                </a:cubicBezTo>
                <a:lnTo>
                  <a:pt x="248" y="582"/>
                </a:lnTo>
                <a:lnTo>
                  <a:pt x="248" y="553"/>
                </a:lnTo>
                <a:close/>
                <a:moveTo>
                  <a:pt x="0" y="763"/>
                </a:moveTo>
                <a:lnTo>
                  <a:pt x="0" y="763"/>
                </a:lnTo>
                <a:lnTo>
                  <a:pt x="50" y="763"/>
                </a:lnTo>
                <a:lnTo>
                  <a:pt x="50" y="469"/>
                </a:lnTo>
                <a:lnTo>
                  <a:pt x="0" y="469"/>
                </a:lnTo>
                <a:lnTo>
                  <a:pt x="0" y="763"/>
                </a:lnTo>
                <a:close/>
                <a:moveTo>
                  <a:pt x="1710" y="142"/>
                </a:moveTo>
                <a:lnTo>
                  <a:pt x="1710" y="142"/>
                </a:lnTo>
                <a:lnTo>
                  <a:pt x="1710" y="105"/>
                </a:lnTo>
                <a:lnTo>
                  <a:pt x="1660" y="105"/>
                </a:lnTo>
                <a:lnTo>
                  <a:pt x="1660" y="43"/>
                </a:lnTo>
                <a:lnTo>
                  <a:pt x="1613" y="56"/>
                </a:lnTo>
                <a:lnTo>
                  <a:pt x="1613" y="105"/>
                </a:lnTo>
                <a:lnTo>
                  <a:pt x="1579" y="105"/>
                </a:lnTo>
                <a:lnTo>
                  <a:pt x="1577" y="105"/>
                </a:lnTo>
                <a:lnTo>
                  <a:pt x="1530" y="105"/>
                </a:lnTo>
                <a:lnTo>
                  <a:pt x="1530" y="76"/>
                </a:lnTo>
                <a:cubicBezTo>
                  <a:pt x="1530" y="50"/>
                  <a:pt x="1542" y="37"/>
                  <a:pt x="1565" y="37"/>
                </a:cubicBezTo>
                <a:cubicBezTo>
                  <a:pt x="1573" y="37"/>
                  <a:pt x="1580" y="39"/>
                  <a:pt x="1587" y="43"/>
                </a:cubicBezTo>
                <a:lnTo>
                  <a:pt x="1587" y="4"/>
                </a:lnTo>
                <a:cubicBezTo>
                  <a:pt x="1580" y="1"/>
                  <a:pt x="1570" y="0"/>
                  <a:pt x="1559" y="0"/>
                </a:cubicBezTo>
                <a:cubicBezTo>
                  <a:pt x="1537" y="0"/>
                  <a:pt x="1519" y="6"/>
                  <a:pt x="1504" y="18"/>
                </a:cubicBezTo>
                <a:cubicBezTo>
                  <a:pt x="1490" y="31"/>
                  <a:pt x="1483" y="48"/>
                  <a:pt x="1483" y="71"/>
                </a:cubicBezTo>
                <a:lnTo>
                  <a:pt x="1483" y="105"/>
                </a:lnTo>
                <a:lnTo>
                  <a:pt x="1447" y="105"/>
                </a:lnTo>
                <a:lnTo>
                  <a:pt x="1447" y="142"/>
                </a:lnTo>
                <a:lnTo>
                  <a:pt x="1483" y="142"/>
                </a:lnTo>
                <a:lnTo>
                  <a:pt x="1483" y="315"/>
                </a:lnTo>
                <a:lnTo>
                  <a:pt x="1530" y="315"/>
                </a:lnTo>
                <a:lnTo>
                  <a:pt x="1530" y="142"/>
                </a:lnTo>
                <a:lnTo>
                  <a:pt x="1577" y="142"/>
                </a:lnTo>
                <a:lnTo>
                  <a:pt x="1579" y="142"/>
                </a:lnTo>
                <a:lnTo>
                  <a:pt x="1613" y="142"/>
                </a:lnTo>
                <a:lnTo>
                  <a:pt x="1613" y="261"/>
                </a:lnTo>
                <a:cubicBezTo>
                  <a:pt x="1613" y="300"/>
                  <a:pt x="1633" y="319"/>
                  <a:pt x="1674" y="319"/>
                </a:cubicBezTo>
                <a:cubicBezTo>
                  <a:pt x="1689" y="319"/>
                  <a:pt x="1701" y="317"/>
                  <a:pt x="1710" y="312"/>
                </a:cubicBezTo>
                <a:lnTo>
                  <a:pt x="1710" y="275"/>
                </a:lnTo>
                <a:cubicBezTo>
                  <a:pt x="1705" y="279"/>
                  <a:pt x="1698" y="282"/>
                  <a:pt x="1689" y="282"/>
                </a:cubicBezTo>
                <a:cubicBezTo>
                  <a:pt x="1679" y="282"/>
                  <a:pt x="1671" y="279"/>
                  <a:pt x="1667" y="274"/>
                </a:cubicBezTo>
                <a:cubicBezTo>
                  <a:pt x="1662" y="268"/>
                  <a:pt x="1660" y="259"/>
                  <a:pt x="1660" y="247"/>
                </a:cubicBezTo>
                <a:lnTo>
                  <a:pt x="1660" y="142"/>
                </a:lnTo>
                <a:lnTo>
                  <a:pt x="1710" y="142"/>
                </a:lnTo>
                <a:close/>
                <a:moveTo>
                  <a:pt x="1383" y="210"/>
                </a:moveTo>
                <a:lnTo>
                  <a:pt x="1383" y="210"/>
                </a:lnTo>
                <a:cubicBezTo>
                  <a:pt x="1383" y="187"/>
                  <a:pt x="1378" y="169"/>
                  <a:pt x="1368" y="157"/>
                </a:cubicBezTo>
                <a:cubicBezTo>
                  <a:pt x="1358" y="144"/>
                  <a:pt x="1343" y="138"/>
                  <a:pt x="1325" y="138"/>
                </a:cubicBezTo>
                <a:cubicBezTo>
                  <a:pt x="1306" y="138"/>
                  <a:pt x="1291" y="144"/>
                  <a:pt x="1281" y="157"/>
                </a:cubicBezTo>
                <a:cubicBezTo>
                  <a:pt x="1270" y="170"/>
                  <a:pt x="1264" y="188"/>
                  <a:pt x="1264" y="211"/>
                </a:cubicBezTo>
                <a:cubicBezTo>
                  <a:pt x="1264" y="233"/>
                  <a:pt x="1270" y="250"/>
                  <a:pt x="1281" y="263"/>
                </a:cubicBezTo>
                <a:cubicBezTo>
                  <a:pt x="1292" y="276"/>
                  <a:pt x="1306" y="282"/>
                  <a:pt x="1325" y="282"/>
                </a:cubicBezTo>
                <a:cubicBezTo>
                  <a:pt x="1343" y="282"/>
                  <a:pt x="1358" y="276"/>
                  <a:pt x="1368" y="263"/>
                </a:cubicBezTo>
                <a:cubicBezTo>
                  <a:pt x="1378" y="251"/>
                  <a:pt x="1383" y="233"/>
                  <a:pt x="1383" y="210"/>
                </a:cubicBezTo>
                <a:close/>
                <a:moveTo>
                  <a:pt x="1404" y="129"/>
                </a:moveTo>
                <a:lnTo>
                  <a:pt x="1404" y="129"/>
                </a:lnTo>
                <a:cubicBezTo>
                  <a:pt x="1423" y="148"/>
                  <a:pt x="1432" y="175"/>
                  <a:pt x="1432" y="209"/>
                </a:cubicBezTo>
                <a:cubicBezTo>
                  <a:pt x="1432" y="242"/>
                  <a:pt x="1422" y="269"/>
                  <a:pt x="1402" y="289"/>
                </a:cubicBezTo>
                <a:cubicBezTo>
                  <a:pt x="1382" y="310"/>
                  <a:pt x="1356" y="320"/>
                  <a:pt x="1322" y="320"/>
                </a:cubicBezTo>
                <a:cubicBezTo>
                  <a:pt x="1290" y="320"/>
                  <a:pt x="1264" y="310"/>
                  <a:pt x="1245" y="290"/>
                </a:cubicBezTo>
                <a:cubicBezTo>
                  <a:pt x="1225" y="271"/>
                  <a:pt x="1216" y="245"/>
                  <a:pt x="1216" y="212"/>
                </a:cubicBezTo>
                <a:cubicBezTo>
                  <a:pt x="1216" y="177"/>
                  <a:pt x="1226" y="149"/>
                  <a:pt x="1246" y="129"/>
                </a:cubicBezTo>
                <a:cubicBezTo>
                  <a:pt x="1266" y="110"/>
                  <a:pt x="1293" y="100"/>
                  <a:pt x="1327" y="100"/>
                </a:cubicBezTo>
                <a:cubicBezTo>
                  <a:pt x="1360" y="100"/>
                  <a:pt x="1386" y="109"/>
                  <a:pt x="1404" y="129"/>
                </a:cubicBezTo>
                <a:close/>
                <a:moveTo>
                  <a:pt x="1172" y="217"/>
                </a:moveTo>
                <a:lnTo>
                  <a:pt x="1172" y="217"/>
                </a:lnTo>
                <a:cubicBezTo>
                  <a:pt x="1167" y="212"/>
                  <a:pt x="1161" y="208"/>
                  <a:pt x="1154" y="204"/>
                </a:cubicBezTo>
                <a:cubicBezTo>
                  <a:pt x="1147" y="200"/>
                  <a:pt x="1139" y="197"/>
                  <a:pt x="1129" y="193"/>
                </a:cubicBezTo>
                <a:cubicBezTo>
                  <a:pt x="1123" y="191"/>
                  <a:pt x="1117" y="188"/>
                  <a:pt x="1111" y="186"/>
                </a:cubicBezTo>
                <a:cubicBezTo>
                  <a:pt x="1106" y="184"/>
                  <a:pt x="1102" y="182"/>
                  <a:pt x="1098" y="180"/>
                </a:cubicBezTo>
                <a:cubicBezTo>
                  <a:pt x="1094" y="177"/>
                  <a:pt x="1091" y="175"/>
                  <a:pt x="1089" y="172"/>
                </a:cubicBezTo>
                <a:cubicBezTo>
                  <a:pt x="1087" y="168"/>
                  <a:pt x="1086" y="165"/>
                  <a:pt x="1086" y="160"/>
                </a:cubicBezTo>
                <a:cubicBezTo>
                  <a:pt x="1086" y="156"/>
                  <a:pt x="1087" y="153"/>
                  <a:pt x="1089" y="150"/>
                </a:cubicBezTo>
                <a:cubicBezTo>
                  <a:pt x="1091" y="147"/>
                  <a:pt x="1094" y="144"/>
                  <a:pt x="1097" y="142"/>
                </a:cubicBezTo>
                <a:cubicBezTo>
                  <a:pt x="1101" y="140"/>
                  <a:pt x="1105" y="138"/>
                  <a:pt x="1110" y="137"/>
                </a:cubicBezTo>
                <a:cubicBezTo>
                  <a:pt x="1115" y="136"/>
                  <a:pt x="1120" y="135"/>
                  <a:pt x="1126" y="135"/>
                </a:cubicBezTo>
                <a:cubicBezTo>
                  <a:pt x="1145" y="135"/>
                  <a:pt x="1162" y="140"/>
                  <a:pt x="1177" y="150"/>
                </a:cubicBezTo>
                <a:lnTo>
                  <a:pt x="1177" y="109"/>
                </a:lnTo>
                <a:cubicBezTo>
                  <a:pt x="1162" y="103"/>
                  <a:pt x="1144" y="100"/>
                  <a:pt x="1125" y="100"/>
                </a:cubicBezTo>
                <a:cubicBezTo>
                  <a:pt x="1114" y="100"/>
                  <a:pt x="1103" y="101"/>
                  <a:pt x="1093" y="104"/>
                </a:cubicBezTo>
                <a:cubicBezTo>
                  <a:pt x="1083" y="106"/>
                  <a:pt x="1074" y="110"/>
                  <a:pt x="1065" y="116"/>
                </a:cubicBezTo>
                <a:cubicBezTo>
                  <a:pt x="1057" y="121"/>
                  <a:pt x="1051" y="127"/>
                  <a:pt x="1046" y="135"/>
                </a:cubicBezTo>
                <a:cubicBezTo>
                  <a:pt x="1041" y="143"/>
                  <a:pt x="1039" y="152"/>
                  <a:pt x="1039" y="162"/>
                </a:cubicBezTo>
                <a:cubicBezTo>
                  <a:pt x="1039" y="170"/>
                  <a:pt x="1040" y="177"/>
                  <a:pt x="1043" y="183"/>
                </a:cubicBezTo>
                <a:cubicBezTo>
                  <a:pt x="1045" y="190"/>
                  <a:pt x="1048" y="195"/>
                  <a:pt x="1053" y="200"/>
                </a:cubicBezTo>
                <a:cubicBezTo>
                  <a:pt x="1057" y="205"/>
                  <a:pt x="1063" y="209"/>
                  <a:pt x="1070" y="213"/>
                </a:cubicBezTo>
                <a:cubicBezTo>
                  <a:pt x="1077" y="217"/>
                  <a:pt x="1085" y="220"/>
                  <a:pt x="1093" y="224"/>
                </a:cubicBezTo>
                <a:cubicBezTo>
                  <a:pt x="1100" y="226"/>
                  <a:pt x="1107" y="229"/>
                  <a:pt x="1112" y="231"/>
                </a:cubicBezTo>
                <a:cubicBezTo>
                  <a:pt x="1118" y="233"/>
                  <a:pt x="1123" y="235"/>
                  <a:pt x="1127" y="238"/>
                </a:cubicBezTo>
                <a:cubicBezTo>
                  <a:pt x="1131" y="240"/>
                  <a:pt x="1135" y="243"/>
                  <a:pt x="1137" y="247"/>
                </a:cubicBezTo>
                <a:cubicBezTo>
                  <a:pt x="1140" y="250"/>
                  <a:pt x="1141" y="254"/>
                  <a:pt x="1141" y="259"/>
                </a:cubicBezTo>
                <a:cubicBezTo>
                  <a:pt x="1141" y="276"/>
                  <a:pt x="1126" y="284"/>
                  <a:pt x="1098" y="284"/>
                </a:cubicBezTo>
                <a:cubicBezTo>
                  <a:pt x="1076" y="284"/>
                  <a:pt x="1057" y="278"/>
                  <a:pt x="1039" y="264"/>
                </a:cubicBezTo>
                <a:lnTo>
                  <a:pt x="1039" y="308"/>
                </a:lnTo>
                <a:cubicBezTo>
                  <a:pt x="1056" y="316"/>
                  <a:pt x="1076" y="320"/>
                  <a:pt x="1099" y="320"/>
                </a:cubicBezTo>
                <a:cubicBezTo>
                  <a:pt x="1110" y="320"/>
                  <a:pt x="1122" y="318"/>
                  <a:pt x="1132" y="316"/>
                </a:cubicBezTo>
                <a:cubicBezTo>
                  <a:pt x="1143" y="313"/>
                  <a:pt x="1153" y="309"/>
                  <a:pt x="1161" y="304"/>
                </a:cubicBezTo>
                <a:cubicBezTo>
                  <a:pt x="1169" y="299"/>
                  <a:pt x="1176" y="292"/>
                  <a:pt x="1181" y="285"/>
                </a:cubicBezTo>
                <a:cubicBezTo>
                  <a:pt x="1185" y="277"/>
                  <a:pt x="1188" y="267"/>
                  <a:pt x="1188" y="257"/>
                </a:cubicBezTo>
                <a:cubicBezTo>
                  <a:pt x="1188" y="248"/>
                  <a:pt x="1187" y="240"/>
                  <a:pt x="1184" y="234"/>
                </a:cubicBezTo>
                <a:cubicBezTo>
                  <a:pt x="1181" y="228"/>
                  <a:pt x="1177" y="222"/>
                  <a:pt x="1172" y="217"/>
                </a:cubicBezTo>
                <a:close/>
                <a:moveTo>
                  <a:pt x="840" y="211"/>
                </a:moveTo>
                <a:lnTo>
                  <a:pt x="840" y="211"/>
                </a:lnTo>
                <a:cubicBezTo>
                  <a:pt x="840" y="233"/>
                  <a:pt x="845" y="250"/>
                  <a:pt x="856" y="263"/>
                </a:cubicBezTo>
                <a:cubicBezTo>
                  <a:pt x="867" y="276"/>
                  <a:pt x="882" y="282"/>
                  <a:pt x="900" y="282"/>
                </a:cubicBezTo>
                <a:cubicBezTo>
                  <a:pt x="919" y="282"/>
                  <a:pt x="933" y="276"/>
                  <a:pt x="943" y="263"/>
                </a:cubicBezTo>
                <a:cubicBezTo>
                  <a:pt x="954" y="251"/>
                  <a:pt x="959" y="233"/>
                  <a:pt x="959" y="210"/>
                </a:cubicBezTo>
                <a:cubicBezTo>
                  <a:pt x="959" y="187"/>
                  <a:pt x="954" y="169"/>
                  <a:pt x="943" y="157"/>
                </a:cubicBezTo>
                <a:cubicBezTo>
                  <a:pt x="933" y="144"/>
                  <a:pt x="919" y="138"/>
                  <a:pt x="900" y="138"/>
                </a:cubicBezTo>
                <a:cubicBezTo>
                  <a:pt x="882" y="138"/>
                  <a:pt x="867" y="144"/>
                  <a:pt x="856" y="157"/>
                </a:cubicBezTo>
                <a:cubicBezTo>
                  <a:pt x="845" y="170"/>
                  <a:pt x="840" y="188"/>
                  <a:pt x="840" y="211"/>
                </a:cubicBezTo>
                <a:close/>
                <a:moveTo>
                  <a:pt x="820" y="290"/>
                </a:moveTo>
                <a:lnTo>
                  <a:pt x="820" y="290"/>
                </a:lnTo>
                <a:cubicBezTo>
                  <a:pt x="801" y="271"/>
                  <a:pt x="791" y="245"/>
                  <a:pt x="791" y="212"/>
                </a:cubicBezTo>
                <a:cubicBezTo>
                  <a:pt x="791" y="177"/>
                  <a:pt x="801" y="149"/>
                  <a:pt x="822" y="129"/>
                </a:cubicBezTo>
                <a:cubicBezTo>
                  <a:pt x="842" y="110"/>
                  <a:pt x="869" y="100"/>
                  <a:pt x="903" y="100"/>
                </a:cubicBezTo>
                <a:cubicBezTo>
                  <a:pt x="936" y="100"/>
                  <a:pt x="962" y="109"/>
                  <a:pt x="980" y="129"/>
                </a:cubicBezTo>
                <a:cubicBezTo>
                  <a:pt x="998" y="148"/>
                  <a:pt x="1007" y="175"/>
                  <a:pt x="1007" y="209"/>
                </a:cubicBezTo>
                <a:cubicBezTo>
                  <a:pt x="1007" y="242"/>
                  <a:pt x="997" y="269"/>
                  <a:pt x="978" y="289"/>
                </a:cubicBezTo>
                <a:cubicBezTo>
                  <a:pt x="958" y="310"/>
                  <a:pt x="931" y="320"/>
                  <a:pt x="898" y="320"/>
                </a:cubicBezTo>
                <a:cubicBezTo>
                  <a:pt x="866" y="320"/>
                  <a:pt x="840" y="310"/>
                  <a:pt x="820" y="290"/>
                </a:cubicBezTo>
                <a:close/>
                <a:moveTo>
                  <a:pt x="701" y="214"/>
                </a:moveTo>
                <a:lnTo>
                  <a:pt x="701" y="214"/>
                </a:lnTo>
                <a:cubicBezTo>
                  <a:pt x="701" y="192"/>
                  <a:pt x="706" y="175"/>
                  <a:pt x="715" y="162"/>
                </a:cubicBezTo>
                <a:cubicBezTo>
                  <a:pt x="724" y="150"/>
                  <a:pt x="736" y="143"/>
                  <a:pt x="750" y="143"/>
                </a:cubicBezTo>
                <a:cubicBezTo>
                  <a:pt x="761" y="143"/>
                  <a:pt x="769" y="145"/>
                  <a:pt x="775" y="150"/>
                </a:cubicBezTo>
                <a:lnTo>
                  <a:pt x="775" y="105"/>
                </a:lnTo>
                <a:cubicBezTo>
                  <a:pt x="771" y="102"/>
                  <a:pt x="764" y="101"/>
                  <a:pt x="755" y="101"/>
                </a:cubicBezTo>
                <a:cubicBezTo>
                  <a:pt x="743" y="101"/>
                  <a:pt x="733" y="105"/>
                  <a:pt x="723" y="113"/>
                </a:cubicBezTo>
                <a:cubicBezTo>
                  <a:pt x="713" y="122"/>
                  <a:pt x="706" y="133"/>
                  <a:pt x="702" y="148"/>
                </a:cubicBezTo>
                <a:lnTo>
                  <a:pt x="701" y="148"/>
                </a:lnTo>
                <a:lnTo>
                  <a:pt x="701" y="105"/>
                </a:lnTo>
                <a:lnTo>
                  <a:pt x="653" y="105"/>
                </a:lnTo>
                <a:lnTo>
                  <a:pt x="653" y="315"/>
                </a:lnTo>
                <a:lnTo>
                  <a:pt x="701" y="315"/>
                </a:lnTo>
                <a:lnTo>
                  <a:pt x="701" y="214"/>
                </a:lnTo>
                <a:close/>
                <a:moveTo>
                  <a:pt x="610" y="264"/>
                </a:moveTo>
                <a:lnTo>
                  <a:pt x="610" y="264"/>
                </a:lnTo>
                <a:cubicBezTo>
                  <a:pt x="595" y="276"/>
                  <a:pt x="579" y="282"/>
                  <a:pt x="561" y="282"/>
                </a:cubicBezTo>
                <a:cubicBezTo>
                  <a:pt x="541" y="282"/>
                  <a:pt x="525" y="276"/>
                  <a:pt x="513" y="263"/>
                </a:cubicBezTo>
                <a:cubicBezTo>
                  <a:pt x="501" y="250"/>
                  <a:pt x="495" y="233"/>
                  <a:pt x="495" y="212"/>
                </a:cubicBezTo>
                <a:cubicBezTo>
                  <a:pt x="495" y="189"/>
                  <a:pt x="501" y="172"/>
                  <a:pt x="514" y="158"/>
                </a:cubicBezTo>
                <a:cubicBezTo>
                  <a:pt x="527" y="144"/>
                  <a:pt x="543" y="138"/>
                  <a:pt x="563" y="138"/>
                </a:cubicBezTo>
                <a:cubicBezTo>
                  <a:pt x="580" y="138"/>
                  <a:pt x="595" y="143"/>
                  <a:pt x="610" y="154"/>
                </a:cubicBezTo>
                <a:lnTo>
                  <a:pt x="610" y="110"/>
                </a:lnTo>
                <a:cubicBezTo>
                  <a:pt x="595" y="103"/>
                  <a:pt x="579" y="100"/>
                  <a:pt x="559" y="100"/>
                </a:cubicBezTo>
                <a:cubicBezTo>
                  <a:pt x="525" y="100"/>
                  <a:pt x="497" y="110"/>
                  <a:pt x="477" y="131"/>
                </a:cubicBezTo>
                <a:cubicBezTo>
                  <a:pt x="456" y="152"/>
                  <a:pt x="446" y="180"/>
                  <a:pt x="446" y="215"/>
                </a:cubicBezTo>
                <a:cubicBezTo>
                  <a:pt x="446" y="246"/>
                  <a:pt x="456" y="271"/>
                  <a:pt x="475" y="290"/>
                </a:cubicBezTo>
                <a:cubicBezTo>
                  <a:pt x="494" y="310"/>
                  <a:pt x="519" y="320"/>
                  <a:pt x="550" y="320"/>
                </a:cubicBezTo>
                <a:cubicBezTo>
                  <a:pt x="573" y="320"/>
                  <a:pt x="593" y="315"/>
                  <a:pt x="610" y="305"/>
                </a:cubicBezTo>
                <a:lnTo>
                  <a:pt x="610" y="264"/>
                </a:lnTo>
                <a:close/>
                <a:moveTo>
                  <a:pt x="386" y="61"/>
                </a:moveTo>
                <a:lnTo>
                  <a:pt x="386" y="61"/>
                </a:lnTo>
                <a:cubicBezTo>
                  <a:pt x="394" y="61"/>
                  <a:pt x="401" y="58"/>
                  <a:pt x="407" y="53"/>
                </a:cubicBezTo>
                <a:cubicBezTo>
                  <a:pt x="412" y="47"/>
                  <a:pt x="415" y="41"/>
                  <a:pt x="415" y="34"/>
                </a:cubicBezTo>
                <a:cubicBezTo>
                  <a:pt x="415" y="26"/>
                  <a:pt x="412" y="19"/>
                  <a:pt x="407" y="14"/>
                </a:cubicBezTo>
                <a:cubicBezTo>
                  <a:pt x="401" y="9"/>
                  <a:pt x="394" y="7"/>
                  <a:pt x="386" y="7"/>
                </a:cubicBezTo>
                <a:cubicBezTo>
                  <a:pt x="378" y="7"/>
                  <a:pt x="372" y="9"/>
                  <a:pt x="366" y="14"/>
                </a:cubicBezTo>
                <a:cubicBezTo>
                  <a:pt x="360" y="19"/>
                  <a:pt x="358" y="26"/>
                  <a:pt x="358" y="34"/>
                </a:cubicBezTo>
                <a:cubicBezTo>
                  <a:pt x="358" y="41"/>
                  <a:pt x="360" y="48"/>
                  <a:pt x="366" y="53"/>
                </a:cubicBezTo>
                <a:cubicBezTo>
                  <a:pt x="372" y="58"/>
                  <a:pt x="378" y="61"/>
                  <a:pt x="386" y="61"/>
                </a:cubicBezTo>
                <a:close/>
                <a:moveTo>
                  <a:pt x="362" y="315"/>
                </a:moveTo>
                <a:lnTo>
                  <a:pt x="362" y="315"/>
                </a:lnTo>
                <a:lnTo>
                  <a:pt x="410" y="315"/>
                </a:lnTo>
                <a:lnTo>
                  <a:pt x="410" y="105"/>
                </a:lnTo>
                <a:lnTo>
                  <a:pt x="362" y="105"/>
                </a:lnTo>
                <a:lnTo>
                  <a:pt x="362" y="315"/>
                </a:lnTo>
                <a:close/>
                <a:moveTo>
                  <a:pt x="249" y="21"/>
                </a:moveTo>
                <a:lnTo>
                  <a:pt x="249" y="21"/>
                </a:lnTo>
                <a:lnTo>
                  <a:pt x="316" y="21"/>
                </a:lnTo>
                <a:lnTo>
                  <a:pt x="316" y="315"/>
                </a:lnTo>
                <a:lnTo>
                  <a:pt x="267" y="315"/>
                </a:lnTo>
                <a:lnTo>
                  <a:pt x="267" y="124"/>
                </a:lnTo>
                <a:cubicBezTo>
                  <a:pt x="267" y="109"/>
                  <a:pt x="268" y="90"/>
                  <a:pt x="270" y="67"/>
                </a:cubicBezTo>
                <a:lnTo>
                  <a:pt x="269" y="67"/>
                </a:lnTo>
                <a:cubicBezTo>
                  <a:pt x="266" y="80"/>
                  <a:pt x="264" y="89"/>
                  <a:pt x="261" y="95"/>
                </a:cubicBezTo>
                <a:lnTo>
                  <a:pt x="173" y="315"/>
                </a:lnTo>
                <a:lnTo>
                  <a:pt x="140" y="315"/>
                </a:lnTo>
                <a:lnTo>
                  <a:pt x="52" y="96"/>
                </a:lnTo>
                <a:cubicBezTo>
                  <a:pt x="49" y="90"/>
                  <a:pt x="47" y="80"/>
                  <a:pt x="44" y="67"/>
                </a:cubicBezTo>
                <a:lnTo>
                  <a:pt x="43" y="67"/>
                </a:lnTo>
                <a:cubicBezTo>
                  <a:pt x="44" y="79"/>
                  <a:pt x="45" y="98"/>
                  <a:pt x="45" y="125"/>
                </a:cubicBezTo>
                <a:lnTo>
                  <a:pt x="45" y="315"/>
                </a:lnTo>
                <a:lnTo>
                  <a:pt x="0" y="315"/>
                </a:lnTo>
                <a:lnTo>
                  <a:pt x="0" y="21"/>
                </a:lnTo>
                <a:lnTo>
                  <a:pt x="68" y="21"/>
                </a:lnTo>
                <a:lnTo>
                  <a:pt x="146" y="216"/>
                </a:lnTo>
                <a:cubicBezTo>
                  <a:pt x="152" y="231"/>
                  <a:pt x="155" y="243"/>
                  <a:pt x="157" y="250"/>
                </a:cubicBezTo>
                <a:lnTo>
                  <a:pt x="158" y="250"/>
                </a:lnTo>
                <a:cubicBezTo>
                  <a:pt x="163" y="235"/>
                  <a:pt x="167" y="223"/>
                  <a:pt x="171" y="216"/>
                </a:cubicBezTo>
                <a:lnTo>
                  <a:pt x="249" y="21"/>
                </a:lnTo>
                <a:close/>
              </a:path>
            </a:pathLst>
          </a:custGeom>
          <a:solidFill>
            <a:srgbClr val="D7312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07643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D83B0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F28077D6-7EB1-4B7E-84A0-48374B645BA8}"/>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385043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0213"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Picture 6" descr="Microsoft Ignite cube graphic">
            <a:extLst>
              <a:ext uri="{FF2B5EF4-FFF2-40B4-BE49-F238E27FC236}">
                <a16:creationId xmlns:a16="http://schemas.microsoft.com/office/drawing/2014/main" id="{401D67D2-C1F9-48BE-931F-741D00A15B06}"/>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091552" y="0"/>
            <a:ext cx="8100447"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39" userDrawn="1">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3">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0213"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Microsoft Ignite cube graphic">
            <a:extLst>
              <a:ext uri="{FF2B5EF4-FFF2-40B4-BE49-F238E27FC236}">
                <a16:creationId xmlns:a16="http://schemas.microsoft.com/office/drawing/2014/main" id="{1F0180E0-8AEF-4805-B05D-B6A240DA0D30}"/>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074617" y="-1"/>
            <a:ext cx="4117383" cy="6858001"/>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2370142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39">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Picture 5" descr="A person sitting at a table using a computer&#10;&#10;Description automatically generated">
            <a:extLst>
              <a:ext uri="{FF2B5EF4-FFF2-40B4-BE49-F238E27FC236}">
                <a16:creationId xmlns:a16="http://schemas.microsoft.com/office/drawing/2014/main" id="{1B5497F1-768F-45ED-85F1-D14B37BE1F7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8000" cy="6858000"/>
          </a:xfrm>
          <a:prstGeom prst="rect">
            <a:avLst/>
          </a:prstGeom>
        </p:spPr>
      </p:pic>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285817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2DBE4BB-02BC-403B-BD4E-F269E8077083}"/>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335955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AB7A8995-AE4E-430B-AF29-B4D106F867E8}"/>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15170057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bg bwMode="ltGray">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3150414"/>
            <a:ext cx="3183637" cy="553998"/>
          </a:xfrm>
          <a:noFill/>
        </p:spPr>
        <p:txBody>
          <a:bodyPr anchor="ctr"/>
          <a:lstStyle>
            <a:lvl1pPr>
              <a:defRPr>
                <a:solidFill>
                  <a:schemeClr val="bg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90893270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2846397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924359-C8C2-4219-A048-2F828396910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17017" y="-10886"/>
            <a:ext cx="7787832" cy="6881400"/>
          </a:xfrm>
          <a:prstGeom prst="rect">
            <a:avLst/>
          </a:prstGeom>
        </p:spPr>
      </p:pic>
      <p:sp>
        <p:nvSpPr>
          <p:cNvPr id="2" name="Title 1"/>
          <p:cNvSpPr>
            <a:spLocks noGrp="1"/>
          </p:cNvSpPr>
          <p:nvPr>
            <p:ph type="title" hasCustomPrompt="1"/>
          </p:nvPr>
        </p:nvSpPr>
        <p:spPr>
          <a:xfrm>
            <a:off x="585216" y="3033223"/>
            <a:ext cx="55107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55107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3" orient="horz" pos="1910" userDrawn="1">
          <p15:clr>
            <a:srgbClr val="5ACBF0"/>
          </p15:clr>
        </p15:guide>
        <p15:guide id="4" orient="horz" pos="2505"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55107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pic>
        <p:nvPicPr>
          <p:cNvPr id="4" name="Picture 3" descr="Microsoft Ignite cube graphic">
            <a:extLst>
              <a:ext uri="{FF2B5EF4-FFF2-40B4-BE49-F238E27FC236}">
                <a16:creationId xmlns:a16="http://schemas.microsoft.com/office/drawing/2014/main" id="{30EEB0D1-1E0C-44AC-A84C-4B781152A448}"/>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074617" y="-1"/>
            <a:ext cx="4117383" cy="6858001"/>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5ACBF0"/>
          </p15:clr>
        </p15:guide>
        <p15:guide id="3" orient="horz" pos="1911"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AC1A7617-8539-46AF-B383-CACBD8B22E1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alkin">
    <p:bg>
      <p:bgRef idx="1001">
        <a:schemeClr val="bg1"/>
      </p:bgRef>
    </p:bg>
    <p:spTree>
      <p:nvGrpSpPr>
        <p:cNvPr id="1" name=""/>
        <p:cNvGrpSpPr/>
        <p:nvPr/>
      </p:nvGrpSpPr>
      <p:grpSpPr>
        <a:xfrm>
          <a:off x="0" y="0"/>
          <a:ext cx="0" cy="0"/>
          <a:chOff x="0" y="0"/>
          <a:chExt cx="0" cy="0"/>
        </a:xfrm>
      </p:grpSpPr>
      <p:pic>
        <p:nvPicPr>
          <p:cNvPr id="7" name="Picture 6" descr="Microsoft Ignite cube graphic">
            <a:extLst>
              <a:ext uri="{FF2B5EF4-FFF2-40B4-BE49-F238E27FC236}">
                <a16:creationId xmlns:a16="http://schemas.microsoft.com/office/drawing/2014/main" id="{AEB1E43F-243E-134D-9418-B32A73E0E48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38046" y="0"/>
            <a:ext cx="8053953"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Freeform 5" descr="Microsoft Ignite logo">
            <a:extLst>
              <a:ext uri="{FF2B5EF4-FFF2-40B4-BE49-F238E27FC236}">
                <a16:creationId xmlns:a16="http://schemas.microsoft.com/office/drawing/2014/main" id="{D47C6F66-CC29-4F66-9643-C652E6794768}"/>
              </a:ext>
            </a:extLst>
          </p:cNvPr>
          <p:cNvSpPr>
            <a:spLocks noEditPoints="1"/>
          </p:cNvSpPr>
          <p:nvPr userDrawn="1"/>
        </p:nvSpPr>
        <p:spPr bwMode="black">
          <a:xfrm>
            <a:off x="593725" y="2865438"/>
            <a:ext cx="3040063" cy="1547813"/>
          </a:xfrm>
          <a:custGeom>
            <a:avLst/>
            <a:gdLst>
              <a:gd name="T0" fmla="*/ 882 w 1710"/>
              <a:gd name="T1" fmla="*/ 598 h 862"/>
              <a:gd name="T2" fmla="*/ 1008 w 1710"/>
              <a:gd name="T3" fmla="*/ 652 h 862"/>
              <a:gd name="T4" fmla="*/ 991 w 1710"/>
              <a:gd name="T5" fmla="*/ 711 h 862"/>
              <a:gd name="T6" fmla="*/ 845 w 1710"/>
              <a:gd name="T7" fmla="*/ 579 h 862"/>
              <a:gd name="T8" fmla="*/ 697 w 1710"/>
              <a:gd name="T9" fmla="*/ 504 h 862"/>
              <a:gd name="T10" fmla="*/ 697 w 1710"/>
              <a:gd name="T11" fmla="*/ 709 h 862"/>
              <a:gd name="T12" fmla="*/ 752 w 1710"/>
              <a:gd name="T13" fmla="*/ 722 h 862"/>
              <a:gd name="T14" fmla="*/ 745 w 1710"/>
              <a:gd name="T15" fmla="*/ 553 h 862"/>
              <a:gd name="T16" fmla="*/ 574 w 1710"/>
              <a:gd name="T17" fmla="*/ 482 h 862"/>
              <a:gd name="T18" fmla="*/ 623 w 1710"/>
              <a:gd name="T19" fmla="*/ 462 h 862"/>
              <a:gd name="T20" fmla="*/ 626 w 1710"/>
              <a:gd name="T21" fmla="*/ 553 h 862"/>
              <a:gd name="T22" fmla="*/ 394 w 1710"/>
              <a:gd name="T23" fmla="*/ 588 h 862"/>
              <a:gd name="T24" fmla="*/ 393 w 1710"/>
              <a:gd name="T25" fmla="*/ 763 h 862"/>
              <a:gd name="T26" fmla="*/ 485 w 1710"/>
              <a:gd name="T27" fmla="*/ 763 h 862"/>
              <a:gd name="T28" fmla="*/ 249 w 1710"/>
              <a:gd name="T29" fmla="*/ 639 h 862"/>
              <a:gd name="T30" fmla="*/ 140 w 1710"/>
              <a:gd name="T31" fmla="*/ 662 h 862"/>
              <a:gd name="T32" fmla="*/ 249 w 1710"/>
              <a:gd name="T33" fmla="*/ 639 h 862"/>
              <a:gd name="T34" fmla="*/ 179 w 1710"/>
              <a:gd name="T35" fmla="*/ 862 h 862"/>
              <a:gd name="T36" fmla="*/ 248 w 1710"/>
              <a:gd name="T37" fmla="*/ 727 h 862"/>
              <a:gd name="T38" fmla="*/ 116 w 1710"/>
              <a:gd name="T39" fmla="*/ 579 h 862"/>
              <a:gd name="T40" fmla="*/ 0 w 1710"/>
              <a:gd name="T41" fmla="*/ 763 h 862"/>
              <a:gd name="T42" fmla="*/ 0 w 1710"/>
              <a:gd name="T43" fmla="*/ 763 h 862"/>
              <a:gd name="T44" fmla="*/ 1660 w 1710"/>
              <a:gd name="T45" fmla="*/ 43 h 862"/>
              <a:gd name="T46" fmla="*/ 1530 w 1710"/>
              <a:gd name="T47" fmla="*/ 105 h 862"/>
              <a:gd name="T48" fmla="*/ 1559 w 1710"/>
              <a:gd name="T49" fmla="*/ 0 h 862"/>
              <a:gd name="T50" fmla="*/ 1447 w 1710"/>
              <a:gd name="T51" fmla="*/ 142 h 862"/>
              <a:gd name="T52" fmla="*/ 1577 w 1710"/>
              <a:gd name="T53" fmla="*/ 142 h 862"/>
              <a:gd name="T54" fmla="*/ 1710 w 1710"/>
              <a:gd name="T55" fmla="*/ 312 h 862"/>
              <a:gd name="T56" fmla="*/ 1660 w 1710"/>
              <a:gd name="T57" fmla="*/ 142 h 862"/>
              <a:gd name="T58" fmla="*/ 1325 w 1710"/>
              <a:gd name="T59" fmla="*/ 138 h 862"/>
              <a:gd name="T60" fmla="*/ 1368 w 1710"/>
              <a:gd name="T61" fmla="*/ 263 h 862"/>
              <a:gd name="T62" fmla="*/ 1402 w 1710"/>
              <a:gd name="T63" fmla="*/ 289 h 862"/>
              <a:gd name="T64" fmla="*/ 1327 w 1710"/>
              <a:gd name="T65" fmla="*/ 100 h 862"/>
              <a:gd name="T66" fmla="*/ 1129 w 1710"/>
              <a:gd name="T67" fmla="*/ 193 h 862"/>
              <a:gd name="T68" fmla="*/ 1089 w 1710"/>
              <a:gd name="T69" fmla="*/ 150 h 862"/>
              <a:gd name="T70" fmla="*/ 1177 w 1710"/>
              <a:gd name="T71" fmla="*/ 109 h 862"/>
              <a:gd name="T72" fmla="*/ 1039 w 1710"/>
              <a:gd name="T73" fmla="*/ 162 h 862"/>
              <a:gd name="T74" fmla="*/ 1112 w 1710"/>
              <a:gd name="T75" fmla="*/ 231 h 862"/>
              <a:gd name="T76" fmla="*/ 1039 w 1710"/>
              <a:gd name="T77" fmla="*/ 264 h 862"/>
              <a:gd name="T78" fmla="*/ 1181 w 1710"/>
              <a:gd name="T79" fmla="*/ 285 h 862"/>
              <a:gd name="T80" fmla="*/ 840 w 1710"/>
              <a:gd name="T81" fmla="*/ 211 h 862"/>
              <a:gd name="T82" fmla="*/ 943 w 1710"/>
              <a:gd name="T83" fmla="*/ 157 h 862"/>
              <a:gd name="T84" fmla="*/ 820 w 1710"/>
              <a:gd name="T85" fmla="*/ 290 h 862"/>
              <a:gd name="T86" fmla="*/ 1007 w 1710"/>
              <a:gd name="T87" fmla="*/ 209 h 862"/>
              <a:gd name="T88" fmla="*/ 701 w 1710"/>
              <a:gd name="T89" fmla="*/ 214 h 862"/>
              <a:gd name="T90" fmla="*/ 755 w 1710"/>
              <a:gd name="T91" fmla="*/ 101 h 862"/>
              <a:gd name="T92" fmla="*/ 653 w 1710"/>
              <a:gd name="T93" fmla="*/ 105 h 862"/>
              <a:gd name="T94" fmla="*/ 610 w 1710"/>
              <a:gd name="T95" fmla="*/ 264 h 862"/>
              <a:gd name="T96" fmla="*/ 563 w 1710"/>
              <a:gd name="T97" fmla="*/ 138 h 862"/>
              <a:gd name="T98" fmla="*/ 446 w 1710"/>
              <a:gd name="T99" fmla="*/ 215 h 862"/>
              <a:gd name="T100" fmla="*/ 386 w 1710"/>
              <a:gd name="T101" fmla="*/ 61 h 862"/>
              <a:gd name="T102" fmla="*/ 386 w 1710"/>
              <a:gd name="T103" fmla="*/ 7 h 862"/>
              <a:gd name="T104" fmla="*/ 362 w 1710"/>
              <a:gd name="T105" fmla="*/ 315 h 862"/>
              <a:gd name="T106" fmla="*/ 362 w 1710"/>
              <a:gd name="T107" fmla="*/ 315 h 862"/>
              <a:gd name="T108" fmla="*/ 267 w 1710"/>
              <a:gd name="T109" fmla="*/ 315 h 862"/>
              <a:gd name="T110" fmla="*/ 173 w 1710"/>
              <a:gd name="T111" fmla="*/ 315 h 862"/>
              <a:gd name="T112" fmla="*/ 45 w 1710"/>
              <a:gd name="T113" fmla="*/ 125 h 862"/>
              <a:gd name="T114" fmla="*/ 146 w 1710"/>
              <a:gd name="T115" fmla="*/ 216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10" h="862">
                <a:moveTo>
                  <a:pt x="962" y="637"/>
                </a:moveTo>
                <a:lnTo>
                  <a:pt x="962" y="637"/>
                </a:lnTo>
                <a:cubicBezTo>
                  <a:pt x="962" y="620"/>
                  <a:pt x="957" y="607"/>
                  <a:pt x="950" y="597"/>
                </a:cubicBezTo>
                <a:cubicBezTo>
                  <a:pt x="942" y="588"/>
                  <a:pt x="931" y="583"/>
                  <a:pt x="917" y="583"/>
                </a:cubicBezTo>
                <a:cubicBezTo>
                  <a:pt x="903" y="583"/>
                  <a:pt x="891" y="588"/>
                  <a:pt x="882" y="598"/>
                </a:cubicBezTo>
                <a:cubicBezTo>
                  <a:pt x="872" y="608"/>
                  <a:pt x="867" y="621"/>
                  <a:pt x="864" y="637"/>
                </a:cubicBezTo>
                <a:lnTo>
                  <a:pt x="962" y="637"/>
                </a:lnTo>
                <a:close/>
                <a:moveTo>
                  <a:pt x="984" y="575"/>
                </a:moveTo>
                <a:lnTo>
                  <a:pt x="984" y="575"/>
                </a:lnTo>
                <a:cubicBezTo>
                  <a:pt x="1000" y="594"/>
                  <a:pt x="1008" y="620"/>
                  <a:pt x="1008" y="652"/>
                </a:cubicBezTo>
                <a:lnTo>
                  <a:pt x="1008" y="671"/>
                </a:lnTo>
                <a:lnTo>
                  <a:pt x="864" y="671"/>
                </a:lnTo>
                <a:cubicBezTo>
                  <a:pt x="865" y="690"/>
                  <a:pt x="871" y="705"/>
                  <a:pt x="882" y="715"/>
                </a:cubicBezTo>
                <a:cubicBezTo>
                  <a:pt x="894" y="726"/>
                  <a:pt x="909" y="731"/>
                  <a:pt x="929" y="731"/>
                </a:cubicBezTo>
                <a:cubicBezTo>
                  <a:pt x="952" y="731"/>
                  <a:pt x="972" y="725"/>
                  <a:pt x="991" y="711"/>
                </a:cubicBezTo>
                <a:lnTo>
                  <a:pt x="991" y="750"/>
                </a:lnTo>
                <a:cubicBezTo>
                  <a:pt x="972" y="762"/>
                  <a:pt x="947" y="768"/>
                  <a:pt x="915" y="768"/>
                </a:cubicBezTo>
                <a:cubicBezTo>
                  <a:pt x="884" y="768"/>
                  <a:pt x="860" y="758"/>
                  <a:pt x="843" y="739"/>
                </a:cubicBezTo>
                <a:cubicBezTo>
                  <a:pt x="825" y="720"/>
                  <a:pt x="816" y="693"/>
                  <a:pt x="816" y="658"/>
                </a:cubicBezTo>
                <a:cubicBezTo>
                  <a:pt x="816" y="626"/>
                  <a:pt x="826" y="599"/>
                  <a:pt x="845" y="579"/>
                </a:cubicBezTo>
                <a:cubicBezTo>
                  <a:pt x="865" y="558"/>
                  <a:pt x="889" y="548"/>
                  <a:pt x="917" y="548"/>
                </a:cubicBezTo>
                <a:cubicBezTo>
                  <a:pt x="946" y="548"/>
                  <a:pt x="968" y="557"/>
                  <a:pt x="984" y="575"/>
                </a:cubicBezTo>
                <a:close/>
                <a:moveTo>
                  <a:pt x="745" y="491"/>
                </a:moveTo>
                <a:lnTo>
                  <a:pt x="745" y="491"/>
                </a:lnTo>
                <a:lnTo>
                  <a:pt x="697" y="504"/>
                </a:lnTo>
                <a:lnTo>
                  <a:pt x="697" y="553"/>
                </a:lnTo>
                <a:lnTo>
                  <a:pt x="662" y="553"/>
                </a:lnTo>
                <a:lnTo>
                  <a:pt x="662" y="590"/>
                </a:lnTo>
                <a:lnTo>
                  <a:pt x="697" y="590"/>
                </a:lnTo>
                <a:lnTo>
                  <a:pt x="697" y="709"/>
                </a:lnTo>
                <a:cubicBezTo>
                  <a:pt x="697" y="748"/>
                  <a:pt x="718" y="767"/>
                  <a:pt x="758" y="767"/>
                </a:cubicBezTo>
                <a:cubicBezTo>
                  <a:pt x="774" y="767"/>
                  <a:pt x="786" y="765"/>
                  <a:pt x="795" y="760"/>
                </a:cubicBezTo>
                <a:lnTo>
                  <a:pt x="795" y="723"/>
                </a:lnTo>
                <a:cubicBezTo>
                  <a:pt x="789" y="727"/>
                  <a:pt x="782" y="730"/>
                  <a:pt x="774" y="730"/>
                </a:cubicBezTo>
                <a:cubicBezTo>
                  <a:pt x="764" y="730"/>
                  <a:pt x="756" y="727"/>
                  <a:pt x="752" y="722"/>
                </a:cubicBezTo>
                <a:cubicBezTo>
                  <a:pt x="747" y="716"/>
                  <a:pt x="745" y="707"/>
                  <a:pt x="745" y="695"/>
                </a:cubicBezTo>
                <a:lnTo>
                  <a:pt x="745" y="590"/>
                </a:lnTo>
                <a:lnTo>
                  <a:pt x="795" y="590"/>
                </a:lnTo>
                <a:lnTo>
                  <a:pt x="795" y="553"/>
                </a:lnTo>
                <a:lnTo>
                  <a:pt x="745" y="553"/>
                </a:lnTo>
                <a:lnTo>
                  <a:pt x="745" y="491"/>
                </a:lnTo>
                <a:close/>
                <a:moveTo>
                  <a:pt x="602" y="454"/>
                </a:moveTo>
                <a:lnTo>
                  <a:pt x="602" y="454"/>
                </a:lnTo>
                <a:cubicBezTo>
                  <a:pt x="595" y="454"/>
                  <a:pt x="588" y="457"/>
                  <a:pt x="582" y="462"/>
                </a:cubicBezTo>
                <a:cubicBezTo>
                  <a:pt x="577" y="467"/>
                  <a:pt x="574" y="474"/>
                  <a:pt x="574" y="482"/>
                </a:cubicBezTo>
                <a:cubicBezTo>
                  <a:pt x="574" y="489"/>
                  <a:pt x="577" y="496"/>
                  <a:pt x="582" y="501"/>
                </a:cubicBezTo>
                <a:cubicBezTo>
                  <a:pt x="588" y="506"/>
                  <a:pt x="595" y="509"/>
                  <a:pt x="602" y="509"/>
                </a:cubicBezTo>
                <a:cubicBezTo>
                  <a:pt x="610" y="509"/>
                  <a:pt x="617" y="506"/>
                  <a:pt x="623" y="501"/>
                </a:cubicBezTo>
                <a:cubicBezTo>
                  <a:pt x="629" y="495"/>
                  <a:pt x="631" y="489"/>
                  <a:pt x="631" y="482"/>
                </a:cubicBezTo>
                <a:cubicBezTo>
                  <a:pt x="631" y="474"/>
                  <a:pt x="629" y="467"/>
                  <a:pt x="623" y="462"/>
                </a:cubicBezTo>
                <a:cubicBezTo>
                  <a:pt x="617" y="457"/>
                  <a:pt x="610" y="454"/>
                  <a:pt x="602" y="454"/>
                </a:cubicBezTo>
                <a:close/>
                <a:moveTo>
                  <a:pt x="578" y="763"/>
                </a:moveTo>
                <a:lnTo>
                  <a:pt x="578" y="763"/>
                </a:lnTo>
                <a:lnTo>
                  <a:pt x="626" y="763"/>
                </a:lnTo>
                <a:lnTo>
                  <a:pt x="626" y="553"/>
                </a:lnTo>
                <a:lnTo>
                  <a:pt x="578" y="553"/>
                </a:lnTo>
                <a:lnTo>
                  <a:pt x="578" y="763"/>
                </a:lnTo>
                <a:close/>
                <a:moveTo>
                  <a:pt x="462" y="548"/>
                </a:moveTo>
                <a:lnTo>
                  <a:pt x="462" y="548"/>
                </a:lnTo>
                <a:cubicBezTo>
                  <a:pt x="433" y="548"/>
                  <a:pt x="410" y="561"/>
                  <a:pt x="394" y="588"/>
                </a:cubicBezTo>
                <a:lnTo>
                  <a:pt x="393" y="588"/>
                </a:lnTo>
                <a:lnTo>
                  <a:pt x="393" y="553"/>
                </a:lnTo>
                <a:lnTo>
                  <a:pt x="346" y="553"/>
                </a:lnTo>
                <a:lnTo>
                  <a:pt x="346" y="763"/>
                </a:lnTo>
                <a:lnTo>
                  <a:pt x="393" y="763"/>
                </a:lnTo>
                <a:lnTo>
                  <a:pt x="393" y="643"/>
                </a:lnTo>
                <a:cubicBezTo>
                  <a:pt x="393" y="626"/>
                  <a:pt x="398" y="613"/>
                  <a:pt x="407" y="602"/>
                </a:cubicBezTo>
                <a:cubicBezTo>
                  <a:pt x="417" y="591"/>
                  <a:pt x="429" y="585"/>
                  <a:pt x="443" y="585"/>
                </a:cubicBezTo>
                <a:cubicBezTo>
                  <a:pt x="471" y="585"/>
                  <a:pt x="485" y="605"/>
                  <a:pt x="485" y="644"/>
                </a:cubicBezTo>
                <a:lnTo>
                  <a:pt x="485" y="763"/>
                </a:lnTo>
                <a:lnTo>
                  <a:pt x="533" y="763"/>
                </a:lnTo>
                <a:lnTo>
                  <a:pt x="533" y="634"/>
                </a:lnTo>
                <a:cubicBezTo>
                  <a:pt x="533" y="606"/>
                  <a:pt x="527" y="585"/>
                  <a:pt x="514" y="570"/>
                </a:cubicBezTo>
                <a:cubicBezTo>
                  <a:pt x="502" y="555"/>
                  <a:pt x="485" y="548"/>
                  <a:pt x="462" y="548"/>
                </a:cubicBezTo>
                <a:close/>
                <a:moveTo>
                  <a:pt x="249" y="639"/>
                </a:moveTo>
                <a:lnTo>
                  <a:pt x="249" y="639"/>
                </a:lnTo>
                <a:cubicBezTo>
                  <a:pt x="249" y="624"/>
                  <a:pt x="244" y="612"/>
                  <a:pt x="234" y="601"/>
                </a:cubicBezTo>
                <a:cubicBezTo>
                  <a:pt x="224" y="591"/>
                  <a:pt x="212" y="586"/>
                  <a:pt x="197" y="586"/>
                </a:cubicBezTo>
                <a:cubicBezTo>
                  <a:pt x="179" y="586"/>
                  <a:pt x="165" y="592"/>
                  <a:pt x="155" y="606"/>
                </a:cubicBezTo>
                <a:cubicBezTo>
                  <a:pt x="145" y="619"/>
                  <a:pt x="140" y="638"/>
                  <a:pt x="140" y="662"/>
                </a:cubicBezTo>
                <a:cubicBezTo>
                  <a:pt x="140" y="682"/>
                  <a:pt x="145" y="699"/>
                  <a:pt x="154" y="711"/>
                </a:cubicBezTo>
                <a:cubicBezTo>
                  <a:pt x="164" y="723"/>
                  <a:pt x="177" y="730"/>
                  <a:pt x="193" y="730"/>
                </a:cubicBezTo>
                <a:cubicBezTo>
                  <a:pt x="210" y="730"/>
                  <a:pt x="223" y="724"/>
                  <a:pt x="233" y="712"/>
                </a:cubicBezTo>
                <a:cubicBezTo>
                  <a:pt x="243" y="700"/>
                  <a:pt x="249" y="685"/>
                  <a:pt x="249" y="666"/>
                </a:cubicBezTo>
                <a:lnTo>
                  <a:pt x="249" y="639"/>
                </a:lnTo>
                <a:close/>
                <a:moveTo>
                  <a:pt x="248" y="553"/>
                </a:moveTo>
                <a:lnTo>
                  <a:pt x="248" y="553"/>
                </a:lnTo>
                <a:lnTo>
                  <a:pt x="296" y="553"/>
                </a:lnTo>
                <a:lnTo>
                  <a:pt x="296" y="746"/>
                </a:lnTo>
                <a:cubicBezTo>
                  <a:pt x="296" y="823"/>
                  <a:pt x="257" y="862"/>
                  <a:pt x="179" y="862"/>
                </a:cubicBezTo>
                <a:cubicBezTo>
                  <a:pt x="152" y="862"/>
                  <a:pt x="128" y="857"/>
                  <a:pt x="108" y="848"/>
                </a:cubicBezTo>
                <a:lnTo>
                  <a:pt x="108" y="804"/>
                </a:lnTo>
                <a:cubicBezTo>
                  <a:pt x="131" y="817"/>
                  <a:pt x="153" y="824"/>
                  <a:pt x="173" y="824"/>
                </a:cubicBezTo>
                <a:cubicBezTo>
                  <a:pt x="223" y="824"/>
                  <a:pt x="248" y="799"/>
                  <a:pt x="248" y="750"/>
                </a:cubicBezTo>
                <a:lnTo>
                  <a:pt x="248" y="727"/>
                </a:lnTo>
                <a:lnTo>
                  <a:pt x="247" y="727"/>
                </a:lnTo>
                <a:cubicBezTo>
                  <a:pt x="232" y="754"/>
                  <a:pt x="208" y="768"/>
                  <a:pt x="176" y="768"/>
                </a:cubicBezTo>
                <a:cubicBezTo>
                  <a:pt x="151" y="768"/>
                  <a:pt x="130" y="758"/>
                  <a:pt x="115" y="740"/>
                </a:cubicBezTo>
                <a:cubicBezTo>
                  <a:pt x="99" y="721"/>
                  <a:pt x="91" y="696"/>
                  <a:pt x="91" y="664"/>
                </a:cubicBezTo>
                <a:cubicBezTo>
                  <a:pt x="91" y="629"/>
                  <a:pt x="99" y="600"/>
                  <a:pt x="116" y="579"/>
                </a:cubicBezTo>
                <a:cubicBezTo>
                  <a:pt x="133" y="558"/>
                  <a:pt x="156" y="548"/>
                  <a:pt x="186" y="548"/>
                </a:cubicBezTo>
                <a:cubicBezTo>
                  <a:pt x="213" y="548"/>
                  <a:pt x="234" y="559"/>
                  <a:pt x="247" y="582"/>
                </a:cubicBezTo>
                <a:lnTo>
                  <a:pt x="248" y="582"/>
                </a:lnTo>
                <a:lnTo>
                  <a:pt x="248" y="553"/>
                </a:lnTo>
                <a:close/>
                <a:moveTo>
                  <a:pt x="0" y="763"/>
                </a:moveTo>
                <a:lnTo>
                  <a:pt x="0" y="763"/>
                </a:lnTo>
                <a:lnTo>
                  <a:pt x="50" y="763"/>
                </a:lnTo>
                <a:lnTo>
                  <a:pt x="50" y="469"/>
                </a:lnTo>
                <a:lnTo>
                  <a:pt x="0" y="469"/>
                </a:lnTo>
                <a:lnTo>
                  <a:pt x="0" y="763"/>
                </a:lnTo>
                <a:close/>
                <a:moveTo>
                  <a:pt x="1710" y="142"/>
                </a:moveTo>
                <a:lnTo>
                  <a:pt x="1710" y="142"/>
                </a:lnTo>
                <a:lnTo>
                  <a:pt x="1710" y="105"/>
                </a:lnTo>
                <a:lnTo>
                  <a:pt x="1660" y="105"/>
                </a:lnTo>
                <a:lnTo>
                  <a:pt x="1660" y="43"/>
                </a:lnTo>
                <a:lnTo>
                  <a:pt x="1613" y="56"/>
                </a:lnTo>
                <a:lnTo>
                  <a:pt x="1613" y="105"/>
                </a:lnTo>
                <a:lnTo>
                  <a:pt x="1579" y="105"/>
                </a:lnTo>
                <a:lnTo>
                  <a:pt x="1577" y="105"/>
                </a:lnTo>
                <a:lnTo>
                  <a:pt x="1530" y="105"/>
                </a:lnTo>
                <a:lnTo>
                  <a:pt x="1530" y="76"/>
                </a:lnTo>
                <a:cubicBezTo>
                  <a:pt x="1530" y="50"/>
                  <a:pt x="1542" y="37"/>
                  <a:pt x="1565" y="37"/>
                </a:cubicBezTo>
                <a:cubicBezTo>
                  <a:pt x="1573" y="37"/>
                  <a:pt x="1580" y="39"/>
                  <a:pt x="1587" y="43"/>
                </a:cubicBezTo>
                <a:lnTo>
                  <a:pt x="1587" y="4"/>
                </a:lnTo>
                <a:cubicBezTo>
                  <a:pt x="1580" y="1"/>
                  <a:pt x="1570" y="0"/>
                  <a:pt x="1559" y="0"/>
                </a:cubicBezTo>
                <a:cubicBezTo>
                  <a:pt x="1537" y="0"/>
                  <a:pt x="1519" y="6"/>
                  <a:pt x="1504" y="18"/>
                </a:cubicBezTo>
                <a:cubicBezTo>
                  <a:pt x="1490" y="31"/>
                  <a:pt x="1483" y="48"/>
                  <a:pt x="1483" y="71"/>
                </a:cubicBezTo>
                <a:lnTo>
                  <a:pt x="1483" y="105"/>
                </a:lnTo>
                <a:lnTo>
                  <a:pt x="1447" y="105"/>
                </a:lnTo>
                <a:lnTo>
                  <a:pt x="1447" y="142"/>
                </a:lnTo>
                <a:lnTo>
                  <a:pt x="1483" y="142"/>
                </a:lnTo>
                <a:lnTo>
                  <a:pt x="1483" y="315"/>
                </a:lnTo>
                <a:lnTo>
                  <a:pt x="1530" y="315"/>
                </a:lnTo>
                <a:lnTo>
                  <a:pt x="1530" y="142"/>
                </a:lnTo>
                <a:lnTo>
                  <a:pt x="1577" y="142"/>
                </a:lnTo>
                <a:lnTo>
                  <a:pt x="1579" y="142"/>
                </a:lnTo>
                <a:lnTo>
                  <a:pt x="1613" y="142"/>
                </a:lnTo>
                <a:lnTo>
                  <a:pt x="1613" y="261"/>
                </a:lnTo>
                <a:cubicBezTo>
                  <a:pt x="1613" y="300"/>
                  <a:pt x="1633" y="319"/>
                  <a:pt x="1674" y="319"/>
                </a:cubicBezTo>
                <a:cubicBezTo>
                  <a:pt x="1689" y="319"/>
                  <a:pt x="1701" y="317"/>
                  <a:pt x="1710" y="312"/>
                </a:cubicBezTo>
                <a:lnTo>
                  <a:pt x="1710" y="275"/>
                </a:lnTo>
                <a:cubicBezTo>
                  <a:pt x="1705" y="279"/>
                  <a:pt x="1698" y="282"/>
                  <a:pt x="1689" y="282"/>
                </a:cubicBezTo>
                <a:cubicBezTo>
                  <a:pt x="1679" y="282"/>
                  <a:pt x="1671" y="279"/>
                  <a:pt x="1667" y="274"/>
                </a:cubicBezTo>
                <a:cubicBezTo>
                  <a:pt x="1662" y="268"/>
                  <a:pt x="1660" y="259"/>
                  <a:pt x="1660" y="247"/>
                </a:cubicBezTo>
                <a:lnTo>
                  <a:pt x="1660" y="142"/>
                </a:lnTo>
                <a:lnTo>
                  <a:pt x="1710" y="142"/>
                </a:lnTo>
                <a:close/>
                <a:moveTo>
                  <a:pt x="1383" y="210"/>
                </a:moveTo>
                <a:lnTo>
                  <a:pt x="1383" y="210"/>
                </a:lnTo>
                <a:cubicBezTo>
                  <a:pt x="1383" y="187"/>
                  <a:pt x="1378" y="169"/>
                  <a:pt x="1368" y="157"/>
                </a:cubicBezTo>
                <a:cubicBezTo>
                  <a:pt x="1358" y="144"/>
                  <a:pt x="1343" y="138"/>
                  <a:pt x="1325" y="138"/>
                </a:cubicBezTo>
                <a:cubicBezTo>
                  <a:pt x="1306" y="138"/>
                  <a:pt x="1291" y="144"/>
                  <a:pt x="1281" y="157"/>
                </a:cubicBezTo>
                <a:cubicBezTo>
                  <a:pt x="1270" y="170"/>
                  <a:pt x="1264" y="188"/>
                  <a:pt x="1264" y="211"/>
                </a:cubicBezTo>
                <a:cubicBezTo>
                  <a:pt x="1264" y="233"/>
                  <a:pt x="1270" y="250"/>
                  <a:pt x="1281" y="263"/>
                </a:cubicBezTo>
                <a:cubicBezTo>
                  <a:pt x="1292" y="276"/>
                  <a:pt x="1306" y="282"/>
                  <a:pt x="1325" y="282"/>
                </a:cubicBezTo>
                <a:cubicBezTo>
                  <a:pt x="1343" y="282"/>
                  <a:pt x="1358" y="276"/>
                  <a:pt x="1368" y="263"/>
                </a:cubicBezTo>
                <a:cubicBezTo>
                  <a:pt x="1378" y="251"/>
                  <a:pt x="1383" y="233"/>
                  <a:pt x="1383" y="210"/>
                </a:cubicBezTo>
                <a:close/>
                <a:moveTo>
                  <a:pt x="1404" y="129"/>
                </a:moveTo>
                <a:lnTo>
                  <a:pt x="1404" y="129"/>
                </a:lnTo>
                <a:cubicBezTo>
                  <a:pt x="1423" y="148"/>
                  <a:pt x="1432" y="175"/>
                  <a:pt x="1432" y="209"/>
                </a:cubicBezTo>
                <a:cubicBezTo>
                  <a:pt x="1432" y="242"/>
                  <a:pt x="1422" y="269"/>
                  <a:pt x="1402" y="289"/>
                </a:cubicBezTo>
                <a:cubicBezTo>
                  <a:pt x="1382" y="310"/>
                  <a:pt x="1356" y="320"/>
                  <a:pt x="1322" y="320"/>
                </a:cubicBezTo>
                <a:cubicBezTo>
                  <a:pt x="1290" y="320"/>
                  <a:pt x="1264" y="310"/>
                  <a:pt x="1245" y="290"/>
                </a:cubicBezTo>
                <a:cubicBezTo>
                  <a:pt x="1225" y="271"/>
                  <a:pt x="1216" y="245"/>
                  <a:pt x="1216" y="212"/>
                </a:cubicBezTo>
                <a:cubicBezTo>
                  <a:pt x="1216" y="177"/>
                  <a:pt x="1226" y="149"/>
                  <a:pt x="1246" y="129"/>
                </a:cubicBezTo>
                <a:cubicBezTo>
                  <a:pt x="1266" y="110"/>
                  <a:pt x="1293" y="100"/>
                  <a:pt x="1327" y="100"/>
                </a:cubicBezTo>
                <a:cubicBezTo>
                  <a:pt x="1360" y="100"/>
                  <a:pt x="1386" y="109"/>
                  <a:pt x="1404" y="129"/>
                </a:cubicBezTo>
                <a:close/>
                <a:moveTo>
                  <a:pt x="1172" y="217"/>
                </a:moveTo>
                <a:lnTo>
                  <a:pt x="1172" y="217"/>
                </a:lnTo>
                <a:cubicBezTo>
                  <a:pt x="1167" y="212"/>
                  <a:pt x="1161" y="208"/>
                  <a:pt x="1154" y="204"/>
                </a:cubicBezTo>
                <a:cubicBezTo>
                  <a:pt x="1147" y="200"/>
                  <a:pt x="1139" y="197"/>
                  <a:pt x="1129" y="193"/>
                </a:cubicBezTo>
                <a:cubicBezTo>
                  <a:pt x="1123" y="191"/>
                  <a:pt x="1117" y="188"/>
                  <a:pt x="1111" y="186"/>
                </a:cubicBezTo>
                <a:cubicBezTo>
                  <a:pt x="1106" y="184"/>
                  <a:pt x="1102" y="182"/>
                  <a:pt x="1098" y="180"/>
                </a:cubicBezTo>
                <a:cubicBezTo>
                  <a:pt x="1094" y="177"/>
                  <a:pt x="1091" y="175"/>
                  <a:pt x="1089" y="172"/>
                </a:cubicBezTo>
                <a:cubicBezTo>
                  <a:pt x="1087" y="168"/>
                  <a:pt x="1086" y="165"/>
                  <a:pt x="1086" y="160"/>
                </a:cubicBezTo>
                <a:cubicBezTo>
                  <a:pt x="1086" y="156"/>
                  <a:pt x="1087" y="153"/>
                  <a:pt x="1089" y="150"/>
                </a:cubicBezTo>
                <a:cubicBezTo>
                  <a:pt x="1091" y="147"/>
                  <a:pt x="1094" y="144"/>
                  <a:pt x="1097" y="142"/>
                </a:cubicBezTo>
                <a:cubicBezTo>
                  <a:pt x="1101" y="140"/>
                  <a:pt x="1105" y="138"/>
                  <a:pt x="1110" y="137"/>
                </a:cubicBezTo>
                <a:cubicBezTo>
                  <a:pt x="1115" y="136"/>
                  <a:pt x="1120" y="135"/>
                  <a:pt x="1126" y="135"/>
                </a:cubicBezTo>
                <a:cubicBezTo>
                  <a:pt x="1145" y="135"/>
                  <a:pt x="1162" y="140"/>
                  <a:pt x="1177" y="150"/>
                </a:cubicBezTo>
                <a:lnTo>
                  <a:pt x="1177" y="109"/>
                </a:lnTo>
                <a:cubicBezTo>
                  <a:pt x="1162" y="103"/>
                  <a:pt x="1144" y="100"/>
                  <a:pt x="1125" y="100"/>
                </a:cubicBezTo>
                <a:cubicBezTo>
                  <a:pt x="1114" y="100"/>
                  <a:pt x="1103" y="101"/>
                  <a:pt x="1093" y="104"/>
                </a:cubicBezTo>
                <a:cubicBezTo>
                  <a:pt x="1083" y="106"/>
                  <a:pt x="1074" y="110"/>
                  <a:pt x="1065" y="116"/>
                </a:cubicBezTo>
                <a:cubicBezTo>
                  <a:pt x="1057" y="121"/>
                  <a:pt x="1051" y="127"/>
                  <a:pt x="1046" y="135"/>
                </a:cubicBezTo>
                <a:cubicBezTo>
                  <a:pt x="1041" y="143"/>
                  <a:pt x="1039" y="152"/>
                  <a:pt x="1039" y="162"/>
                </a:cubicBezTo>
                <a:cubicBezTo>
                  <a:pt x="1039" y="170"/>
                  <a:pt x="1040" y="177"/>
                  <a:pt x="1043" y="183"/>
                </a:cubicBezTo>
                <a:cubicBezTo>
                  <a:pt x="1045" y="190"/>
                  <a:pt x="1048" y="195"/>
                  <a:pt x="1053" y="200"/>
                </a:cubicBezTo>
                <a:cubicBezTo>
                  <a:pt x="1057" y="205"/>
                  <a:pt x="1063" y="209"/>
                  <a:pt x="1070" y="213"/>
                </a:cubicBezTo>
                <a:cubicBezTo>
                  <a:pt x="1077" y="217"/>
                  <a:pt x="1085" y="220"/>
                  <a:pt x="1093" y="224"/>
                </a:cubicBezTo>
                <a:cubicBezTo>
                  <a:pt x="1100" y="226"/>
                  <a:pt x="1107" y="229"/>
                  <a:pt x="1112" y="231"/>
                </a:cubicBezTo>
                <a:cubicBezTo>
                  <a:pt x="1118" y="233"/>
                  <a:pt x="1123" y="235"/>
                  <a:pt x="1127" y="238"/>
                </a:cubicBezTo>
                <a:cubicBezTo>
                  <a:pt x="1131" y="240"/>
                  <a:pt x="1135" y="243"/>
                  <a:pt x="1137" y="247"/>
                </a:cubicBezTo>
                <a:cubicBezTo>
                  <a:pt x="1140" y="250"/>
                  <a:pt x="1141" y="254"/>
                  <a:pt x="1141" y="259"/>
                </a:cubicBezTo>
                <a:cubicBezTo>
                  <a:pt x="1141" y="276"/>
                  <a:pt x="1126" y="284"/>
                  <a:pt x="1098" y="284"/>
                </a:cubicBezTo>
                <a:cubicBezTo>
                  <a:pt x="1076" y="284"/>
                  <a:pt x="1057" y="278"/>
                  <a:pt x="1039" y="264"/>
                </a:cubicBezTo>
                <a:lnTo>
                  <a:pt x="1039" y="308"/>
                </a:lnTo>
                <a:cubicBezTo>
                  <a:pt x="1056" y="316"/>
                  <a:pt x="1076" y="320"/>
                  <a:pt x="1099" y="320"/>
                </a:cubicBezTo>
                <a:cubicBezTo>
                  <a:pt x="1110" y="320"/>
                  <a:pt x="1122" y="318"/>
                  <a:pt x="1132" y="316"/>
                </a:cubicBezTo>
                <a:cubicBezTo>
                  <a:pt x="1143" y="313"/>
                  <a:pt x="1153" y="309"/>
                  <a:pt x="1161" y="304"/>
                </a:cubicBezTo>
                <a:cubicBezTo>
                  <a:pt x="1169" y="299"/>
                  <a:pt x="1176" y="292"/>
                  <a:pt x="1181" y="285"/>
                </a:cubicBezTo>
                <a:cubicBezTo>
                  <a:pt x="1185" y="277"/>
                  <a:pt x="1188" y="267"/>
                  <a:pt x="1188" y="257"/>
                </a:cubicBezTo>
                <a:cubicBezTo>
                  <a:pt x="1188" y="248"/>
                  <a:pt x="1187" y="240"/>
                  <a:pt x="1184" y="234"/>
                </a:cubicBezTo>
                <a:cubicBezTo>
                  <a:pt x="1181" y="228"/>
                  <a:pt x="1177" y="222"/>
                  <a:pt x="1172" y="217"/>
                </a:cubicBezTo>
                <a:close/>
                <a:moveTo>
                  <a:pt x="840" y="211"/>
                </a:moveTo>
                <a:lnTo>
                  <a:pt x="840" y="211"/>
                </a:lnTo>
                <a:cubicBezTo>
                  <a:pt x="840" y="233"/>
                  <a:pt x="845" y="250"/>
                  <a:pt x="856" y="263"/>
                </a:cubicBezTo>
                <a:cubicBezTo>
                  <a:pt x="867" y="276"/>
                  <a:pt x="882" y="282"/>
                  <a:pt x="900" y="282"/>
                </a:cubicBezTo>
                <a:cubicBezTo>
                  <a:pt x="919" y="282"/>
                  <a:pt x="933" y="276"/>
                  <a:pt x="943" y="263"/>
                </a:cubicBezTo>
                <a:cubicBezTo>
                  <a:pt x="954" y="251"/>
                  <a:pt x="959" y="233"/>
                  <a:pt x="959" y="210"/>
                </a:cubicBezTo>
                <a:cubicBezTo>
                  <a:pt x="959" y="187"/>
                  <a:pt x="954" y="169"/>
                  <a:pt x="943" y="157"/>
                </a:cubicBezTo>
                <a:cubicBezTo>
                  <a:pt x="933" y="144"/>
                  <a:pt x="919" y="138"/>
                  <a:pt x="900" y="138"/>
                </a:cubicBezTo>
                <a:cubicBezTo>
                  <a:pt x="882" y="138"/>
                  <a:pt x="867" y="144"/>
                  <a:pt x="856" y="157"/>
                </a:cubicBezTo>
                <a:cubicBezTo>
                  <a:pt x="845" y="170"/>
                  <a:pt x="840" y="188"/>
                  <a:pt x="840" y="211"/>
                </a:cubicBezTo>
                <a:close/>
                <a:moveTo>
                  <a:pt x="820" y="290"/>
                </a:moveTo>
                <a:lnTo>
                  <a:pt x="820" y="290"/>
                </a:lnTo>
                <a:cubicBezTo>
                  <a:pt x="801" y="271"/>
                  <a:pt x="791" y="245"/>
                  <a:pt x="791" y="212"/>
                </a:cubicBezTo>
                <a:cubicBezTo>
                  <a:pt x="791" y="177"/>
                  <a:pt x="801" y="149"/>
                  <a:pt x="822" y="129"/>
                </a:cubicBezTo>
                <a:cubicBezTo>
                  <a:pt x="842" y="110"/>
                  <a:pt x="869" y="100"/>
                  <a:pt x="903" y="100"/>
                </a:cubicBezTo>
                <a:cubicBezTo>
                  <a:pt x="936" y="100"/>
                  <a:pt x="962" y="109"/>
                  <a:pt x="980" y="129"/>
                </a:cubicBezTo>
                <a:cubicBezTo>
                  <a:pt x="998" y="148"/>
                  <a:pt x="1007" y="175"/>
                  <a:pt x="1007" y="209"/>
                </a:cubicBezTo>
                <a:cubicBezTo>
                  <a:pt x="1007" y="242"/>
                  <a:pt x="997" y="269"/>
                  <a:pt x="978" y="289"/>
                </a:cubicBezTo>
                <a:cubicBezTo>
                  <a:pt x="958" y="310"/>
                  <a:pt x="931" y="320"/>
                  <a:pt x="898" y="320"/>
                </a:cubicBezTo>
                <a:cubicBezTo>
                  <a:pt x="866" y="320"/>
                  <a:pt x="840" y="310"/>
                  <a:pt x="820" y="290"/>
                </a:cubicBezTo>
                <a:close/>
                <a:moveTo>
                  <a:pt x="701" y="214"/>
                </a:moveTo>
                <a:lnTo>
                  <a:pt x="701" y="214"/>
                </a:lnTo>
                <a:cubicBezTo>
                  <a:pt x="701" y="192"/>
                  <a:pt x="706" y="175"/>
                  <a:pt x="715" y="162"/>
                </a:cubicBezTo>
                <a:cubicBezTo>
                  <a:pt x="724" y="150"/>
                  <a:pt x="736" y="143"/>
                  <a:pt x="750" y="143"/>
                </a:cubicBezTo>
                <a:cubicBezTo>
                  <a:pt x="761" y="143"/>
                  <a:pt x="769" y="145"/>
                  <a:pt x="775" y="150"/>
                </a:cubicBezTo>
                <a:lnTo>
                  <a:pt x="775" y="105"/>
                </a:lnTo>
                <a:cubicBezTo>
                  <a:pt x="771" y="102"/>
                  <a:pt x="764" y="101"/>
                  <a:pt x="755" y="101"/>
                </a:cubicBezTo>
                <a:cubicBezTo>
                  <a:pt x="743" y="101"/>
                  <a:pt x="733" y="105"/>
                  <a:pt x="723" y="113"/>
                </a:cubicBezTo>
                <a:cubicBezTo>
                  <a:pt x="713" y="122"/>
                  <a:pt x="706" y="133"/>
                  <a:pt x="702" y="148"/>
                </a:cubicBezTo>
                <a:lnTo>
                  <a:pt x="701" y="148"/>
                </a:lnTo>
                <a:lnTo>
                  <a:pt x="701" y="105"/>
                </a:lnTo>
                <a:lnTo>
                  <a:pt x="653" y="105"/>
                </a:lnTo>
                <a:lnTo>
                  <a:pt x="653" y="315"/>
                </a:lnTo>
                <a:lnTo>
                  <a:pt x="701" y="315"/>
                </a:lnTo>
                <a:lnTo>
                  <a:pt x="701" y="214"/>
                </a:lnTo>
                <a:close/>
                <a:moveTo>
                  <a:pt x="610" y="264"/>
                </a:moveTo>
                <a:lnTo>
                  <a:pt x="610" y="264"/>
                </a:lnTo>
                <a:cubicBezTo>
                  <a:pt x="595" y="276"/>
                  <a:pt x="579" y="282"/>
                  <a:pt x="561" y="282"/>
                </a:cubicBezTo>
                <a:cubicBezTo>
                  <a:pt x="541" y="282"/>
                  <a:pt x="525" y="276"/>
                  <a:pt x="513" y="263"/>
                </a:cubicBezTo>
                <a:cubicBezTo>
                  <a:pt x="501" y="250"/>
                  <a:pt x="495" y="233"/>
                  <a:pt x="495" y="212"/>
                </a:cubicBezTo>
                <a:cubicBezTo>
                  <a:pt x="495" y="189"/>
                  <a:pt x="501" y="172"/>
                  <a:pt x="514" y="158"/>
                </a:cubicBezTo>
                <a:cubicBezTo>
                  <a:pt x="527" y="144"/>
                  <a:pt x="543" y="138"/>
                  <a:pt x="563" y="138"/>
                </a:cubicBezTo>
                <a:cubicBezTo>
                  <a:pt x="580" y="138"/>
                  <a:pt x="595" y="143"/>
                  <a:pt x="610" y="154"/>
                </a:cubicBezTo>
                <a:lnTo>
                  <a:pt x="610" y="110"/>
                </a:lnTo>
                <a:cubicBezTo>
                  <a:pt x="595" y="103"/>
                  <a:pt x="579" y="100"/>
                  <a:pt x="559" y="100"/>
                </a:cubicBezTo>
                <a:cubicBezTo>
                  <a:pt x="525" y="100"/>
                  <a:pt x="497" y="110"/>
                  <a:pt x="477" y="131"/>
                </a:cubicBezTo>
                <a:cubicBezTo>
                  <a:pt x="456" y="152"/>
                  <a:pt x="446" y="180"/>
                  <a:pt x="446" y="215"/>
                </a:cubicBezTo>
                <a:cubicBezTo>
                  <a:pt x="446" y="246"/>
                  <a:pt x="456" y="271"/>
                  <a:pt x="475" y="290"/>
                </a:cubicBezTo>
                <a:cubicBezTo>
                  <a:pt x="494" y="310"/>
                  <a:pt x="519" y="320"/>
                  <a:pt x="550" y="320"/>
                </a:cubicBezTo>
                <a:cubicBezTo>
                  <a:pt x="573" y="320"/>
                  <a:pt x="593" y="315"/>
                  <a:pt x="610" y="305"/>
                </a:cubicBezTo>
                <a:lnTo>
                  <a:pt x="610" y="264"/>
                </a:lnTo>
                <a:close/>
                <a:moveTo>
                  <a:pt x="386" y="61"/>
                </a:moveTo>
                <a:lnTo>
                  <a:pt x="386" y="61"/>
                </a:lnTo>
                <a:cubicBezTo>
                  <a:pt x="394" y="61"/>
                  <a:pt x="401" y="58"/>
                  <a:pt x="407" y="53"/>
                </a:cubicBezTo>
                <a:cubicBezTo>
                  <a:pt x="412" y="47"/>
                  <a:pt x="415" y="41"/>
                  <a:pt x="415" y="34"/>
                </a:cubicBezTo>
                <a:cubicBezTo>
                  <a:pt x="415" y="26"/>
                  <a:pt x="412" y="19"/>
                  <a:pt x="407" y="14"/>
                </a:cubicBezTo>
                <a:cubicBezTo>
                  <a:pt x="401" y="9"/>
                  <a:pt x="394" y="7"/>
                  <a:pt x="386" y="7"/>
                </a:cubicBezTo>
                <a:cubicBezTo>
                  <a:pt x="378" y="7"/>
                  <a:pt x="372" y="9"/>
                  <a:pt x="366" y="14"/>
                </a:cubicBezTo>
                <a:cubicBezTo>
                  <a:pt x="360" y="19"/>
                  <a:pt x="358" y="26"/>
                  <a:pt x="358" y="34"/>
                </a:cubicBezTo>
                <a:cubicBezTo>
                  <a:pt x="358" y="41"/>
                  <a:pt x="360" y="48"/>
                  <a:pt x="366" y="53"/>
                </a:cubicBezTo>
                <a:cubicBezTo>
                  <a:pt x="372" y="58"/>
                  <a:pt x="378" y="61"/>
                  <a:pt x="386" y="61"/>
                </a:cubicBezTo>
                <a:close/>
                <a:moveTo>
                  <a:pt x="362" y="315"/>
                </a:moveTo>
                <a:lnTo>
                  <a:pt x="362" y="315"/>
                </a:lnTo>
                <a:lnTo>
                  <a:pt x="410" y="315"/>
                </a:lnTo>
                <a:lnTo>
                  <a:pt x="410" y="105"/>
                </a:lnTo>
                <a:lnTo>
                  <a:pt x="362" y="105"/>
                </a:lnTo>
                <a:lnTo>
                  <a:pt x="362" y="315"/>
                </a:lnTo>
                <a:close/>
                <a:moveTo>
                  <a:pt x="249" y="21"/>
                </a:moveTo>
                <a:lnTo>
                  <a:pt x="249" y="21"/>
                </a:lnTo>
                <a:lnTo>
                  <a:pt x="316" y="21"/>
                </a:lnTo>
                <a:lnTo>
                  <a:pt x="316" y="315"/>
                </a:lnTo>
                <a:lnTo>
                  <a:pt x="267" y="315"/>
                </a:lnTo>
                <a:lnTo>
                  <a:pt x="267" y="124"/>
                </a:lnTo>
                <a:cubicBezTo>
                  <a:pt x="267" y="109"/>
                  <a:pt x="268" y="90"/>
                  <a:pt x="270" y="67"/>
                </a:cubicBezTo>
                <a:lnTo>
                  <a:pt x="269" y="67"/>
                </a:lnTo>
                <a:cubicBezTo>
                  <a:pt x="266" y="80"/>
                  <a:pt x="264" y="89"/>
                  <a:pt x="261" y="95"/>
                </a:cubicBezTo>
                <a:lnTo>
                  <a:pt x="173" y="315"/>
                </a:lnTo>
                <a:lnTo>
                  <a:pt x="140" y="315"/>
                </a:lnTo>
                <a:lnTo>
                  <a:pt x="52" y="96"/>
                </a:lnTo>
                <a:cubicBezTo>
                  <a:pt x="49" y="90"/>
                  <a:pt x="47" y="80"/>
                  <a:pt x="44" y="67"/>
                </a:cubicBezTo>
                <a:lnTo>
                  <a:pt x="43" y="67"/>
                </a:lnTo>
                <a:cubicBezTo>
                  <a:pt x="44" y="79"/>
                  <a:pt x="45" y="98"/>
                  <a:pt x="45" y="125"/>
                </a:cubicBezTo>
                <a:lnTo>
                  <a:pt x="45" y="315"/>
                </a:lnTo>
                <a:lnTo>
                  <a:pt x="0" y="315"/>
                </a:lnTo>
                <a:lnTo>
                  <a:pt x="0" y="21"/>
                </a:lnTo>
                <a:lnTo>
                  <a:pt x="68" y="21"/>
                </a:lnTo>
                <a:lnTo>
                  <a:pt x="146" y="216"/>
                </a:lnTo>
                <a:cubicBezTo>
                  <a:pt x="152" y="231"/>
                  <a:pt x="155" y="243"/>
                  <a:pt x="157" y="250"/>
                </a:cubicBezTo>
                <a:lnTo>
                  <a:pt x="158" y="250"/>
                </a:lnTo>
                <a:cubicBezTo>
                  <a:pt x="163" y="235"/>
                  <a:pt x="167" y="223"/>
                  <a:pt x="171" y="216"/>
                </a:cubicBezTo>
                <a:lnTo>
                  <a:pt x="249" y="21"/>
                </a:lnTo>
                <a:close/>
              </a:path>
            </a:pathLst>
          </a:custGeom>
          <a:solidFill>
            <a:srgbClr val="D7312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046979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D83B0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F28077D6-7EB1-4B7E-84A0-48374B645BA8}"/>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285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8" name="Picture 7" descr="Microsoft Ignite cube graphic">
            <a:extLst>
              <a:ext uri="{FF2B5EF4-FFF2-40B4-BE49-F238E27FC236}">
                <a16:creationId xmlns:a16="http://schemas.microsoft.com/office/drawing/2014/main" id="{5FE3E21F-3B29-45AF-A62E-40AAF2B12C2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076054" y="0"/>
            <a:ext cx="8115946" cy="6858000"/>
          </a:xfrm>
          <a:prstGeom prst="rect">
            <a:avLst/>
          </a:prstGeom>
        </p:spPr>
      </p:pic>
      <p:sp>
        <p:nvSpPr>
          <p:cNvPr id="9" name="Title 1"/>
          <p:cNvSpPr>
            <a:spLocks noGrp="1"/>
          </p:cNvSpPr>
          <p:nvPr>
            <p:ph type="title" hasCustomPrompt="1"/>
          </p:nvPr>
        </p:nvSpPr>
        <p:spPr>
          <a:xfrm>
            <a:off x="584200" y="2425780"/>
            <a:ext cx="5510213"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5532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39">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0213"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descr="Microsoft Ignite cube graphic">
            <a:extLst>
              <a:ext uri="{FF2B5EF4-FFF2-40B4-BE49-F238E27FC236}">
                <a16:creationId xmlns:a16="http://schemas.microsoft.com/office/drawing/2014/main" id="{87E693D7-9346-4760-B3C6-BF5E7E96456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7873139" y="-1"/>
            <a:ext cx="4318861" cy="6858001"/>
          </a:xfrm>
          <a:prstGeom prst="rect">
            <a:avLst/>
          </a:prstGeom>
        </p:spPr>
      </p:pic>
    </p:spTree>
    <p:extLst>
      <p:ext uri="{BB962C8B-B14F-4D97-AF65-F5344CB8AC3E}">
        <p14:creationId xmlns:p14="http://schemas.microsoft.com/office/powerpoint/2010/main" val="35338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39">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Picture 5" descr="A person sitting at a table using a computer&#10;&#10;Description automatically generated">
            <a:extLst>
              <a:ext uri="{FF2B5EF4-FFF2-40B4-BE49-F238E27FC236}">
                <a16:creationId xmlns:a16="http://schemas.microsoft.com/office/drawing/2014/main" id="{1B5497F1-768F-45ED-85F1-D14B37BE1F7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8000" cy="6858000"/>
          </a:xfrm>
          <a:prstGeom prst="rect">
            <a:avLst/>
          </a:prstGeom>
        </p:spPr>
      </p:pic>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2620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579048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742296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80306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02894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234951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100307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51242035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2DBE4BB-02BC-403B-BD4E-F269E8077083}"/>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62148544"/>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AB7A8995-AE4E-430B-AF29-B4D106F867E8}"/>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342046980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3038451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4215995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5537959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3241998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dirty="0"/>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0142482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1203115726"/>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33154"/>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3150414"/>
            <a:ext cx="3183637" cy="553998"/>
          </a:xfrm>
          <a:noFill/>
        </p:spPr>
        <p:txBody>
          <a:bodyPr anchor="ctr"/>
          <a:lstStyle>
            <a:lvl1pPr>
              <a:defRPr>
                <a:solidFill>
                  <a:schemeClr val="bg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90431292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35469069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83566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163E2A-0F0F-4D30-BA3B-64D7F94B8B5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525505" y="-10888"/>
            <a:ext cx="7666496" cy="6881401"/>
          </a:xfrm>
          <a:prstGeom prst="rect">
            <a:avLst/>
          </a:prstGeom>
        </p:spPr>
      </p:pic>
      <p:sp>
        <p:nvSpPr>
          <p:cNvPr id="2" name="Title 1"/>
          <p:cNvSpPr>
            <a:spLocks noGrp="1"/>
          </p:cNvSpPr>
          <p:nvPr>
            <p:ph type="title" hasCustomPrompt="1"/>
          </p:nvPr>
        </p:nvSpPr>
        <p:spPr>
          <a:xfrm>
            <a:off x="585216" y="3033223"/>
            <a:ext cx="55107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55107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752161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84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55107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pic>
        <p:nvPicPr>
          <p:cNvPr id="4" name="Picture 3" descr="Microsoft Ignite cube graphic">
            <a:extLst>
              <a:ext uri="{FF2B5EF4-FFF2-40B4-BE49-F238E27FC236}">
                <a16:creationId xmlns:a16="http://schemas.microsoft.com/office/drawing/2014/main" id="{8B979EA3-9237-4885-9E01-A134FAE63FE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73139" y="-1"/>
            <a:ext cx="4318861" cy="6858001"/>
          </a:xfrm>
          <a:prstGeom prst="rect">
            <a:avLst/>
          </a:prstGeom>
        </p:spPr>
      </p:pic>
    </p:spTree>
    <p:extLst>
      <p:ext uri="{BB962C8B-B14F-4D97-AF65-F5344CB8AC3E}">
        <p14:creationId xmlns:p14="http://schemas.microsoft.com/office/powerpoint/2010/main" val="3207827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3098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9433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604576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AC1A7617-8539-46AF-B383-CACBD8B22E1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61291912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40554128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Walkin">
    <p:bg>
      <p:bgRef idx="1001">
        <a:schemeClr val="bg1"/>
      </p:bgRef>
    </p:bg>
    <p:spTree>
      <p:nvGrpSpPr>
        <p:cNvPr id="1" name=""/>
        <p:cNvGrpSpPr/>
        <p:nvPr/>
      </p:nvGrpSpPr>
      <p:grpSpPr>
        <a:xfrm>
          <a:off x="0" y="0"/>
          <a:ext cx="0" cy="0"/>
          <a:chOff x="0" y="0"/>
          <a:chExt cx="0" cy="0"/>
        </a:xfrm>
      </p:grpSpPr>
      <p:pic>
        <p:nvPicPr>
          <p:cNvPr id="7" name="Picture 6" descr="Microsoft Ignite cube graphic">
            <a:extLst>
              <a:ext uri="{FF2B5EF4-FFF2-40B4-BE49-F238E27FC236}">
                <a16:creationId xmlns:a16="http://schemas.microsoft.com/office/drawing/2014/main" id="{AEB1E43F-243E-134D-9418-B32A73E0E48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38046" y="0"/>
            <a:ext cx="8053953"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Freeform 5" descr="Microsoft Ignite logo">
            <a:extLst>
              <a:ext uri="{FF2B5EF4-FFF2-40B4-BE49-F238E27FC236}">
                <a16:creationId xmlns:a16="http://schemas.microsoft.com/office/drawing/2014/main" id="{6457201E-9DAE-41FA-A3D5-E845A60E44BE}"/>
              </a:ext>
            </a:extLst>
          </p:cNvPr>
          <p:cNvSpPr>
            <a:spLocks noEditPoints="1"/>
          </p:cNvSpPr>
          <p:nvPr userDrawn="1"/>
        </p:nvSpPr>
        <p:spPr bwMode="black">
          <a:xfrm>
            <a:off x="593725" y="2865438"/>
            <a:ext cx="3040063" cy="1547813"/>
          </a:xfrm>
          <a:custGeom>
            <a:avLst/>
            <a:gdLst>
              <a:gd name="T0" fmla="*/ 882 w 1710"/>
              <a:gd name="T1" fmla="*/ 598 h 862"/>
              <a:gd name="T2" fmla="*/ 1008 w 1710"/>
              <a:gd name="T3" fmla="*/ 652 h 862"/>
              <a:gd name="T4" fmla="*/ 991 w 1710"/>
              <a:gd name="T5" fmla="*/ 711 h 862"/>
              <a:gd name="T6" fmla="*/ 845 w 1710"/>
              <a:gd name="T7" fmla="*/ 579 h 862"/>
              <a:gd name="T8" fmla="*/ 697 w 1710"/>
              <a:gd name="T9" fmla="*/ 504 h 862"/>
              <a:gd name="T10" fmla="*/ 697 w 1710"/>
              <a:gd name="T11" fmla="*/ 709 h 862"/>
              <a:gd name="T12" fmla="*/ 752 w 1710"/>
              <a:gd name="T13" fmla="*/ 722 h 862"/>
              <a:gd name="T14" fmla="*/ 745 w 1710"/>
              <a:gd name="T15" fmla="*/ 553 h 862"/>
              <a:gd name="T16" fmla="*/ 574 w 1710"/>
              <a:gd name="T17" fmla="*/ 482 h 862"/>
              <a:gd name="T18" fmla="*/ 623 w 1710"/>
              <a:gd name="T19" fmla="*/ 462 h 862"/>
              <a:gd name="T20" fmla="*/ 626 w 1710"/>
              <a:gd name="T21" fmla="*/ 553 h 862"/>
              <a:gd name="T22" fmla="*/ 394 w 1710"/>
              <a:gd name="T23" fmla="*/ 588 h 862"/>
              <a:gd name="T24" fmla="*/ 393 w 1710"/>
              <a:gd name="T25" fmla="*/ 763 h 862"/>
              <a:gd name="T26" fmla="*/ 485 w 1710"/>
              <a:gd name="T27" fmla="*/ 763 h 862"/>
              <a:gd name="T28" fmla="*/ 249 w 1710"/>
              <a:gd name="T29" fmla="*/ 639 h 862"/>
              <a:gd name="T30" fmla="*/ 140 w 1710"/>
              <a:gd name="T31" fmla="*/ 662 h 862"/>
              <a:gd name="T32" fmla="*/ 249 w 1710"/>
              <a:gd name="T33" fmla="*/ 639 h 862"/>
              <a:gd name="T34" fmla="*/ 179 w 1710"/>
              <a:gd name="T35" fmla="*/ 862 h 862"/>
              <a:gd name="T36" fmla="*/ 248 w 1710"/>
              <a:gd name="T37" fmla="*/ 727 h 862"/>
              <a:gd name="T38" fmla="*/ 116 w 1710"/>
              <a:gd name="T39" fmla="*/ 579 h 862"/>
              <a:gd name="T40" fmla="*/ 0 w 1710"/>
              <a:gd name="T41" fmla="*/ 763 h 862"/>
              <a:gd name="T42" fmla="*/ 0 w 1710"/>
              <a:gd name="T43" fmla="*/ 763 h 862"/>
              <a:gd name="T44" fmla="*/ 1660 w 1710"/>
              <a:gd name="T45" fmla="*/ 43 h 862"/>
              <a:gd name="T46" fmla="*/ 1530 w 1710"/>
              <a:gd name="T47" fmla="*/ 105 h 862"/>
              <a:gd name="T48" fmla="*/ 1559 w 1710"/>
              <a:gd name="T49" fmla="*/ 0 h 862"/>
              <a:gd name="T50" fmla="*/ 1447 w 1710"/>
              <a:gd name="T51" fmla="*/ 142 h 862"/>
              <a:gd name="T52" fmla="*/ 1577 w 1710"/>
              <a:gd name="T53" fmla="*/ 142 h 862"/>
              <a:gd name="T54" fmla="*/ 1710 w 1710"/>
              <a:gd name="T55" fmla="*/ 312 h 862"/>
              <a:gd name="T56" fmla="*/ 1660 w 1710"/>
              <a:gd name="T57" fmla="*/ 142 h 862"/>
              <a:gd name="T58" fmla="*/ 1325 w 1710"/>
              <a:gd name="T59" fmla="*/ 138 h 862"/>
              <a:gd name="T60" fmla="*/ 1368 w 1710"/>
              <a:gd name="T61" fmla="*/ 263 h 862"/>
              <a:gd name="T62" fmla="*/ 1402 w 1710"/>
              <a:gd name="T63" fmla="*/ 289 h 862"/>
              <a:gd name="T64" fmla="*/ 1327 w 1710"/>
              <a:gd name="T65" fmla="*/ 100 h 862"/>
              <a:gd name="T66" fmla="*/ 1129 w 1710"/>
              <a:gd name="T67" fmla="*/ 193 h 862"/>
              <a:gd name="T68" fmla="*/ 1089 w 1710"/>
              <a:gd name="T69" fmla="*/ 150 h 862"/>
              <a:gd name="T70" fmla="*/ 1177 w 1710"/>
              <a:gd name="T71" fmla="*/ 109 h 862"/>
              <a:gd name="T72" fmla="*/ 1039 w 1710"/>
              <a:gd name="T73" fmla="*/ 162 h 862"/>
              <a:gd name="T74" fmla="*/ 1112 w 1710"/>
              <a:gd name="T75" fmla="*/ 231 h 862"/>
              <a:gd name="T76" fmla="*/ 1039 w 1710"/>
              <a:gd name="T77" fmla="*/ 264 h 862"/>
              <a:gd name="T78" fmla="*/ 1181 w 1710"/>
              <a:gd name="T79" fmla="*/ 285 h 862"/>
              <a:gd name="T80" fmla="*/ 840 w 1710"/>
              <a:gd name="T81" fmla="*/ 211 h 862"/>
              <a:gd name="T82" fmla="*/ 943 w 1710"/>
              <a:gd name="T83" fmla="*/ 157 h 862"/>
              <a:gd name="T84" fmla="*/ 820 w 1710"/>
              <a:gd name="T85" fmla="*/ 290 h 862"/>
              <a:gd name="T86" fmla="*/ 1007 w 1710"/>
              <a:gd name="T87" fmla="*/ 209 h 862"/>
              <a:gd name="T88" fmla="*/ 701 w 1710"/>
              <a:gd name="T89" fmla="*/ 214 h 862"/>
              <a:gd name="T90" fmla="*/ 755 w 1710"/>
              <a:gd name="T91" fmla="*/ 101 h 862"/>
              <a:gd name="T92" fmla="*/ 653 w 1710"/>
              <a:gd name="T93" fmla="*/ 105 h 862"/>
              <a:gd name="T94" fmla="*/ 610 w 1710"/>
              <a:gd name="T95" fmla="*/ 264 h 862"/>
              <a:gd name="T96" fmla="*/ 563 w 1710"/>
              <a:gd name="T97" fmla="*/ 138 h 862"/>
              <a:gd name="T98" fmla="*/ 446 w 1710"/>
              <a:gd name="T99" fmla="*/ 215 h 862"/>
              <a:gd name="T100" fmla="*/ 386 w 1710"/>
              <a:gd name="T101" fmla="*/ 61 h 862"/>
              <a:gd name="T102" fmla="*/ 386 w 1710"/>
              <a:gd name="T103" fmla="*/ 7 h 862"/>
              <a:gd name="T104" fmla="*/ 362 w 1710"/>
              <a:gd name="T105" fmla="*/ 315 h 862"/>
              <a:gd name="T106" fmla="*/ 362 w 1710"/>
              <a:gd name="T107" fmla="*/ 315 h 862"/>
              <a:gd name="T108" fmla="*/ 267 w 1710"/>
              <a:gd name="T109" fmla="*/ 315 h 862"/>
              <a:gd name="T110" fmla="*/ 173 w 1710"/>
              <a:gd name="T111" fmla="*/ 315 h 862"/>
              <a:gd name="T112" fmla="*/ 45 w 1710"/>
              <a:gd name="T113" fmla="*/ 125 h 862"/>
              <a:gd name="T114" fmla="*/ 146 w 1710"/>
              <a:gd name="T115" fmla="*/ 216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10" h="862">
                <a:moveTo>
                  <a:pt x="962" y="637"/>
                </a:moveTo>
                <a:lnTo>
                  <a:pt x="962" y="637"/>
                </a:lnTo>
                <a:cubicBezTo>
                  <a:pt x="962" y="620"/>
                  <a:pt x="957" y="607"/>
                  <a:pt x="950" y="597"/>
                </a:cubicBezTo>
                <a:cubicBezTo>
                  <a:pt x="942" y="588"/>
                  <a:pt x="931" y="583"/>
                  <a:pt x="917" y="583"/>
                </a:cubicBezTo>
                <a:cubicBezTo>
                  <a:pt x="903" y="583"/>
                  <a:pt x="891" y="588"/>
                  <a:pt x="882" y="598"/>
                </a:cubicBezTo>
                <a:cubicBezTo>
                  <a:pt x="872" y="608"/>
                  <a:pt x="867" y="621"/>
                  <a:pt x="864" y="637"/>
                </a:cubicBezTo>
                <a:lnTo>
                  <a:pt x="962" y="637"/>
                </a:lnTo>
                <a:close/>
                <a:moveTo>
                  <a:pt x="984" y="575"/>
                </a:moveTo>
                <a:lnTo>
                  <a:pt x="984" y="575"/>
                </a:lnTo>
                <a:cubicBezTo>
                  <a:pt x="1000" y="594"/>
                  <a:pt x="1008" y="620"/>
                  <a:pt x="1008" y="652"/>
                </a:cubicBezTo>
                <a:lnTo>
                  <a:pt x="1008" y="671"/>
                </a:lnTo>
                <a:lnTo>
                  <a:pt x="864" y="671"/>
                </a:lnTo>
                <a:cubicBezTo>
                  <a:pt x="865" y="690"/>
                  <a:pt x="871" y="705"/>
                  <a:pt x="882" y="715"/>
                </a:cubicBezTo>
                <a:cubicBezTo>
                  <a:pt x="894" y="726"/>
                  <a:pt x="909" y="731"/>
                  <a:pt x="929" y="731"/>
                </a:cubicBezTo>
                <a:cubicBezTo>
                  <a:pt x="952" y="731"/>
                  <a:pt x="972" y="725"/>
                  <a:pt x="991" y="711"/>
                </a:cubicBezTo>
                <a:lnTo>
                  <a:pt x="991" y="750"/>
                </a:lnTo>
                <a:cubicBezTo>
                  <a:pt x="972" y="762"/>
                  <a:pt x="947" y="768"/>
                  <a:pt x="915" y="768"/>
                </a:cubicBezTo>
                <a:cubicBezTo>
                  <a:pt x="884" y="768"/>
                  <a:pt x="860" y="758"/>
                  <a:pt x="843" y="739"/>
                </a:cubicBezTo>
                <a:cubicBezTo>
                  <a:pt x="825" y="720"/>
                  <a:pt x="816" y="693"/>
                  <a:pt x="816" y="658"/>
                </a:cubicBezTo>
                <a:cubicBezTo>
                  <a:pt x="816" y="626"/>
                  <a:pt x="826" y="599"/>
                  <a:pt x="845" y="579"/>
                </a:cubicBezTo>
                <a:cubicBezTo>
                  <a:pt x="865" y="558"/>
                  <a:pt x="889" y="548"/>
                  <a:pt x="917" y="548"/>
                </a:cubicBezTo>
                <a:cubicBezTo>
                  <a:pt x="946" y="548"/>
                  <a:pt x="968" y="557"/>
                  <a:pt x="984" y="575"/>
                </a:cubicBezTo>
                <a:close/>
                <a:moveTo>
                  <a:pt x="745" y="491"/>
                </a:moveTo>
                <a:lnTo>
                  <a:pt x="745" y="491"/>
                </a:lnTo>
                <a:lnTo>
                  <a:pt x="697" y="504"/>
                </a:lnTo>
                <a:lnTo>
                  <a:pt x="697" y="553"/>
                </a:lnTo>
                <a:lnTo>
                  <a:pt x="662" y="553"/>
                </a:lnTo>
                <a:lnTo>
                  <a:pt x="662" y="590"/>
                </a:lnTo>
                <a:lnTo>
                  <a:pt x="697" y="590"/>
                </a:lnTo>
                <a:lnTo>
                  <a:pt x="697" y="709"/>
                </a:lnTo>
                <a:cubicBezTo>
                  <a:pt x="697" y="748"/>
                  <a:pt x="718" y="767"/>
                  <a:pt x="758" y="767"/>
                </a:cubicBezTo>
                <a:cubicBezTo>
                  <a:pt x="774" y="767"/>
                  <a:pt x="786" y="765"/>
                  <a:pt x="795" y="760"/>
                </a:cubicBezTo>
                <a:lnTo>
                  <a:pt x="795" y="723"/>
                </a:lnTo>
                <a:cubicBezTo>
                  <a:pt x="789" y="727"/>
                  <a:pt x="782" y="730"/>
                  <a:pt x="774" y="730"/>
                </a:cubicBezTo>
                <a:cubicBezTo>
                  <a:pt x="764" y="730"/>
                  <a:pt x="756" y="727"/>
                  <a:pt x="752" y="722"/>
                </a:cubicBezTo>
                <a:cubicBezTo>
                  <a:pt x="747" y="716"/>
                  <a:pt x="745" y="707"/>
                  <a:pt x="745" y="695"/>
                </a:cubicBezTo>
                <a:lnTo>
                  <a:pt x="745" y="590"/>
                </a:lnTo>
                <a:lnTo>
                  <a:pt x="795" y="590"/>
                </a:lnTo>
                <a:lnTo>
                  <a:pt x="795" y="553"/>
                </a:lnTo>
                <a:lnTo>
                  <a:pt x="745" y="553"/>
                </a:lnTo>
                <a:lnTo>
                  <a:pt x="745" y="491"/>
                </a:lnTo>
                <a:close/>
                <a:moveTo>
                  <a:pt x="602" y="454"/>
                </a:moveTo>
                <a:lnTo>
                  <a:pt x="602" y="454"/>
                </a:lnTo>
                <a:cubicBezTo>
                  <a:pt x="595" y="454"/>
                  <a:pt x="588" y="457"/>
                  <a:pt x="582" y="462"/>
                </a:cubicBezTo>
                <a:cubicBezTo>
                  <a:pt x="577" y="467"/>
                  <a:pt x="574" y="474"/>
                  <a:pt x="574" y="482"/>
                </a:cubicBezTo>
                <a:cubicBezTo>
                  <a:pt x="574" y="489"/>
                  <a:pt x="577" y="496"/>
                  <a:pt x="582" y="501"/>
                </a:cubicBezTo>
                <a:cubicBezTo>
                  <a:pt x="588" y="506"/>
                  <a:pt x="595" y="509"/>
                  <a:pt x="602" y="509"/>
                </a:cubicBezTo>
                <a:cubicBezTo>
                  <a:pt x="610" y="509"/>
                  <a:pt x="617" y="506"/>
                  <a:pt x="623" y="501"/>
                </a:cubicBezTo>
                <a:cubicBezTo>
                  <a:pt x="629" y="495"/>
                  <a:pt x="631" y="489"/>
                  <a:pt x="631" y="482"/>
                </a:cubicBezTo>
                <a:cubicBezTo>
                  <a:pt x="631" y="474"/>
                  <a:pt x="629" y="467"/>
                  <a:pt x="623" y="462"/>
                </a:cubicBezTo>
                <a:cubicBezTo>
                  <a:pt x="617" y="457"/>
                  <a:pt x="610" y="454"/>
                  <a:pt x="602" y="454"/>
                </a:cubicBezTo>
                <a:close/>
                <a:moveTo>
                  <a:pt x="578" y="763"/>
                </a:moveTo>
                <a:lnTo>
                  <a:pt x="578" y="763"/>
                </a:lnTo>
                <a:lnTo>
                  <a:pt x="626" y="763"/>
                </a:lnTo>
                <a:lnTo>
                  <a:pt x="626" y="553"/>
                </a:lnTo>
                <a:lnTo>
                  <a:pt x="578" y="553"/>
                </a:lnTo>
                <a:lnTo>
                  <a:pt x="578" y="763"/>
                </a:lnTo>
                <a:close/>
                <a:moveTo>
                  <a:pt x="462" y="548"/>
                </a:moveTo>
                <a:lnTo>
                  <a:pt x="462" y="548"/>
                </a:lnTo>
                <a:cubicBezTo>
                  <a:pt x="433" y="548"/>
                  <a:pt x="410" y="561"/>
                  <a:pt x="394" y="588"/>
                </a:cubicBezTo>
                <a:lnTo>
                  <a:pt x="393" y="588"/>
                </a:lnTo>
                <a:lnTo>
                  <a:pt x="393" y="553"/>
                </a:lnTo>
                <a:lnTo>
                  <a:pt x="346" y="553"/>
                </a:lnTo>
                <a:lnTo>
                  <a:pt x="346" y="763"/>
                </a:lnTo>
                <a:lnTo>
                  <a:pt x="393" y="763"/>
                </a:lnTo>
                <a:lnTo>
                  <a:pt x="393" y="643"/>
                </a:lnTo>
                <a:cubicBezTo>
                  <a:pt x="393" y="626"/>
                  <a:pt x="398" y="613"/>
                  <a:pt x="407" y="602"/>
                </a:cubicBezTo>
                <a:cubicBezTo>
                  <a:pt x="417" y="591"/>
                  <a:pt x="429" y="585"/>
                  <a:pt x="443" y="585"/>
                </a:cubicBezTo>
                <a:cubicBezTo>
                  <a:pt x="471" y="585"/>
                  <a:pt x="485" y="605"/>
                  <a:pt x="485" y="644"/>
                </a:cubicBezTo>
                <a:lnTo>
                  <a:pt x="485" y="763"/>
                </a:lnTo>
                <a:lnTo>
                  <a:pt x="533" y="763"/>
                </a:lnTo>
                <a:lnTo>
                  <a:pt x="533" y="634"/>
                </a:lnTo>
                <a:cubicBezTo>
                  <a:pt x="533" y="606"/>
                  <a:pt x="527" y="585"/>
                  <a:pt x="514" y="570"/>
                </a:cubicBezTo>
                <a:cubicBezTo>
                  <a:pt x="502" y="555"/>
                  <a:pt x="485" y="548"/>
                  <a:pt x="462" y="548"/>
                </a:cubicBezTo>
                <a:close/>
                <a:moveTo>
                  <a:pt x="249" y="639"/>
                </a:moveTo>
                <a:lnTo>
                  <a:pt x="249" y="639"/>
                </a:lnTo>
                <a:cubicBezTo>
                  <a:pt x="249" y="624"/>
                  <a:pt x="244" y="612"/>
                  <a:pt x="234" y="601"/>
                </a:cubicBezTo>
                <a:cubicBezTo>
                  <a:pt x="224" y="591"/>
                  <a:pt x="212" y="586"/>
                  <a:pt x="197" y="586"/>
                </a:cubicBezTo>
                <a:cubicBezTo>
                  <a:pt x="179" y="586"/>
                  <a:pt x="165" y="592"/>
                  <a:pt x="155" y="606"/>
                </a:cubicBezTo>
                <a:cubicBezTo>
                  <a:pt x="145" y="619"/>
                  <a:pt x="140" y="638"/>
                  <a:pt x="140" y="662"/>
                </a:cubicBezTo>
                <a:cubicBezTo>
                  <a:pt x="140" y="682"/>
                  <a:pt x="145" y="699"/>
                  <a:pt x="154" y="711"/>
                </a:cubicBezTo>
                <a:cubicBezTo>
                  <a:pt x="164" y="723"/>
                  <a:pt x="177" y="730"/>
                  <a:pt x="193" y="730"/>
                </a:cubicBezTo>
                <a:cubicBezTo>
                  <a:pt x="210" y="730"/>
                  <a:pt x="223" y="724"/>
                  <a:pt x="233" y="712"/>
                </a:cubicBezTo>
                <a:cubicBezTo>
                  <a:pt x="243" y="700"/>
                  <a:pt x="249" y="685"/>
                  <a:pt x="249" y="666"/>
                </a:cubicBezTo>
                <a:lnTo>
                  <a:pt x="249" y="639"/>
                </a:lnTo>
                <a:close/>
                <a:moveTo>
                  <a:pt x="248" y="553"/>
                </a:moveTo>
                <a:lnTo>
                  <a:pt x="248" y="553"/>
                </a:lnTo>
                <a:lnTo>
                  <a:pt x="296" y="553"/>
                </a:lnTo>
                <a:lnTo>
                  <a:pt x="296" y="746"/>
                </a:lnTo>
                <a:cubicBezTo>
                  <a:pt x="296" y="823"/>
                  <a:pt x="257" y="862"/>
                  <a:pt x="179" y="862"/>
                </a:cubicBezTo>
                <a:cubicBezTo>
                  <a:pt x="152" y="862"/>
                  <a:pt x="128" y="857"/>
                  <a:pt x="108" y="848"/>
                </a:cubicBezTo>
                <a:lnTo>
                  <a:pt x="108" y="804"/>
                </a:lnTo>
                <a:cubicBezTo>
                  <a:pt x="131" y="817"/>
                  <a:pt x="153" y="824"/>
                  <a:pt x="173" y="824"/>
                </a:cubicBezTo>
                <a:cubicBezTo>
                  <a:pt x="223" y="824"/>
                  <a:pt x="248" y="799"/>
                  <a:pt x="248" y="750"/>
                </a:cubicBezTo>
                <a:lnTo>
                  <a:pt x="248" y="727"/>
                </a:lnTo>
                <a:lnTo>
                  <a:pt x="247" y="727"/>
                </a:lnTo>
                <a:cubicBezTo>
                  <a:pt x="232" y="754"/>
                  <a:pt x="208" y="768"/>
                  <a:pt x="176" y="768"/>
                </a:cubicBezTo>
                <a:cubicBezTo>
                  <a:pt x="151" y="768"/>
                  <a:pt x="130" y="758"/>
                  <a:pt x="115" y="740"/>
                </a:cubicBezTo>
                <a:cubicBezTo>
                  <a:pt x="99" y="721"/>
                  <a:pt x="91" y="696"/>
                  <a:pt x="91" y="664"/>
                </a:cubicBezTo>
                <a:cubicBezTo>
                  <a:pt x="91" y="629"/>
                  <a:pt x="99" y="600"/>
                  <a:pt x="116" y="579"/>
                </a:cubicBezTo>
                <a:cubicBezTo>
                  <a:pt x="133" y="558"/>
                  <a:pt x="156" y="548"/>
                  <a:pt x="186" y="548"/>
                </a:cubicBezTo>
                <a:cubicBezTo>
                  <a:pt x="213" y="548"/>
                  <a:pt x="234" y="559"/>
                  <a:pt x="247" y="582"/>
                </a:cubicBezTo>
                <a:lnTo>
                  <a:pt x="248" y="582"/>
                </a:lnTo>
                <a:lnTo>
                  <a:pt x="248" y="553"/>
                </a:lnTo>
                <a:close/>
                <a:moveTo>
                  <a:pt x="0" y="763"/>
                </a:moveTo>
                <a:lnTo>
                  <a:pt x="0" y="763"/>
                </a:lnTo>
                <a:lnTo>
                  <a:pt x="50" y="763"/>
                </a:lnTo>
                <a:lnTo>
                  <a:pt x="50" y="469"/>
                </a:lnTo>
                <a:lnTo>
                  <a:pt x="0" y="469"/>
                </a:lnTo>
                <a:lnTo>
                  <a:pt x="0" y="763"/>
                </a:lnTo>
                <a:close/>
                <a:moveTo>
                  <a:pt x="1710" y="142"/>
                </a:moveTo>
                <a:lnTo>
                  <a:pt x="1710" y="142"/>
                </a:lnTo>
                <a:lnTo>
                  <a:pt x="1710" y="105"/>
                </a:lnTo>
                <a:lnTo>
                  <a:pt x="1660" y="105"/>
                </a:lnTo>
                <a:lnTo>
                  <a:pt x="1660" y="43"/>
                </a:lnTo>
                <a:lnTo>
                  <a:pt x="1613" y="56"/>
                </a:lnTo>
                <a:lnTo>
                  <a:pt x="1613" y="105"/>
                </a:lnTo>
                <a:lnTo>
                  <a:pt x="1579" y="105"/>
                </a:lnTo>
                <a:lnTo>
                  <a:pt x="1577" y="105"/>
                </a:lnTo>
                <a:lnTo>
                  <a:pt x="1530" y="105"/>
                </a:lnTo>
                <a:lnTo>
                  <a:pt x="1530" y="76"/>
                </a:lnTo>
                <a:cubicBezTo>
                  <a:pt x="1530" y="50"/>
                  <a:pt x="1542" y="37"/>
                  <a:pt x="1565" y="37"/>
                </a:cubicBezTo>
                <a:cubicBezTo>
                  <a:pt x="1573" y="37"/>
                  <a:pt x="1580" y="39"/>
                  <a:pt x="1587" y="43"/>
                </a:cubicBezTo>
                <a:lnTo>
                  <a:pt x="1587" y="4"/>
                </a:lnTo>
                <a:cubicBezTo>
                  <a:pt x="1580" y="1"/>
                  <a:pt x="1570" y="0"/>
                  <a:pt x="1559" y="0"/>
                </a:cubicBezTo>
                <a:cubicBezTo>
                  <a:pt x="1537" y="0"/>
                  <a:pt x="1519" y="6"/>
                  <a:pt x="1504" y="18"/>
                </a:cubicBezTo>
                <a:cubicBezTo>
                  <a:pt x="1490" y="31"/>
                  <a:pt x="1483" y="48"/>
                  <a:pt x="1483" y="71"/>
                </a:cubicBezTo>
                <a:lnTo>
                  <a:pt x="1483" y="105"/>
                </a:lnTo>
                <a:lnTo>
                  <a:pt x="1447" y="105"/>
                </a:lnTo>
                <a:lnTo>
                  <a:pt x="1447" y="142"/>
                </a:lnTo>
                <a:lnTo>
                  <a:pt x="1483" y="142"/>
                </a:lnTo>
                <a:lnTo>
                  <a:pt x="1483" y="315"/>
                </a:lnTo>
                <a:lnTo>
                  <a:pt x="1530" y="315"/>
                </a:lnTo>
                <a:lnTo>
                  <a:pt x="1530" y="142"/>
                </a:lnTo>
                <a:lnTo>
                  <a:pt x="1577" y="142"/>
                </a:lnTo>
                <a:lnTo>
                  <a:pt x="1579" y="142"/>
                </a:lnTo>
                <a:lnTo>
                  <a:pt x="1613" y="142"/>
                </a:lnTo>
                <a:lnTo>
                  <a:pt x="1613" y="261"/>
                </a:lnTo>
                <a:cubicBezTo>
                  <a:pt x="1613" y="300"/>
                  <a:pt x="1633" y="319"/>
                  <a:pt x="1674" y="319"/>
                </a:cubicBezTo>
                <a:cubicBezTo>
                  <a:pt x="1689" y="319"/>
                  <a:pt x="1701" y="317"/>
                  <a:pt x="1710" y="312"/>
                </a:cubicBezTo>
                <a:lnTo>
                  <a:pt x="1710" y="275"/>
                </a:lnTo>
                <a:cubicBezTo>
                  <a:pt x="1705" y="279"/>
                  <a:pt x="1698" y="282"/>
                  <a:pt x="1689" y="282"/>
                </a:cubicBezTo>
                <a:cubicBezTo>
                  <a:pt x="1679" y="282"/>
                  <a:pt x="1671" y="279"/>
                  <a:pt x="1667" y="274"/>
                </a:cubicBezTo>
                <a:cubicBezTo>
                  <a:pt x="1662" y="268"/>
                  <a:pt x="1660" y="259"/>
                  <a:pt x="1660" y="247"/>
                </a:cubicBezTo>
                <a:lnTo>
                  <a:pt x="1660" y="142"/>
                </a:lnTo>
                <a:lnTo>
                  <a:pt x="1710" y="142"/>
                </a:lnTo>
                <a:close/>
                <a:moveTo>
                  <a:pt x="1383" y="210"/>
                </a:moveTo>
                <a:lnTo>
                  <a:pt x="1383" y="210"/>
                </a:lnTo>
                <a:cubicBezTo>
                  <a:pt x="1383" y="187"/>
                  <a:pt x="1378" y="169"/>
                  <a:pt x="1368" y="157"/>
                </a:cubicBezTo>
                <a:cubicBezTo>
                  <a:pt x="1358" y="144"/>
                  <a:pt x="1343" y="138"/>
                  <a:pt x="1325" y="138"/>
                </a:cubicBezTo>
                <a:cubicBezTo>
                  <a:pt x="1306" y="138"/>
                  <a:pt x="1291" y="144"/>
                  <a:pt x="1281" y="157"/>
                </a:cubicBezTo>
                <a:cubicBezTo>
                  <a:pt x="1270" y="170"/>
                  <a:pt x="1264" y="188"/>
                  <a:pt x="1264" y="211"/>
                </a:cubicBezTo>
                <a:cubicBezTo>
                  <a:pt x="1264" y="233"/>
                  <a:pt x="1270" y="250"/>
                  <a:pt x="1281" y="263"/>
                </a:cubicBezTo>
                <a:cubicBezTo>
                  <a:pt x="1292" y="276"/>
                  <a:pt x="1306" y="282"/>
                  <a:pt x="1325" y="282"/>
                </a:cubicBezTo>
                <a:cubicBezTo>
                  <a:pt x="1343" y="282"/>
                  <a:pt x="1358" y="276"/>
                  <a:pt x="1368" y="263"/>
                </a:cubicBezTo>
                <a:cubicBezTo>
                  <a:pt x="1378" y="251"/>
                  <a:pt x="1383" y="233"/>
                  <a:pt x="1383" y="210"/>
                </a:cubicBezTo>
                <a:close/>
                <a:moveTo>
                  <a:pt x="1404" y="129"/>
                </a:moveTo>
                <a:lnTo>
                  <a:pt x="1404" y="129"/>
                </a:lnTo>
                <a:cubicBezTo>
                  <a:pt x="1423" y="148"/>
                  <a:pt x="1432" y="175"/>
                  <a:pt x="1432" y="209"/>
                </a:cubicBezTo>
                <a:cubicBezTo>
                  <a:pt x="1432" y="242"/>
                  <a:pt x="1422" y="269"/>
                  <a:pt x="1402" y="289"/>
                </a:cubicBezTo>
                <a:cubicBezTo>
                  <a:pt x="1382" y="310"/>
                  <a:pt x="1356" y="320"/>
                  <a:pt x="1322" y="320"/>
                </a:cubicBezTo>
                <a:cubicBezTo>
                  <a:pt x="1290" y="320"/>
                  <a:pt x="1264" y="310"/>
                  <a:pt x="1245" y="290"/>
                </a:cubicBezTo>
                <a:cubicBezTo>
                  <a:pt x="1225" y="271"/>
                  <a:pt x="1216" y="245"/>
                  <a:pt x="1216" y="212"/>
                </a:cubicBezTo>
                <a:cubicBezTo>
                  <a:pt x="1216" y="177"/>
                  <a:pt x="1226" y="149"/>
                  <a:pt x="1246" y="129"/>
                </a:cubicBezTo>
                <a:cubicBezTo>
                  <a:pt x="1266" y="110"/>
                  <a:pt x="1293" y="100"/>
                  <a:pt x="1327" y="100"/>
                </a:cubicBezTo>
                <a:cubicBezTo>
                  <a:pt x="1360" y="100"/>
                  <a:pt x="1386" y="109"/>
                  <a:pt x="1404" y="129"/>
                </a:cubicBezTo>
                <a:close/>
                <a:moveTo>
                  <a:pt x="1172" y="217"/>
                </a:moveTo>
                <a:lnTo>
                  <a:pt x="1172" y="217"/>
                </a:lnTo>
                <a:cubicBezTo>
                  <a:pt x="1167" y="212"/>
                  <a:pt x="1161" y="208"/>
                  <a:pt x="1154" y="204"/>
                </a:cubicBezTo>
                <a:cubicBezTo>
                  <a:pt x="1147" y="200"/>
                  <a:pt x="1139" y="197"/>
                  <a:pt x="1129" y="193"/>
                </a:cubicBezTo>
                <a:cubicBezTo>
                  <a:pt x="1123" y="191"/>
                  <a:pt x="1117" y="188"/>
                  <a:pt x="1111" y="186"/>
                </a:cubicBezTo>
                <a:cubicBezTo>
                  <a:pt x="1106" y="184"/>
                  <a:pt x="1102" y="182"/>
                  <a:pt x="1098" y="180"/>
                </a:cubicBezTo>
                <a:cubicBezTo>
                  <a:pt x="1094" y="177"/>
                  <a:pt x="1091" y="175"/>
                  <a:pt x="1089" y="172"/>
                </a:cubicBezTo>
                <a:cubicBezTo>
                  <a:pt x="1087" y="168"/>
                  <a:pt x="1086" y="165"/>
                  <a:pt x="1086" y="160"/>
                </a:cubicBezTo>
                <a:cubicBezTo>
                  <a:pt x="1086" y="156"/>
                  <a:pt x="1087" y="153"/>
                  <a:pt x="1089" y="150"/>
                </a:cubicBezTo>
                <a:cubicBezTo>
                  <a:pt x="1091" y="147"/>
                  <a:pt x="1094" y="144"/>
                  <a:pt x="1097" y="142"/>
                </a:cubicBezTo>
                <a:cubicBezTo>
                  <a:pt x="1101" y="140"/>
                  <a:pt x="1105" y="138"/>
                  <a:pt x="1110" y="137"/>
                </a:cubicBezTo>
                <a:cubicBezTo>
                  <a:pt x="1115" y="136"/>
                  <a:pt x="1120" y="135"/>
                  <a:pt x="1126" y="135"/>
                </a:cubicBezTo>
                <a:cubicBezTo>
                  <a:pt x="1145" y="135"/>
                  <a:pt x="1162" y="140"/>
                  <a:pt x="1177" y="150"/>
                </a:cubicBezTo>
                <a:lnTo>
                  <a:pt x="1177" y="109"/>
                </a:lnTo>
                <a:cubicBezTo>
                  <a:pt x="1162" y="103"/>
                  <a:pt x="1144" y="100"/>
                  <a:pt x="1125" y="100"/>
                </a:cubicBezTo>
                <a:cubicBezTo>
                  <a:pt x="1114" y="100"/>
                  <a:pt x="1103" y="101"/>
                  <a:pt x="1093" y="104"/>
                </a:cubicBezTo>
                <a:cubicBezTo>
                  <a:pt x="1083" y="106"/>
                  <a:pt x="1074" y="110"/>
                  <a:pt x="1065" y="116"/>
                </a:cubicBezTo>
                <a:cubicBezTo>
                  <a:pt x="1057" y="121"/>
                  <a:pt x="1051" y="127"/>
                  <a:pt x="1046" y="135"/>
                </a:cubicBezTo>
                <a:cubicBezTo>
                  <a:pt x="1041" y="143"/>
                  <a:pt x="1039" y="152"/>
                  <a:pt x="1039" y="162"/>
                </a:cubicBezTo>
                <a:cubicBezTo>
                  <a:pt x="1039" y="170"/>
                  <a:pt x="1040" y="177"/>
                  <a:pt x="1043" y="183"/>
                </a:cubicBezTo>
                <a:cubicBezTo>
                  <a:pt x="1045" y="190"/>
                  <a:pt x="1048" y="195"/>
                  <a:pt x="1053" y="200"/>
                </a:cubicBezTo>
                <a:cubicBezTo>
                  <a:pt x="1057" y="205"/>
                  <a:pt x="1063" y="209"/>
                  <a:pt x="1070" y="213"/>
                </a:cubicBezTo>
                <a:cubicBezTo>
                  <a:pt x="1077" y="217"/>
                  <a:pt x="1085" y="220"/>
                  <a:pt x="1093" y="224"/>
                </a:cubicBezTo>
                <a:cubicBezTo>
                  <a:pt x="1100" y="226"/>
                  <a:pt x="1107" y="229"/>
                  <a:pt x="1112" y="231"/>
                </a:cubicBezTo>
                <a:cubicBezTo>
                  <a:pt x="1118" y="233"/>
                  <a:pt x="1123" y="235"/>
                  <a:pt x="1127" y="238"/>
                </a:cubicBezTo>
                <a:cubicBezTo>
                  <a:pt x="1131" y="240"/>
                  <a:pt x="1135" y="243"/>
                  <a:pt x="1137" y="247"/>
                </a:cubicBezTo>
                <a:cubicBezTo>
                  <a:pt x="1140" y="250"/>
                  <a:pt x="1141" y="254"/>
                  <a:pt x="1141" y="259"/>
                </a:cubicBezTo>
                <a:cubicBezTo>
                  <a:pt x="1141" y="276"/>
                  <a:pt x="1126" y="284"/>
                  <a:pt x="1098" y="284"/>
                </a:cubicBezTo>
                <a:cubicBezTo>
                  <a:pt x="1076" y="284"/>
                  <a:pt x="1057" y="278"/>
                  <a:pt x="1039" y="264"/>
                </a:cubicBezTo>
                <a:lnTo>
                  <a:pt x="1039" y="308"/>
                </a:lnTo>
                <a:cubicBezTo>
                  <a:pt x="1056" y="316"/>
                  <a:pt x="1076" y="320"/>
                  <a:pt x="1099" y="320"/>
                </a:cubicBezTo>
                <a:cubicBezTo>
                  <a:pt x="1110" y="320"/>
                  <a:pt x="1122" y="318"/>
                  <a:pt x="1132" y="316"/>
                </a:cubicBezTo>
                <a:cubicBezTo>
                  <a:pt x="1143" y="313"/>
                  <a:pt x="1153" y="309"/>
                  <a:pt x="1161" y="304"/>
                </a:cubicBezTo>
                <a:cubicBezTo>
                  <a:pt x="1169" y="299"/>
                  <a:pt x="1176" y="292"/>
                  <a:pt x="1181" y="285"/>
                </a:cubicBezTo>
                <a:cubicBezTo>
                  <a:pt x="1185" y="277"/>
                  <a:pt x="1188" y="267"/>
                  <a:pt x="1188" y="257"/>
                </a:cubicBezTo>
                <a:cubicBezTo>
                  <a:pt x="1188" y="248"/>
                  <a:pt x="1187" y="240"/>
                  <a:pt x="1184" y="234"/>
                </a:cubicBezTo>
                <a:cubicBezTo>
                  <a:pt x="1181" y="228"/>
                  <a:pt x="1177" y="222"/>
                  <a:pt x="1172" y="217"/>
                </a:cubicBezTo>
                <a:close/>
                <a:moveTo>
                  <a:pt x="840" y="211"/>
                </a:moveTo>
                <a:lnTo>
                  <a:pt x="840" y="211"/>
                </a:lnTo>
                <a:cubicBezTo>
                  <a:pt x="840" y="233"/>
                  <a:pt x="845" y="250"/>
                  <a:pt x="856" y="263"/>
                </a:cubicBezTo>
                <a:cubicBezTo>
                  <a:pt x="867" y="276"/>
                  <a:pt x="882" y="282"/>
                  <a:pt x="900" y="282"/>
                </a:cubicBezTo>
                <a:cubicBezTo>
                  <a:pt x="919" y="282"/>
                  <a:pt x="933" y="276"/>
                  <a:pt x="943" y="263"/>
                </a:cubicBezTo>
                <a:cubicBezTo>
                  <a:pt x="954" y="251"/>
                  <a:pt x="959" y="233"/>
                  <a:pt x="959" y="210"/>
                </a:cubicBezTo>
                <a:cubicBezTo>
                  <a:pt x="959" y="187"/>
                  <a:pt x="954" y="169"/>
                  <a:pt x="943" y="157"/>
                </a:cubicBezTo>
                <a:cubicBezTo>
                  <a:pt x="933" y="144"/>
                  <a:pt x="919" y="138"/>
                  <a:pt x="900" y="138"/>
                </a:cubicBezTo>
                <a:cubicBezTo>
                  <a:pt x="882" y="138"/>
                  <a:pt x="867" y="144"/>
                  <a:pt x="856" y="157"/>
                </a:cubicBezTo>
                <a:cubicBezTo>
                  <a:pt x="845" y="170"/>
                  <a:pt x="840" y="188"/>
                  <a:pt x="840" y="211"/>
                </a:cubicBezTo>
                <a:close/>
                <a:moveTo>
                  <a:pt x="820" y="290"/>
                </a:moveTo>
                <a:lnTo>
                  <a:pt x="820" y="290"/>
                </a:lnTo>
                <a:cubicBezTo>
                  <a:pt x="801" y="271"/>
                  <a:pt x="791" y="245"/>
                  <a:pt x="791" y="212"/>
                </a:cubicBezTo>
                <a:cubicBezTo>
                  <a:pt x="791" y="177"/>
                  <a:pt x="801" y="149"/>
                  <a:pt x="822" y="129"/>
                </a:cubicBezTo>
                <a:cubicBezTo>
                  <a:pt x="842" y="110"/>
                  <a:pt x="869" y="100"/>
                  <a:pt x="903" y="100"/>
                </a:cubicBezTo>
                <a:cubicBezTo>
                  <a:pt x="936" y="100"/>
                  <a:pt x="962" y="109"/>
                  <a:pt x="980" y="129"/>
                </a:cubicBezTo>
                <a:cubicBezTo>
                  <a:pt x="998" y="148"/>
                  <a:pt x="1007" y="175"/>
                  <a:pt x="1007" y="209"/>
                </a:cubicBezTo>
                <a:cubicBezTo>
                  <a:pt x="1007" y="242"/>
                  <a:pt x="997" y="269"/>
                  <a:pt x="978" y="289"/>
                </a:cubicBezTo>
                <a:cubicBezTo>
                  <a:pt x="958" y="310"/>
                  <a:pt x="931" y="320"/>
                  <a:pt x="898" y="320"/>
                </a:cubicBezTo>
                <a:cubicBezTo>
                  <a:pt x="866" y="320"/>
                  <a:pt x="840" y="310"/>
                  <a:pt x="820" y="290"/>
                </a:cubicBezTo>
                <a:close/>
                <a:moveTo>
                  <a:pt x="701" y="214"/>
                </a:moveTo>
                <a:lnTo>
                  <a:pt x="701" y="214"/>
                </a:lnTo>
                <a:cubicBezTo>
                  <a:pt x="701" y="192"/>
                  <a:pt x="706" y="175"/>
                  <a:pt x="715" y="162"/>
                </a:cubicBezTo>
                <a:cubicBezTo>
                  <a:pt x="724" y="150"/>
                  <a:pt x="736" y="143"/>
                  <a:pt x="750" y="143"/>
                </a:cubicBezTo>
                <a:cubicBezTo>
                  <a:pt x="761" y="143"/>
                  <a:pt x="769" y="145"/>
                  <a:pt x="775" y="150"/>
                </a:cubicBezTo>
                <a:lnTo>
                  <a:pt x="775" y="105"/>
                </a:lnTo>
                <a:cubicBezTo>
                  <a:pt x="771" y="102"/>
                  <a:pt x="764" y="101"/>
                  <a:pt x="755" y="101"/>
                </a:cubicBezTo>
                <a:cubicBezTo>
                  <a:pt x="743" y="101"/>
                  <a:pt x="733" y="105"/>
                  <a:pt x="723" y="113"/>
                </a:cubicBezTo>
                <a:cubicBezTo>
                  <a:pt x="713" y="122"/>
                  <a:pt x="706" y="133"/>
                  <a:pt x="702" y="148"/>
                </a:cubicBezTo>
                <a:lnTo>
                  <a:pt x="701" y="148"/>
                </a:lnTo>
                <a:lnTo>
                  <a:pt x="701" y="105"/>
                </a:lnTo>
                <a:lnTo>
                  <a:pt x="653" y="105"/>
                </a:lnTo>
                <a:lnTo>
                  <a:pt x="653" y="315"/>
                </a:lnTo>
                <a:lnTo>
                  <a:pt x="701" y="315"/>
                </a:lnTo>
                <a:lnTo>
                  <a:pt x="701" y="214"/>
                </a:lnTo>
                <a:close/>
                <a:moveTo>
                  <a:pt x="610" y="264"/>
                </a:moveTo>
                <a:lnTo>
                  <a:pt x="610" y="264"/>
                </a:lnTo>
                <a:cubicBezTo>
                  <a:pt x="595" y="276"/>
                  <a:pt x="579" y="282"/>
                  <a:pt x="561" y="282"/>
                </a:cubicBezTo>
                <a:cubicBezTo>
                  <a:pt x="541" y="282"/>
                  <a:pt x="525" y="276"/>
                  <a:pt x="513" y="263"/>
                </a:cubicBezTo>
                <a:cubicBezTo>
                  <a:pt x="501" y="250"/>
                  <a:pt x="495" y="233"/>
                  <a:pt x="495" y="212"/>
                </a:cubicBezTo>
                <a:cubicBezTo>
                  <a:pt x="495" y="189"/>
                  <a:pt x="501" y="172"/>
                  <a:pt x="514" y="158"/>
                </a:cubicBezTo>
                <a:cubicBezTo>
                  <a:pt x="527" y="144"/>
                  <a:pt x="543" y="138"/>
                  <a:pt x="563" y="138"/>
                </a:cubicBezTo>
                <a:cubicBezTo>
                  <a:pt x="580" y="138"/>
                  <a:pt x="595" y="143"/>
                  <a:pt x="610" y="154"/>
                </a:cubicBezTo>
                <a:lnTo>
                  <a:pt x="610" y="110"/>
                </a:lnTo>
                <a:cubicBezTo>
                  <a:pt x="595" y="103"/>
                  <a:pt x="579" y="100"/>
                  <a:pt x="559" y="100"/>
                </a:cubicBezTo>
                <a:cubicBezTo>
                  <a:pt x="525" y="100"/>
                  <a:pt x="497" y="110"/>
                  <a:pt x="477" y="131"/>
                </a:cubicBezTo>
                <a:cubicBezTo>
                  <a:pt x="456" y="152"/>
                  <a:pt x="446" y="180"/>
                  <a:pt x="446" y="215"/>
                </a:cubicBezTo>
                <a:cubicBezTo>
                  <a:pt x="446" y="246"/>
                  <a:pt x="456" y="271"/>
                  <a:pt x="475" y="290"/>
                </a:cubicBezTo>
                <a:cubicBezTo>
                  <a:pt x="494" y="310"/>
                  <a:pt x="519" y="320"/>
                  <a:pt x="550" y="320"/>
                </a:cubicBezTo>
                <a:cubicBezTo>
                  <a:pt x="573" y="320"/>
                  <a:pt x="593" y="315"/>
                  <a:pt x="610" y="305"/>
                </a:cubicBezTo>
                <a:lnTo>
                  <a:pt x="610" y="264"/>
                </a:lnTo>
                <a:close/>
                <a:moveTo>
                  <a:pt x="386" y="61"/>
                </a:moveTo>
                <a:lnTo>
                  <a:pt x="386" y="61"/>
                </a:lnTo>
                <a:cubicBezTo>
                  <a:pt x="394" y="61"/>
                  <a:pt x="401" y="58"/>
                  <a:pt x="407" y="53"/>
                </a:cubicBezTo>
                <a:cubicBezTo>
                  <a:pt x="412" y="47"/>
                  <a:pt x="415" y="41"/>
                  <a:pt x="415" y="34"/>
                </a:cubicBezTo>
                <a:cubicBezTo>
                  <a:pt x="415" y="26"/>
                  <a:pt x="412" y="19"/>
                  <a:pt x="407" y="14"/>
                </a:cubicBezTo>
                <a:cubicBezTo>
                  <a:pt x="401" y="9"/>
                  <a:pt x="394" y="7"/>
                  <a:pt x="386" y="7"/>
                </a:cubicBezTo>
                <a:cubicBezTo>
                  <a:pt x="378" y="7"/>
                  <a:pt x="372" y="9"/>
                  <a:pt x="366" y="14"/>
                </a:cubicBezTo>
                <a:cubicBezTo>
                  <a:pt x="360" y="19"/>
                  <a:pt x="358" y="26"/>
                  <a:pt x="358" y="34"/>
                </a:cubicBezTo>
                <a:cubicBezTo>
                  <a:pt x="358" y="41"/>
                  <a:pt x="360" y="48"/>
                  <a:pt x="366" y="53"/>
                </a:cubicBezTo>
                <a:cubicBezTo>
                  <a:pt x="372" y="58"/>
                  <a:pt x="378" y="61"/>
                  <a:pt x="386" y="61"/>
                </a:cubicBezTo>
                <a:close/>
                <a:moveTo>
                  <a:pt x="362" y="315"/>
                </a:moveTo>
                <a:lnTo>
                  <a:pt x="362" y="315"/>
                </a:lnTo>
                <a:lnTo>
                  <a:pt x="410" y="315"/>
                </a:lnTo>
                <a:lnTo>
                  <a:pt x="410" y="105"/>
                </a:lnTo>
                <a:lnTo>
                  <a:pt x="362" y="105"/>
                </a:lnTo>
                <a:lnTo>
                  <a:pt x="362" y="315"/>
                </a:lnTo>
                <a:close/>
                <a:moveTo>
                  <a:pt x="249" y="21"/>
                </a:moveTo>
                <a:lnTo>
                  <a:pt x="249" y="21"/>
                </a:lnTo>
                <a:lnTo>
                  <a:pt x="316" y="21"/>
                </a:lnTo>
                <a:lnTo>
                  <a:pt x="316" y="315"/>
                </a:lnTo>
                <a:lnTo>
                  <a:pt x="267" y="315"/>
                </a:lnTo>
                <a:lnTo>
                  <a:pt x="267" y="124"/>
                </a:lnTo>
                <a:cubicBezTo>
                  <a:pt x="267" y="109"/>
                  <a:pt x="268" y="90"/>
                  <a:pt x="270" y="67"/>
                </a:cubicBezTo>
                <a:lnTo>
                  <a:pt x="269" y="67"/>
                </a:lnTo>
                <a:cubicBezTo>
                  <a:pt x="266" y="80"/>
                  <a:pt x="264" y="89"/>
                  <a:pt x="261" y="95"/>
                </a:cubicBezTo>
                <a:lnTo>
                  <a:pt x="173" y="315"/>
                </a:lnTo>
                <a:lnTo>
                  <a:pt x="140" y="315"/>
                </a:lnTo>
                <a:lnTo>
                  <a:pt x="52" y="96"/>
                </a:lnTo>
                <a:cubicBezTo>
                  <a:pt x="49" y="90"/>
                  <a:pt x="47" y="80"/>
                  <a:pt x="44" y="67"/>
                </a:cubicBezTo>
                <a:lnTo>
                  <a:pt x="43" y="67"/>
                </a:lnTo>
                <a:cubicBezTo>
                  <a:pt x="44" y="79"/>
                  <a:pt x="45" y="98"/>
                  <a:pt x="45" y="125"/>
                </a:cubicBezTo>
                <a:lnTo>
                  <a:pt x="45" y="315"/>
                </a:lnTo>
                <a:lnTo>
                  <a:pt x="0" y="315"/>
                </a:lnTo>
                <a:lnTo>
                  <a:pt x="0" y="21"/>
                </a:lnTo>
                <a:lnTo>
                  <a:pt x="68" y="21"/>
                </a:lnTo>
                <a:lnTo>
                  <a:pt x="146" y="216"/>
                </a:lnTo>
                <a:cubicBezTo>
                  <a:pt x="152" y="231"/>
                  <a:pt x="155" y="243"/>
                  <a:pt x="157" y="250"/>
                </a:cubicBezTo>
                <a:lnTo>
                  <a:pt x="158" y="250"/>
                </a:lnTo>
                <a:cubicBezTo>
                  <a:pt x="163" y="235"/>
                  <a:pt x="167" y="223"/>
                  <a:pt x="171" y="216"/>
                </a:cubicBezTo>
                <a:lnTo>
                  <a:pt x="249" y="21"/>
                </a:lnTo>
                <a:close/>
              </a:path>
            </a:pathLst>
          </a:custGeom>
          <a:solidFill>
            <a:srgbClr val="D7312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65236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44E1717B-1127-422B-83A0-6DB1F04DE49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78314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140200"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1402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Picture 5" descr="Microsoft Ignite cube graphic">
            <a:extLst>
              <a:ext uri="{FF2B5EF4-FFF2-40B4-BE49-F238E27FC236}">
                <a16:creationId xmlns:a16="http://schemas.microsoft.com/office/drawing/2014/main" id="{C89205E0-1FE0-2147-A567-C941C5AA176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8000" cy="6858000"/>
          </a:xfrm>
          <a:prstGeom prst="rect">
            <a:avLst/>
          </a:prstGeom>
        </p:spPr>
      </p:pic>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9755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297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14" name="MS logo white - EMF" descr="Microsoft logo white text version">
            <a:extLst>
              <a:ext uri="{FF2B5EF4-FFF2-40B4-BE49-F238E27FC236}">
                <a16:creationId xmlns:a16="http://schemas.microsoft.com/office/drawing/2014/main" id="{63E1BA19-1D9F-FC44-8A38-8C233C9CC4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15" name="Title 1">
            <a:extLst>
              <a:ext uri="{FF2B5EF4-FFF2-40B4-BE49-F238E27FC236}">
                <a16:creationId xmlns:a16="http://schemas.microsoft.com/office/drawing/2014/main" id="{9A95C66C-5C96-2344-B6A3-F56B3F7963BA}"/>
              </a:ext>
            </a:extLst>
          </p:cNvPr>
          <p:cNvSpPr>
            <a:spLocks noGrp="1"/>
          </p:cNvSpPr>
          <p:nvPr userDrawn="1">
            <p:ph type="title" hasCustomPrompt="1"/>
          </p:nvPr>
        </p:nvSpPr>
        <p:spPr>
          <a:xfrm>
            <a:off x="584200" y="2425780"/>
            <a:ext cx="4140200" cy="1107996"/>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16" name="Text Placeholder 4">
            <a:extLst>
              <a:ext uri="{FF2B5EF4-FFF2-40B4-BE49-F238E27FC236}">
                <a16:creationId xmlns:a16="http://schemas.microsoft.com/office/drawing/2014/main" id="{CEB75608-737B-0C4E-85B1-321723083970}"/>
              </a:ext>
            </a:extLst>
          </p:cNvPr>
          <p:cNvSpPr>
            <a:spLocks noGrp="1"/>
          </p:cNvSpPr>
          <p:nvPr userDrawn="1">
            <p:ph type="body" sz="quarter" idx="12" hasCustomPrompt="1"/>
          </p:nvPr>
        </p:nvSpPr>
        <p:spPr>
          <a:xfrm>
            <a:off x="584200" y="3962400"/>
            <a:ext cx="41402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6" name="Picture 5" descr="Microsoft Ignite cube graphic">
            <a:extLst>
              <a:ext uri="{FF2B5EF4-FFF2-40B4-BE49-F238E27FC236}">
                <a16:creationId xmlns:a16="http://schemas.microsoft.com/office/drawing/2014/main" id="{80D4BB00-622A-BD4E-A722-AD10CF5FFE4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5334000" y="1"/>
            <a:ext cx="6857999" cy="6858000"/>
          </a:xfrm>
          <a:prstGeom prst="rect">
            <a:avLst/>
          </a:prstGeom>
        </p:spPr>
      </p:pic>
    </p:spTree>
    <p:extLst>
      <p:ext uri="{BB962C8B-B14F-4D97-AF65-F5344CB8AC3E}">
        <p14:creationId xmlns:p14="http://schemas.microsoft.com/office/powerpoint/2010/main" val="2379680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Picture 5" descr="A person sitting at a table using a computer&#10;&#10;Description automatically generated">
            <a:extLst>
              <a:ext uri="{FF2B5EF4-FFF2-40B4-BE49-F238E27FC236}">
                <a16:creationId xmlns:a16="http://schemas.microsoft.com/office/drawing/2014/main" id="{1B5497F1-768F-45ED-85F1-D14B37BE1F7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8000" cy="6858000"/>
          </a:xfrm>
          <a:prstGeom prst="rect">
            <a:avLst/>
          </a:prstGeom>
        </p:spPr>
      </p:pic>
      <p:pic>
        <p:nvPicPr>
          <p:cNvPr id="8" name="MS logo white - EMF" descr="Microsoft logo white text version">
            <a:extLst>
              <a:ext uri="{FF2B5EF4-FFF2-40B4-BE49-F238E27FC236}">
                <a16:creationId xmlns:a16="http://schemas.microsoft.com/office/drawing/2014/main" id="{CEC508C3-17C5-4527-A00C-7B974C95D11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9329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58182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87375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636707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448857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428183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154797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18666714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dirty="0"/>
              <a:t>Click to edit Master title style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2DBE4BB-02BC-403B-BD4E-F269E8077083}"/>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435856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AB7A8995-AE4E-430B-AF29-B4D106F867E8}"/>
              </a:ext>
            </a:extLst>
          </p:cNvPr>
          <p:cNvSpPr>
            <a:spLocks noGrp="1"/>
          </p:cNvSpPr>
          <p:nvPr>
            <p:ph type="pic" sz="quarter" idx="11" hasCustomPrompt="1"/>
          </p:nvPr>
        </p:nvSpPr>
        <p:spPr bwMode="gray">
          <a:xfrm>
            <a:off x="5334000" y="0"/>
            <a:ext cx="6858000" cy="6858000"/>
          </a:xfrm>
          <a:blipFill dpi="0" rotWithShape="1">
            <a:blip r:embed="rId2">
              <a:extLst>
                <a:ext uri="{28A0092B-C50C-407E-A947-70E740481C1C}">
                  <a14:useLocalDpi xmlns:a14="http://schemas.microsoft.com/office/drawing/2010/main" val="0"/>
                </a:ext>
              </a:extLst>
            </a:blip>
            <a:srcRect/>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06041248"/>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80439675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9874497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02683535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2010416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dirty="0"/>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77854159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1633274561"/>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151144"/>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dirty="0"/>
              <a:t>Edit Master text styles</a:t>
            </a:r>
          </a:p>
        </p:txBody>
      </p:sp>
    </p:spTree>
    <p:extLst>
      <p:ext uri="{BB962C8B-B14F-4D97-AF65-F5344CB8AC3E}">
        <p14:creationId xmlns:p14="http://schemas.microsoft.com/office/powerpoint/2010/main" val="252237956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userDrawn="1"/>
        </p:nvSpPr>
        <p:spPr bwMode="blackWhite">
          <a:xfrm>
            <a:off x="0" y="0"/>
            <a:ext cx="43561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dirty="0"/>
              <a:t>Edit Master text styles</a:t>
            </a:r>
          </a:p>
        </p:txBody>
      </p:sp>
    </p:spTree>
    <p:extLst>
      <p:ext uri="{BB962C8B-B14F-4D97-AF65-F5344CB8AC3E}">
        <p14:creationId xmlns:p14="http://schemas.microsoft.com/office/powerpoint/2010/main" val="332627317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7907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60520" cy="498598"/>
          </a:xfrm>
          <a:noFill/>
        </p:spPr>
        <p:txBody>
          <a:bodyPr wrap="square" lIns="0" tIns="0" rIns="0" bIns="0" anchor="b"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4160520" cy="338554"/>
          </a:xfrm>
          <a:noFill/>
        </p:spPr>
        <p:txBody>
          <a:bodyPr wrap="square" lIns="0" tIns="0" rIns="0" bIns="0">
            <a:no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pic>
        <p:nvPicPr>
          <p:cNvPr id="6" name="Picture 5" descr="Microsoft Ignite cube graphic">
            <a:extLst>
              <a:ext uri="{FF2B5EF4-FFF2-40B4-BE49-F238E27FC236}">
                <a16:creationId xmlns:a16="http://schemas.microsoft.com/office/drawing/2014/main" id="{3AD0DC0A-7B9F-4357-8D47-F407E99ED68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310980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84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60520" cy="498598"/>
          </a:xfrm>
          <a:noFill/>
        </p:spPr>
        <p:txBody>
          <a:bodyPr wrap="square" lIns="0" tIns="0" rIns="0" bIns="0" anchor="b"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pic>
        <p:nvPicPr>
          <p:cNvPr id="5" name="Picture 4" descr="Microsoft Ignite cube graphic">
            <a:extLst>
              <a:ext uri="{FF2B5EF4-FFF2-40B4-BE49-F238E27FC236}">
                <a16:creationId xmlns:a16="http://schemas.microsoft.com/office/drawing/2014/main" id="{DDF24A8E-E5A8-4838-91D5-F11134AF6A8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1"/>
            <a:ext cx="6857999" cy="6858000"/>
          </a:xfrm>
          <a:prstGeom prst="rect">
            <a:avLst/>
          </a:prstGeom>
        </p:spPr>
      </p:pic>
    </p:spTree>
    <p:extLst>
      <p:ext uri="{BB962C8B-B14F-4D97-AF65-F5344CB8AC3E}">
        <p14:creationId xmlns:p14="http://schemas.microsoft.com/office/powerpoint/2010/main" val="169275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5ACBF0"/>
          </p15:clr>
        </p15:guide>
        <p15:guide id="3" orient="horz" pos="1911">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6465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3478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984297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265F69A1-0401-4DF8-B507-FBC3C227055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04164992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281768625"/>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33" Type="http://schemas.openxmlformats.org/officeDocument/2006/relationships/image" Target="../media/image1.emf"/><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heme" Target="../theme/theme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 Id="rId8"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33" Type="http://schemas.openxmlformats.org/officeDocument/2006/relationships/image" Target="../media/image1.emf"/><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32" Type="http://schemas.openxmlformats.org/officeDocument/2006/relationships/theme" Target="../theme/theme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slideLayout" Target="../slideLayouts/slideLayout93.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 Id="rId8"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3"/>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2" r:id="rId1"/>
    <p:sldLayoutId id="2147484577" r:id="rId2"/>
    <p:sldLayoutId id="2147484610" r:id="rId3"/>
    <p:sldLayoutId id="2147484833" r:id="rId4"/>
    <p:sldLayoutId id="2147484834" r:id="rId5"/>
    <p:sldLayoutId id="2147484710" r:id="rId6"/>
    <p:sldLayoutId id="2147484240" r:id="rId7"/>
    <p:sldLayoutId id="2147484736" r:id="rId8"/>
    <p:sldLayoutId id="2147484474" r:id="rId9"/>
    <p:sldLayoutId id="2147484639" r:id="rId10"/>
    <p:sldLayoutId id="2147484603" r:id="rId11"/>
    <p:sldLayoutId id="2147484751" r:id="rId12"/>
    <p:sldLayoutId id="2147484752" r:id="rId13"/>
    <p:sldLayoutId id="2147484777" r:id="rId14"/>
    <p:sldLayoutId id="2147484835" r:id="rId15"/>
    <p:sldLayoutId id="2147484836" r:id="rId16"/>
    <p:sldLayoutId id="2147484837" r:id="rId17"/>
    <p:sldLayoutId id="2147484838" r:id="rId18"/>
    <p:sldLayoutId id="2147484839" r:id="rId19"/>
    <p:sldLayoutId id="2147484783" r:id="rId20"/>
    <p:sldLayoutId id="2147484784" r:id="rId21"/>
    <p:sldLayoutId id="2147484785" r:id="rId22"/>
    <p:sldLayoutId id="2147484786" r:id="rId23"/>
    <p:sldLayoutId id="2147484787" r:id="rId24"/>
    <p:sldLayoutId id="2147484249" r:id="rId25"/>
    <p:sldLayoutId id="2147484584" r:id="rId26"/>
    <p:sldLayoutId id="2147484671" r:id="rId27"/>
    <p:sldLayoutId id="2147484673" r:id="rId28"/>
    <p:sldLayoutId id="2147484585" r:id="rId29"/>
    <p:sldLayoutId id="2147484299" r:id="rId30"/>
    <p:sldLayoutId id="2147484263" r:id="rId3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3"/>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237335655"/>
      </p:ext>
    </p:extLst>
  </p:cSld>
  <p:clrMap bg1="lt1" tx1="dk1" bg2="lt2" tx2="dk2" accent1="accent1" accent2="accent2" accent3="accent3" accent4="accent4" accent5="accent5" accent6="accent6" hlink="hlink" folHlink="folHlink"/>
  <p:sldLayoutIdLst>
    <p:sldLayoutId id="2147484841" r:id="rId1"/>
    <p:sldLayoutId id="2147484842" r:id="rId2"/>
    <p:sldLayoutId id="2147484843" r:id="rId3"/>
    <p:sldLayoutId id="2147484844" r:id="rId4"/>
    <p:sldLayoutId id="2147484845" r:id="rId5"/>
    <p:sldLayoutId id="2147484846" r:id="rId6"/>
    <p:sldLayoutId id="2147484847" r:id="rId7"/>
    <p:sldLayoutId id="2147484848" r:id="rId8"/>
    <p:sldLayoutId id="2147484849" r:id="rId9"/>
    <p:sldLayoutId id="2147484850" r:id="rId10"/>
    <p:sldLayoutId id="2147484851" r:id="rId11"/>
    <p:sldLayoutId id="2147484852" r:id="rId12"/>
    <p:sldLayoutId id="2147484853" r:id="rId13"/>
    <p:sldLayoutId id="2147484854" r:id="rId14"/>
    <p:sldLayoutId id="2147484855" r:id="rId15"/>
    <p:sldLayoutId id="2147484856" r:id="rId16"/>
    <p:sldLayoutId id="2147484857" r:id="rId17"/>
    <p:sldLayoutId id="2147484858" r:id="rId18"/>
    <p:sldLayoutId id="2147484859" r:id="rId19"/>
    <p:sldLayoutId id="2147484860" r:id="rId20"/>
    <p:sldLayoutId id="2147484861" r:id="rId21"/>
    <p:sldLayoutId id="2147484862" r:id="rId22"/>
    <p:sldLayoutId id="2147484863" r:id="rId23"/>
    <p:sldLayoutId id="2147484864" r:id="rId24"/>
    <p:sldLayoutId id="2147484865" r:id="rId25"/>
    <p:sldLayoutId id="2147484866" r:id="rId26"/>
    <p:sldLayoutId id="2147484867" r:id="rId27"/>
    <p:sldLayoutId id="2147484868" r:id="rId28"/>
    <p:sldLayoutId id="2147484869" r:id="rId29"/>
    <p:sldLayoutId id="2147484870" r:id="rId30"/>
    <p:sldLayoutId id="2147484871" r:id="rId3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3"/>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79163514"/>
      </p:ext>
    </p:extLst>
  </p:cSld>
  <p:clrMap bg1="dk1" tx1="lt1" bg2="dk2" tx2="lt2" accent1="accent1" accent2="accent2" accent3="accent3" accent4="accent4" accent5="accent5" accent6="accent6" hlink="hlink" folHlink="folHlink"/>
  <p:sldLayoutIdLst>
    <p:sldLayoutId id="2147484873" r:id="rId1"/>
    <p:sldLayoutId id="2147484874" r:id="rId2"/>
    <p:sldLayoutId id="2147484904" r:id="rId3"/>
    <p:sldLayoutId id="2147484905" r:id="rId4"/>
    <p:sldLayoutId id="2147484877" r:id="rId5"/>
    <p:sldLayoutId id="2147484878" r:id="rId6"/>
    <p:sldLayoutId id="2147484879" r:id="rId7"/>
    <p:sldLayoutId id="2147484880" r:id="rId8"/>
    <p:sldLayoutId id="2147484881" r:id="rId9"/>
    <p:sldLayoutId id="2147484882" r:id="rId10"/>
    <p:sldLayoutId id="2147484883" r:id="rId11"/>
    <p:sldLayoutId id="2147484884" r:id="rId12"/>
    <p:sldLayoutId id="2147484885" r:id="rId13"/>
    <p:sldLayoutId id="2147484886" r:id="rId14"/>
    <p:sldLayoutId id="2147484887" r:id="rId15"/>
    <p:sldLayoutId id="2147484888" r:id="rId16"/>
    <p:sldLayoutId id="2147484889" r:id="rId17"/>
    <p:sldLayoutId id="2147484890" r:id="rId18"/>
    <p:sldLayoutId id="2147484891" r:id="rId19"/>
    <p:sldLayoutId id="2147484892" r:id="rId20"/>
    <p:sldLayoutId id="2147484893" r:id="rId21"/>
    <p:sldLayoutId id="2147484906" r:id="rId22"/>
    <p:sldLayoutId id="2147484907" r:id="rId23"/>
    <p:sldLayoutId id="2147484896" r:id="rId24"/>
    <p:sldLayoutId id="2147484897" r:id="rId25"/>
    <p:sldLayoutId id="2147484898" r:id="rId26"/>
    <p:sldLayoutId id="2147484899" r:id="rId27"/>
    <p:sldLayoutId id="2147484900" r:id="rId28"/>
    <p:sldLayoutId id="2147484901" r:id="rId29"/>
    <p:sldLayoutId id="2147484902" r:id="rId30"/>
    <p:sldLayoutId id="2147484903" r:id="rId3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31.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31.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0.xml"/><Relationship Id="rId5" Type="http://schemas.openxmlformats.org/officeDocument/2006/relationships/image" Target="../media/image28.png"/><Relationship Id="rId4" Type="http://schemas.microsoft.com/office/2007/relationships/hdphoto" Target="../media/hdphoto2.wdp"/></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10.xml"/><Relationship Id="rId5" Type="http://schemas.openxmlformats.org/officeDocument/2006/relationships/image" Target="../media/image41.png"/><Relationship Id="rId4" Type="http://schemas.microsoft.com/office/2007/relationships/hdphoto" Target="../media/hdphoto2.wdp"/></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hyperlink" Target="https://azurecosmosdb.com/" TargetMode="External"/><Relationship Id="rId2" Type="http://schemas.openxmlformats.org/officeDocument/2006/relationships/hyperlink" Target="https://aka.ms/PracticalCosmosDB"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FE76-2C45-4F11-90C5-1DE8458E148E}"/>
              </a:ext>
            </a:extLst>
          </p:cNvPr>
          <p:cNvSpPr>
            <a:spLocks noGrp="1"/>
          </p:cNvSpPr>
          <p:nvPr>
            <p:ph type="title"/>
          </p:nvPr>
        </p:nvSpPr>
        <p:spPr/>
        <p:txBody>
          <a:bodyPr/>
          <a:lstStyle/>
          <a:p>
            <a:r>
              <a:rPr lang="en-US" dirty="0"/>
              <a:t>Session's objectives</a:t>
            </a:r>
          </a:p>
        </p:txBody>
      </p:sp>
      <p:sp>
        <p:nvSpPr>
          <p:cNvPr id="3" name="Content Placeholder 2">
            <a:extLst>
              <a:ext uri="{FF2B5EF4-FFF2-40B4-BE49-F238E27FC236}">
                <a16:creationId xmlns:a16="http://schemas.microsoft.com/office/drawing/2014/main" id="{3F7824D4-17C1-4325-818E-33C82DDF96E8}"/>
              </a:ext>
            </a:extLst>
          </p:cNvPr>
          <p:cNvSpPr>
            <a:spLocks noGrp="1"/>
          </p:cNvSpPr>
          <p:nvPr>
            <p:ph sz="quarter" idx="10"/>
          </p:nvPr>
        </p:nvSpPr>
        <p:spPr>
          <a:xfrm>
            <a:off x="584200" y="1435100"/>
            <a:ext cx="11018838" cy="3877985"/>
          </a:xfrm>
        </p:spPr>
        <p:txBody>
          <a:bodyPr/>
          <a:lstStyle/>
          <a:p>
            <a:r>
              <a:rPr lang="en-US" dirty="0"/>
              <a:t>Get familiar with Azure Cosmos DB core concepts and data modeling best practices</a:t>
            </a:r>
          </a:p>
          <a:p>
            <a:endParaRPr lang="en-US" dirty="0"/>
          </a:p>
          <a:p>
            <a:r>
              <a:rPr lang="en-US" dirty="0"/>
              <a:t>Apply them to a real-world scenario</a:t>
            </a:r>
          </a:p>
          <a:p>
            <a:endParaRPr lang="en-US" dirty="0"/>
          </a:p>
          <a:p>
            <a:r>
              <a:rPr lang="en-US" dirty="0"/>
              <a:t>Understand how Azure Cosmos DB differs from relational databases when designing a data model</a:t>
            </a:r>
          </a:p>
          <a:p>
            <a:pPr marL="0" indent="0">
              <a:buNone/>
            </a:pPr>
            <a:endParaRPr lang="en-US" dirty="0"/>
          </a:p>
        </p:txBody>
      </p:sp>
    </p:spTree>
    <p:extLst>
      <p:ext uri="{BB962C8B-B14F-4D97-AF65-F5344CB8AC3E}">
        <p14:creationId xmlns:p14="http://schemas.microsoft.com/office/powerpoint/2010/main" val="19373928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88263" y="457200"/>
            <a:ext cx="11018520" cy="553998"/>
          </a:xfrm>
        </p:spPr>
        <p:txBody>
          <a:bodyPr/>
          <a:lstStyle/>
          <a:p>
            <a:r>
              <a:rPr lang="en-US" dirty="0"/>
              <a:t>What is Azure Cosmos DB?</a:t>
            </a:r>
          </a:p>
        </p:txBody>
      </p:sp>
      <p:sp>
        <p:nvSpPr>
          <p:cNvPr id="3" name="Content Placeholder 2">
            <a:extLst>
              <a:ext uri="{FF2B5EF4-FFF2-40B4-BE49-F238E27FC236}">
                <a16:creationId xmlns:a16="http://schemas.microsoft.com/office/drawing/2014/main" id="{E9848F2B-E31E-4D82-B792-F2A71ADDB861}"/>
              </a:ext>
            </a:extLst>
          </p:cNvPr>
          <p:cNvSpPr>
            <a:spLocks noGrp="1"/>
          </p:cNvSpPr>
          <p:nvPr>
            <p:ph sz="quarter" idx="10"/>
          </p:nvPr>
        </p:nvSpPr>
        <p:spPr>
          <a:xfrm>
            <a:off x="584518" y="2264084"/>
            <a:ext cx="11018838" cy="492443"/>
          </a:xfrm>
        </p:spPr>
        <p:txBody>
          <a:bodyPr/>
          <a:lstStyle/>
          <a:p>
            <a:pPr marL="0" indent="0" algn="ctr">
              <a:buNone/>
            </a:pPr>
            <a:r>
              <a:rPr lang="en-US" sz="3200" dirty="0"/>
              <a:t>Microsoft's NoSQL database on Azure</a:t>
            </a:r>
            <a:endParaRPr lang="en-US" sz="3200" dirty="0">
              <a:solidFill>
                <a:schemeClr val="accent3">
                  <a:lumMod val="60000"/>
                  <a:lumOff val="40000"/>
                </a:schemeClr>
              </a:solidFill>
            </a:endParaRPr>
          </a:p>
        </p:txBody>
      </p:sp>
      <p:grpSp>
        <p:nvGrpSpPr>
          <p:cNvPr id="31" name="Group 30">
            <a:extLst>
              <a:ext uri="{FF2B5EF4-FFF2-40B4-BE49-F238E27FC236}">
                <a16:creationId xmlns:a16="http://schemas.microsoft.com/office/drawing/2014/main" id="{40A8B210-CA9A-4376-BE03-B607D1F129E6}"/>
              </a:ext>
            </a:extLst>
          </p:cNvPr>
          <p:cNvGrpSpPr/>
          <p:nvPr/>
        </p:nvGrpSpPr>
        <p:grpSpPr>
          <a:xfrm>
            <a:off x="0" y="5016500"/>
            <a:ext cx="12190651" cy="6271308"/>
            <a:chOff x="0" y="5016500"/>
            <a:chExt cx="12190651" cy="6271308"/>
          </a:xfrm>
        </p:grpSpPr>
        <p:grpSp>
          <p:nvGrpSpPr>
            <p:cNvPr id="4" name="Group 3">
              <a:extLst>
                <a:ext uri="{FF2B5EF4-FFF2-40B4-BE49-F238E27FC236}">
                  <a16:creationId xmlns:a16="http://schemas.microsoft.com/office/drawing/2014/main" id="{45FEBC49-9D1E-4CF3-B8E2-B1C1C3685755}"/>
                </a:ext>
              </a:extLst>
            </p:cNvPr>
            <p:cNvGrpSpPr/>
            <p:nvPr/>
          </p:nvGrpSpPr>
          <p:grpSpPr>
            <a:xfrm>
              <a:off x="1105989" y="5333544"/>
              <a:ext cx="9919090" cy="5954264"/>
              <a:chOff x="621668" y="4852307"/>
              <a:chExt cx="2840157" cy="1396093"/>
            </a:xfrm>
            <a:solidFill>
              <a:schemeClr val="tx1">
                <a:alpha val="71000"/>
              </a:schemeClr>
            </a:solidFill>
          </p:grpSpPr>
          <p:sp>
            <p:nvSpPr>
              <p:cNvPr id="5" name="Freeform 7">
                <a:extLst>
                  <a:ext uri="{FF2B5EF4-FFF2-40B4-BE49-F238E27FC236}">
                    <a16:creationId xmlns:a16="http://schemas.microsoft.com/office/drawing/2014/main" id="{0BCAAFC6-23E0-4EB0-B796-153AAFDFDE27}"/>
                  </a:ext>
                </a:extLst>
              </p:cNvPr>
              <p:cNvSpPr>
                <a:spLocks noEditPoints="1"/>
              </p:cNvSpPr>
              <p:nvPr/>
            </p:nvSpPr>
            <p:spPr bwMode="auto">
              <a:xfrm>
                <a:off x="621668" y="4852307"/>
                <a:ext cx="1295951" cy="1396093"/>
              </a:xfrm>
              <a:custGeom>
                <a:avLst/>
                <a:gdLst>
                  <a:gd name="T0" fmla="*/ 556 w 954"/>
                  <a:gd name="T1" fmla="*/ 1009 h 1027"/>
                  <a:gd name="T2" fmla="*/ 506 w 954"/>
                  <a:gd name="T3" fmla="*/ 919 h 1027"/>
                  <a:gd name="T4" fmla="*/ 400 w 954"/>
                  <a:gd name="T5" fmla="*/ 627 h 1027"/>
                  <a:gd name="T6" fmla="*/ 429 w 954"/>
                  <a:gd name="T7" fmla="*/ 554 h 1027"/>
                  <a:gd name="T8" fmla="*/ 370 w 954"/>
                  <a:gd name="T9" fmla="*/ 503 h 1027"/>
                  <a:gd name="T10" fmla="*/ 311 w 954"/>
                  <a:gd name="T11" fmla="*/ 488 h 1027"/>
                  <a:gd name="T12" fmla="*/ 247 w 954"/>
                  <a:gd name="T13" fmla="*/ 410 h 1027"/>
                  <a:gd name="T14" fmla="*/ 242 w 954"/>
                  <a:gd name="T15" fmla="*/ 428 h 1027"/>
                  <a:gd name="T16" fmla="*/ 181 w 954"/>
                  <a:gd name="T17" fmla="*/ 348 h 1027"/>
                  <a:gd name="T18" fmla="*/ 202 w 954"/>
                  <a:gd name="T19" fmla="*/ 236 h 1027"/>
                  <a:gd name="T20" fmla="*/ 150 w 954"/>
                  <a:gd name="T21" fmla="*/ 164 h 1027"/>
                  <a:gd name="T22" fmla="*/ 71 w 954"/>
                  <a:gd name="T23" fmla="*/ 196 h 1027"/>
                  <a:gd name="T24" fmla="*/ 75 w 954"/>
                  <a:gd name="T25" fmla="*/ 164 h 1027"/>
                  <a:gd name="T26" fmla="*/ 73 w 954"/>
                  <a:gd name="T27" fmla="*/ 142 h 1027"/>
                  <a:gd name="T28" fmla="*/ 100 w 954"/>
                  <a:gd name="T29" fmla="*/ 112 h 1027"/>
                  <a:gd name="T30" fmla="*/ 213 w 954"/>
                  <a:gd name="T31" fmla="*/ 65 h 1027"/>
                  <a:gd name="T32" fmla="*/ 379 w 954"/>
                  <a:gd name="T33" fmla="*/ 79 h 1027"/>
                  <a:gd name="T34" fmla="*/ 502 w 954"/>
                  <a:gd name="T35" fmla="*/ 48 h 1027"/>
                  <a:gd name="T36" fmla="*/ 553 w 954"/>
                  <a:gd name="T37" fmla="*/ 71 h 1027"/>
                  <a:gd name="T38" fmla="*/ 603 w 954"/>
                  <a:gd name="T39" fmla="*/ 27 h 1027"/>
                  <a:gd name="T40" fmla="*/ 663 w 954"/>
                  <a:gd name="T41" fmla="*/ 0 h 1027"/>
                  <a:gd name="T42" fmla="*/ 819 w 954"/>
                  <a:gd name="T43" fmla="*/ 0 h 1027"/>
                  <a:gd name="T44" fmla="*/ 948 w 954"/>
                  <a:gd name="T45" fmla="*/ 12 h 1027"/>
                  <a:gd name="T46" fmla="*/ 892 w 954"/>
                  <a:gd name="T47" fmla="*/ 73 h 1027"/>
                  <a:gd name="T48" fmla="*/ 870 w 954"/>
                  <a:gd name="T49" fmla="*/ 104 h 1027"/>
                  <a:gd name="T50" fmla="*/ 737 w 954"/>
                  <a:gd name="T51" fmla="*/ 155 h 1027"/>
                  <a:gd name="T52" fmla="*/ 729 w 954"/>
                  <a:gd name="T53" fmla="*/ 80 h 1027"/>
                  <a:gd name="T54" fmla="*/ 640 w 954"/>
                  <a:gd name="T55" fmla="*/ 59 h 1027"/>
                  <a:gd name="T56" fmla="*/ 665 w 954"/>
                  <a:gd name="T57" fmla="*/ 121 h 1027"/>
                  <a:gd name="T58" fmla="*/ 612 w 954"/>
                  <a:gd name="T59" fmla="*/ 129 h 1027"/>
                  <a:gd name="T60" fmla="*/ 589 w 954"/>
                  <a:gd name="T61" fmla="*/ 107 h 1027"/>
                  <a:gd name="T62" fmla="*/ 502 w 954"/>
                  <a:gd name="T63" fmla="*/ 137 h 1027"/>
                  <a:gd name="T64" fmla="*/ 517 w 954"/>
                  <a:gd name="T65" fmla="*/ 180 h 1027"/>
                  <a:gd name="T66" fmla="*/ 599 w 954"/>
                  <a:gd name="T67" fmla="*/ 136 h 1027"/>
                  <a:gd name="T68" fmla="*/ 662 w 954"/>
                  <a:gd name="T69" fmla="*/ 201 h 1027"/>
                  <a:gd name="T70" fmla="*/ 602 w 954"/>
                  <a:gd name="T71" fmla="*/ 223 h 1027"/>
                  <a:gd name="T72" fmla="*/ 606 w 954"/>
                  <a:gd name="T73" fmla="*/ 263 h 1027"/>
                  <a:gd name="T74" fmla="*/ 495 w 954"/>
                  <a:gd name="T75" fmla="*/ 333 h 1027"/>
                  <a:gd name="T76" fmla="*/ 441 w 954"/>
                  <a:gd name="T77" fmla="*/ 410 h 1027"/>
                  <a:gd name="T78" fmla="*/ 343 w 954"/>
                  <a:gd name="T79" fmla="*/ 394 h 1027"/>
                  <a:gd name="T80" fmla="*/ 366 w 954"/>
                  <a:gd name="T81" fmla="*/ 433 h 1027"/>
                  <a:gd name="T82" fmla="*/ 388 w 954"/>
                  <a:gd name="T83" fmla="*/ 473 h 1027"/>
                  <a:gd name="T84" fmla="*/ 436 w 954"/>
                  <a:gd name="T85" fmla="*/ 517 h 1027"/>
                  <a:gd name="T86" fmla="*/ 560 w 954"/>
                  <a:gd name="T87" fmla="*/ 502 h 1027"/>
                  <a:gd name="T88" fmla="*/ 723 w 954"/>
                  <a:gd name="T89" fmla="*/ 619 h 1027"/>
                  <a:gd name="T90" fmla="*/ 708 w 954"/>
                  <a:gd name="T91" fmla="*/ 765 h 1027"/>
                  <a:gd name="T92" fmla="*/ 618 w 954"/>
                  <a:gd name="T93" fmla="*/ 1009 h 1027"/>
                  <a:gd name="T94" fmla="*/ 398 w 954"/>
                  <a:gd name="T95" fmla="*/ 514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4" h="1027">
                    <a:moveTo>
                      <a:pt x="611" y="1027"/>
                    </a:moveTo>
                    <a:cubicBezTo>
                      <a:pt x="610" y="1027"/>
                      <a:pt x="609" y="1027"/>
                      <a:pt x="608" y="1026"/>
                    </a:cubicBezTo>
                    <a:cubicBezTo>
                      <a:pt x="561" y="1012"/>
                      <a:pt x="561" y="1012"/>
                      <a:pt x="561" y="1012"/>
                    </a:cubicBezTo>
                    <a:cubicBezTo>
                      <a:pt x="559" y="1011"/>
                      <a:pt x="557" y="1010"/>
                      <a:pt x="556" y="1009"/>
                    </a:cubicBezTo>
                    <a:cubicBezTo>
                      <a:pt x="528" y="978"/>
                      <a:pt x="528" y="978"/>
                      <a:pt x="528" y="978"/>
                    </a:cubicBezTo>
                    <a:cubicBezTo>
                      <a:pt x="527" y="977"/>
                      <a:pt x="527" y="976"/>
                      <a:pt x="526" y="974"/>
                    </a:cubicBezTo>
                    <a:cubicBezTo>
                      <a:pt x="507" y="922"/>
                      <a:pt x="507" y="922"/>
                      <a:pt x="507" y="922"/>
                    </a:cubicBezTo>
                    <a:cubicBezTo>
                      <a:pt x="507" y="921"/>
                      <a:pt x="507" y="920"/>
                      <a:pt x="506" y="919"/>
                    </a:cubicBezTo>
                    <a:cubicBezTo>
                      <a:pt x="496" y="753"/>
                      <a:pt x="496" y="753"/>
                      <a:pt x="496" y="753"/>
                    </a:cubicBezTo>
                    <a:cubicBezTo>
                      <a:pt x="450" y="720"/>
                      <a:pt x="450" y="720"/>
                      <a:pt x="450" y="720"/>
                    </a:cubicBezTo>
                    <a:cubicBezTo>
                      <a:pt x="449" y="719"/>
                      <a:pt x="448" y="718"/>
                      <a:pt x="448" y="716"/>
                    </a:cubicBezTo>
                    <a:cubicBezTo>
                      <a:pt x="400" y="627"/>
                      <a:pt x="400" y="627"/>
                      <a:pt x="400" y="627"/>
                    </a:cubicBezTo>
                    <a:cubicBezTo>
                      <a:pt x="398" y="624"/>
                      <a:pt x="398" y="620"/>
                      <a:pt x="400" y="617"/>
                    </a:cubicBezTo>
                    <a:cubicBezTo>
                      <a:pt x="431" y="560"/>
                      <a:pt x="431" y="560"/>
                      <a:pt x="431" y="560"/>
                    </a:cubicBezTo>
                    <a:cubicBezTo>
                      <a:pt x="430" y="553"/>
                      <a:pt x="430" y="553"/>
                      <a:pt x="430" y="553"/>
                    </a:cubicBezTo>
                    <a:cubicBezTo>
                      <a:pt x="429" y="554"/>
                      <a:pt x="429" y="554"/>
                      <a:pt x="429" y="554"/>
                    </a:cubicBezTo>
                    <a:cubicBezTo>
                      <a:pt x="426" y="555"/>
                      <a:pt x="424" y="554"/>
                      <a:pt x="421" y="553"/>
                    </a:cubicBezTo>
                    <a:cubicBezTo>
                      <a:pt x="389" y="537"/>
                      <a:pt x="389" y="537"/>
                      <a:pt x="389" y="537"/>
                    </a:cubicBezTo>
                    <a:cubicBezTo>
                      <a:pt x="387" y="536"/>
                      <a:pt x="385" y="534"/>
                      <a:pt x="384" y="532"/>
                    </a:cubicBezTo>
                    <a:cubicBezTo>
                      <a:pt x="370" y="503"/>
                      <a:pt x="370" y="503"/>
                      <a:pt x="370" y="503"/>
                    </a:cubicBezTo>
                    <a:cubicBezTo>
                      <a:pt x="348" y="500"/>
                      <a:pt x="348" y="500"/>
                      <a:pt x="348" y="500"/>
                    </a:cubicBezTo>
                    <a:cubicBezTo>
                      <a:pt x="346" y="500"/>
                      <a:pt x="345" y="499"/>
                      <a:pt x="344" y="498"/>
                    </a:cubicBezTo>
                    <a:cubicBezTo>
                      <a:pt x="323" y="485"/>
                      <a:pt x="323" y="485"/>
                      <a:pt x="323" y="485"/>
                    </a:cubicBezTo>
                    <a:cubicBezTo>
                      <a:pt x="311" y="488"/>
                      <a:pt x="311" y="488"/>
                      <a:pt x="311" y="488"/>
                    </a:cubicBezTo>
                    <a:cubicBezTo>
                      <a:pt x="309" y="489"/>
                      <a:pt x="306" y="488"/>
                      <a:pt x="304" y="487"/>
                    </a:cubicBezTo>
                    <a:cubicBezTo>
                      <a:pt x="254" y="461"/>
                      <a:pt x="254" y="461"/>
                      <a:pt x="254" y="461"/>
                    </a:cubicBezTo>
                    <a:cubicBezTo>
                      <a:pt x="250" y="459"/>
                      <a:pt x="248" y="456"/>
                      <a:pt x="248" y="452"/>
                    </a:cubicBezTo>
                    <a:cubicBezTo>
                      <a:pt x="247" y="410"/>
                      <a:pt x="247" y="410"/>
                      <a:pt x="247" y="410"/>
                    </a:cubicBezTo>
                    <a:cubicBezTo>
                      <a:pt x="230" y="366"/>
                      <a:pt x="230" y="366"/>
                      <a:pt x="230" y="366"/>
                    </a:cubicBezTo>
                    <a:cubicBezTo>
                      <a:pt x="223" y="368"/>
                      <a:pt x="223" y="368"/>
                      <a:pt x="223" y="368"/>
                    </a:cubicBezTo>
                    <a:cubicBezTo>
                      <a:pt x="242" y="424"/>
                      <a:pt x="242" y="424"/>
                      <a:pt x="242" y="424"/>
                    </a:cubicBezTo>
                    <a:cubicBezTo>
                      <a:pt x="242" y="425"/>
                      <a:pt x="242" y="427"/>
                      <a:pt x="242" y="428"/>
                    </a:cubicBezTo>
                    <a:cubicBezTo>
                      <a:pt x="242" y="434"/>
                      <a:pt x="238" y="438"/>
                      <a:pt x="232" y="438"/>
                    </a:cubicBezTo>
                    <a:cubicBezTo>
                      <a:pt x="228" y="439"/>
                      <a:pt x="224" y="436"/>
                      <a:pt x="223" y="432"/>
                    </a:cubicBezTo>
                    <a:cubicBezTo>
                      <a:pt x="204" y="390"/>
                      <a:pt x="204" y="390"/>
                      <a:pt x="204" y="390"/>
                    </a:cubicBezTo>
                    <a:cubicBezTo>
                      <a:pt x="181" y="348"/>
                      <a:pt x="181" y="348"/>
                      <a:pt x="181" y="348"/>
                    </a:cubicBezTo>
                    <a:cubicBezTo>
                      <a:pt x="180" y="347"/>
                      <a:pt x="180" y="346"/>
                      <a:pt x="179" y="344"/>
                    </a:cubicBezTo>
                    <a:cubicBezTo>
                      <a:pt x="172" y="292"/>
                      <a:pt x="172" y="292"/>
                      <a:pt x="172" y="292"/>
                    </a:cubicBezTo>
                    <a:cubicBezTo>
                      <a:pt x="172" y="289"/>
                      <a:pt x="172" y="287"/>
                      <a:pt x="173" y="285"/>
                    </a:cubicBezTo>
                    <a:cubicBezTo>
                      <a:pt x="202" y="236"/>
                      <a:pt x="202" y="236"/>
                      <a:pt x="202" y="236"/>
                    </a:cubicBezTo>
                    <a:cubicBezTo>
                      <a:pt x="216" y="194"/>
                      <a:pt x="216" y="194"/>
                      <a:pt x="216" y="194"/>
                    </a:cubicBezTo>
                    <a:cubicBezTo>
                      <a:pt x="214" y="173"/>
                      <a:pt x="214" y="173"/>
                      <a:pt x="214" y="173"/>
                    </a:cubicBezTo>
                    <a:cubicBezTo>
                      <a:pt x="178" y="159"/>
                      <a:pt x="178" y="159"/>
                      <a:pt x="178" y="159"/>
                    </a:cubicBezTo>
                    <a:cubicBezTo>
                      <a:pt x="150" y="164"/>
                      <a:pt x="150" y="164"/>
                      <a:pt x="150" y="164"/>
                    </a:cubicBezTo>
                    <a:cubicBezTo>
                      <a:pt x="107" y="184"/>
                      <a:pt x="107" y="184"/>
                      <a:pt x="107" y="184"/>
                    </a:cubicBezTo>
                    <a:cubicBezTo>
                      <a:pt x="106" y="184"/>
                      <a:pt x="106" y="184"/>
                      <a:pt x="106" y="184"/>
                    </a:cubicBezTo>
                    <a:cubicBezTo>
                      <a:pt x="74" y="196"/>
                      <a:pt x="74" y="196"/>
                      <a:pt x="74" y="196"/>
                    </a:cubicBezTo>
                    <a:cubicBezTo>
                      <a:pt x="73" y="196"/>
                      <a:pt x="72" y="196"/>
                      <a:pt x="71" y="196"/>
                    </a:cubicBezTo>
                    <a:cubicBezTo>
                      <a:pt x="11" y="198"/>
                      <a:pt x="11" y="198"/>
                      <a:pt x="11" y="198"/>
                    </a:cubicBezTo>
                    <a:cubicBezTo>
                      <a:pt x="6" y="198"/>
                      <a:pt x="1" y="194"/>
                      <a:pt x="0" y="189"/>
                    </a:cubicBezTo>
                    <a:cubicBezTo>
                      <a:pt x="0" y="183"/>
                      <a:pt x="3" y="179"/>
                      <a:pt x="8" y="177"/>
                    </a:cubicBezTo>
                    <a:cubicBezTo>
                      <a:pt x="75" y="164"/>
                      <a:pt x="75" y="164"/>
                      <a:pt x="75" y="164"/>
                    </a:cubicBezTo>
                    <a:cubicBezTo>
                      <a:pt x="78" y="160"/>
                      <a:pt x="78" y="160"/>
                      <a:pt x="78" y="160"/>
                    </a:cubicBezTo>
                    <a:cubicBezTo>
                      <a:pt x="76" y="158"/>
                      <a:pt x="76" y="158"/>
                      <a:pt x="76" y="158"/>
                    </a:cubicBezTo>
                    <a:cubicBezTo>
                      <a:pt x="73" y="156"/>
                      <a:pt x="71" y="154"/>
                      <a:pt x="71" y="151"/>
                    </a:cubicBezTo>
                    <a:cubicBezTo>
                      <a:pt x="70" y="148"/>
                      <a:pt x="71" y="145"/>
                      <a:pt x="73" y="142"/>
                    </a:cubicBezTo>
                    <a:cubicBezTo>
                      <a:pt x="94" y="120"/>
                      <a:pt x="94" y="120"/>
                      <a:pt x="94" y="120"/>
                    </a:cubicBezTo>
                    <a:cubicBezTo>
                      <a:pt x="95" y="119"/>
                      <a:pt x="97" y="118"/>
                      <a:pt x="99" y="117"/>
                    </a:cubicBezTo>
                    <a:cubicBezTo>
                      <a:pt x="101" y="117"/>
                      <a:pt x="101" y="117"/>
                      <a:pt x="101" y="117"/>
                    </a:cubicBezTo>
                    <a:cubicBezTo>
                      <a:pt x="100" y="116"/>
                      <a:pt x="100" y="114"/>
                      <a:pt x="100" y="112"/>
                    </a:cubicBezTo>
                    <a:cubicBezTo>
                      <a:pt x="100" y="109"/>
                      <a:pt x="102" y="106"/>
                      <a:pt x="105" y="104"/>
                    </a:cubicBezTo>
                    <a:cubicBezTo>
                      <a:pt x="137" y="85"/>
                      <a:pt x="137" y="85"/>
                      <a:pt x="137" y="85"/>
                    </a:cubicBezTo>
                    <a:cubicBezTo>
                      <a:pt x="138" y="84"/>
                      <a:pt x="139" y="84"/>
                      <a:pt x="140" y="84"/>
                    </a:cubicBezTo>
                    <a:cubicBezTo>
                      <a:pt x="213" y="65"/>
                      <a:pt x="213" y="65"/>
                      <a:pt x="213" y="65"/>
                    </a:cubicBezTo>
                    <a:cubicBezTo>
                      <a:pt x="215" y="64"/>
                      <a:pt x="216" y="64"/>
                      <a:pt x="217" y="64"/>
                    </a:cubicBezTo>
                    <a:cubicBezTo>
                      <a:pt x="309" y="76"/>
                      <a:pt x="309" y="76"/>
                      <a:pt x="309" y="76"/>
                    </a:cubicBezTo>
                    <a:cubicBezTo>
                      <a:pt x="380" y="82"/>
                      <a:pt x="380" y="82"/>
                      <a:pt x="380" y="82"/>
                    </a:cubicBezTo>
                    <a:cubicBezTo>
                      <a:pt x="379" y="79"/>
                      <a:pt x="379" y="79"/>
                      <a:pt x="379" y="79"/>
                    </a:cubicBezTo>
                    <a:cubicBezTo>
                      <a:pt x="377" y="77"/>
                      <a:pt x="377" y="74"/>
                      <a:pt x="378" y="71"/>
                    </a:cubicBezTo>
                    <a:cubicBezTo>
                      <a:pt x="379" y="69"/>
                      <a:pt x="381" y="66"/>
                      <a:pt x="383" y="65"/>
                    </a:cubicBezTo>
                    <a:cubicBezTo>
                      <a:pt x="393" y="61"/>
                      <a:pt x="423" y="48"/>
                      <a:pt x="436" y="48"/>
                    </a:cubicBezTo>
                    <a:cubicBezTo>
                      <a:pt x="502" y="48"/>
                      <a:pt x="502" y="48"/>
                      <a:pt x="502" y="48"/>
                    </a:cubicBezTo>
                    <a:cubicBezTo>
                      <a:pt x="510" y="48"/>
                      <a:pt x="529" y="53"/>
                      <a:pt x="533" y="54"/>
                    </a:cubicBezTo>
                    <a:cubicBezTo>
                      <a:pt x="536" y="55"/>
                      <a:pt x="538" y="57"/>
                      <a:pt x="539" y="60"/>
                    </a:cubicBezTo>
                    <a:cubicBezTo>
                      <a:pt x="540" y="61"/>
                      <a:pt x="543" y="68"/>
                      <a:pt x="545" y="75"/>
                    </a:cubicBezTo>
                    <a:cubicBezTo>
                      <a:pt x="548" y="74"/>
                      <a:pt x="550" y="72"/>
                      <a:pt x="553" y="71"/>
                    </a:cubicBezTo>
                    <a:cubicBezTo>
                      <a:pt x="580" y="44"/>
                      <a:pt x="580" y="44"/>
                      <a:pt x="580" y="44"/>
                    </a:cubicBezTo>
                    <a:cubicBezTo>
                      <a:pt x="581" y="43"/>
                      <a:pt x="582" y="42"/>
                      <a:pt x="583" y="42"/>
                    </a:cubicBezTo>
                    <a:cubicBezTo>
                      <a:pt x="609" y="31"/>
                      <a:pt x="609" y="31"/>
                      <a:pt x="609" y="31"/>
                    </a:cubicBezTo>
                    <a:cubicBezTo>
                      <a:pt x="603" y="27"/>
                      <a:pt x="603" y="27"/>
                      <a:pt x="603" y="27"/>
                    </a:cubicBezTo>
                    <a:cubicBezTo>
                      <a:pt x="600" y="25"/>
                      <a:pt x="598" y="21"/>
                      <a:pt x="599" y="17"/>
                    </a:cubicBezTo>
                    <a:cubicBezTo>
                      <a:pt x="600" y="13"/>
                      <a:pt x="603" y="9"/>
                      <a:pt x="607" y="9"/>
                    </a:cubicBezTo>
                    <a:cubicBezTo>
                      <a:pt x="662" y="0"/>
                      <a:pt x="662" y="0"/>
                      <a:pt x="662" y="0"/>
                    </a:cubicBezTo>
                    <a:cubicBezTo>
                      <a:pt x="662" y="0"/>
                      <a:pt x="663" y="0"/>
                      <a:pt x="663" y="0"/>
                    </a:cubicBezTo>
                    <a:cubicBezTo>
                      <a:pt x="732" y="0"/>
                      <a:pt x="732" y="0"/>
                      <a:pt x="732" y="0"/>
                    </a:cubicBezTo>
                    <a:cubicBezTo>
                      <a:pt x="737" y="0"/>
                      <a:pt x="741" y="3"/>
                      <a:pt x="742" y="7"/>
                    </a:cubicBezTo>
                    <a:cubicBezTo>
                      <a:pt x="742" y="7"/>
                      <a:pt x="742" y="8"/>
                      <a:pt x="743" y="8"/>
                    </a:cubicBezTo>
                    <a:cubicBezTo>
                      <a:pt x="819" y="0"/>
                      <a:pt x="819" y="0"/>
                      <a:pt x="819" y="0"/>
                    </a:cubicBezTo>
                    <a:cubicBezTo>
                      <a:pt x="820" y="0"/>
                      <a:pt x="820" y="0"/>
                      <a:pt x="820" y="0"/>
                    </a:cubicBezTo>
                    <a:cubicBezTo>
                      <a:pt x="919" y="0"/>
                      <a:pt x="919" y="0"/>
                      <a:pt x="919" y="0"/>
                    </a:cubicBezTo>
                    <a:cubicBezTo>
                      <a:pt x="920" y="0"/>
                      <a:pt x="922" y="0"/>
                      <a:pt x="923" y="1"/>
                    </a:cubicBezTo>
                    <a:cubicBezTo>
                      <a:pt x="948" y="12"/>
                      <a:pt x="948" y="12"/>
                      <a:pt x="948" y="12"/>
                    </a:cubicBezTo>
                    <a:cubicBezTo>
                      <a:pt x="952" y="14"/>
                      <a:pt x="954" y="18"/>
                      <a:pt x="954" y="22"/>
                    </a:cubicBezTo>
                    <a:cubicBezTo>
                      <a:pt x="954" y="27"/>
                      <a:pt x="951" y="30"/>
                      <a:pt x="947" y="32"/>
                    </a:cubicBezTo>
                    <a:cubicBezTo>
                      <a:pt x="934" y="36"/>
                      <a:pt x="918" y="42"/>
                      <a:pt x="914" y="44"/>
                    </a:cubicBezTo>
                    <a:cubicBezTo>
                      <a:pt x="911" y="47"/>
                      <a:pt x="901" y="61"/>
                      <a:pt x="892" y="73"/>
                    </a:cubicBezTo>
                    <a:cubicBezTo>
                      <a:pt x="892" y="82"/>
                      <a:pt x="892" y="82"/>
                      <a:pt x="892" y="82"/>
                    </a:cubicBezTo>
                    <a:cubicBezTo>
                      <a:pt x="892" y="85"/>
                      <a:pt x="891" y="88"/>
                      <a:pt x="888" y="90"/>
                    </a:cubicBezTo>
                    <a:cubicBezTo>
                      <a:pt x="874" y="102"/>
                      <a:pt x="874" y="102"/>
                      <a:pt x="874" y="102"/>
                    </a:cubicBezTo>
                    <a:cubicBezTo>
                      <a:pt x="873" y="103"/>
                      <a:pt x="871" y="103"/>
                      <a:pt x="870" y="104"/>
                    </a:cubicBezTo>
                    <a:cubicBezTo>
                      <a:pt x="797" y="122"/>
                      <a:pt x="797" y="122"/>
                      <a:pt x="797" y="122"/>
                    </a:cubicBezTo>
                    <a:cubicBezTo>
                      <a:pt x="778" y="136"/>
                      <a:pt x="778" y="136"/>
                      <a:pt x="778" y="136"/>
                    </a:cubicBezTo>
                    <a:cubicBezTo>
                      <a:pt x="750" y="156"/>
                      <a:pt x="750" y="156"/>
                      <a:pt x="750" y="156"/>
                    </a:cubicBezTo>
                    <a:cubicBezTo>
                      <a:pt x="746" y="159"/>
                      <a:pt x="740" y="159"/>
                      <a:pt x="737" y="155"/>
                    </a:cubicBezTo>
                    <a:cubicBezTo>
                      <a:pt x="713" y="131"/>
                      <a:pt x="712" y="127"/>
                      <a:pt x="711" y="125"/>
                    </a:cubicBezTo>
                    <a:cubicBezTo>
                      <a:pt x="710" y="122"/>
                      <a:pt x="708" y="117"/>
                      <a:pt x="717" y="92"/>
                    </a:cubicBezTo>
                    <a:cubicBezTo>
                      <a:pt x="717" y="90"/>
                      <a:pt x="719" y="88"/>
                      <a:pt x="720" y="87"/>
                    </a:cubicBezTo>
                    <a:cubicBezTo>
                      <a:pt x="729" y="80"/>
                      <a:pt x="729" y="80"/>
                      <a:pt x="729" y="80"/>
                    </a:cubicBezTo>
                    <a:cubicBezTo>
                      <a:pt x="714" y="61"/>
                      <a:pt x="714" y="61"/>
                      <a:pt x="714" y="61"/>
                    </a:cubicBezTo>
                    <a:cubicBezTo>
                      <a:pt x="683" y="47"/>
                      <a:pt x="683" y="47"/>
                      <a:pt x="683" y="47"/>
                    </a:cubicBezTo>
                    <a:cubicBezTo>
                      <a:pt x="637" y="56"/>
                      <a:pt x="637" y="56"/>
                      <a:pt x="637" y="56"/>
                    </a:cubicBezTo>
                    <a:cubicBezTo>
                      <a:pt x="640" y="59"/>
                      <a:pt x="640" y="59"/>
                      <a:pt x="640" y="59"/>
                    </a:cubicBezTo>
                    <a:cubicBezTo>
                      <a:pt x="666" y="74"/>
                      <a:pt x="666" y="74"/>
                      <a:pt x="666" y="74"/>
                    </a:cubicBezTo>
                    <a:cubicBezTo>
                      <a:pt x="668" y="76"/>
                      <a:pt x="670" y="79"/>
                      <a:pt x="671" y="82"/>
                    </a:cubicBezTo>
                    <a:cubicBezTo>
                      <a:pt x="674" y="110"/>
                      <a:pt x="674" y="110"/>
                      <a:pt x="674" y="110"/>
                    </a:cubicBezTo>
                    <a:cubicBezTo>
                      <a:pt x="674" y="116"/>
                      <a:pt x="670" y="121"/>
                      <a:pt x="665" y="121"/>
                    </a:cubicBezTo>
                    <a:cubicBezTo>
                      <a:pt x="645" y="124"/>
                      <a:pt x="645" y="124"/>
                      <a:pt x="645" y="124"/>
                    </a:cubicBezTo>
                    <a:cubicBezTo>
                      <a:pt x="641" y="128"/>
                      <a:pt x="641" y="128"/>
                      <a:pt x="641" y="128"/>
                    </a:cubicBezTo>
                    <a:cubicBezTo>
                      <a:pt x="639" y="131"/>
                      <a:pt x="636" y="132"/>
                      <a:pt x="632" y="132"/>
                    </a:cubicBezTo>
                    <a:cubicBezTo>
                      <a:pt x="612" y="129"/>
                      <a:pt x="612" y="129"/>
                      <a:pt x="612" y="129"/>
                    </a:cubicBezTo>
                    <a:cubicBezTo>
                      <a:pt x="611" y="129"/>
                      <a:pt x="609" y="128"/>
                      <a:pt x="608" y="128"/>
                    </a:cubicBezTo>
                    <a:cubicBezTo>
                      <a:pt x="603" y="125"/>
                      <a:pt x="603" y="125"/>
                      <a:pt x="603" y="125"/>
                    </a:cubicBezTo>
                    <a:cubicBezTo>
                      <a:pt x="601" y="124"/>
                      <a:pt x="600" y="123"/>
                      <a:pt x="599" y="121"/>
                    </a:cubicBezTo>
                    <a:cubicBezTo>
                      <a:pt x="589" y="107"/>
                      <a:pt x="589" y="107"/>
                      <a:pt x="589" y="107"/>
                    </a:cubicBezTo>
                    <a:cubicBezTo>
                      <a:pt x="558" y="107"/>
                      <a:pt x="558" y="107"/>
                      <a:pt x="558" y="107"/>
                    </a:cubicBezTo>
                    <a:cubicBezTo>
                      <a:pt x="555" y="125"/>
                      <a:pt x="555" y="125"/>
                      <a:pt x="555" y="125"/>
                    </a:cubicBezTo>
                    <a:cubicBezTo>
                      <a:pt x="554" y="130"/>
                      <a:pt x="551" y="133"/>
                      <a:pt x="546" y="134"/>
                    </a:cubicBezTo>
                    <a:cubicBezTo>
                      <a:pt x="502" y="137"/>
                      <a:pt x="502" y="137"/>
                      <a:pt x="502" y="137"/>
                    </a:cubicBezTo>
                    <a:cubicBezTo>
                      <a:pt x="478" y="161"/>
                      <a:pt x="478" y="161"/>
                      <a:pt x="478" y="161"/>
                    </a:cubicBezTo>
                    <a:cubicBezTo>
                      <a:pt x="510" y="172"/>
                      <a:pt x="510" y="172"/>
                      <a:pt x="510" y="172"/>
                    </a:cubicBezTo>
                    <a:cubicBezTo>
                      <a:pt x="513" y="173"/>
                      <a:pt x="515" y="175"/>
                      <a:pt x="516" y="178"/>
                    </a:cubicBezTo>
                    <a:cubicBezTo>
                      <a:pt x="516" y="179"/>
                      <a:pt x="517" y="179"/>
                      <a:pt x="517" y="180"/>
                    </a:cubicBezTo>
                    <a:cubicBezTo>
                      <a:pt x="534" y="177"/>
                      <a:pt x="534" y="177"/>
                      <a:pt x="534" y="177"/>
                    </a:cubicBezTo>
                    <a:cubicBezTo>
                      <a:pt x="545" y="143"/>
                      <a:pt x="545" y="143"/>
                      <a:pt x="545" y="143"/>
                    </a:cubicBezTo>
                    <a:cubicBezTo>
                      <a:pt x="547" y="139"/>
                      <a:pt x="550" y="136"/>
                      <a:pt x="555" y="136"/>
                    </a:cubicBezTo>
                    <a:cubicBezTo>
                      <a:pt x="599" y="136"/>
                      <a:pt x="599" y="136"/>
                      <a:pt x="599" y="136"/>
                    </a:cubicBezTo>
                    <a:cubicBezTo>
                      <a:pt x="602" y="136"/>
                      <a:pt x="605" y="138"/>
                      <a:pt x="607" y="140"/>
                    </a:cubicBezTo>
                    <a:cubicBezTo>
                      <a:pt x="618" y="154"/>
                      <a:pt x="618" y="154"/>
                      <a:pt x="618" y="154"/>
                    </a:cubicBezTo>
                    <a:cubicBezTo>
                      <a:pt x="659" y="193"/>
                      <a:pt x="659" y="193"/>
                      <a:pt x="659" y="193"/>
                    </a:cubicBezTo>
                    <a:cubicBezTo>
                      <a:pt x="661" y="195"/>
                      <a:pt x="662" y="198"/>
                      <a:pt x="662" y="201"/>
                    </a:cubicBezTo>
                    <a:cubicBezTo>
                      <a:pt x="662" y="204"/>
                      <a:pt x="660" y="207"/>
                      <a:pt x="658" y="209"/>
                    </a:cubicBezTo>
                    <a:cubicBezTo>
                      <a:pt x="642" y="221"/>
                      <a:pt x="642" y="221"/>
                      <a:pt x="642" y="221"/>
                    </a:cubicBezTo>
                    <a:cubicBezTo>
                      <a:pt x="640" y="222"/>
                      <a:pt x="638" y="223"/>
                      <a:pt x="636" y="223"/>
                    </a:cubicBezTo>
                    <a:cubicBezTo>
                      <a:pt x="602" y="223"/>
                      <a:pt x="602" y="223"/>
                      <a:pt x="602" y="223"/>
                    </a:cubicBezTo>
                    <a:cubicBezTo>
                      <a:pt x="599" y="225"/>
                      <a:pt x="599" y="225"/>
                      <a:pt x="599" y="225"/>
                    </a:cubicBezTo>
                    <a:cubicBezTo>
                      <a:pt x="608" y="235"/>
                      <a:pt x="608" y="235"/>
                      <a:pt x="608" y="235"/>
                    </a:cubicBezTo>
                    <a:cubicBezTo>
                      <a:pt x="610" y="238"/>
                      <a:pt x="611" y="241"/>
                      <a:pt x="610" y="244"/>
                    </a:cubicBezTo>
                    <a:cubicBezTo>
                      <a:pt x="606" y="263"/>
                      <a:pt x="606" y="263"/>
                      <a:pt x="606" y="263"/>
                    </a:cubicBezTo>
                    <a:cubicBezTo>
                      <a:pt x="605" y="268"/>
                      <a:pt x="601" y="271"/>
                      <a:pt x="596" y="271"/>
                    </a:cubicBezTo>
                    <a:cubicBezTo>
                      <a:pt x="565" y="271"/>
                      <a:pt x="565" y="271"/>
                      <a:pt x="565" y="271"/>
                    </a:cubicBezTo>
                    <a:cubicBezTo>
                      <a:pt x="497" y="314"/>
                      <a:pt x="497" y="314"/>
                      <a:pt x="497" y="314"/>
                    </a:cubicBezTo>
                    <a:cubicBezTo>
                      <a:pt x="495" y="333"/>
                      <a:pt x="495" y="333"/>
                      <a:pt x="495" y="333"/>
                    </a:cubicBezTo>
                    <a:cubicBezTo>
                      <a:pt x="494" y="335"/>
                      <a:pt x="493" y="338"/>
                      <a:pt x="491" y="339"/>
                    </a:cubicBezTo>
                    <a:cubicBezTo>
                      <a:pt x="455" y="369"/>
                      <a:pt x="455" y="369"/>
                      <a:pt x="455" y="369"/>
                    </a:cubicBezTo>
                    <a:cubicBezTo>
                      <a:pt x="451" y="401"/>
                      <a:pt x="451" y="401"/>
                      <a:pt x="451" y="401"/>
                    </a:cubicBezTo>
                    <a:cubicBezTo>
                      <a:pt x="450" y="406"/>
                      <a:pt x="446" y="410"/>
                      <a:pt x="441" y="410"/>
                    </a:cubicBezTo>
                    <a:cubicBezTo>
                      <a:pt x="427" y="412"/>
                      <a:pt x="427" y="412"/>
                      <a:pt x="427" y="412"/>
                    </a:cubicBezTo>
                    <a:cubicBezTo>
                      <a:pt x="422" y="412"/>
                      <a:pt x="418" y="410"/>
                      <a:pt x="416" y="406"/>
                    </a:cubicBezTo>
                    <a:cubicBezTo>
                      <a:pt x="403" y="376"/>
                      <a:pt x="403" y="376"/>
                      <a:pt x="403" y="376"/>
                    </a:cubicBezTo>
                    <a:cubicBezTo>
                      <a:pt x="343" y="394"/>
                      <a:pt x="343" y="394"/>
                      <a:pt x="343" y="394"/>
                    </a:cubicBezTo>
                    <a:cubicBezTo>
                      <a:pt x="331" y="436"/>
                      <a:pt x="331" y="436"/>
                      <a:pt x="331" y="436"/>
                    </a:cubicBezTo>
                    <a:cubicBezTo>
                      <a:pt x="339" y="439"/>
                      <a:pt x="347" y="442"/>
                      <a:pt x="351" y="443"/>
                    </a:cubicBezTo>
                    <a:cubicBezTo>
                      <a:pt x="353" y="441"/>
                      <a:pt x="356" y="438"/>
                      <a:pt x="358" y="436"/>
                    </a:cubicBezTo>
                    <a:cubicBezTo>
                      <a:pt x="360" y="434"/>
                      <a:pt x="363" y="433"/>
                      <a:pt x="366" y="433"/>
                    </a:cubicBezTo>
                    <a:cubicBezTo>
                      <a:pt x="388" y="433"/>
                      <a:pt x="388" y="433"/>
                      <a:pt x="388" y="433"/>
                    </a:cubicBezTo>
                    <a:cubicBezTo>
                      <a:pt x="391" y="433"/>
                      <a:pt x="394" y="434"/>
                      <a:pt x="396" y="437"/>
                    </a:cubicBezTo>
                    <a:cubicBezTo>
                      <a:pt x="398" y="440"/>
                      <a:pt x="398" y="443"/>
                      <a:pt x="397" y="446"/>
                    </a:cubicBezTo>
                    <a:cubicBezTo>
                      <a:pt x="388" y="473"/>
                      <a:pt x="388" y="473"/>
                      <a:pt x="388" y="473"/>
                    </a:cubicBezTo>
                    <a:cubicBezTo>
                      <a:pt x="412" y="480"/>
                      <a:pt x="412" y="480"/>
                      <a:pt x="412" y="480"/>
                    </a:cubicBezTo>
                    <a:cubicBezTo>
                      <a:pt x="416" y="481"/>
                      <a:pt x="419" y="485"/>
                      <a:pt x="419" y="490"/>
                    </a:cubicBezTo>
                    <a:cubicBezTo>
                      <a:pt x="419" y="511"/>
                      <a:pt x="419" y="511"/>
                      <a:pt x="419" y="511"/>
                    </a:cubicBezTo>
                    <a:cubicBezTo>
                      <a:pt x="436" y="517"/>
                      <a:pt x="436" y="517"/>
                      <a:pt x="436" y="517"/>
                    </a:cubicBezTo>
                    <a:cubicBezTo>
                      <a:pt x="462" y="502"/>
                      <a:pt x="462" y="502"/>
                      <a:pt x="462" y="502"/>
                    </a:cubicBezTo>
                    <a:cubicBezTo>
                      <a:pt x="463" y="501"/>
                      <a:pt x="465" y="500"/>
                      <a:pt x="467" y="500"/>
                    </a:cubicBezTo>
                    <a:cubicBezTo>
                      <a:pt x="553" y="500"/>
                      <a:pt x="553" y="500"/>
                      <a:pt x="553" y="500"/>
                    </a:cubicBezTo>
                    <a:cubicBezTo>
                      <a:pt x="556" y="500"/>
                      <a:pt x="558" y="501"/>
                      <a:pt x="560" y="502"/>
                    </a:cubicBezTo>
                    <a:cubicBezTo>
                      <a:pt x="632" y="561"/>
                      <a:pt x="632" y="561"/>
                      <a:pt x="632" y="561"/>
                    </a:cubicBezTo>
                    <a:cubicBezTo>
                      <a:pt x="634" y="563"/>
                      <a:pt x="636" y="566"/>
                      <a:pt x="636" y="569"/>
                    </a:cubicBezTo>
                    <a:cubicBezTo>
                      <a:pt x="636" y="578"/>
                      <a:pt x="635" y="588"/>
                      <a:pt x="634" y="596"/>
                    </a:cubicBezTo>
                    <a:cubicBezTo>
                      <a:pt x="648" y="602"/>
                      <a:pt x="688" y="612"/>
                      <a:pt x="723" y="619"/>
                    </a:cubicBezTo>
                    <a:cubicBezTo>
                      <a:pt x="726" y="620"/>
                      <a:pt x="729" y="622"/>
                      <a:pt x="730" y="625"/>
                    </a:cubicBezTo>
                    <a:cubicBezTo>
                      <a:pt x="745" y="660"/>
                      <a:pt x="745" y="660"/>
                      <a:pt x="745" y="660"/>
                    </a:cubicBezTo>
                    <a:cubicBezTo>
                      <a:pt x="746" y="663"/>
                      <a:pt x="746" y="666"/>
                      <a:pt x="745" y="668"/>
                    </a:cubicBezTo>
                    <a:cubicBezTo>
                      <a:pt x="708" y="765"/>
                      <a:pt x="708" y="765"/>
                      <a:pt x="708" y="765"/>
                    </a:cubicBezTo>
                    <a:cubicBezTo>
                      <a:pt x="708" y="766"/>
                      <a:pt x="707" y="767"/>
                      <a:pt x="707" y="768"/>
                    </a:cubicBezTo>
                    <a:cubicBezTo>
                      <a:pt x="589" y="916"/>
                      <a:pt x="589" y="916"/>
                      <a:pt x="589" y="916"/>
                    </a:cubicBezTo>
                    <a:cubicBezTo>
                      <a:pt x="589" y="980"/>
                      <a:pt x="589" y="980"/>
                      <a:pt x="589" y="980"/>
                    </a:cubicBezTo>
                    <a:cubicBezTo>
                      <a:pt x="618" y="1009"/>
                      <a:pt x="618" y="1009"/>
                      <a:pt x="618" y="1009"/>
                    </a:cubicBezTo>
                    <a:cubicBezTo>
                      <a:pt x="621" y="1013"/>
                      <a:pt x="622" y="1018"/>
                      <a:pt x="619" y="1022"/>
                    </a:cubicBezTo>
                    <a:cubicBezTo>
                      <a:pt x="617" y="1025"/>
                      <a:pt x="614" y="1027"/>
                      <a:pt x="611" y="1027"/>
                    </a:cubicBezTo>
                    <a:moveTo>
                      <a:pt x="389" y="495"/>
                    </a:moveTo>
                    <a:cubicBezTo>
                      <a:pt x="398" y="514"/>
                      <a:pt x="398" y="514"/>
                      <a:pt x="398" y="514"/>
                    </a:cubicBezTo>
                    <a:cubicBezTo>
                      <a:pt x="398" y="497"/>
                      <a:pt x="398" y="497"/>
                      <a:pt x="398" y="497"/>
                    </a:cubicBezTo>
                    <a:cubicBezTo>
                      <a:pt x="389" y="495"/>
                      <a:pt x="389" y="495"/>
                      <a:pt x="389" y="49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348DDF8E-2E66-4852-AAE0-88B44DE65063}"/>
                  </a:ext>
                </a:extLst>
              </p:cNvPr>
              <p:cNvSpPr>
                <a:spLocks noEditPoints="1"/>
              </p:cNvSpPr>
              <p:nvPr/>
            </p:nvSpPr>
            <p:spPr bwMode="auto">
              <a:xfrm>
                <a:off x="1796859" y="4902379"/>
                <a:ext cx="1566923" cy="1125121"/>
              </a:xfrm>
              <a:custGeom>
                <a:avLst/>
                <a:gdLst>
                  <a:gd name="T0" fmla="*/ 235 w 1153"/>
                  <a:gd name="T1" fmla="*/ 777 h 829"/>
                  <a:gd name="T2" fmla="*/ 208 w 1153"/>
                  <a:gd name="T3" fmla="*/ 607 h 829"/>
                  <a:gd name="T4" fmla="*/ 184 w 1153"/>
                  <a:gd name="T5" fmla="*/ 536 h 829"/>
                  <a:gd name="T6" fmla="*/ 111 w 1153"/>
                  <a:gd name="T7" fmla="*/ 535 h 829"/>
                  <a:gd name="T8" fmla="*/ 3 w 1153"/>
                  <a:gd name="T9" fmla="*/ 457 h 829"/>
                  <a:gd name="T10" fmla="*/ 3 w 1153"/>
                  <a:gd name="T11" fmla="*/ 389 h 829"/>
                  <a:gd name="T12" fmla="*/ 146 w 1153"/>
                  <a:gd name="T13" fmla="*/ 282 h 829"/>
                  <a:gd name="T14" fmla="*/ 212 w 1153"/>
                  <a:gd name="T15" fmla="*/ 307 h 829"/>
                  <a:gd name="T16" fmla="*/ 302 w 1153"/>
                  <a:gd name="T17" fmla="*/ 311 h 829"/>
                  <a:gd name="T18" fmla="*/ 340 w 1153"/>
                  <a:gd name="T19" fmla="*/ 299 h 829"/>
                  <a:gd name="T20" fmla="*/ 297 w 1153"/>
                  <a:gd name="T21" fmla="*/ 284 h 829"/>
                  <a:gd name="T22" fmla="*/ 263 w 1153"/>
                  <a:gd name="T23" fmla="*/ 281 h 829"/>
                  <a:gd name="T24" fmla="*/ 218 w 1153"/>
                  <a:gd name="T25" fmla="*/ 227 h 829"/>
                  <a:gd name="T26" fmla="*/ 228 w 1153"/>
                  <a:gd name="T27" fmla="*/ 291 h 829"/>
                  <a:gd name="T28" fmla="*/ 150 w 1153"/>
                  <a:gd name="T29" fmla="*/ 248 h 829"/>
                  <a:gd name="T30" fmla="*/ 78 w 1153"/>
                  <a:gd name="T31" fmla="*/ 290 h 829"/>
                  <a:gd name="T32" fmla="*/ 83 w 1153"/>
                  <a:gd name="T33" fmla="*/ 225 h 829"/>
                  <a:gd name="T34" fmla="*/ 103 w 1153"/>
                  <a:gd name="T35" fmla="*/ 203 h 829"/>
                  <a:gd name="T36" fmla="*/ 110 w 1153"/>
                  <a:gd name="T37" fmla="*/ 162 h 829"/>
                  <a:gd name="T38" fmla="*/ 114 w 1153"/>
                  <a:gd name="T39" fmla="*/ 122 h 829"/>
                  <a:gd name="T40" fmla="*/ 169 w 1153"/>
                  <a:gd name="T41" fmla="*/ 150 h 829"/>
                  <a:gd name="T42" fmla="*/ 280 w 1153"/>
                  <a:gd name="T43" fmla="*/ 120 h 829"/>
                  <a:gd name="T44" fmla="*/ 233 w 1153"/>
                  <a:gd name="T45" fmla="*/ 132 h 829"/>
                  <a:gd name="T46" fmla="*/ 202 w 1153"/>
                  <a:gd name="T47" fmla="*/ 134 h 829"/>
                  <a:gd name="T48" fmla="*/ 169 w 1153"/>
                  <a:gd name="T49" fmla="*/ 99 h 829"/>
                  <a:gd name="T50" fmla="*/ 279 w 1153"/>
                  <a:gd name="T51" fmla="*/ 30 h 829"/>
                  <a:gd name="T52" fmla="*/ 355 w 1153"/>
                  <a:gd name="T53" fmla="*/ 54 h 829"/>
                  <a:gd name="T54" fmla="*/ 359 w 1153"/>
                  <a:gd name="T55" fmla="*/ 60 h 829"/>
                  <a:gd name="T56" fmla="*/ 448 w 1153"/>
                  <a:gd name="T57" fmla="*/ 43 h 829"/>
                  <a:gd name="T58" fmla="*/ 508 w 1153"/>
                  <a:gd name="T59" fmla="*/ 13 h 829"/>
                  <a:gd name="T60" fmla="*/ 681 w 1153"/>
                  <a:gd name="T61" fmla="*/ 0 h 829"/>
                  <a:gd name="T62" fmla="*/ 854 w 1153"/>
                  <a:gd name="T63" fmla="*/ 24 h 829"/>
                  <a:gd name="T64" fmla="*/ 1152 w 1153"/>
                  <a:gd name="T65" fmla="*/ 75 h 829"/>
                  <a:gd name="T66" fmla="*/ 1115 w 1153"/>
                  <a:gd name="T67" fmla="*/ 102 h 829"/>
                  <a:gd name="T68" fmla="*/ 1091 w 1153"/>
                  <a:gd name="T69" fmla="*/ 161 h 829"/>
                  <a:gd name="T70" fmla="*/ 1033 w 1153"/>
                  <a:gd name="T71" fmla="*/ 139 h 829"/>
                  <a:gd name="T72" fmla="*/ 1001 w 1153"/>
                  <a:gd name="T73" fmla="*/ 128 h 829"/>
                  <a:gd name="T74" fmla="*/ 978 w 1153"/>
                  <a:gd name="T75" fmla="*/ 156 h 829"/>
                  <a:gd name="T76" fmla="*/ 995 w 1153"/>
                  <a:gd name="T77" fmla="*/ 214 h 829"/>
                  <a:gd name="T78" fmla="*/ 996 w 1153"/>
                  <a:gd name="T79" fmla="*/ 274 h 829"/>
                  <a:gd name="T80" fmla="*/ 969 w 1153"/>
                  <a:gd name="T81" fmla="*/ 307 h 829"/>
                  <a:gd name="T82" fmla="*/ 913 w 1153"/>
                  <a:gd name="T83" fmla="*/ 269 h 829"/>
                  <a:gd name="T84" fmla="*/ 936 w 1153"/>
                  <a:gd name="T85" fmla="*/ 288 h 829"/>
                  <a:gd name="T86" fmla="*/ 951 w 1153"/>
                  <a:gd name="T87" fmla="*/ 378 h 829"/>
                  <a:gd name="T88" fmla="*/ 865 w 1153"/>
                  <a:gd name="T89" fmla="*/ 416 h 829"/>
                  <a:gd name="T90" fmla="*/ 891 w 1153"/>
                  <a:gd name="T91" fmla="*/ 468 h 829"/>
                  <a:gd name="T92" fmla="*/ 848 w 1153"/>
                  <a:gd name="T93" fmla="*/ 507 h 829"/>
                  <a:gd name="T94" fmla="*/ 849 w 1153"/>
                  <a:gd name="T95" fmla="*/ 552 h 829"/>
                  <a:gd name="T96" fmla="*/ 805 w 1153"/>
                  <a:gd name="T97" fmla="*/ 486 h 829"/>
                  <a:gd name="T98" fmla="*/ 768 w 1153"/>
                  <a:gd name="T99" fmla="*/ 424 h 829"/>
                  <a:gd name="T100" fmla="*/ 708 w 1153"/>
                  <a:gd name="T101" fmla="*/ 441 h 829"/>
                  <a:gd name="T102" fmla="*/ 700 w 1153"/>
                  <a:gd name="T103" fmla="*/ 462 h 829"/>
                  <a:gd name="T104" fmla="*/ 652 w 1153"/>
                  <a:gd name="T105" fmla="*/ 499 h 829"/>
                  <a:gd name="T106" fmla="*/ 602 w 1153"/>
                  <a:gd name="T107" fmla="*/ 408 h 829"/>
                  <a:gd name="T108" fmla="*/ 469 w 1153"/>
                  <a:gd name="T109" fmla="*/ 346 h 829"/>
                  <a:gd name="T110" fmla="*/ 512 w 1153"/>
                  <a:gd name="T111" fmla="*/ 373 h 829"/>
                  <a:gd name="T112" fmla="*/ 510 w 1153"/>
                  <a:gd name="T113" fmla="*/ 442 h 829"/>
                  <a:gd name="T114" fmla="*/ 379 w 1153"/>
                  <a:gd name="T115" fmla="*/ 362 h 829"/>
                  <a:gd name="T116" fmla="*/ 496 w 1153"/>
                  <a:gd name="T117" fmla="*/ 460 h 829"/>
                  <a:gd name="T118" fmla="*/ 480 w 1153"/>
                  <a:gd name="T119" fmla="*/ 539 h 829"/>
                  <a:gd name="T120" fmla="*/ 420 w 1153"/>
                  <a:gd name="T121" fmla="*/ 631 h 829"/>
                  <a:gd name="T122" fmla="*/ 394 w 1153"/>
                  <a:gd name="T123" fmla="*/ 729 h 829"/>
                  <a:gd name="T124" fmla="*/ 1054 w 1153"/>
                  <a:gd name="T125" fmla="*/ 135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3" h="829">
                    <a:moveTo>
                      <a:pt x="306" y="829"/>
                    </a:moveTo>
                    <a:cubicBezTo>
                      <a:pt x="266" y="829"/>
                      <a:pt x="266" y="829"/>
                      <a:pt x="266" y="829"/>
                    </a:cubicBezTo>
                    <a:cubicBezTo>
                      <a:pt x="262" y="829"/>
                      <a:pt x="258" y="827"/>
                      <a:pt x="257" y="823"/>
                    </a:cubicBezTo>
                    <a:cubicBezTo>
                      <a:pt x="235" y="777"/>
                      <a:pt x="235" y="777"/>
                      <a:pt x="235" y="777"/>
                    </a:cubicBezTo>
                    <a:cubicBezTo>
                      <a:pt x="234" y="776"/>
                      <a:pt x="234" y="776"/>
                      <a:pt x="234" y="776"/>
                    </a:cubicBezTo>
                    <a:cubicBezTo>
                      <a:pt x="204" y="699"/>
                      <a:pt x="205" y="695"/>
                      <a:pt x="206" y="691"/>
                    </a:cubicBezTo>
                    <a:cubicBezTo>
                      <a:pt x="208" y="687"/>
                      <a:pt x="217" y="661"/>
                      <a:pt x="220" y="651"/>
                    </a:cubicBezTo>
                    <a:cubicBezTo>
                      <a:pt x="208" y="607"/>
                      <a:pt x="208" y="607"/>
                      <a:pt x="208" y="607"/>
                    </a:cubicBezTo>
                    <a:cubicBezTo>
                      <a:pt x="191" y="578"/>
                      <a:pt x="191" y="578"/>
                      <a:pt x="191" y="578"/>
                    </a:cubicBezTo>
                    <a:cubicBezTo>
                      <a:pt x="190" y="576"/>
                      <a:pt x="190" y="574"/>
                      <a:pt x="190" y="573"/>
                    </a:cubicBezTo>
                    <a:cubicBezTo>
                      <a:pt x="190" y="544"/>
                      <a:pt x="190" y="544"/>
                      <a:pt x="190" y="544"/>
                    </a:cubicBezTo>
                    <a:cubicBezTo>
                      <a:pt x="184" y="536"/>
                      <a:pt x="184" y="536"/>
                      <a:pt x="184" y="536"/>
                    </a:cubicBezTo>
                    <a:cubicBezTo>
                      <a:pt x="171" y="536"/>
                      <a:pt x="171" y="536"/>
                      <a:pt x="171" y="536"/>
                    </a:cubicBezTo>
                    <a:cubicBezTo>
                      <a:pt x="168" y="536"/>
                      <a:pt x="165" y="535"/>
                      <a:pt x="163" y="533"/>
                    </a:cubicBezTo>
                    <a:cubicBezTo>
                      <a:pt x="152" y="521"/>
                      <a:pt x="152" y="521"/>
                      <a:pt x="152" y="521"/>
                    </a:cubicBezTo>
                    <a:cubicBezTo>
                      <a:pt x="111" y="535"/>
                      <a:pt x="111" y="535"/>
                      <a:pt x="111" y="535"/>
                    </a:cubicBezTo>
                    <a:cubicBezTo>
                      <a:pt x="110" y="536"/>
                      <a:pt x="109" y="536"/>
                      <a:pt x="107" y="536"/>
                    </a:cubicBezTo>
                    <a:cubicBezTo>
                      <a:pt x="71" y="536"/>
                      <a:pt x="71" y="536"/>
                      <a:pt x="71" y="536"/>
                    </a:cubicBezTo>
                    <a:cubicBezTo>
                      <a:pt x="68" y="536"/>
                      <a:pt x="65" y="535"/>
                      <a:pt x="63" y="532"/>
                    </a:cubicBezTo>
                    <a:cubicBezTo>
                      <a:pt x="3" y="457"/>
                      <a:pt x="3" y="457"/>
                      <a:pt x="3" y="457"/>
                    </a:cubicBezTo>
                    <a:cubicBezTo>
                      <a:pt x="0" y="454"/>
                      <a:pt x="0" y="450"/>
                      <a:pt x="1" y="447"/>
                    </a:cubicBezTo>
                    <a:cubicBezTo>
                      <a:pt x="11" y="424"/>
                      <a:pt x="11" y="424"/>
                      <a:pt x="11" y="424"/>
                    </a:cubicBezTo>
                    <a:cubicBezTo>
                      <a:pt x="1" y="401"/>
                      <a:pt x="1" y="401"/>
                      <a:pt x="1" y="401"/>
                    </a:cubicBezTo>
                    <a:cubicBezTo>
                      <a:pt x="0" y="397"/>
                      <a:pt x="0" y="392"/>
                      <a:pt x="3" y="389"/>
                    </a:cubicBezTo>
                    <a:cubicBezTo>
                      <a:pt x="91" y="297"/>
                      <a:pt x="91" y="297"/>
                      <a:pt x="91" y="297"/>
                    </a:cubicBezTo>
                    <a:cubicBezTo>
                      <a:pt x="93" y="295"/>
                      <a:pt x="96" y="294"/>
                      <a:pt x="99" y="294"/>
                    </a:cubicBezTo>
                    <a:cubicBezTo>
                      <a:pt x="120" y="294"/>
                      <a:pt x="120" y="294"/>
                      <a:pt x="120" y="294"/>
                    </a:cubicBezTo>
                    <a:cubicBezTo>
                      <a:pt x="146" y="282"/>
                      <a:pt x="146" y="282"/>
                      <a:pt x="146" y="282"/>
                    </a:cubicBezTo>
                    <a:cubicBezTo>
                      <a:pt x="147" y="281"/>
                      <a:pt x="149" y="281"/>
                      <a:pt x="150" y="281"/>
                    </a:cubicBezTo>
                    <a:cubicBezTo>
                      <a:pt x="194" y="282"/>
                      <a:pt x="194" y="282"/>
                      <a:pt x="194" y="282"/>
                    </a:cubicBezTo>
                    <a:cubicBezTo>
                      <a:pt x="198" y="282"/>
                      <a:pt x="202" y="285"/>
                      <a:pt x="203" y="288"/>
                    </a:cubicBezTo>
                    <a:cubicBezTo>
                      <a:pt x="212" y="307"/>
                      <a:pt x="212" y="307"/>
                      <a:pt x="212" y="307"/>
                    </a:cubicBezTo>
                    <a:cubicBezTo>
                      <a:pt x="251" y="314"/>
                      <a:pt x="251" y="314"/>
                      <a:pt x="251" y="314"/>
                    </a:cubicBezTo>
                    <a:cubicBezTo>
                      <a:pt x="256" y="315"/>
                      <a:pt x="256" y="315"/>
                      <a:pt x="256" y="315"/>
                    </a:cubicBezTo>
                    <a:cubicBezTo>
                      <a:pt x="258" y="311"/>
                      <a:pt x="262" y="308"/>
                      <a:pt x="267" y="309"/>
                    </a:cubicBezTo>
                    <a:cubicBezTo>
                      <a:pt x="302" y="311"/>
                      <a:pt x="302" y="311"/>
                      <a:pt x="302" y="311"/>
                    </a:cubicBezTo>
                    <a:cubicBezTo>
                      <a:pt x="355" y="317"/>
                      <a:pt x="355" y="317"/>
                      <a:pt x="355" y="317"/>
                    </a:cubicBezTo>
                    <a:cubicBezTo>
                      <a:pt x="359" y="316"/>
                      <a:pt x="359" y="316"/>
                      <a:pt x="359" y="316"/>
                    </a:cubicBezTo>
                    <a:cubicBezTo>
                      <a:pt x="360" y="295"/>
                      <a:pt x="360" y="295"/>
                      <a:pt x="360" y="295"/>
                    </a:cubicBezTo>
                    <a:cubicBezTo>
                      <a:pt x="340" y="299"/>
                      <a:pt x="340" y="299"/>
                      <a:pt x="340" y="299"/>
                    </a:cubicBezTo>
                    <a:cubicBezTo>
                      <a:pt x="336" y="300"/>
                      <a:pt x="333" y="299"/>
                      <a:pt x="330" y="297"/>
                    </a:cubicBezTo>
                    <a:cubicBezTo>
                      <a:pt x="298" y="266"/>
                      <a:pt x="298" y="266"/>
                      <a:pt x="298" y="266"/>
                    </a:cubicBezTo>
                    <a:cubicBezTo>
                      <a:pt x="297" y="266"/>
                      <a:pt x="297" y="266"/>
                      <a:pt x="297" y="266"/>
                    </a:cubicBezTo>
                    <a:cubicBezTo>
                      <a:pt x="297" y="284"/>
                      <a:pt x="297" y="284"/>
                      <a:pt x="297" y="284"/>
                    </a:cubicBezTo>
                    <a:cubicBezTo>
                      <a:pt x="297" y="287"/>
                      <a:pt x="295" y="291"/>
                      <a:pt x="292" y="293"/>
                    </a:cubicBezTo>
                    <a:cubicBezTo>
                      <a:pt x="288" y="294"/>
                      <a:pt x="284" y="294"/>
                      <a:pt x="281" y="292"/>
                    </a:cubicBezTo>
                    <a:cubicBezTo>
                      <a:pt x="267" y="284"/>
                      <a:pt x="267" y="284"/>
                      <a:pt x="267" y="284"/>
                    </a:cubicBezTo>
                    <a:cubicBezTo>
                      <a:pt x="265" y="283"/>
                      <a:pt x="264" y="282"/>
                      <a:pt x="263" y="281"/>
                    </a:cubicBezTo>
                    <a:cubicBezTo>
                      <a:pt x="250" y="262"/>
                      <a:pt x="250" y="262"/>
                      <a:pt x="250" y="262"/>
                    </a:cubicBezTo>
                    <a:cubicBezTo>
                      <a:pt x="250" y="261"/>
                      <a:pt x="250" y="261"/>
                      <a:pt x="250" y="261"/>
                    </a:cubicBezTo>
                    <a:cubicBezTo>
                      <a:pt x="228" y="223"/>
                      <a:pt x="228" y="223"/>
                      <a:pt x="228" y="223"/>
                    </a:cubicBezTo>
                    <a:cubicBezTo>
                      <a:pt x="218" y="227"/>
                      <a:pt x="218" y="227"/>
                      <a:pt x="218" y="227"/>
                    </a:cubicBezTo>
                    <a:cubicBezTo>
                      <a:pt x="247" y="262"/>
                      <a:pt x="247" y="262"/>
                      <a:pt x="247" y="262"/>
                    </a:cubicBezTo>
                    <a:cubicBezTo>
                      <a:pt x="250" y="266"/>
                      <a:pt x="251" y="271"/>
                      <a:pt x="248" y="275"/>
                    </a:cubicBezTo>
                    <a:cubicBezTo>
                      <a:pt x="239" y="287"/>
                      <a:pt x="239" y="287"/>
                      <a:pt x="239" y="287"/>
                    </a:cubicBezTo>
                    <a:cubicBezTo>
                      <a:pt x="236" y="290"/>
                      <a:pt x="232" y="292"/>
                      <a:pt x="228" y="291"/>
                    </a:cubicBezTo>
                    <a:cubicBezTo>
                      <a:pt x="224" y="290"/>
                      <a:pt x="221" y="286"/>
                      <a:pt x="221" y="282"/>
                    </a:cubicBezTo>
                    <a:cubicBezTo>
                      <a:pt x="218" y="267"/>
                      <a:pt x="218" y="267"/>
                      <a:pt x="218" y="267"/>
                    </a:cubicBezTo>
                    <a:cubicBezTo>
                      <a:pt x="193" y="244"/>
                      <a:pt x="193" y="244"/>
                      <a:pt x="193" y="244"/>
                    </a:cubicBezTo>
                    <a:cubicBezTo>
                      <a:pt x="150" y="248"/>
                      <a:pt x="150" y="248"/>
                      <a:pt x="150" y="248"/>
                    </a:cubicBezTo>
                    <a:cubicBezTo>
                      <a:pt x="129" y="279"/>
                      <a:pt x="129" y="279"/>
                      <a:pt x="129" y="279"/>
                    </a:cubicBezTo>
                    <a:cubicBezTo>
                      <a:pt x="128" y="282"/>
                      <a:pt x="125" y="283"/>
                      <a:pt x="123" y="284"/>
                    </a:cubicBezTo>
                    <a:cubicBezTo>
                      <a:pt x="86" y="292"/>
                      <a:pt x="86" y="292"/>
                      <a:pt x="86" y="292"/>
                    </a:cubicBezTo>
                    <a:cubicBezTo>
                      <a:pt x="83" y="293"/>
                      <a:pt x="80" y="292"/>
                      <a:pt x="78" y="290"/>
                    </a:cubicBezTo>
                    <a:cubicBezTo>
                      <a:pt x="75" y="288"/>
                      <a:pt x="74" y="286"/>
                      <a:pt x="74" y="282"/>
                    </a:cubicBezTo>
                    <a:cubicBezTo>
                      <a:pt x="72" y="235"/>
                      <a:pt x="72" y="235"/>
                      <a:pt x="72" y="235"/>
                    </a:cubicBezTo>
                    <a:cubicBezTo>
                      <a:pt x="72" y="233"/>
                      <a:pt x="73" y="230"/>
                      <a:pt x="75" y="228"/>
                    </a:cubicBezTo>
                    <a:cubicBezTo>
                      <a:pt x="77" y="226"/>
                      <a:pt x="80" y="225"/>
                      <a:pt x="83" y="225"/>
                    </a:cubicBezTo>
                    <a:cubicBezTo>
                      <a:pt x="117" y="225"/>
                      <a:pt x="117" y="225"/>
                      <a:pt x="117" y="225"/>
                    </a:cubicBezTo>
                    <a:cubicBezTo>
                      <a:pt x="118" y="217"/>
                      <a:pt x="118" y="217"/>
                      <a:pt x="118" y="217"/>
                    </a:cubicBezTo>
                    <a:cubicBezTo>
                      <a:pt x="108" y="212"/>
                      <a:pt x="108" y="212"/>
                      <a:pt x="108" y="212"/>
                    </a:cubicBezTo>
                    <a:cubicBezTo>
                      <a:pt x="105" y="210"/>
                      <a:pt x="103" y="207"/>
                      <a:pt x="103" y="203"/>
                    </a:cubicBezTo>
                    <a:cubicBezTo>
                      <a:pt x="103" y="200"/>
                      <a:pt x="105" y="196"/>
                      <a:pt x="108" y="194"/>
                    </a:cubicBezTo>
                    <a:cubicBezTo>
                      <a:pt x="128" y="181"/>
                      <a:pt x="128" y="181"/>
                      <a:pt x="128" y="181"/>
                    </a:cubicBezTo>
                    <a:cubicBezTo>
                      <a:pt x="115" y="172"/>
                      <a:pt x="115" y="172"/>
                      <a:pt x="115" y="172"/>
                    </a:cubicBezTo>
                    <a:cubicBezTo>
                      <a:pt x="112" y="170"/>
                      <a:pt x="110" y="166"/>
                      <a:pt x="110" y="162"/>
                    </a:cubicBezTo>
                    <a:cubicBezTo>
                      <a:pt x="111" y="154"/>
                      <a:pt x="111" y="154"/>
                      <a:pt x="111" y="154"/>
                    </a:cubicBezTo>
                    <a:cubicBezTo>
                      <a:pt x="106" y="149"/>
                      <a:pt x="106" y="149"/>
                      <a:pt x="106" y="149"/>
                    </a:cubicBezTo>
                    <a:cubicBezTo>
                      <a:pt x="103" y="145"/>
                      <a:pt x="102" y="140"/>
                      <a:pt x="105" y="136"/>
                    </a:cubicBezTo>
                    <a:cubicBezTo>
                      <a:pt x="114" y="122"/>
                      <a:pt x="114" y="122"/>
                      <a:pt x="114" y="122"/>
                    </a:cubicBezTo>
                    <a:cubicBezTo>
                      <a:pt x="115" y="120"/>
                      <a:pt x="118" y="118"/>
                      <a:pt x="122" y="118"/>
                    </a:cubicBezTo>
                    <a:cubicBezTo>
                      <a:pt x="125" y="118"/>
                      <a:pt x="128" y="119"/>
                      <a:pt x="130" y="122"/>
                    </a:cubicBezTo>
                    <a:cubicBezTo>
                      <a:pt x="160" y="160"/>
                      <a:pt x="160" y="160"/>
                      <a:pt x="160" y="160"/>
                    </a:cubicBezTo>
                    <a:cubicBezTo>
                      <a:pt x="169" y="150"/>
                      <a:pt x="169" y="150"/>
                      <a:pt x="169" y="150"/>
                    </a:cubicBezTo>
                    <a:cubicBezTo>
                      <a:pt x="171" y="148"/>
                      <a:pt x="174" y="147"/>
                      <a:pt x="176" y="147"/>
                    </a:cubicBezTo>
                    <a:cubicBezTo>
                      <a:pt x="199" y="147"/>
                      <a:pt x="199" y="147"/>
                      <a:pt x="199" y="147"/>
                    </a:cubicBezTo>
                    <a:cubicBezTo>
                      <a:pt x="250" y="139"/>
                      <a:pt x="250" y="139"/>
                      <a:pt x="250" y="139"/>
                    </a:cubicBezTo>
                    <a:cubicBezTo>
                      <a:pt x="280" y="120"/>
                      <a:pt x="280" y="120"/>
                      <a:pt x="280" y="120"/>
                    </a:cubicBezTo>
                    <a:cubicBezTo>
                      <a:pt x="261" y="91"/>
                      <a:pt x="261" y="91"/>
                      <a:pt x="261" y="91"/>
                    </a:cubicBezTo>
                    <a:cubicBezTo>
                      <a:pt x="252" y="112"/>
                      <a:pt x="252" y="112"/>
                      <a:pt x="252" y="112"/>
                    </a:cubicBezTo>
                    <a:cubicBezTo>
                      <a:pt x="251" y="113"/>
                      <a:pt x="251" y="114"/>
                      <a:pt x="250" y="115"/>
                    </a:cubicBezTo>
                    <a:cubicBezTo>
                      <a:pt x="233" y="132"/>
                      <a:pt x="233" y="132"/>
                      <a:pt x="233" y="132"/>
                    </a:cubicBezTo>
                    <a:cubicBezTo>
                      <a:pt x="232" y="133"/>
                      <a:pt x="232" y="133"/>
                      <a:pt x="232" y="133"/>
                    </a:cubicBezTo>
                    <a:cubicBezTo>
                      <a:pt x="223" y="140"/>
                      <a:pt x="223" y="140"/>
                      <a:pt x="223" y="140"/>
                    </a:cubicBezTo>
                    <a:cubicBezTo>
                      <a:pt x="220" y="142"/>
                      <a:pt x="215" y="143"/>
                      <a:pt x="212" y="140"/>
                    </a:cubicBezTo>
                    <a:cubicBezTo>
                      <a:pt x="202" y="134"/>
                      <a:pt x="202" y="134"/>
                      <a:pt x="202" y="134"/>
                    </a:cubicBezTo>
                    <a:cubicBezTo>
                      <a:pt x="182" y="137"/>
                      <a:pt x="182" y="137"/>
                      <a:pt x="182" y="137"/>
                    </a:cubicBezTo>
                    <a:cubicBezTo>
                      <a:pt x="177" y="137"/>
                      <a:pt x="172" y="134"/>
                      <a:pt x="171" y="129"/>
                    </a:cubicBezTo>
                    <a:cubicBezTo>
                      <a:pt x="166" y="108"/>
                      <a:pt x="166" y="108"/>
                      <a:pt x="166" y="108"/>
                    </a:cubicBezTo>
                    <a:cubicBezTo>
                      <a:pt x="166" y="105"/>
                      <a:pt x="167" y="101"/>
                      <a:pt x="169" y="99"/>
                    </a:cubicBezTo>
                    <a:cubicBezTo>
                      <a:pt x="221" y="47"/>
                      <a:pt x="221" y="47"/>
                      <a:pt x="221" y="47"/>
                    </a:cubicBezTo>
                    <a:cubicBezTo>
                      <a:pt x="222" y="46"/>
                      <a:pt x="223" y="45"/>
                      <a:pt x="225" y="45"/>
                    </a:cubicBezTo>
                    <a:cubicBezTo>
                      <a:pt x="278" y="30"/>
                      <a:pt x="278" y="30"/>
                      <a:pt x="278" y="30"/>
                    </a:cubicBezTo>
                    <a:cubicBezTo>
                      <a:pt x="278" y="30"/>
                      <a:pt x="279" y="30"/>
                      <a:pt x="279" y="30"/>
                    </a:cubicBezTo>
                    <a:cubicBezTo>
                      <a:pt x="344" y="20"/>
                      <a:pt x="344" y="20"/>
                      <a:pt x="344" y="20"/>
                    </a:cubicBezTo>
                    <a:cubicBezTo>
                      <a:pt x="349" y="19"/>
                      <a:pt x="354" y="22"/>
                      <a:pt x="355" y="27"/>
                    </a:cubicBezTo>
                    <a:cubicBezTo>
                      <a:pt x="359" y="43"/>
                      <a:pt x="359" y="43"/>
                      <a:pt x="359" y="43"/>
                    </a:cubicBezTo>
                    <a:cubicBezTo>
                      <a:pt x="361" y="47"/>
                      <a:pt x="359" y="52"/>
                      <a:pt x="355" y="54"/>
                    </a:cubicBezTo>
                    <a:cubicBezTo>
                      <a:pt x="329" y="72"/>
                      <a:pt x="329" y="72"/>
                      <a:pt x="329" y="72"/>
                    </a:cubicBezTo>
                    <a:cubicBezTo>
                      <a:pt x="331" y="81"/>
                      <a:pt x="331" y="81"/>
                      <a:pt x="331" y="81"/>
                    </a:cubicBezTo>
                    <a:cubicBezTo>
                      <a:pt x="356" y="62"/>
                      <a:pt x="356" y="62"/>
                      <a:pt x="356" y="62"/>
                    </a:cubicBezTo>
                    <a:cubicBezTo>
                      <a:pt x="357" y="61"/>
                      <a:pt x="358" y="61"/>
                      <a:pt x="359" y="60"/>
                    </a:cubicBezTo>
                    <a:cubicBezTo>
                      <a:pt x="389" y="52"/>
                      <a:pt x="389" y="52"/>
                      <a:pt x="389" y="52"/>
                    </a:cubicBezTo>
                    <a:cubicBezTo>
                      <a:pt x="390" y="52"/>
                      <a:pt x="390" y="52"/>
                      <a:pt x="390" y="52"/>
                    </a:cubicBezTo>
                    <a:cubicBezTo>
                      <a:pt x="446" y="43"/>
                      <a:pt x="446" y="43"/>
                      <a:pt x="446" y="43"/>
                    </a:cubicBezTo>
                    <a:cubicBezTo>
                      <a:pt x="447" y="43"/>
                      <a:pt x="448" y="43"/>
                      <a:pt x="448" y="43"/>
                    </a:cubicBezTo>
                    <a:cubicBezTo>
                      <a:pt x="472" y="44"/>
                      <a:pt x="472" y="44"/>
                      <a:pt x="472" y="44"/>
                    </a:cubicBezTo>
                    <a:cubicBezTo>
                      <a:pt x="471" y="41"/>
                      <a:pt x="471" y="36"/>
                      <a:pt x="474" y="33"/>
                    </a:cubicBezTo>
                    <a:cubicBezTo>
                      <a:pt x="493" y="14"/>
                      <a:pt x="493" y="14"/>
                      <a:pt x="493" y="14"/>
                    </a:cubicBezTo>
                    <a:cubicBezTo>
                      <a:pt x="497" y="10"/>
                      <a:pt x="504" y="10"/>
                      <a:pt x="508" y="13"/>
                    </a:cubicBezTo>
                    <a:cubicBezTo>
                      <a:pt x="523" y="28"/>
                      <a:pt x="523" y="28"/>
                      <a:pt x="523" y="28"/>
                    </a:cubicBezTo>
                    <a:cubicBezTo>
                      <a:pt x="580" y="1"/>
                      <a:pt x="580" y="1"/>
                      <a:pt x="580" y="1"/>
                    </a:cubicBezTo>
                    <a:cubicBezTo>
                      <a:pt x="581" y="1"/>
                      <a:pt x="583" y="0"/>
                      <a:pt x="584" y="0"/>
                    </a:cubicBezTo>
                    <a:cubicBezTo>
                      <a:pt x="681" y="0"/>
                      <a:pt x="681" y="0"/>
                      <a:pt x="681" y="0"/>
                    </a:cubicBezTo>
                    <a:cubicBezTo>
                      <a:pt x="687" y="0"/>
                      <a:pt x="691" y="5"/>
                      <a:pt x="691" y="11"/>
                    </a:cubicBezTo>
                    <a:cubicBezTo>
                      <a:pt x="691" y="20"/>
                      <a:pt x="691" y="20"/>
                      <a:pt x="691" y="20"/>
                    </a:cubicBezTo>
                    <a:cubicBezTo>
                      <a:pt x="814" y="33"/>
                      <a:pt x="814" y="33"/>
                      <a:pt x="814" y="33"/>
                    </a:cubicBezTo>
                    <a:cubicBezTo>
                      <a:pt x="854" y="24"/>
                      <a:pt x="854" y="24"/>
                      <a:pt x="854" y="24"/>
                    </a:cubicBezTo>
                    <a:cubicBezTo>
                      <a:pt x="855" y="24"/>
                      <a:pt x="856" y="24"/>
                      <a:pt x="857" y="24"/>
                    </a:cubicBezTo>
                    <a:cubicBezTo>
                      <a:pt x="954" y="35"/>
                      <a:pt x="1100" y="51"/>
                      <a:pt x="1108" y="52"/>
                    </a:cubicBezTo>
                    <a:cubicBezTo>
                      <a:pt x="1110" y="52"/>
                      <a:pt x="1116" y="52"/>
                      <a:pt x="1146" y="64"/>
                    </a:cubicBezTo>
                    <a:cubicBezTo>
                      <a:pt x="1150" y="66"/>
                      <a:pt x="1153" y="71"/>
                      <a:pt x="1152" y="75"/>
                    </a:cubicBezTo>
                    <a:cubicBezTo>
                      <a:pt x="1151" y="80"/>
                      <a:pt x="1147" y="84"/>
                      <a:pt x="1142" y="84"/>
                    </a:cubicBezTo>
                    <a:cubicBezTo>
                      <a:pt x="1109" y="86"/>
                      <a:pt x="1109" y="86"/>
                      <a:pt x="1109" y="86"/>
                    </a:cubicBezTo>
                    <a:cubicBezTo>
                      <a:pt x="1114" y="93"/>
                      <a:pt x="1114" y="93"/>
                      <a:pt x="1114" y="93"/>
                    </a:cubicBezTo>
                    <a:cubicBezTo>
                      <a:pt x="1115" y="96"/>
                      <a:pt x="1116" y="99"/>
                      <a:pt x="1115" y="102"/>
                    </a:cubicBezTo>
                    <a:cubicBezTo>
                      <a:pt x="1114" y="105"/>
                      <a:pt x="1112" y="107"/>
                      <a:pt x="1109" y="108"/>
                    </a:cubicBezTo>
                    <a:cubicBezTo>
                      <a:pt x="1076" y="124"/>
                      <a:pt x="1076" y="124"/>
                      <a:pt x="1076" y="124"/>
                    </a:cubicBezTo>
                    <a:cubicBezTo>
                      <a:pt x="1092" y="149"/>
                      <a:pt x="1092" y="149"/>
                      <a:pt x="1092" y="149"/>
                    </a:cubicBezTo>
                    <a:cubicBezTo>
                      <a:pt x="1094" y="153"/>
                      <a:pt x="1094" y="157"/>
                      <a:pt x="1091" y="161"/>
                    </a:cubicBezTo>
                    <a:cubicBezTo>
                      <a:pt x="1085" y="168"/>
                      <a:pt x="1085" y="168"/>
                      <a:pt x="1085" y="168"/>
                    </a:cubicBezTo>
                    <a:cubicBezTo>
                      <a:pt x="1082" y="172"/>
                      <a:pt x="1076" y="173"/>
                      <a:pt x="1072" y="170"/>
                    </a:cubicBezTo>
                    <a:cubicBezTo>
                      <a:pt x="1038" y="148"/>
                      <a:pt x="1038" y="148"/>
                      <a:pt x="1038" y="148"/>
                    </a:cubicBezTo>
                    <a:cubicBezTo>
                      <a:pt x="1035" y="146"/>
                      <a:pt x="1033" y="143"/>
                      <a:pt x="1033" y="139"/>
                    </a:cubicBezTo>
                    <a:cubicBezTo>
                      <a:pt x="1035" y="113"/>
                      <a:pt x="1035" y="113"/>
                      <a:pt x="1035" y="113"/>
                    </a:cubicBezTo>
                    <a:cubicBezTo>
                      <a:pt x="1010" y="113"/>
                      <a:pt x="1010" y="113"/>
                      <a:pt x="1010" y="113"/>
                    </a:cubicBezTo>
                    <a:cubicBezTo>
                      <a:pt x="1012" y="116"/>
                      <a:pt x="1012" y="120"/>
                      <a:pt x="1010" y="123"/>
                    </a:cubicBezTo>
                    <a:cubicBezTo>
                      <a:pt x="1008" y="126"/>
                      <a:pt x="1005" y="128"/>
                      <a:pt x="1001" y="128"/>
                    </a:cubicBezTo>
                    <a:cubicBezTo>
                      <a:pt x="951" y="128"/>
                      <a:pt x="951" y="128"/>
                      <a:pt x="951" y="128"/>
                    </a:cubicBezTo>
                    <a:cubicBezTo>
                      <a:pt x="940" y="145"/>
                      <a:pt x="940" y="145"/>
                      <a:pt x="940" y="145"/>
                    </a:cubicBezTo>
                    <a:cubicBezTo>
                      <a:pt x="974" y="153"/>
                      <a:pt x="974" y="153"/>
                      <a:pt x="974" y="153"/>
                    </a:cubicBezTo>
                    <a:cubicBezTo>
                      <a:pt x="976" y="154"/>
                      <a:pt x="977" y="154"/>
                      <a:pt x="978" y="156"/>
                    </a:cubicBezTo>
                    <a:cubicBezTo>
                      <a:pt x="1026" y="198"/>
                      <a:pt x="1026" y="198"/>
                      <a:pt x="1026" y="198"/>
                    </a:cubicBezTo>
                    <a:cubicBezTo>
                      <a:pt x="1029" y="201"/>
                      <a:pt x="1030" y="206"/>
                      <a:pt x="1028" y="210"/>
                    </a:cubicBezTo>
                    <a:cubicBezTo>
                      <a:pt x="1027" y="214"/>
                      <a:pt x="1022" y="216"/>
                      <a:pt x="1018" y="216"/>
                    </a:cubicBezTo>
                    <a:cubicBezTo>
                      <a:pt x="995" y="214"/>
                      <a:pt x="995" y="214"/>
                      <a:pt x="995" y="214"/>
                    </a:cubicBezTo>
                    <a:cubicBezTo>
                      <a:pt x="989" y="238"/>
                      <a:pt x="989" y="238"/>
                      <a:pt x="989" y="238"/>
                    </a:cubicBezTo>
                    <a:cubicBezTo>
                      <a:pt x="989" y="238"/>
                      <a:pt x="989" y="239"/>
                      <a:pt x="988" y="239"/>
                    </a:cubicBezTo>
                    <a:cubicBezTo>
                      <a:pt x="978" y="261"/>
                      <a:pt x="978" y="261"/>
                      <a:pt x="978" y="261"/>
                    </a:cubicBezTo>
                    <a:cubicBezTo>
                      <a:pt x="996" y="274"/>
                      <a:pt x="996" y="274"/>
                      <a:pt x="996" y="274"/>
                    </a:cubicBezTo>
                    <a:cubicBezTo>
                      <a:pt x="1000" y="278"/>
                      <a:pt x="1001" y="284"/>
                      <a:pt x="997" y="288"/>
                    </a:cubicBezTo>
                    <a:cubicBezTo>
                      <a:pt x="984" y="306"/>
                      <a:pt x="984" y="306"/>
                      <a:pt x="984" y="306"/>
                    </a:cubicBezTo>
                    <a:cubicBezTo>
                      <a:pt x="982" y="308"/>
                      <a:pt x="980" y="310"/>
                      <a:pt x="977" y="310"/>
                    </a:cubicBezTo>
                    <a:cubicBezTo>
                      <a:pt x="974" y="310"/>
                      <a:pt x="971" y="309"/>
                      <a:pt x="969" y="307"/>
                    </a:cubicBezTo>
                    <a:cubicBezTo>
                      <a:pt x="942" y="281"/>
                      <a:pt x="942" y="281"/>
                      <a:pt x="942" y="281"/>
                    </a:cubicBezTo>
                    <a:cubicBezTo>
                      <a:pt x="942" y="280"/>
                      <a:pt x="942" y="280"/>
                      <a:pt x="942" y="280"/>
                    </a:cubicBezTo>
                    <a:cubicBezTo>
                      <a:pt x="934" y="270"/>
                      <a:pt x="934" y="270"/>
                      <a:pt x="934" y="270"/>
                    </a:cubicBezTo>
                    <a:cubicBezTo>
                      <a:pt x="913" y="269"/>
                      <a:pt x="913" y="269"/>
                      <a:pt x="913" y="269"/>
                    </a:cubicBezTo>
                    <a:cubicBezTo>
                      <a:pt x="911" y="271"/>
                      <a:pt x="911" y="271"/>
                      <a:pt x="911" y="271"/>
                    </a:cubicBezTo>
                    <a:cubicBezTo>
                      <a:pt x="929" y="275"/>
                      <a:pt x="929" y="275"/>
                      <a:pt x="929" y="275"/>
                    </a:cubicBezTo>
                    <a:cubicBezTo>
                      <a:pt x="931" y="276"/>
                      <a:pt x="934" y="277"/>
                      <a:pt x="935" y="280"/>
                    </a:cubicBezTo>
                    <a:cubicBezTo>
                      <a:pt x="936" y="282"/>
                      <a:pt x="937" y="285"/>
                      <a:pt x="936" y="288"/>
                    </a:cubicBezTo>
                    <a:cubicBezTo>
                      <a:pt x="933" y="299"/>
                      <a:pt x="933" y="299"/>
                      <a:pt x="933" y="299"/>
                    </a:cubicBezTo>
                    <a:cubicBezTo>
                      <a:pt x="956" y="327"/>
                      <a:pt x="956" y="327"/>
                      <a:pt x="956" y="327"/>
                    </a:cubicBezTo>
                    <a:cubicBezTo>
                      <a:pt x="958" y="329"/>
                      <a:pt x="959" y="332"/>
                      <a:pt x="958" y="335"/>
                    </a:cubicBezTo>
                    <a:cubicBezTo>
                      <a:pt x="951" y="378"/>
                      <a:pt x="951" y="378"/>
                      <a:pt x="951" y="378"/>
                    </a:cubicBezTo>
                    <a:cubicBezTo>
                      <a:pt x="950" y="381"/>
                      <a:pt x="948" y="384"/>
                      <a:pt x="945" y="385"/>
                    </a:cubicBezTo>
                    <a:cubicBezTo>
                      <a:pt x="887" y="413"/>
                      <a:pt x="887" y="413"/>
                      <a:pt x="887" y="413"/>
                    </a:cubicBezTo>
                    <a:cubicBezTo>
                      <a:pt x="885" y="414"/>
                      <a:pt x="884" y="414"/>
                      <a:pt x="883" y="414"/>
                    </a:cubicBezTo>
                    <a:cubicBezTo>
                      <a:pt x="865" y="416"/>
                      <a:pt x="865" y="416"/>
                      <a:pt x="865" y="416"/>
                    </a:cubicBezTo>
                    <a:cubicBezTo>
                      <a:pt x="865" y="423"/>
                      <a:pt x="865" y="423"/>
                      <a:pt x="865" y="423"/>
                    </a:cubicBezTo>
                    <a:cubicBezTo>
                      <a:pt x="882" y="433"/>
                      <a:pt x="882" y="433"/>
                      <a:pt x="882" y="433"/>
                    </a:cubicBezTo>
                    <a:cubicBezTo>
                      <a:pt x="884" y="435"/>
                      <a:pt x="886" y="437"/>
                      <a:pt x="886" y="440"/>
                    </a:cubicBezTo>
                    <a:cubicBezTo>
                      <a:pt x="887" y="443"/>
                      <a:pt x="891" y="460"/>
                      <a:pt x="891" y="468"/>
                    </a:cubicBezTo>
                    <a:cubicBezTo>
                      <a:pt x="891" y="481"/>
                      <a:pt x="876" y="489"/>
                      <a:pt x="867" y="493"/>
                    </a:cubicBezTo>
                    <a:cubicBezTo>
                      <a:pt x="864" y="494"/>
                      <a:pt x="860" y="494"/>
                      <a:pt x="857" y="492"/>
                    </a:cubicBezTo>
                    <a:cubicBezTo>
                      <a:pt x="843" y="481"/>
                      <a:pt x="843" y="481"/>
                      <a:pt x="843" y="481"/>
                    </a:cubicBezTo>
                    <a:cubicBezTo>
                      <a:pt x="848" y="507"/>
                      <a:pt x="848" y="507"/>
                      <a:pt x="848" y="507"/>
                    </a:cubicBezTo>
                    <a:cubicBezTo>
                      <a:pt x="859" y="537"/>
                      <a:pt x="859" y="537"/>
                      <a:pt x="859" y="537"/>
                    </a:cubicBezTo>
                    <a:cubicBezTo>
                      <a:pt x="859" y="539"/>
                      <a:pt x="860" y="540"/>
                      <a:pt x="860" y="542"/>
                    </a:cubicBezTo>
                    <a:cubicBezTo>
                      <a:pt x="860" y="547"/>
                      <a:pt x="855" y="552"/>
                      <a:pt x="849" y="552"/>
                    </a:cubicBezTo>
                    <a:cubicBezTo>
                      <a:pt x="849" y="552"/>
                      <a:pt x="849" y="552"/>
                      <a:pt x="849" y="552"/>
                    </a:cubicBezTo>
                    <a:cubicBezTo>
                      <a:pt x="847" y="552"/>
                      <a:pt x="844" y="551"/>
                      <a:pt x="842" y="549"/>
                    </a:cubicBezTo>
                    <a:cubicBezTo>
                      <a:pt x="813" y="519"/>
                      <a:pt x="813" y="519"/>
                      <a:pt x="813" y="519"/>
                    </a:cubicBezTo>
                    <a:cubicBezTo>
                      <a:pt x="812" y="518"/>
                      <a:pt x="811" y="516"/>
                      <a:pt x="811" y="514"/>
                    </a:cubicBezTo>
                    <a:cubicBezTo>
                      <a:pt x="805" y="486"/>
                      <a:pt x="805" y="486"/>
                      <a:pt x="805" y="486"/>
                    </a:cubicBezTo>
                    <a:cubicBezTo>
                      <a:pt x="792" y="446"/>
                      <a:pt x="792" y="446"/>
                      <a:pt x="792" y="446"/>
                    </a:cubicBezTo>
                    <a:cubicBezTo>
                      <a:pt x="789" y="446"/>
                      <a:pt x="789" y="446"/>
                      <a:pt x="789" y="446"/>
                    </a:cubicBezTo>
                    <a:cubicBezTo>
                      <a:pt x="785" y="447"/>
                      <a:pt x="780" y="445"/>
                      <a:pt x="778" y="441"/>
                    </a:cubicBezTo>
                    <a:cubicBezTo>
                      <a:pt x="768" y="424"/>
                      <a:pt x="768" y="424"/>
                      <a:pt x="768" y="424"/>
                    </a:cubicBezTo>
                    <a:cubicBezTo>
                      <a:pt x="767" y="423"/>
                      <a:pt x="767" y="423"/>
                      <a:pt x="767" y="423"/>
                    </a:cubicBezTo>
                    <a:cubicBezTo>
                      <a:pt x="758" y="405"/>
                      <a:pt x="758" y="405"/>
                      <a:pt x="758" y="405"/>
                    </a:cubicBezTo>
                    <a:cubicBezTo>
                      <a:pt x="736" y="405"/>
                      <a:pt x="736" y="405"/>
                      <a:pt x="736" y="405"/>
                    </a:cubicBezTo>
                    <a:cubicBezTo>
                      <a:pt x="708" y="441"/>
                      <a:pt x="708" y="441"/>
                      <a:pt x="708" y="441"/>
                    </a:cubicBezTo>
                    <a:cubicBezTo>
                      <a:pt x="708" y="442"/>
                      <a:pt x="707" y="443"/>
                      <a:pt x="705" y="444"/>
                    </a:cubicBezTo>
                    <a:cubicBezTo>
                      <a:pt x="696" y="449"/>
                      <a:pt x="696" y="449"/>
                      <a:pt x="696" y="449"/>
                    </a:cubicBezTo>
                    <a:cubicBezTo>
                      <a:pt x="699" y="453"/>
                      <a:pt x="699" y="453"/>
                      <a:pt x="699" y="453"/>
                    </a:cubicBezTo>
                    <a:cubicBezTo>
                      <a:pt x="700" y="456"/>
                      <a:pt x="701" y="459"/>
                      <a:pt x="700" y="462"/>
                    </a:cubicBezTo>
                    <a:cubicBezTo>
                      <a:pt x="685" y="504"/>
                      <a:pt x="685" y="504"/>
                      <a:pt x="685" y="504"/>
                    </a:cubicBezTo>
                    <a:cubicBezTo>
                      <a:pt x="684" y="507"/>
                      <a:pt x="682" y="509"/>
                      <a:pt x="679" y="510"/>
                    </a:cubicBezTo>
                    <a:cubicBezTo>
                      <a:pt x="676" y="511"/>
                      <a:pt x="673" y="511"/>
                      <a:pt x="670" y="510"/>
                    </a:cubicBezTo>
                    <a:cubicBezTo>
                      <a:pt x="652" y="499"/>
                      <a:pt x="652" y="499"/>
                      <a:pt x="652" y="499"/>
                    </a:cubicBezTo>
                    <a:cubicBezTo>
                      <a:pt x="650" y="498"/>
                      <a:pt x="649" y="496"/>
                      <a:pt x="648" y="493"/>
                    </a:cubicBezTo>
                    <a:cubicBezTo>
                      <a:pt x="635" y="451"/>
                      <a:pt x="635" y="451"/>
                      <a:pt x="635" y="451"/>
                    </a:cubicBezTo>
                    <a:cubicBezTo>
                      <a:pt x="623" y="428"/>
                      <a:pt x="623" y="428"/>
                      <a:pt x="623" y="428"/>
                    </a:cubicBezTo>
                    <a:cubicBezTo>
                      <a:pt x="602" y="408"/>
                      <a:pt x="602" y="408"/>
                      <a:pt x="602" y="408"/>
                    </a:cubicBezTo>
                    <a:cubicBezTo>
                      <a:pt x="602" y="408"/>
                      <a:pt x="601" y="408"/>
                      <a:pt x="601" y="407"/>
                    </a:cubicBezTo>
                    <a:cubicBezTo>
                      <a:pt x="583" y="384"/>
                      <a:pt x="583" y="384"/>
                      <a:pt x="583" y="384"/>
                    </a:cubicBezTo>
                    <a:cubicBezTo>
                      <a:pt x="534" y="359"/>
                      <a:pt x="534" y="359"/>
                      <a:pt x="534" y="359"/>
                    </a:cubicBezTo>
                    <a:cubicBezTo>
                      <a:pt x="469" y="346"/>
                      <a:pt x="469" y="346"/>
                      <a:pt x="469" y="346"/>
                    </a:cubicBezTo>
                    <a:cubicBezTo>
                      <a:pt x="464" y="350"/>
                      <a:pt x="464" y="350"/>
                      <a:pt x="464" y="350"/>
                    </a:cubicBezTo>
                    <a:cubicBezTo>
                      <a:pt x="484" y="372"/>
                      <a:pt x="484" y="372"/>
                      <a:pt x="484" y="372"/>
                    </a:cubicBezTo>
                    <a:cubicBezTo>
                      <a:pt x="508" y="372"/>
                      <a:pt x="508" y="372"/>
                      <a:pt x="508" y="372"/>
                    </a:cubicBezTo>
                    <a:cubicBezTo>
                      <a:pt x="509" y="372"/>
                      <a:pt x="511" y="372"/>
                      <a:pt x="512" y="373"/>
                    </a:cubicBezTo>
                    <a:cubicBezTo>
                      <a:pt x="542" y="386"/>
                      <a:pt x="542" y="386"/>
                      <a:pt x="542" y="386"/>
                    </a:cubicBezTo>
                    <a:cubicBezTo>
                      <a:pt x="545" y="387"/>
                      <a:pt x="547" y="390"/>
                      <a:pt x="547" y="393"/>
                    </a:cubicBezTo>
                    <a:cubicBezTo>
                      <a:pt x="548" y="396"/>
                      <a:pt x="547" y="399"/>
                      <a:pt x="545" y="402"/>
                    </a:cubicBezTo>
                    <a:cubicBezTo>
                      <a:pt x="510" y="442"/>
                      <a:pt x="510" y="442"/>
                      <a:pt x="510" y="442"/>
                    </a:cubicBezTo>
                    <a:cubicBezTo>
                      <a:pt x="508" y="443"/>
                      <a:pt x="507" y="444"/>
                      <a:pt x="505" y="445"/>
                    </a:cubicBezTo>
                    <a:cubicBezTo>
                      <a:pt x="440" y="461"/>
                      <a:pt x="440" y="461"/>
                      <a:pt x="440" y="461"/>
                    </a:cubicBezTo>
                    <a:cubicBezTo>
                      <a:pt x="436" y="462"/>
                      <a:pt x="431" y="460"/>
                      <a:pt x="428" y="456"/>
                    </a:cubicBezTo>
                    <a:cubicBezTo>
                      <a:pt x="379" y="362"/>
                      <a:pt x="379" y="362"/>
                      <a:pt x="379" y="362"/>
                    </a:cubicBezTo>
                    <a:cubicBezTo>
                      <a:pt x="366" y="370"/>
                      <a:pt x="366" y="370"/>
                      <a:pt x="366" y="370"/>
                    </a:cubicBezTo>
                    <a:cubicBezTo>
                      <a:pt x="433" y="476"/>
                      <a:pt x="433" y="476"/>
                      <a:pt x="433" y="476"/>
                    </a:cubicBezTo>
                    <a:cubicBezTo>
                      <a:pt x="487" y="459"/>
                      <a:pt x="487" y="459"/>
                      <a:pt x="487" y="459"/>
                    </a:cubicBezTo>
                    <a:cubicBezTo>
                      <a:pt x="490" y="458"/>
                      <a:pt x="494" y="458"/>
                      <a:pt x="496" y="460"/>
                    </a:cubicBezTo>
                    <a:cubicBezTo>
                      <a:pt x="499" y="462"/>
                      <a:pt x="501" y="465"/>
                      <a:pt x="501" y="468"/>
                    </a:cubicBezTo>
                    <a:cubicBezTo>
                      <a:pt x="501" y="477"/>
                      <a:pt x="501" y="477"/>
                      <a:pt x="501" y="477"/>
                    </a:cubicBezTo>
                    <a:cubicBezTo>
                      <a:pt x="501" y="478"/>
                      <a:pt x="500" y="480"/>
                      <a:pt x="500" y="481"/>
                    </a:cubicBezTo>
                    <a:cubicBezTo>
                      <a:pt x="480" y="539"/>
                      <a:pt x="480" y="539"/>
                      <a:pt x="480" y="539"/>
                    </a:cubicBezTo>
                    <a:cubicBezTo>
                      <a:pt x="479" y="542"/>
                      <a:pt x="477" y="544"/>
                      <a:pt x="475" y="545"/>
                    </a:cubicBezTo>
                    <a:cubicBezTo>
                      <a:pt x="443" y="563"/>
                      <a:pt x="443" y="563"/>
                      <a:pt x="443" y="563"/>
                    </a:cubicBezTo>
                    <a:cubicBezTo>
                      <a:pt x="417" y="610"/>
                      <a:pt x="417" y="610"/>
                      <a:pt x="417" y="610"/>
                    </a:cubicBezTo>
                    <a:cubicBezTo>
                      <a:pt x="420" y="631"/>
                      <a:pt x="420" y="631"/>
                      <a:pt x="420" y="631"/>
                    </a:cubicBezTo>
                    <a:cubicBezTo>
                      <a:pt x="429" y="676"/>
                      <a:pt x="429" y="676"/>
                      <a:pt x="429" y="676"/>
                    </a:cubicBezTo>
                    <a:cubicBezTo>
                      <a:pt x="429" y="680"/>
                      <a:pt x="428" y="683"/>
                      <a:pt x="426" y="686"/>
                    </a:cubicBezTo>
                    <a:cubicBezTo>
                      <a:pt x="389" y="720"/>
                      <a:pt x="389" y="720"/>
                      <a:pt x="389" y="720"/>
                    </a:cubicBezTo>
                    <a:cubicBezTo>
                      <a:pt x="394" y="729"/>
                      <a:pt x="394" y="729"/>
                      <a:pt x="394" y="729"/>
                    </a:cubicBezTo>
                    <a:cubicBezTo>
                      <a:pt x="396" y="733"/>
                      <a:pt x="395" y="738"/>
                      <a:pt x="392" y="741"/>
                    </a:cubicBezTo>
                    <a:cubicBezTo>
                      <a:pt x="313" y="826"/>
                      <a:pt x="313" y="826"/>
                      <a:pt x="313" y="826"/>
                    </a:cubicBezTo>
                    <a:cubicBezTo>
                      <a:pt x="311" y="828"/>
                      <a:pt x="308" y="829"/>
                      <a:pt x="306" y="829"/>
                    </a:cubicBezTo>
                    <a:moveTo>
                      <a:pt x="1054" y="135"/>
                    </a:moveTo>
                    <a:cubicBezTo>
                      <a:pt x="1062" y="139"/>
                      <a:pt x="1062" y="139"/>
                      <a:pt x="1062" y="139"/>
                    </a:cubicBezTo>
                    <a:cubicBezTo>
                      <a:pt x="1055" y="128"/>
                      <a:pt x="1055" y="128"/>
                      <a:pt x="1055" y="128"/>
                    </a:cubicBezTo>
                    <a:cubicBezTo>
                      <a:pt x="1054" y="135"/>
                      <a:pt x="1054" y="135"/>
                      <a:pt x="1054" y="13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7">
                <a:extLst>
                  <a:ext uri="{FF2B5EF4-FFF2-40B4-BE49-F238E27FC236}">
                    <a16:creationId xmlns:a16="http://schemas.microsoft.com/office/drawing/2014/main" id="{A3B20C92-807D-42BB-A457-94CB043725E4}"/>
                  </a:ext>
                </a:extLst>
              </p:cNvPr>
              <p:cNvSpPr>
                <a:spLocks noEditPoints="1"/>
              </p:cNvSpPr>
              <p:nvPr/>
            </p:nvSpPr>
            <p:spPr bwMode="auto">
              <a:xfrm>
                <a:off x="3095757" y="5450213"/>
                <a:ext cx="70688" cy="91307"/>
              </a:xfrm>
              <a:custGeom>
                <a:avLst/>
                <a:gdLst>
                  <a:gd name="T0" fmla="*/ 43 w 53"/>
                  <a:gd name="T1" fmla="*/ 66 h 66"/>
                  <a:gd name="T2" fmla="*/ 42 w 53"/>
                  <a:gd name="T3" fmla="*/ 66 h 66"/>
                  <a:gd name="T4" fmla="*/ 9 w 53"/>
                  <a:gd name="T5" fmla="*/ 64 h 66"/>
                  <a:gd name="T6" fmla="*/ 2 w 53"/>
                  <a:gd name="T7" fmla="*/ 60 h 66"/>
                  <a:gd name="T8" fmla="*/ 0 w 53"/>
                  <a:gd name="T9" fmla="*/ 53 h 66"/>
                  <a:gd name="T10" fmla="*/ 4 w 53"/>
                  <a:gd name="T11" fmla="*/ 10 h 66"/>
                  <a:gd name="T12" fmla="*/ 12 w 53"/>
                  <a:gd name="T13" fmla="*/ 1 h 66"/>
                  <a:gd name="T14" fmla="*/ 23 w 53"/>
                  <a:gd name="T15" fmla="*/ 5 h 66"/>
                  <a:gd name="T16" fmla="*/ 51 w 53"/>
                  <a:gd name="T17" fmla="*/ 50 h 66"/>
                  <a:gd name="T18" fmla="*/ 53 w 53"/>
                  <a:gd name="T19" fmla="*/ 56 h 66"/>
                  <a:gd name="T20" fmla="*/ 43 w 53"/>
                  <a:gd name="T21" fmla="*/ 66 h 66"/>
                  <a:gd name="T22" fmla="*/ 21 w 53"/>
                  <a:gd name="T23" fmla="*/ 44 h 66"/>
                  <a:gd name="T24" fmla="*/ 23 w 53"/>
                  <a:gd name="T25" fmla="*/ 44 h 66"/>
                  <a:gd name="T26" fmla="*/ 22 w 53"/>
                  <a:gd name="T27" fmla="*/ 42 h 66"/>
                  <a:gd name="T28" fmla="*/ 21 w 53"/>
                  <a:gd name="T29" fmla="*/ 4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3" h="66">
                    <a:moveTo>
                      <a:pt x="43" y="66"/>
                    </a:moveTo>
                    <a:cubicBezTo>
                      <a:pt x="42" y="66"/>
                      <a:pt x="42" y="66"/>
                      <a:pt x="42" y="66"/>
                    </a:cubicBezTo>
                    <a:cubicBezTo>
                      <a:pt x="9" y="64"/>
                      <a:pt x="9" y="64"/>
                      <a:pt x="9" y="64"/>
                    </a:cubicBezTo>
                    <a:cubicBezTo>
                      <a:pt x="7" y="64"/>
                      <a:pt x="4" y="62"/>
                      <a:pt x="2" y="60"/>
                    </a:cubicBezTo>
                    <a:cubicBezTo>
                      <a:pt x="1" y="58"/>
                      <a:pt x="0" y="55"/>
                      <a:pt x="0" y="53"/>
                    </a:cubicBezTo>
                    <a:cubicBezTo>
                      <a:pt x="4" y="10"/>
                      <a:pt x="4" y="10"/>
                      <a:pt x="4" y="10"/>
                    </a:cubicBezTo>
                    <a:cubicBezTo>
                      <a:pt x="4" y="6"/>
                      <a:pt x="8" y="2"/>
                      <a:pt x="12" y="1"/>
                    </a:cubicBezTo>
                    <a:cubicBezTo>
                      <a:pt x="16" y="0"/>
                      <a:pt x="21" y="2"/>
                      <a:pt x="23" y="5"/>
                    </a:cubicBezTo>
                    <a:cubicBezTo>
                      <a:pt x="51" y="50"/>
                      <a:pt x="51" y="50"/>
                      <a:pt x="51" y="50"/>
                    </a:cubicBezTo>
                    <a:cubicBezTo>
                      <a:pt x="52" y="52"/>
                      <a:pt x="53" y="54"/>
                      <a:pt x="53" y="56"/>
                    </a:cubicBezTo>
                    <a:cubicBezTo>
                      <a:pt x="53" y="62"/>
                      <a:pt x="48" y="66"/>
                      <a:pt x="43" y="66"/>
                    </a:cubicBezTo>
                    <a:close/>
                    <a:moveTo>
                      <a:pt x="21" y="44"/>
                    </a:moveTo>
                    <a:cubicBezTo>
                      <a:pt x="23" y="44"/>
                      <a:pt x="23" y="44"/>
                      <a:pt x="23" y="44"/>
                    </a:cubicBezTo>
                    <a:cubicBezTo>
                      <a:pt x="22" y="42"/>
                      <a:pt x="22" y="42"/>
                      <a:pt x="22" y="42"/>
                    </a:cubicBezTo>
                    <a:lnTo>
                      <a:pt x="21" y="4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Shape 113">
                <a:extLst>
                  <a:ext uri="{FF2B5EF4-FFF2-40B4-BE49-F238E27FC236}">
                    <a16:creationId xmlns:a16="http://schemas.microsoft.com/office/drawing/2014/main" id="{338C90B6-51F4-4648-9099-7671217E8135}"/>
                  </a:ext>
                </a:extLst>
              </p:cNvPr>
              <p:cNvSpPr>
                <a:spLocks/>
              </p:cNvSpPr>
              <p:nvPr/>
            </p:nvSpPr>
            <p:spPr bwMode="auto">
              <a:xfrm>
                <a:off x="1201900" y="5144740"/>
                <a:ext cx="2259925" cy="1038862"/>
              </a:xfrm>
              <a:custGeom>
                <a:avLst/>
                <a:gdLst>
                  <a:gd name="connsiteX0" fmla="*/ 1974262 w 2259925"/>
                  <a:gd name="connsiteY0" fmla="*/ 960697 h 1038862"/>
                  <a:gd name="connsiteX1" fmla="*/ 1995469 w 2259925"/>
                  <a:gd name="connsiteY1" fmla="*/ 963415 h 1038862"/>
                  <a:gd name="connsiteX2" fmla="*/ 2006072 w 2259925"/>
                  <a:gd name="connsiteY2" fmla="*/ 972931 h 1038862"/>
                  <a:gd name="connsiteX3" fmla="*/ 2003421 w 2259925"/>
                  <a:gd name="connsiteY3" fmla="*/ 987884 h 1038862"/>
                  <a:gd name="connsiteX4" fmla="*/ 1983540 w 2259925"/>
                  <a:gd name="connsiteY4" fmla="*/ 1008275 h 1038862"/>
                  <a:gd name="connsiteX5" fmla="*/ 1972937 w 2259925"/>
                  <a:gd name="connsiteY5" fmla="*/ 1012353 h 1038862"/>
                  <a:gd name="connsiteX6" fmla="*/ 1968961 w 2259925"/>
                  <a:gd name="connsiteY6" fmla="*/ 1010994 h 1038862"/>
                  <a:gd name="connsiteX7" fmla="*/ 1959683 w 2259925"/>
                  <a:gd name="connsiteY7" fmla="*/ 1000119 h 1038862"/>
                  <a:gd name="connsiteX8" fmla="*/ 1955707 w 2259925"/>
                  <a:gd name="connsiteY8" fmla="*/ 977009 h 1038862"/>
                  <a:gd name="connsiteX9" fmla="*/ 1961008 w 2259925"/>
                  <a:gd name="connsiteY9" fmla="*/ 963415 h 1038862"/>
                  <a:gd name="connsiteX10" fmla="*/ 1974262 w 2259925"/>
                  <a:gd name="connsiteY10" fmla="*/ 960697 h 1038862"/>
                  <a:gd name="connsiteX11" fmla="*/ 2161818 w 2259925"/>
                  <a:gd name="connsiteY11" fmla="*/ 954802 h 1038862"/>
                  <a:gd name="connsiteX12" fmla="*/ 2169886 w 2259925"/>
                  <a:gd name="connsiteY12" fmla="*/ 962937 h 1038862"/>
                  <a:gd name="connsiteX13" fmla="*/ 2173920 w 2259925"/>
                  <a:gd name="connsiteY13" fmla="*/ 979207 h 1038862"/>
                  <a:gd name="connsiteX14" fmla="*/ 2167197 w 2259925"/>
                  <a:gd name="connsiteY14" fmla="*/ 995476 h 1038862"/>
                  <a:gd name="connsiteX15" fmla="*/ 2074419 w 2259925"/>
                  <a:gd name="connsiteY15" fmla="*/ 1037506 h 1038862"/>
                  <a:gd name="connsiteX16" fmla="*/ 2069040 w 2259925"/>
                  <a:gd name="connsiteY16" fmla="*/ 1038862 h 1038862"/>
                  <a:gd name="connsiteX17" fmla="*/ 2056939 w 2259925"/>
                  <a:gd name="connsiteY17" fmla="*/ 1032083 h 1038862"/>
                  <a:gd name="connsiteX18" fmla="*/ 2060973 w 2259925"/>
                  <a:gd name="connsiteY18" fmla="*/ 1013102 h 1038862"/>
                  <a:gd name="connsiteX19" fmla="*/ 2149717 w 2259925"/>
                  <a:gd name="connsiteY19" fmla="*/ 956158 h 1038862"/>
                  <a:gd name="connsiteX20" fmla="*/ 2161818 w 2259925"/>
                  <a:gd name="connsiteY20" fmla="*/ 954802 h 1038862"/>
                  <a:gd name="connsiteX21" fmla="*/ 2226681 w 2259925"/>
                  <a:gd name="connsiteY21" fmla="*/ 892949 h 1038862"/>
                  <a:gd name="connsiteX22" fmla="*/ 2238730 w 2259925"/>
                  <a:gd name="connsiteY22" fmla="*/ 902439 h 1038862"/>
                  <a:gd name="connsiteX23" fmla="*/ 2242747 w 2259925"/>
                  <a:gd name="connsiteY23" fmla="*/ 917353 h 1038862"/>
                  <a:gd name="connsiteX24" fmla="*/ 2254796 w 2259925"/>
                  <a:gd name="connsiteY24" fmla="*/ 926844 h 1038862"/>
                  <a:gd name="connsiteX25" fmla="*/ 2249441 w 2259925"/>
                  <a:gd name="connsiteY25" fmla="*/ 943114 h 1038862"/>
                  <a:gd name="connsiteX26" fmla="*/ 2205260 w 2259925"/>
                  <a:gd name="connsiteY26" fmla="*/ 974298 h 1038862"/>
                  <a:gd name="connsiteX27" fmla="*/ 2197227 w 2259925"/>
                  <a:gd name="connsiteY27" fmla="*/ 977009 h 1038862"/>
                  <a:gd name="connsiteX28" fmla="*/ 2189194 w 2259925"/>
                  <a:gd name="connsiteY28" fmla="*/ 974298 h 1038862"/>
                  <a:gd name="connsiteX29" fmla="*/ 2185178 w 2259925"/>
                  <a:gd name="connsiteY29" fmla="*/ 956672 h 1038862"/>
                  <a:gd name="connsiteX30" fmla="*/ 2213293 w 2259925"/>
                  <a:gd name="connsiteY30" fmla="*/ 899728 h 1038862"/>
                  <a:gd name="connsiteX31" fmla="*/ 2226681 w 2259925"/>
                  <a:gd name="connsiteY31" fmla="*/ 892949 h 1038862"/>
                  <a:gd name="connsiteX32" fmla="*/ 1932483 w 2259925"/>
                  <a:gd name="connsiteY32" fmla="*/ 653021 h 1038862"/>
                  <a:gd name="connsiteX33" fmla="*/ 1984111 w 2259925"/>
                  <a:gd name="connsiteY33" fmla="*/ 657093 h 1038862"/>
                  <a:gd name="connsiteX34" fmla="*/ 1993621 w 2259925"/>
                  <a:gd name="connsiteY34" fmla="*/ 663879 h 1038862"/>
                  <a:gd name="connsiteX35" fmla="*/ 1996338 w 2259925"/>
                  <a:gd name="connsiteY35" fmla="*/ 676095 h 1038862"/>
                  <a:gd name="connsiteX36" fmla="*/ 1992263 w 2259925"/>
                  <a:gd name="connsiteY36" fmla="*/ 685596 h 1038862"/>
                  <a:gd name="connsiteX37" fmla="*/ 2011283 w 2259925"/>
                  <a:gd name="connsiteY37" fmla="*/ 692382 h 1038862"/>
                  <a:gd name="connsiteX38" fmla="*/ 2028946 w 2259925"/>
                  <a:gd name="connsiteY38" fmla="*/ 659807 h 1038862"/>
                  <a:gd name="connsiteX39" fmla="*/ 2039815 w 2259925"/>
                  <a:gd name="connsiteY39" fmla="*/ 653021 h 1038862"/>
                  <a:gd name="connsiteX40" fmla="*/ 2050684 w 2259925"/>
                  <a:gd name="connsiteY40" fmla="*/ 657093 h 1038862"/>
                  <a:gd name="connsiteX41" fmla="*/ 2073780 w 2259925"/>
                  <a:gd name="connsiteY41" fmla="*/ 677452 h 1038862"/>
                  <a:gd name="connsiteX42" fmla="*/ 2079215 w 2259925"/>
                  <a:gd name="connsiteY42" fmla="*/ 684239 h 1038862"/>
                  <a:gd name="connsiteX43" fmla="*/ 2088725 w 2259925"/>
                  <a:gd name="connsiteY43" fmla="*/ 734459 h 1038862"/>
                  <a:gd name="connsiteX44" fmla="*/ 2125408 w 2259925"/>
                  <a:gd name="connsiteY44" fmla="*/ 791465 h 1038862"/>
                  <a:gd name="connsiteX45" fmla="*/ 2126767 w 2259925"/>
                  <a:gd name="connsiteY45" fmla="*/ 806396 h 1038862"/>
                  <a:gd name="connsiteX46" fmla="*/ 2087367 w 2259925"/>
                  <a:gd name="connsiteY46" fmla="*/ 883762 h 1038862"/>
                  <a:gd name="connsiteX47" fmla="*/ 2083291 w 2259925"/>
                  <a:gd name="connsiteY47" fmla="*/ 887834 h 1038862"/>
                  <a:gd name="connsiteX48" fmla="*/ 2034380 w 2259925"/>
                  <a:gd name="connsiteY48" fmla="*/ 929910 h 1038862"/>
                  <a:gd name="connsiteX49" fmla="*/ 2028946 w 2259925"/>
                  <a:gd name="connsiteY49" fmla="*/ 932625 h 1038862"/>
                  <a:gd name="connsiteX50" fmla="*/ 1982752 w 2259925"/>
                  <a:gd name="connsiteY50" fmla="*/ 947555 h 1038862"/>
                  <a:gd name="connsiteX51" fmla="*/ 1978676 w 2259925"/>
                  <a:gd name="connsiteY51" fmla="*/ 947555 h 1038862"/>
                  <a:gd name="connsiteX52" fmla="*/ 1973242 w 2259925"/>
                  <a:gd name="connsiteY52" fmla="*/ 946198 h 1038862"/>
                  <a:gd name="connsiteX53" fmla="*/ 1933841 w 2259925"/>
                  <a:gd name="connsiteY53" fmla="*/ 919052 h 1038862"/>
                  <a:gd name="connsiteX54" fmla="*/ 1917538 w 2259925"/>
                  <a:gd name="connsiteY54" fmla="*/ 891905 h 1038862"/>
                  <a:gd name="connsiteX55" fmla="*/ 1883572 w 2259925"/>
                  <a:gd name="connsiteY55" fmla="*/ 864759 h 1038862"/>
                  <a:gd name="connsiteX56" fmla="*/ 1814282 w 2259925"/>
                  <a:gd name="connsiteY56" fmla="*/ 900050 h 1038862"/>
                  <a:gd name="connsiteX57" fmla="*/ 1808847 w 2259925"/>
                  <a:gd name="connsiteY57" fmla="*/ 901407 h 1038862"/>
                  <a:gd name="connsiteX58" fmla="*/ 1740916 w 2259925"/>
                  <a:gd name="connsiteY58" fmla="*/ 905479 h 1038862"/>
                  <a:gd name="connsiteX59" fmla="*/ 1728688 w 2259925"/>
                  <a:gd name="connsiteY59" fmla="*/ 898692 h 1038862"/>
                  <a:gd name="connsiteX60" fmla="*/ 1727330 w 2259925"/>
                  <a:gd name="connsiteY60" fmla="*/ 885119 h 1038862"/>
                  <a:gd name="connsiteX61" fmla="*/ 1736840 w 2259925"/>
                  <a:gd name="connsiteY61" fmla="*/ 867474 h 1038862"/>
                  <a:gd name="connsiteX62" fmla="*/ 1743633 w 2259925"/>
                  <a:gd name="connsiteY62" fmla="*/ 762962 h 1038862"/>
                  <a:gd name="connsiteX63" fmla="*/ 1754502 w 2259925"/>
                  <a:gd name="connsiteY63" fmla="*/ 750746 h 1038862"/>
                  <a:gd name="connsiteX64" fmla="*/ 1810206 w 2259925"/>
                  <a:gd name="connsiteY64" fmla="*/ 735816 h 1038862"/>
                  <a:gd name="connsiteX65" fmla="*/ 1827868 w 2259925"/>
                  <a:gd name="connsiteY65" fmla="*/ 716814 h 1038862"/>
                  <a:gd name="connsiteX66" fmla="*/ 1829227 w 2259925"/>
                  <a:gd name="connsiteY66" fmla="*/ 715457 h 1038862"/>
                  <a:gd name="connsiteX67" fmla="*/ 1882213 w 2259925"/>
                  <a:gd name="connsiteY67" fmla="*/ 676095 h 1038862"/>
                  <a:gd name="connsiteX68" fmla="*/ 1897158 w 2259925"/>
                  <a:gd name="connsiteY68" fmla="*/ 674738 h 1038862"/>
                  <a:gd name="connsiteX69" fmla="*/ 1909386 w 2259925"/>
                  <a:gd name="connsiteY69" fmla="*/ 681524 h 1038862"/>
                  <a:gd name="connsiteX70" fmla="*/ 1917538 w 2259925"/>
                  <a:gd name="connsiteY70" fmla="*/ 661165 h 1038862"/>
                  <a:gd name="connsiteX71" fmla="*/ 1932483 w 2259925"/>
                  <a:gd name="connsiteY71" fmla="*/ 653021 h 1038862"/>
                  <a:gd name="connsiteX72" fmla="*/ 1240163 w 2259925"/>
                  <a:gd name="connsiteY72" fmla="*/ 639645 h 1038862"/>
                  <a:gd name="connsiteX73" fmla="*/ 1249426 w 2259925"/>
                  <a:gd name="connsiteY73" fmla="*/ 650445 h 1038862"/>
                  <a:gd name="connsiteX74" fmla="*/ 1254719 w 2259925"/>
                  <a:gd name="connsiteY74" fmla="*/ 677444 h 1038862"/>
                  <a:gd name="connsiteX75" fmla="*/ 1253396 w 2259925"/>
                  <a:gd name="connsiteY75" fmla="*/ 684194 h 1038862"/>
                  <a:gd name="connsiteX76" fmla="*/ 1220314 w 2259925"/>
                  <a:gd name="connsiteY76" fmla="*/ 790841 h 1038862"/>
                  <a:gd name="connsiteX77" fmla="*/ 1212374 w 2259925"/>
                  <a:gd name="connsiteY77" fmla="*/ 800290 h 1038862"/>
                  <a:gd name="connsiteX78" fmla="*/ 1207081 w 2259925"/>
                  <a:gd name="connsiteY78" fmla="*/ 800290 h 1038862"/>
                  <a:gd name="connsiteX79" fmla="*/ 1200464 w 2259925"/>
                  <a:gd name="connsiteY79" fmla="*/ 798940 h 1038862"/>
                  <a:gd name="connsiteX80" fmla="*/ 1171352 w 2259925"/>
                  <a:gd name="connsiteY80" fmla="*/ 780041 h 1038862"/>
                  <a:gd name="connsiteX81" fmla="*/ 1167382 w 2259925"/>
                  <a:gd name="connsiteY81" fmla="*/ 762491 h 1038862"/>
                  <a:gd name="connsiteX82" fmla="*/ 1173998 w 2259925"/>
                  <a:gd name="connsiteY82" fmla="*/ 747642 h 1038862"/>
                  <a:gd name="connsiteX83" fmla="*/ 1177968 w 2259925"/>
                  <a:gd name="connsiteY83" fmla="*/ 708493 h 1038862"/>
                  <a:gd name="connsiteX84" fmla="*/ 1180615 w 2259925"/>
                  <a:gd name="connsiteY84" fmla="*/ 703093 h 1038862"/>
                  <a:gd name="connsiteX85" fmla="*/ 1193848 w 2259925"/>
                  <a:gd name="connsiteY85" fmla="*/ 681494 h 1038862"/>
                  <a:gd name="connsiteX86" fmla="*/ 1195171 w 2259925"/>
                  <a:gd name="connsiteY86" fmla="*/ 680144 h 1038862"/>
                  <a:gd name="connsiteX87" fmla="*/ 1225607 w 2259925"/>
                  <a:gd name="connsiteY87" fmla="*/ 643695 h 1038862"/>
                  <a:gd name="connsiteX88" fmla="*/ 1240163 w 2259925"/>
                  <a:gd name="connsiteY88" fmla="*/ 639645 h 1038862"/>
                  <a:gd name="connsiteX89" fmla="*/ 1873160 w 2259925"/>
                  <a:gd name="connsiteY89" fmla="*/ 595523 h 1038862"/>
                  <a:gd name="connsiteX90" fmla="*/ 1892106 w 2259925"/>
                  <a:gd name="connsiteY90" fmla="*/ 598340 h 1038862"/>
                  <a:gd name="connsiteX91" fmla="*/ 1904286 w 2259925"/>
                  <a:gd name="connsiteY91" fmla="*/ 613836 h 1038862"/>
                  <a:gd name="connsiteX92" fmla="*/ 1890753 w 2259925"/>
                  <a:gd name="connsiteY92" fmla="*/ 626514 h 1038862"/>
                  <a:gd name="connsiteX93" fmla="*/ 1889399 w 2259925"/>
                  <a:gd name="connsiteY93" fmla="*/ 626514 h 1038862"/>
                  <a:gd name="connsiteX94" fmla="*/ 1869100 w 2259925"/>
                  <a:gd name="connsiteY94" fmla="*/ 623697 h 1038862"/>
                  <a:gd name="connsiteX95" fmla="*/ 1856920 w 2259925"/>
                  <a:gd name="connsiteY95" fmla="*/ 608201 h 1038862"/>
                  <a:gd name="connsiteX96" fmla="*/ 1873160 w 2259925"/>
                  <a:gd name="connsiteY96" fmla="*/ 595523 h 1038862"/>
                  <a:gd name="connsiteX97" fmla="*/ 1786237 w 2259925"/>
                  <a:gd name="connsiteY97" fmla="*/ 576258 h 1038862"/>
                  <a:gd name="connsiteX98" fmla="*/ 1843331 w 2259925"/>
                  <a:gd name="connsiteY98" fmla="*/ 590064 h 1038862"/>
                  <a:gd name="connsiteX99" fmla="*/ 1854206 w 2259925"/>
                  <a:gd name="connsiteY99" fmla="*/ 606632 h 1038862"/>
                  <a:gd name="connsiteX100" fmla="*/ 1840613 w 2259925"/>
                  <a:gd name="connsiteY100" fmla="*/ 617677 h 1038862"/>
                  <a:gd name="connsiteX101" fmla="*/ 1836534 w 2259925"/>
                  <a:gd name="connsiteY101" fmla="*/ 617677 h 1038862"/>
                  <a:gd name="connsiteX102" fmla="*/ 1779440 w 2259925"/>
                  <a:gd name="connsiteY102" fmla="*/ 603871 h 1038862"/>
                  <a:gd name="connsiteX103" fmla="*/ 1768565 w 2259925"/>
                  <a:gd name="connsiteY103" fmla="*/ 585922 h 1038862"/>
                  <a:gd name="connsiteX104" fmla="*/ 1786237 w 2259925"/>
                  <a:gd name="connsiteY104" fmla="*/ 576258 h 1038862"/>
                  <a:gd name="connsiteX105" fmla="*/ 2161884 w 2259925"/>
                  <a:gd name="connsiteY105" fmla="*/ 536749 h 1038862"/>
                  <a:gd name="connsiteX106" fmla="*/ 2172106 w 2259925"/>
                  <a:gd name="connsiteY106" fmla="*/ 540687 h 1038862"/>
                  <a:gd name="connsiteX107" fmla="*/ 2187353 w 2259925"/>
                  <a:gd name="connsiteY107" fmla="*/ 553017 h 1038862"/>
                  <a:gd name="connsiteX108" fmla="*/ 2190125 w 2259925"/>
                  <a:gd name="connsiteY108" fmla="*/ 570826 h 1038862"/>
                  <a:gd name="connsiteX109" fmla="*/ 2186633 w 2259925"/>
                  <a:gd name="connsiteY109" fmla="*/ 577154 h 1038862"/>
                  <a:gd name="connsiteX110" fmla="*/ 2196384 w 2259925"/>
                  <a:gd name="connsiteY110" fmla="*/ 571875 h 1038862"/>
                  <a:gd name="connsiteX111" fmla="*/ 2207181 w 2259925"/>
                  <a:gd name="connsiteY111" fmla="*/ 574519 h 1038862"/>
                  <a:gd name="connsiteX112" fmla="*/ 2253799 w 2259925"/>
                  <a:gd name="connsiteY112" fmla="*/ 611547 h 1038862"/>
                  <a:gd name="connsiteX113" fmla="*/ 2256542 w 2259925"/>
                  <a:gd name="connsiteY113" fmla="*/ 630061 h 1038862"/>
                  <a:gd name="connsiteX114" fmla="*/ 2245573 w 2259925"/>
                  <a:gd name="connsiteY114" fmla="*/ 635350 h 1038862"/>
                  <a:gd name="connsiteX115" fmla="*/ 2237346 w 2259925"/>
                  <a:gd name="connsiteY115" fmla="*/ 632705 h 1038862"/>
                  <a:gd name="connsiteX116" fmla="*/ 2189357 w 2259925"/>
                  <a:gd name="connsiteY116" fmla="*/ 595678 h 1038862"/>
                  <a:gd name="connsiteX117" fmla="*/ 2184386 w 2259925"/>
                  <a:gd name="connsiteY117" fmla="*/ 586917 h 1038862"/>
                  <a:gd name="connsiteX118" fmla="*/ 2186605 w 2259925"/>
                  <a:gd name="connsiteY118" fmla="*/ 577204 h 1038862"/>
                  <a:gd name="connsiteX119" fmla="*/ 2182848 w 2259925"/>
                  <a:gd name="connsiteY119" fmla="*/ 584012 h 1038862"/>
                  <a:gd name="connsiteX120" fmla="*/ 2181808 w 2259925"/>
                  <a:gd name="connsiteY120" fmla="*/ 585896 h 1038862"/>
                  <a:gd name="connsiteX121" fmla="*/ 2169334 w 2259925"/>
                  <a:gd name="connsiteY121" fmla="*/ 594115 h 1038862"/>
                  <a:gd name="connsiteX122" fmla="*/ 2162404 w 2259925"/>
                  <a:gd name="connsiteY122" fmla="*/ 591375 h 1038862"/>
                  <a:gd name="connsiteX123" fmla="*/ 2156859 w 2259925"/>
                  <a:gd name="connsiteY123" fmla="*/ 572196 h 1038862"/>
                  <a:gd name="connsiteX124" fmla="*/ 2159631 w 2259925"/>
                  <a:gd name="connsiteY124" fmla="*/ 566716 h 1038862"/>
                  <a:gd name="connsiteX125" fmla="*/ 2154087 w 2259925"/>
                  <a:gd name="connsiteY125" fmla="*/ 561236 h 1038862"/>
                  <a:gd name="connsiteX126" fmla="*/ 2152701 w 2259925"/>
                  <a:gd name="connsiteY126" fmla="*/ 542057 h 1038862"/>
                  <a:gd name="connsiteX127" fmla="*/ 2161884 w 2259925"/>
                  <a:gd name="connsiteY127" fmla="*/ 536749 h 1038862"/>
                  <a:gd name="connsiteX128" fmla="*/ 2000032 w 2259925"/>
                  <a:gd name="connsiteY128" fmla="*/ 518887 h 1038862"/>
                  <a:gd name="connsiteX129" fmla="*/ 2013736 w 2259925"/>
                  <a:gd name="connsiteY129" fmla="*/ 522945 h 1038862"/>
                  <a:gd name="connsiteX130" fmla="*/ 2024700 w 2259925"/>
                  <a:gd name="connsiteY130" fmla="*/ 537822 h 1038862"/>
                  <a:gd name="connsiteX131" fmla="*/ 2039774 w 2259925"/>
                  <a:gd name="connsiteY131" fmla="*/ 531059 h 1038862"/>
                  <a:gd name="connsiteX132" fmla="*/ 2052108 w 2259925"/>
                  <a:gd name="connsiteY132" fmla="*/ 531059 h 1038862"/>
                  <a:gd name="connsiteX133" fmla="*/ 2128851 w 2259925"/>
                  <a:gd name="connsiteY133" fmla="*/ 570281 h 1038862"/>
                  <a:gd name="connsiteX134" fmla="*/ 2132962 w 2259925"/>
                  <a:gd name="connsiteY134" fmla="*/ 574339 h 1038862"/>
                  <a:gd name="connsiteX135" fmla="*/ 2175445 w 2259925"/>
                  <a:gd name="connsiteY135" fmla="*/ 628437 h 1038862"/>
                  <a:gd name="connsiteX136" fmla="*/ 2174074 w 2259925"/>
                  <a:gd name="connsiteY136" fmla="*/ 646019 h 1038862"/>
                  <a:gd name="connsiteX137" fmla="*/ 2163111 w 2259925"/>
                  <a:gd name="connsiteY137" fmla="*/ 650076 h 1038862"/>
                  <a:gd name="connsiteX138" fmla="*/ 2156259 w 2259925"/>
                  <a:gd name="connsiteY138" fmla="*/ 647371 h 1038862"/>
                  <a:gd name="connsiteX139" fmla="*/ 2104183 w 2259925"/>
                  <a:gd name="connsiteY139" fmla="*/ 613560 h 1038862"/>
                  <a:gd name="connsiteX140" fmla="*/ 2093220 w 2259925"/>
                  <a:gd name="connsiteY140" fmla="*/ 624380 h 1038862"/>
                  <a:gd name="connsiteX141" fmla="*/ 2076775 w 2259925"/>
                  <a:gd name="connsiteY141" fmla="*/ 627084 h 1038862"/>
                  <a:gd name="connsiteX142" fmla="*/ 2038404 w 2259925"/>
                  <a:gd name="connsiteY142" fmla="*/ 608150 h 1038862"/>
                  <a:gd name="connsiteX143" fmla="*/ 2030181 w 2259925"/>
                  <a:gd name="connsiteY143" fmla="*/ 593273 h 1038862"/>
                  <a:gd name="connsiteX144" fmla="*/ 2031552 w 2259925"/>
                  <a:gd name="connsiteY144" fmla="*/ 589216 h 1038862"/>
                  <a:gd name="connsiteX145" fmla="*/ 1991810 w 2259925"/>
                  <a:gd name="connsiteY145" fmla="*/ 572986 h 1038862"/>
                  <a:gd name="connsiteX146" fmla="*/ 1983587 w 2259925"/>
                  <a:gd name="connsiteY146" fmla="*/ 556756 h 1038862"/>
                  <a:gd name="connsiteX147" fmla="*/ 1989069 w 2259925"/>
                  <a:gd name="connsiteY147" fmla="*/ 529707 h 1038862"/>
                  <a:gd name="connsiteX148" fmla="*/ 2000032 w 2259925"/>
                  <a:gd name="connsiteY148" fmla="*/ 518887 h 1038862"/>
                  <a:gd name="connsiteX149" fmla="*/ 1925562 w 2259925"/>
                  <a:gd name="connsiteY149" fmla="*/ 502808 h 1038862"/>
                  <a:gd name="connsiteX150" fmla="*/ 1947738 w 2259925"/>
                  <a:gd name="connsiteY150" fmla="*/ 502808 h 1038862"/>
                  <a:gd name="connsiteX151" fmla="*/ 1961599 w 2259925"/>
                  <a:gd name="connsiteY151" fmla="*/ 516444 h 1038862"/>
                  <a:gd name="connsiteX152" fmla="*/ 1947738 w 2259925"/>
                  <a:gd name="connsiteY152" fmla="*/ 531444 h 1038862"/>
                  <a:gd name="connsiteX153" fmla="*/ 1935264 w 2259925"/>
                  <a:gd name="connsiteY153" fmla="*/ 531444 h 1038862"/>
                  <a:gd name="connsiteX154" fmla="*/ 1920018 w 2259925"/>
                  <a:gd name="connsiteY154" fmla="*/ 568261 h 1038862"/>
                  <a:gd name="connsiteX155" fmla="*/ 1906157 w 2259925"/>
                  <a:gd name="connsiteY155" fmla="*/ 576443 h 1038862"/>
                  <a:gd name="connsiteX156" fmla="*/ 1900613 w 2259925"/>
                  <a:gd name="connsiteY156" fmla="*/ 575080 h 1038862"/>
                  <a:gd name="connsiteX157" fmla="*/ 1893683 w 2259925"/>
                  <a:gd name="connsiteY157" fmla="*/ 557352 h 1038862"/>
                  <a:gd name="connsiteX158" fmla="*/ 1911701 w 2259925"/>
                  <a:gd name="connsiteY158" fmla="*/ 510989 h 1038862"/>
                  <a:gd name="connsiteX159" fmla="*/ 1925562 w 2259925"/>
                  <a:gd name="connsiteY159" fmla="*/ 502808 h 1038862"/>
                  <a:gd name="connsiteX160" fmla="*/ 1690287 w 2259925"/>
                  <a:gd name="connsiteY160" fmla="*/ 469187 h 1038862"/>
                  <a:gd name="connsiteX161" fmla="*/ 1698783 w 2259925"/>
                  <a:gd name="connsiteY161" fmla="*/ 472973 h 1038862"/>
                  <a:gd name="connsiteX162" fmla="*/ 1757237 w 2259925"/>
                  <a:gd name="connsiteY162" fmla="*/ 534922 h 1038862"/>
                  <a:gd name="connsiteX163" fmla="*/ 1761315 w 2259925"/>
                  <a:gd name="connsiteY163" fmla="*/ 547311 h 1038862"/>
                  <a:gd name="connsiteX164" fmla="*/ 1754518 w 2259925"/>
                  <a:gd name="connsiteY164" fmla="*/ 583104 h 1038862"/>
                  <a:gd name="connsiteX165" fmla="*/ 1743643 w 2259925"/>
                  <a:gd name="connsiteY165" fmla="*/ 594117 h 1038862"/>
                  <a:gd name="connsiteX166" fmla="*/ 1740924 w 2259925"/>
                  <a:gd name="connsiteY166" fmla="*/ 594117 h 1038862"/>
                  <a:gd name="connsiteX167" fmla="*/ 1730049 w 2259925"/>
                  <a:gd name="connsiteY167" fmla="*/ 589987 h 1038862"/>
                  <a:gd name="connsiteX168" fmla="*/ 1713737 w 2259925"/>
                  <a:gd name="connsiteY168" fmla="*/ 572091 h 1038862"/>
                  <a:gd name="connsiteX169" fmla="*/ 1709659 w 2259925"/>
                  <a:gd name="connsiteY169" fmla="*/ 566584 h 1038862"/>
                  <a:gd name="connsiteX170" fmla="*/ 1697424 w 2259925"/>
                  <a:gd name="connsiteY170" fmla="*/ 522532 h 1038862"/>
                  <a:gd name="connsiteX171" fmla="*/ 1677033 w 2259925"/>
                  <a:gd name="connsiteY171" fmla="*/ 490869 h 1038862"/>
                  <a:gd name="connsiteX172" fmla="*/ 1679752 w 2259925"/>
                  <a:gd name="connsiteY172" fmla="*/ 471596 h 1038862"/>
                  <a:gd name="connsiteX173" fmla="*/ 1690287 w 2259925"/>
                  <a:gd name="connsiteY173" fmla="*/ 469187 h 1038862"/>
                  <a:gd name="connsiteX174" fmla="*/ 1876320 w 2259925"/>
                  <a:gd name="connsiteY174" fmla="*/ 438012 h 1038862"/>
                  <a:gd name="connsiteX175" fmla="*/ 1907467 w 2259925"/>
                  <a:gd name="connsiteY175" fmla="*/ 468343 h 1038862"/>
                  <a:gd name="connsiteX176" fmla="*/ 1910175 w 2259925"/>
                  <a:gd name="connsiteY176" fmla="*/ 480751 h 1038862"/>
                  <a:gd name="connsiteX177" fmla="*/ 1884445 w 2259925"/>
                  <a:gd name="connsiteY177" fmla="*/ 557957 h 1038862"/>
                  <a:gd name="connsiteX178" fmla="*/ 1870904 w 2259925"/>
                  <a:gd name="connsiteY178" fmla="*/ 567607 h 1038862"/>
                  <a:gd name="connsiteX179" fmla="*/ 1868195 w 2259925"/>
                  <a:gd name="connsiteY179" fmla="*/ 567607 h 1038862"/>
                  <a:gd name="connsiteX180" fmla="*/ 1815382 w 2259925"/>
                  <a:gd name="connsiteY180" fmla="*/ 552442 h 1038862"/>
                  <a:gd name="connsiteX181" fmla="*/ 1805903 w 2259925"/>
                  <a:gd name="connsiteY181" fmla="*/ 544170 h 1038862"/>
                  <a:gd name="connsiteX182" fmla="*/ 1795069 w 2259925"/>
                  <a:gd name="connsiteY182" fmla="*/ 515218 h 1038862"/>
                  <a:gd name="connsiteX183" fmla="*/ 1795069 w 2259925"/>
                  <a:gd name="connsiteY183" fmla="*/ 504188 h 1038862"/>
                  <a:gd name="connsiteX184" fmla="*/ 1803194 w 2259925"/>
                  <a:gd name="connsiteY184" fmla="*/ 495916 h 1038862"/>
                  <a:gd name="connsiteX185" fmla="*/ 1824861 w 2259925"/>
                  <a:gd name="connsiteY185" fmla="*/ 487644 h 1038862"/>
                  <a:gd name="connsiteX186" fmla="*/ 1843820 w 2259925"/>
                  <a:gd name="connsiteY186" fmla="*/ 465585 h 1038862"/>
                  <a:gd name="connsiteX187" fmla="*/ 1876320 w 2259925"/>
                  <a:gd name="connsiteY187" fmla="*/ 438012 h 1038862"/>
                  <a:gd name="connsiteX188" fmla="*/ 2043368 w 2259925"/>
                  <a:gd name="connsiteY188" fmla="*/ 420340 h 1038862"/>
                  <a:gd name="connsiteX189" fmla="*/ 2058796 w 2259925"/>
                  <a:gd name="connsiteY189" fmla="*/ 433934 h 1038862"/>
                  <a:gd name="connsiteX190" fmla="*/ 2058796 w 2259925"/>
                  <a:gd name="connsiteY190" fmla="*/ 442090 h 1038862"/>
                  <a:gd name="connsiteX191" fmla="*/ 2043368 w 2259925"/>
                  <a:gd name="connsiteY191" fmla="*/ 455684 h 1038862"/>
                  <a:gd name="connsiteX192" fmla="*/ 2029343 w 2259925"/>
                  <a:gd name="connsiteY192" fmla="*/ 442090 h 1038862"/>
                  <a:gd name="connsiteX193" fmla="*/ 2029343 w 2259925"/>
                  <a:gd name="connsiteY193" fmla="*/ 433934 h 1038862"/>
                  <a:gd name="connsiteX194" fmla="*/ 2043368 w 2259925"/>
                  <a:gd name="connsiteY194" fmla="*/ 420340 h 1038862"/>
                  <a:gd name="connsiteX195" fmla="*/ 1953568 w 2259925"/>
                  <a:gd name="connsiteY195" fmla="*/ 411331 h 1038862"/>
                  <a:gd name="connsiteX196" fmla="*/ 1969633 w 2259925"/>
                  <a:gd name="connsiteY196" fmla="*/ 412717 h 1038862"/>
                  <a:gd name="connsiteX197" fmla="*/ 1974988 w 2259925"/>
                  <a:gd name="connsiteY197" fmla="*/ 427963 h 1038862"/>
                  <a:gd name="connsiteX198" fmla="*/ 1962939 w 2259925"/>
                  <a:gd name="connsiteY198" fmla="*/ 469545 h 1038862"/>
                  <a:gd name="connsiteX199" fmla="*/ 1952229 w 2259925"/>
                  <a:gd name="connsiteY199" fmla="*/ 479247 h 1038862"/>
                  <a:gd name="connsiteX200" fmla="*/ 1949551 w 2259925"/>
                  <a:gd name="connsiteY200" fmla="*/ 479247 h 1038862"/>
                  <a:gd name="connsiteX201" fmla="*/ 1938841 w 2259925"/>
                  <a:gd name="connsiteY201" fmla="*/ 475089 h 1038862"/>
                  <a:gd name="connsiteX202" fmla="*/ 1921437 w 2259925"/>
                  <a:gd name="connsiteY202" fmla="*/ 454298 h 1038862"/>
                  <a:gd name="connsiteX203" fmla="*/ 1917420 w 2259925"/>
                  <a:gd name="connsiteY203" fmla="*/ 443210 h 1038862"/>
                  <a:gd name="connsiteX204" fmla="*/ 1924114 w 2259925"/>
                  <a:gd name="connsiteY204" fmla="*/ 432121 h 1038862"/>
                  <a:gd name="connsiteX205" fmla="*/ 1953568 w 2259925"/>
                  <a:gd name="connsiteY205" fmla="*/ 411331 h 1038862"/>
                  <a:gd name="connsiteX206" fmla="*/ 1905534 w 2259925"/>
                  <a:gd name="connsiteY206" fmla="*/ 398157 h 1038862"/>
                  <a:gd name="connsiteX207" fmla="*/ 1916407 w 2259925"/>
                  <a:gd name="connsiteY207" fmla="*/ 400919 h 1038862"/>
                  <a:gd name="connsiteX208" fmla="*/ 1917788 w 2259925"/>
                  <a:gd name="connsiteY208" fmla="*/ 421629 h 1038862"/>
                  <a:gd name="connsiteX209" fmla="*/ 1906742 w 2259925"/>
                  <a:gd name="connsiteY209" fmla="*/ 435435 h 1038862"/>
                  <a:gd name="connsiteX210" fmla="*/ 1895697 w 2259925"/>
                  <a:gd name="connsiteY210" fmla="*/ 440958 h 1038862"/>
                  <a:gd name="connsiteX211" fmla="*/ 1887413 w 2259925"/>
                  <a:gd name="connsiteY211" fmla="*/ 436816 h 1038862"/>
                  <a:gd name="connsiteX212" fmla="*/ 1884652 w 2259925"/>
                  <a:gd name="connsiteY212" fmla="*/ 417487 h 1038862"/>
                  <a:gd name="connsiteX213" fmla="*/ 1895697 w 2259925"/>
                  <a:gd name="connsiteY213" fmla="*/ 403680 h 1038862"/>
                  <a:gd name="connsiteX214" fmla="*/ 1905534 w 2259925"/>
                  <a:gd name="connsiteY214" fmla="*/ 398157 h 1038862"/>
                  <a:gd name="connsiteX215" fmla="*/ 225483 w 2259925"/>
                  <a:gd name="connsiteY215" fmla="*/ 352344 h 1038862"/>
                  <a:gd name="connsiteX216" fmla="*/ 242501 w 2259925"/>
                  <a:gd name="connsiteY216" fmla="*/ 361769 h 1038862"/>
                  <a:gd name="connsiteX217" fmla="*/ 249046 w 2259925"/>
                  <a:gd name="connsiteY217" fmla="*/ 379273 h 1038862"/>
                  <a:gd name="connsiteX218" fmla="*/ 239883 w 2259925"/>
                  <a:gd name="connsiteY218" fmla="*/ 396777 h 1038862"/>
                  <a:gd name="connsiteX219" fmla="*/ 235956 w 2259925"/>
                  <a:gd name="connsiteY219" fmla="*/ 396777 h 1038862"/>
                  <a:gd name="connsiteX220" fmla="*/ 222865 w 2259925"/>
                  <a:gd name="connsiteY220" fmla="*/ 387352 h 1038862"/>
                  <a:gd name="connsiteX221" fmla="*/ 217629 w 2259925"/>
                  <a:gd name="connsiteY221" fmla="*/ 369848 h 1038862"/>
                  <a:gd name="connsiteX222" fmla="*/ 225483 w 2259925"/>
                  <a:gd name="connsiteY222" fmla="*/ 352344 h 1038862"/>
                  <a:gd name="connsiteX223" fmla="*/ 161487 w 2259925"/>
                  <a:gd name="connsiteY223" fmla="*/ 315725 h 1038862"/>
                  <a:gd name="connsiteX224" fmla="*/ 209019 w 2259925"/>
                  <a:gd name="connsiteY224" fmla="*/ 322816 h 1038862"/>
                  <a:gd name="connsiteX225" fmla="*/ 219582 w 2259925"/>
                  <a:gd name="connsiteY225" fmla="*/ 339834 h 1038862"/>
                  <a:gd name="connsiteX226" fmla="*/ 206378 w 2259925"/>
                  <a:gd name="connsiteY226" fmla="*/ 352597 h 1038862"/>
                  <a:gd name="connsiteX227" fmla="*/ 205058 w 2259925"/>
                  <a:gd name="connsiteY227" fmla="*/ 352597 h 1038862"/>
                  <a:gd name="connsiteX228" fmla="*/ 157526 w 2259925"/>
                  <a:gd name="connsiteY228" fmla="*/ 344088 h 1038862"/>
                  <a:gd name="connsiteX229" fmla="*/ 145643 w 2259925"/>
                  <a:gd name="connsiteY229" fmla="*/ 328489 h 1038862"/>
                  <a:gd name="connsiteX230" fmla="*/ 161487 w 2259925"/>
                  <a:gd name="connsiteY230" fmla="*/ 315725 h 1038862"/>
                  <a:gd name="connsiteX231" fmla="*/ 13723 w 2259925"/>
                  <a:gd name="connsiteY231" fmla="*/ 287800 h 1038862"/>
                  <a:gd name="connsiteX232" fmla="*/ 56263 w 2259925"/>
                  <a:gd name="connsiteY232" fmla="*/ 287800 h 1038862"/>
                  <a:gd name="connsiteX233" fmla="*/ 63124 w 2259925"/>
                  <a:gd name="connsiteY233" fmla="*/ 289165 h 1038862"/>
                  <a:gd name="connsiteX234" fmla="*/ 82336 w 2259925"/>
                  <a:gd name="connsiteY234" fmla="*/ 300085 h 1038862"/>
                  <a:gd name="connsiteX235" fmla="*/ 111154 w 2259925"/>
                  <a:gd name="connsiteY235" fmla="*/ 311004 h 1038862"/>
                  <a:gd name="connsiteX236" fmla="*/ 119388 w 2259925"/>
                  <a:gd name="connsiteY236" fmla="*/ 326018 h 1038862"/>
                  <a:gd name="connsiteX237" fmla="*/ 107037 w 2259925"/>
                  <a:gd name="connsiteY237" fmla="*/ 338303 h 1038862"/>
                  <a:gd name="connsiteX238" fmla="*/ 53519 w 2259925"/>
                  <a:gd name="connsiteY238" fmla="*/ 343762 h 1038862"/>
                  <a:gd name="connsiteX239" fmla="*/ 52146 w 2259925"/>
                  <a:gd name="connsiteY239" fmla="*/ 343762 h 1038862"/>
                  <a:gd name="connsiteX240" fmla="*/ 38424 w 2259925"/>
                  <a:gd name="connsiteY240" fmla="*/ 331478 h 1038862"/>
                  <a:gd name="connsiteX241" fmla="*/ 50774 w 2259925"/>
                  <a:gd name="connsiteY241" fmla="*/ 316464 h 1038862"/>
                  <a:gd name="connsiteX242" fmla="*/ 53519 w 2259925"/>
                  <a:gd name="connsiteY242" fmla="*/ 316464 h 1038862"/>
                  <a:gd name="connsiteX243" fmla="*/ 52146 w 2259925"/>
                  <a:gd name="connsiteY243" fmla="*/ 315099 h 1038862"/>
                  <a:gd name="connsiteX244" fmla="*/ 13723 w 2259925"/>
                  <a:gd name="connsiteY244" fmla="*/ 315099 h 1038862"/>
                  <a:gd name="connsiteX245" fmla="*/ 0 w 2259925"/>
                  <a:gd name="connsiteY245" fmla="*/ 301450 h 1038862"/>
                  <a:gd name="connsiteX246" fmla="*/ 13723 w 2259925"/>
                  <a:gd name="connsiteY246" fmla="*/ 287800 h 1038862"/>
                  <a:gd name="connsiteX247" fmla="*/ 2026643 w 2259925"/>
                  <a:gd name="connsiteY247" fmla="*/ 116970 h 1038862"/>
                  <a:gd name="connsiteX248" fmla="*/ 2037770 w 2259925"/>
                  <a:gd name="connsiteY248" fmla="*/ 125232 h 1038862"/>
                  <a:gd name="connsiteX249" fmla="*/ 2054460 w 2259925"/>
                  <a:gd name="connsiteY249" fmla="*/ 155527 h 1038862"/>
                  <a:gd name="connsiteX250" fmla="*/ 2055851 w 2259925"/>
                  <a:gd name="connsiteY250" fmla="*/ 161035 h 1038862"/>
                  <a:gd name="connsiteX251" fmla="*/ 2030816 w 2259925"/>
                  <a:gd name="connsiteY251" fmla="*/ 203724 h 1038862"/>
                  <a:gd name="connsiteX252" fmla="*/ 1975181 w 2259925"/>
                  <a:gd name="connsiteY252" fmla="*/ 223002 h 1038862"/>
                  <a:gd name="connsiteX253" fmla="*/ 1971009 w 2259925"/>
                  <a:gd name="connsiteY253" fmla="*/ 223002 h 1038862"/>
                  <a:gd name="connsiteX254" fmla="*/ 1958491 w 2259925"/>
                  <a:gd name="connsiteY254" fmla="*/ 217494 h 1038862"/>
                  <a:gd name="connsiteX255" fmla="*/ 1959882 w 2259925"/>
                  <a:gd name="connsiteY255" fmla="*/ 200970 h 1038862"/>
                  <a:gd name="connsiteX256" fmla="*/ 1986308 w 2259925"/>
                  <a:gd name="connsiteY256" fmla="*/ 169298 h 1038862"/>
                  <a:gd name="connsiteX257" fmla="*/ 2012734 w 2259925"/>
                  <a:gd name="connsiteY257" fmla="*/ 123855 h 1038862"/>
                  <a:gd name="connsiteX258" fmla="*/ 2026643 w 2259925"/>
                  <a:gd name="connsiteY258" fmla="*/ 116970 h 1038862"/>
                  <a:gd name="connsiteX259" fmla="*/ 1998723 w 2259925"/>
                  <a:gd name="connsiteY259" fmla="*/ 59433 h 1038862"/>
                  <a:gd name="connsiteX260" fmla="*/ 2043182 w 2259925"/>
                  <a:gd name="connsiteY260" fmla="*/ 74502 h 1038862"/>
                  <a:gd name="connsiteX261" fmla="*/ 2052907 w 2259925"/>
                  <a:gd name="connsiteY261" fmla="*/ 86831 h 1038862"/>
                  <a:gd name="connsiteX262" fmla="*/ 2043182 w 2259925"/>
                  <a:gd name="connsiteY262" fmla="*/ 100531 h 1038862"/>
                  <a:gd name="connsiteX263" fmla="*/ 2009838 w 2259925"/>
                  <a:gd name="connsiteY263" fmla="*/ 115600 h 1038862"/>
                  <a:gd name="connsiteX264" fmla="*/ 2004280 w 2259925"/>
                  <a:gd name="connsiteY264" fmla="*/ 116970 h 1038862"/>
                  <a:gd name="connsiteX265" fmla="*/ 1998723 w 2259925"/>
                  <a:gd name="connsiteY265" fmla="*/ 115600 h 1038862"/>
                  <a:gd name="connsiteX266" fmla="*/ 1990387 w 2259925"/>
                  <a:gd name="connsiteY266" fmla="*/ 106010 h 1038862"/>
                  <a:gd name="connsiteX267" fmla="*/ 1980661 w 2259925"/>
                  <a:gd name="connsiteY267" fmla="*/ 77242 h 1038862"/>
                  <a:gd name="connsiteX268" fmla="*/ 1984829 w 2259925"/>
                  <a:gd name="connsiteY268" fmla="*/ 63542 h 1038862"/>
                  <a:gd name="connsiteX269" fmla="*/ 1998723 w 2259925"/>
                  <a:gd name="connsiteY269" fmla="*/ 59433 h 1038862"/>
                  <a:gd name="connsiteX270" fmla="*/ 365788 w 2259925"/>
                  <a:gd name="connsiteY270" fmla="*/ 1938 h 1038862"/>
                  <a:gd name="connsiteX271" fmla="*/ 371303 w 2259925"/>
                  <a:gd name="connsiteY271" fmla="*/ 20020 h 1038862"/>
                  <a:gd name="connsiteX272" fmla="*/ 365788 w 2259925"/>
                  <a:gd name="connsiteY272" fmla="*/ 31147 h 1038862"/>
                  <a:gd name="connsiteX273" fmla="*/ 371303 w 2259925"/>
                  <a:gd name="connsiteY273" fmla="*/ 42274 h 1038862"/>
                  <a:gd name="connsiteX274" fmla="*/ 371303 w 2259925"/>
                  <a:gd name="connsiteY274" fmla="*/ 49228 h 1038862"/>
                  <a:gd name="connsiteX275" fmla="*/ 312019 w 2259925"/>
                  <a:gd name="connsiteY275" fmla="*/ 49228 h 1038862"/>
                  <a:gd name="connsiteX276" fmla="*/ 310641 w 2259925"/>
                  <a:gd name="connsiteY276" fmla="*/ 45056 h 1038862"/>
                  <a:gd name="connsiteX277" fmla="*/ 316155 w 2259925"/>
                  <a:gd name="connsiteY277" fmla="*/ 29756 h 1038862"/>
                  <a:gd name="connsiteX278" fmla="*/ 349244 w 2259925"/>
                  <a:gd name="connsiteY278" fmla="*/ 3329 h 1038862"/>
                  <a:gd name="connsiteX279" fmla="*/ 365788 w 2259925"/>
                  <a:gd name="connsiteY279" fmla="*/ 1938 h 103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2259925" h="1038862">
                    <a:moveTo>
                      <a:pt x="1974262" y="960697"/>
                    </a:moveTo>
                    <a:cubicBezTo>
                      <a:pt x="1976913" y="962056"/>
                      <a:pt x="1987516" y="962056"/>
                      <a:pt x="1995469" y="963415"/>
                    </a:cubicBezTo>
                    <a:cubicBezTo>
                      <a:pt x="2000770" y="963415"/>
                      <a:pt x="2004747" y="967494"/>
                      <a:pt x="2006072" y="972931"/>
                    </a:cubicBezTo>
                    <a:cubicBezTo>
                      <a:pt x="2008723" y="978369"/>
                      <a:pt x="2007397" y="983806"/>
                      <a:pt x="2003421" y="987884"/>
                    </a:cubicBezTo>
                    <a:cubicBezTo>
                      <a:pt x="1983540" y="1008275"/>
                      <a:pt x="1983540" y="1008275"/>
                      <a:pt x="1983540" y="1008275"/>
                    </a:cubicBezTo>
                    <a:cubicBezTo>
                      <a:pt x="1980889" y="1010994"/>
                      <a:pt x="1976913" y="1012353"/>
                      <a:pt x="1972937" y="1012353"/>
                    </a:cubicBezTo>
                    <a:cubicBezTo>
                      <a:pt x="1971612" y="1012353"/>
                      <a:pt x="1970286" y="1012353"/>
                      <a:pt x="1968961" y="1010994"/>
                    </a:cubicBezTo>
                    <a:cubicBezTo>
                      <a:pt x="1964985" y="1009634"/>
                      <a:pt x="1961008" y="1005556"/>
                      <a:pt x="1959683" y="1000119"/>
                    </a:cubicBezTo>
                    <a:cubicBezTo>
                      <a:pt x="1955707" y="977009"/>
                      <a:pt x="1955707" y="977009"/>
                      <a:pt x="1955707" y="977009"/>
                    </a:cubicBezTo>
                    <a:cubicBezTo>
                      <a:pt x="1955707" y="971572"/>
                      <a:pt x="1957032" y="966134"/>
                      <a:pt x="1961008" y="963415"/>
                    </a:cubicBezTo>
                    <a:cubicBezTo>
                      <a:pt x="1964985" y="960697"/>
                      <a:pt x="1970286" y="959337"/>
                      <a:pt x="1974262" y="960697"/>
                    </a:cubicBezTo>
                    <a:close/>
                    <a:moveTo>
                      <a:pt x="2161818" y="954802"/>
                    </a:moveTo>
                    <a:cubicBezTo>
                      <a:pt x="2165852" y="956158"/>
                      <a:pt x="2168541" y="958869"/>
                      <a:pt x="2169886" y="962937"/>
                    </a:cubicBezTo>
                    <a:cubicBezTo>
                      <a:pt x="2173920" y="979207"/>
                      <a:pt x="2173920" y="979207"/>
                      <a:pt x="2173920" y="979207"/>
                    </a:cubicBezTo>
                    <a:cubicBezTo>
                      <a:pt x="2176609" y="984630"/>
                      <a:pt x="2173920" y="992765"/>
                      <a:pt x="2167197" y="995476"/>
                    </a:cubicBezTo>
                    <a:cubicBezTo>
                      <a:pt x="2074419" y="1037506"/>
                      <a:pt x="2074419" y="1037506"/>
                      <a:pt x="2074419" y="1037506"/>
                    </a:cubicBezTo>
                    <a:cubicBezTo>
                      <a:pt x="2073074" y="1038862"/>
                      <a:pt x="2070385" y="1038862"/>
                      <a:pt x="2069040" y="1038862"/>
                    </a:cubicBezTo>
                    <a:cubicBezTo>
                      <a:pt x="2063662" y="1038862"/>
                      <a:pt x="2059628" y="1036151"/>
                      <a:pt x="2056939" y="1032083"/>
                    </a:cubicBezTo>
                    <a:cubicBezTo>
                      <a:pt x="2052905" y="1025304"/>
                      <a:pt x="2055594" y="1017169"/>
                      <a:pt x="2060973" y="1013102"/>
                    </a:cubicBezTo>
                    <a:cubicBezTo>
                      <a:pt x="2149717" y="956158"/>
                      <a:pt x="2149717" y="956158"/>
                      <a:pt x="2149717" y="956158"/>
                    </a:cubicBezTo>
                    <a:cubicBezTo>
                      <a:pt x="2152406" y="953446"/>
                      <a:pt x="2157785" y="953446"/>
                      <a:pt x="2161818" y="954802"/>
                    </a:cubicBezTo>
                    <a:close/>
                    <a:moveTo>
                      <a:pt x="2226681" y="892949"/>
                    </a:moveTo>
                    <a:cubicBezTo>
                      <a:pt x="2232036" y="892949"/>
                      <a:pt x="2237392" y="897016"/>
                      <a:pt x="2238730" y="902439"/>
                    </a:cubicBezTo>
                    <a:cubicBezTo>
                      <a:pt x="2242747" y="917353"/>
                      <a:pt x="2242747" y="917353"/>
                      <a:pt x="2242747" y="917353"/>
                    </a:cubicBezTo>
                    <a:cubicBezTo>
                      <a:pt x="2248102" y="917353"/>
                      <a:pt x="2252119" y="921421"/>
                      <a:pt x="2254796" y="926844"/>
                    </a:cubicBezTo>
                    <a:cubicBezTo>
                      <a:pt x="2256135" y="932267"/>
                      <a:pt x="2254796" y="939046"/>
                      <a:pt x="2249441" y="943114"/>
                    </a:cubicBezTo>
                    <a:cubicBezTo>
                      <a:pt x="2205260" y="974298"/>
                      <a:pt x="2205260" y="974298"/>
                      <a:pt x="2205260" y="974298"/>
                    </a:cubicBezTo>
                    <a:cubicBezTo>
                      <a:pt x="2202582" y="975653"/>
                      <a:pt x="2199905" y="977009"/>
                      <a:pt x="2197227" y="977009"/>
                    </a:cubicBezTo>
                    <a:cubicBezTo>
                      <a:pt x="2194549" y="977009"/>
                      <a:pt x="2190533" y="975653"/>
                      <a:pt x="2189194" y="974298"/>
                    </a:cubicBezTo>
                    <a:cubicBezTo>
                      <a:pt x="2183839" y="970230"/>
                      <a:pt x="2182500" y="963451"/>
                      <a:pt x="2185178" y="956672"/>
                    </a:cubicBezTo>
                    <a:cubicBezTo>
                      <a:pt x="2213293" y="899728"/>
                      <a:pt x="2213293" y="899728"/>
                      <a:pt x="2213293" y="899728"/>
                    </a:cubicBezTo>
                    <a:cubicBezTo>
                      <a:pt x="2214632" y="894304"/>
                      <a:pt x="2221326" y="891593"/>
                      <a:pt x="2226681" y="892949"/>
                    </a:cubicBezTo>
                    <a:close/>
                    <a:moveTo>
                      <a:pt x="1932483" y="653021"/>
                    </a:moveTo>
                    <a:cubicBezTo>
                      <a:pt x="1984111" y="657093"/>
                      <a:pt x="1984111" y="657093"/>
                      <a:pt x="1984111" y="657093"/>
                    </a:cubicBezTo>
                    <a:cubicBezTo>
                      <a:pt x="1988187" y="658450"/>
                      <a:pt x="1992263" y="659807"/>
                      <a:pt x="1993621" y="663879"/>
                    </a:cubicBezTo>
                    <a:cubicBezTo>
                      <a:pt x="1996338" y="667951"/>
                      <a:pt x="1997697" y="672023"/>
                      <a:pt x="1996338" y="676095"/>
                    </a:cubicBezTo>
                    <a:cubicBezTo>
                      <a:pt x="1992263" y="685596"/>
                      <a:pt x="1992263" y="685596"/>
                      <a:pt x="1992263" y="685596"/>
                    </a:cubicBezTo>
                    <a:cubicBezTo>
                      <a:pt x="2011283" y="692382"/>
                      <a:pt x="2011283" y="692382"/>
                      <a:pt x="2011283" y="692382"/>
                    </a:cubicBezTo>
                    <a:cubicBezTo>
                      <a:pt x="2028946" y="659807"/>
                      <a:pt x="2028946" y="659807"/>
                      <a:pt x="2028946" y="659807"/>
                    </a:cubicBezTo>
                    <a:cubicBezTo>
                      <a:pt x="2031663" y="655735"/>
                      <a:pt x="2035739" y="654378"/>
                      <a:pt x="2039815" y="653021"/>
                    </a:cubicBezTo>
                    <a:cubicBezTo>
                      <a:pt x="2043890" y="653021"/>
                      <a:pt x="2047966" y="653021"/>
                      <a:pt x="2050684" y="657093"/>
                    </a:cubicBezTo>
                    <a:cubicBezTo>
                      <a:pt x="2073780" y="677452"/>
                      <a:pt x="2073780" y="677452"/>
                      <a:pt x="2073780" y="677452"/>
                    </a:cubicBezTo>
                    <a:cubicBezTo>
                      <a:pt x="2076498" y="678809"/>
                      <a:pt x="2077856" y="681524"/>
                      <a:pt x="2079215" y="684239"/>
                    </a:cubicBezTo>
                    <a:cubicBezTo>
                      <a:pt x="2088725" y="734459"/>
                      <a:pt x="2088725" y="734459"/>
                      <a:pt x="2088725" y="734459"/>
                    </a:cubicBezTo>
                    <a:cubicBezTo>
                      <a:pt x="2125408" y="791465"/>
                      <a:pt x="2125408" y="791465"/>
                      <a:pt x="2125408" y="791465"/>
                    </a:cubicBezTo>
                    <a:cubicBezTo>
                      <a:pt x="2128126" y="795537"/>
                      <a:pt x="2129484" y="800966"/>
                      <a:pt x="2126767" y="806396"/>
                    </a:cubicBezTo>
                    <a:cubicBezTo>
                      <a:pt x="2087367" y="883762"/>
                      <a:pt x="2087367" y="883762"/>
                      <a:pt x="2087367" y="883762"/>
                    </a:cubicBezTo>
                    <a:cubicBezTo>
                      <a:pt x="2086008" y="885119"/>
                      <a:pt x="2084649" y="886476"/>
                      <a:pt x="2083291" y="887834"/>
                    </a:cubicBezTo>
                    <a:cubicBezTo>
                      <a:pt x="2034380" y="929910"/>
                      <a:pt x="2034380" y="929910"/>
                      <a:pt x="2034380" y="929910"/>
                    </a:cubicBezTo>
                    <a:cubicBezTo>
                      <a:pt x="2033021" y="931268"/>
                      <a:pt x="2031663" y="931268"/>
                      <a:pt x="2028946" y="932625"/>
                    </a:cubicBezTo>
                    <a:cubicBezTo>
                      <a:pt x="1982752" y="947555"/>
                      <a:pt x="1982752" y="947555"/>
                      <a:pt x="1982752" y="947555"/>
                    </a:cubicBezTo>
                    <a:cubicBezTo>
                      <a:pt x="1981394" y="947555"/>
                      <a:pt x="1980035" y="947555"/>
                      <a:pt x="1978676" y="947555"/>
                    </a:cubicBezTo>
                    <a:cubicBezTo>
                      <a:pt x="1977318" y="947555"/>
                      <a:pt x="1974600" y="947555"/>
                      <a:pt x="1973242" y="946198"/>
                    </a:cubicBezTo>
                    <a:cubicBezTo>
                      <a:pt x="1946069" y="935340"/>
                      <a:pt x="1935200" y="928553"/>
                      <a:pt x="1933841" y="919052"/>
                    </a:cubicBezTo>
                    <a:cubicBezTo>
                      <a:pt x="1931124" y="914980"/>
                      <a:pt x="1924331" y="902764"/>
                      <a:pt x="1917538" y="891905"/>
                    </a:cubicBezTo>
                    <a:cubicBezTo>
                      <a:pt x="1883572" y="864759"/>
                      <a:pt x="1883572" y="864759"/>
                      <a:pt x="1883572" y="864759"/>
                    </a:cubicBezTo>
                    <a:cubicBezTo>
                      <a:pt x="1814282" y="900050"/>
                      <a:pt x="1814282" y="900050"/>
                      <a:pt x="1814282" y="900050"/>
                    </a:cubicBezTo>
                    <a:cubicBezTo>
                      <a:pt x="1812923" y="901407"/>
                      <a:pt x="1811565" y="901407"/>
                      <a:pt x="1808847" y="901407"/>
                    </a:cubicBezTo>
                    <a:cubicBezTo>
                      <a:pt x="1740916" y="905479"/>
                      <a:pt x="1740916" y="905479"/>
                      <a:pt x="1740916" y="905479"/>
                    </a:cubicBezTo>
                    <a:cubicBezTo>
                      <a:pt x="1735481" y="905479"/>
                      <a:pt x="1731405" y="902764"/>
                      <a:pt x="1728688" y="898692"/>
                    </a:cubicBezTo>
                    <a:cubicBezTo>
                      <a:pt x="1725971" y="894621"/>
                      <a:pt x="1725971" y="889191"/>
                      <a:pt x="1727330" y="885119"/>
                    </a:cubicBezTo>
                    <a:cubicBezTo>
                      <a:pt x="1736840" y="867474"/>
                      <a:pt x="1736840" y="867474"/>
                      <a:pt x="1736840" y="867474"/>
                    </a:cubicBezTo>
                    <a:cubicBezTo>
                      <a:pt x="1743633" y="762962"/>
                      <a:pt x="1743633" y="762962"/>
                      <a:pt x="1743633" y="762962"/>
                    </a:cubicBezTo>
                    <a:cubicBezTo>
                      <a:pt x="1743633" y="756176"/>
                      <a:pt x="1747709" y="752104"/>
                      <a:pt x="1754502" y="750746"/>
                    </a:cubicBezTo>
                    <a:cubicBezTo>
                      <a:pt x="1810206" y="735816"/>
                      <a:pt x="1810206" y="735816"/>
                      <a:pt x="1810206" y="735816"/>
                    </a:cubicBezTo>
                    <a:cubicBezTo>
                      <a:pt x="1827868" y="716814"/>
                      <a:pt x="1827868" y="716814"/>
                      <a:pt x="1827868" y="716814"/>
                    </a:cubicBezTo>
                    <a:cubicBezTo>
                      <a:pt x="1827868" y="716814"/>
                      <a:pt x="1827868" y="715457"/>
                      <a:pt x="1829227" y="715457"/>
                    </a:cubicBezTo>
                    <a:cubicBezTo>
                      <a:pt x="1882213" y="676095"/>
                      <a:pt x="1882213" y="676095"/>
                      <a:pt x="1882213" y="676095"/>
                    </a:cubicBezTo>
                    <a:cubicBezTo>
                      <a:pt x="1886289" y="672023"/>
                      <a:pt x="1891724" y="672023"/>
                      <a:pt x="1897158" y="674738"/>
                    </a:cubicBezTo>
                    <a:cubicBezTo>
                      <a:pt x="1909386" y="681524"/>
                      <a:pt x="1909386" y="681524"/>
                      <a:pt x="1909386" y="681524"/>
                    </a:cubicBezTo>
                    <a:cubicBezTo>
                      <a:pt x="1917538" y="661165"/>
                      <a:pt x="1917538" y="661165"/>
                      <a:pt x="1917538" y="661165"/>
                    </a:cubicBezTo>
                    <a:cubicBezTo>
                      <a:pt x="1920255" y="655735"/>
                      <a:pt x="1925689" y="653021"/>
                      <a:pt x="1932483" y="653021"/>
                    </a:cubicBezTo>
                    <a:close/>
                    <a:moveTo>
                      <a:pt x="1240163" y="639645"/>
                    </a:moveTo>
                    <a:cubicBezTo>
                      <a:pt x="1245456" y="640995"/>
                      <a:pt x="1248103" y="645045"/>
                      <a:pt x="1249426" y="650445"/>
                    </a:cubicBezTo>
                    <a:cubicBezTo>
                      <a:pt x="1254719" y="677444"/>
                      <a:pt x="1254719" y="677444"/>
                      <a:pt x="1254719" y="677444"/>
                    </a:cubicBezTo>
                    <a:cubicBezTo>
                      <a:pt x="1254719" y="680144"/>
                      <a:pt x="1254719" y="681494"/>
                      <a:pt x="1253396" y="684194"/>
                    </a:cubicBezTo>
                    <a:cubicBezTo>
                      <a:pt x="1220314" y="790841"/>
                      <a:pt x="1220314" y="790841"/>
                      <a:pt x="1220314" y="790841"/>
                    </a:cubicBezTo>
                    <a:cubicBezTo>
                      <a:pt x="1218990" y="794890"/>
                      <a:pt x="1216344" y="798940"/>
                      <a:pt x="1212374" y="800290"/>
                    </a:cubicBezTo>
                    <a:cubicBezTo>
                      <a:pt x="1209727" y="800290"/>
                      <a:pt x="1208404" y="800290"/>
                      <a:pt x="1207081" y="800290"/>
                    </a:cubicBezTo>
                    <a:cubicBezTo>
                      <a:pt x="1204434" y="800290"/>
                      <a:pt x="1201788" y="800290"/>
                      <a:pt x="1200464" y="798940"/>
                    </a:cubicBezTo>
                    <a:cubicBezTo>
                      <a:pt x="1171352" y="780041"/>
                      <a:pt x="1171352" y="780041"/>
                      <a:pt x="1171352" y="780041"/>
                    </a:cubicBezTo>
                    <a:cubicBezTo>
                      <a:pt x="1166059" y="777341"/>
                      <a:pt x="1163412" y="769241"/>
                      <a:pt x="1167382" y="762491"/>
                    </a:cubicBezTo>
                    <a:cubicBezTo>
                      <a:pt x="1173998" y="747642"/>
                      <a:pt x="1173998" y="747642"/>
                      <a:pt x="1173998" y="747642"/>
                    </a:cubicBezTo>
                    <a:cubicBezTo>
                      <a:pt x="1177968" y="708493"/>
                      <a:pt x="1177968" y="708493"/>
                      <a:pt x="1177968" y="708493"/>
                    </a:cubicBezTo>
                    <a:cubicBezTo>
                      <a:pt x="1177968" y="707143"/>
                      <a:pt x="1179292" y="704443"/>
                      <a:pt x="1180615" y="703093"/>
                    </a:cubicBezTo>
                    <a:cubicBezTo>
                      <a:pt x="1193848" y="681494"/>
                      <a:pt x="1193848" y="681494"/>
                      <a:pt x="1193848" y="681494"/>
                    </a:cubicBezTo>
                    <a:cubicBezTo>
                      <a:pt x="1195171" y="680144"/>
                      <a:pt x="1195171" y="680144"/>
                      <a:pt x="1195171" y="680144"/>
                    </a:cubicBezTo>
                    <a:cubicBezTo>
                      <a:pt x="1225607" y="643695"/>
                      <a:pt x="1225607" y="643695"/>
                      <a:pt x="1225607" y="643695"/>
                    </a:cubicBezTo>
                    <a:cubicBezTo>
                      <a:pt x="1229577" y="639645"/>
                      <a:pt x="1234870" y="638295"/>
                      <a:pt x="1240163" y="639645"/>
                    </a:cubicBezTo>
                    <a:close/>
                    <a:moveTo>
                      <a:pt x="1873160" y="595523"/>
                    </a:moveTo>
                    <a:cubicBezTo>
                      <a:pt x="1892106" y="598340"/>
                      <a:pt x="1892106" y="598340"/>
                      <a:pt x="1892106" y="598340"/>
                    </a:cubicBezTo>
                    <a:cubicBezTo>
                      <a:pt x="1900226" y="598340"/>
                      <a:pt x="1905639" y="606793"/>
                      <a:pt x="1904286" y="613836"/>
                    </a:cubicBezTo>
                    <a:cubicBezTo>
                      <a:pt x="1904286" y="620879"/>
                      <a:pt x="1897519" y="626514"/>
                      <a:pt x="1890753" y="626514"/>
                    </a:cubicBezTo>
                    <a:cubicBezTo>
                      <a:pt x="1890753" y="626514"/>
                      <a:pt x="1889399" y="626514"/>
                      <a:pt x="1889399" y="626514"/>
                    </a:cubicBezTo>
                    <a:cubicBezTo>
                      <a:pt x="1869100" y="623697"/>
                      <a:pt x="1869100" y="623697"/>
                      <a:pt x="1869100" y="623697"/>
                    </a:cubicBezTo>
                    <a:cubicBezTo>
                      <a:pt x="1860980" y="622288"/>
                      <a:pt x="1855567" y="615245"/>
                      <a:pt x="1856920" y="608201"/>
                    </a:cubicBezTo>
                    <a:cubicBezTo>
                      <a:pt x="1858273" y="599749"/>
                      <a:pt x="1865040" y="594114"/>
                      <a:pt x="1873160" y="595523"/>
                    </a:cubicBezTo>
                    <a:close/>
                    <a:moveTo>
                      <a:pt x="1786237" y="576258"/>
                    </a:moveTo>
                    <a:cubicBezTo>
                      <a:pt x="1843331" y="590064"/>
                      <a:pt x="1843331" y="590064"/>
                      <a:pt x="1843331" y="590064"/>
                    </a:cubicBezTo>
                    <a:cubicBezTo>
                      <a:pt x="1851488" y="591445"/>
                      <a:pt x="1855566" y="599729"/>
                      <a:pt x="1854206" y="606632"/>
                    </a:cubicBezTo>
                    <a:cubicBezTo>
                      <a:pt x="1852847" y="613535"/>
                      <a:pt x="1846050" y="617677"/>
                      <a:pt x="1840613" y="617677"/>
                    </a:cubicBezTo>
                    <a:cubicBezTo>
                      <a:pt x="1839253" y="617677"/>
                      <a:pt x="1837894" y="617677"/>
                      <a:pt x="1836534" y="617677"/>
                    </a:cubicBezTo>
                    <a:cubicBezTo>
                      <a:pt x="1779440" y="603871"/>
                      <a:pt x="1779440" y="603871"/>
                      <a:pt x="1779440" y="603871"/>
                    </a:cubicBezTo>
                    <a:cubicBezTo>
                      <a:pt x="1771284" y="601109"/>
                      <a:pt x="1767206" y="594206"/>
                      <a:pt x="1768565" y="585922"/>
                    </a:cubicBezTo>
                    <a:cubicBezTo>
                      <a:pt x="1771284" y="579019"/>
                      <a:pt x="1778081" y="573496"/>
                      <a:pt x="1786237" y="576258"/>
                    </a:cubicBezTo>
                    <a:close/>
                    <a:moveTo>
                      <a:pt x="2161884" y="536749"/>
                    </a:moveTo>
                    <a:cubicBezTo>
                      <a:pt x="2165522" y="536578"/>
                      <a:pt x="2169334" y="537948"/>
                      <a:pt x="2172106" y="540687"/>
                    </a:cubicBezTo>
                    <a:cubicBezTo>
                      <a:pt x="2187353" y="553017"/>
                      <a:pt x="2187353" y="553017"/>
                      <a:pt x="2187353" y="553017"/>
                    </a:cubicBezTo>
                    <a:cubicBezTo>
                      <a:pt x="2192897" y="557127"/>
                      <a:pt x="2194283" y="563976"/>
                      <a:pt x="2190125" y="570826"/>
                    </a:cubicBezTo>
                    <a:lnTo>
                      <a:pt x="2186633" y="577154"/>
                    </a:lnTo>
                    <a:lnTo>
                      <a:pt x="2196384" y="571875"/>
                    </a:lnTo>
                    <a:cubicBezTo>
                      <a:pt x="2199983" y="571544"/>
                      <a:pt x="2203753" y="572536"/>
                      <a:pt x="2207181" y="574519"/>
                    </a:cubicBezTo>
                    <a:cubicBezTo>
                      <a:pt x="2253799" y="611547"/>
                      <a:pt x="2253799" y="611547"/>
                      <a:pt x="2253799" y="611547"/>
                    </a:cubicBezTo>
                    <a:cubicBezTo>
                      <a:pt x="2260655" y="615514"/>
                      <a:pt x="2262026" y="624771"/>
                      <a:pt x="2256542" y="630061"/>
                    </a:cubicBezTo>
                    <a:cubicBezTo>
                      <a:pt x="2253799" y="634028"/>
                      <a:pt x="2249686" y="635350"/>
                      <a:pt x="2245573" y="635350"/>
                    </a:cubicBezTo>
                    <a:cubicBezTo>
                      <a:pt x="2242830" y="635350"/>
                      <a:pt x="2240088" y="634028"/>
                      <a:pt x="2237346" y="632705"/>
                    </a:cubicBezTo>
                    <a:cubicBezTo>
                      <a:pt x="2189357" y="595678"/>
                      <a:pt x="2189357" y="595678"/>
                      <a:pt x="2189357" y="595678"/>
                    </a:cubicBezTo>
                    <a:cubicBezTo>
                      <a:pt x="2186614" y="593695"/>
                      <a:pt x="2184900" y="590388"/>
                      <a:pt x="2184386" y="586917"/>
                    </a:cubicBezTo>
                    <a:lnTo>
                      <a:pt x="2186605" y="577204"/>
                    </a:lnTo>
                    <a:lnTo>
                      <a:pt x="2182848" y="584012"/>
                    </a:lnTo>
                    <a:cubicBezTo>
                      <a:pt x="2181808" y="585896"/>
                      <a:pt x="2181808" y="585896"/>
                      <a:pt x="2181808" y="585896"/>
                    </a:cubicBezTo>
                    <a:cubicBezTo>
                      <a:pt x="2179036" y="591375"/>
                      <a:pt x="2173492" y="594115"/>
                      <a:pt x="2169334" y="594115"/>
                    </a:cubicBezTo>
                    <a:cubicBezTo>
                      <a:pt x="2166562" y="594115"/>
                      <a:pt x="2163790" y="592745"/>
                      <a:pt x="2162404" y="591375"/>
                    </a:cubicBezTo>
                    <a:cubicBezTo>
                      <a:pt x="2155473" y="588636"/>
                      <a:pt x="2152701" y="579046"/>
                      <a:pt x="2156859" y="572196"/>
                    </a:cubicBezTo>
                    <a:cubicBezTo>
                      <a:pt x="2159631" y="566716"/>
                      <a:pt x="2159631" y="566716"/>
                      <a:pt x="2159631" y="566716"/>
                    </a:cubicBezTo>
                    <a:cubicBezTo>
                      <a:pt x="2154087" y="561236"/>
                      <a:pt x="2154087" y="561236"/>
                      <a:pt x="2154087" y="561236"/>
                    </a:cubicBezTo>
                    <a:cubicBezTo>
                      <a:pt x="2147157" y="555757"/>
                      <a:pt x="2147157" y="547537"/>
                      <a:pt x="2152701" y="542057"/>
                    </a:cubicBezTo>
                    <a:cubicBezTo>
                      <a:pt x="2154780" y="538633"/>
                      <a:pt x="2158245" y="536920"/>
                      <a:pt x="2161884" y="536749"/>
                    </a:cubicBezTo>
                    <a:close/>
                    <a:moveTo>
                      <a:pt x="2000032" y="518887"/>
                    </a:moveTo>
                    <a:cubicBezTo>
                      <a:pt x="2005514" y="517535"/>
                      <a:pt x="2010995" y="518887"/>
                      <a:pt x="2013736" y="522945"/>
                    </a:cubicBezTo>
                    <a:cubicBezTo>
                      <a:pt x="2024700" y="537822"/>
                      <a:pt x="2024700" y="537822"/>
                      <a:pt x="2024700" y="537822"/>
                    </a:cubicBezTo>
                    <a:cubicBezTo>
                      <a:pt x="2039774" y="531059"/>
                      <a:pt x="2039774" y="531059"/>
                      <a:pt x="2039774" y="531059"/>
                    </a:cubicBezTo>
                    <a:cubicBezTo>
                      <a:pt x="2043885" y="529707"/>
                      <a:pt x="2047997" y="529707"/>
                      <a:pt x="2052108" y="531059"/>
                    </a:cubicBezTo>
                    <a:cubicBezTo>
                      <a:pt x="2128851" y="570281"/>
                      <a:pt x="2128851" y="570281"/>
                      <a:pt x="2128851" y="570281"/>
                    </a:cubicBezTo>
                    <a:cubicBezTo>
                      <a:pt x="2130221" y="570281"/>
                      <a:pt x="2131592" y="571634"/>
                      <a:pt x="2132962" y="574339"/>
                    </a:cubicBezTo>
                    <a:cubicBezTo>
                      <a:pt x="2175445" y="628437"/>
                      <a:pt x="2175445" y="628437"/>
                      <a:pt x="2175445" y="628437"/>
                    </a:cubicBezTo>
                    <a:cubicBezTo>
                      <a:pt x="2179556" y="633847"/>
                      <a:pt x="2178185" y="640609"/>
                      <a:pt x="2174074" y="646019"/>
                    </a:cubicBezTo>
                    <a:cubicBezTo>
                      <a:pt x="2171333" y="648724"/>
                      <a:pt x="2167222" y="650076"/>
                      <a:pt x="2163111" y="650076"/>
                    </a:cubicBezTo>
                    <a:cubicBezTo>
                      <a:pt x="2160370" y="650076"/>
                      <a:pt x="2157629" y="650076"/>
                      <a:pt x="2156259" y="647371"/>
                    </a:cubicBezTo>
                    <a:cubicBezTo>
                      <a:pt x="2104183" y="613560"/>
                      <a:pt x="2104183" y="613560"/>
                      <a:pt x="2104183" y="613560"/>
                    </a:cubicBezTo>
                    <a:cubicBezTo>
                      <a:pt x="2093220" y="624380"/>
                      <a:pt x="2093220" y="624380"/>
                      <a:pt x="2093220" y="624380"/>
                    </a:cubicBezTo>
                    <a:cubicBezTo>
                      <a:pt x="2089109" y="628437"/>
                      <a:pt x="2082257" y="629789"/>
                      <a:pt x="2076775" y="627084"/>
                    </a:cubicBezTo>
                    <a:cubicBezTo>
                      <a:pt x="2038404" y="608150"/>
                      <a:pt x="2038404" y="608150"/>
                      <a:pt x="2038404" y="608150"/>
                    </a:cubicBezTo>
                    <a:cubicBezTo>
                      <a:pt x="2032922" y="605445"/>
                      <a:pt x="2028811" y="598683"/>
                      <a:pt x="2030181" y="593273"/>
                    </a:cubicBezTo>
                    <a:cubicBezTo>
                      <a:pt x="2031552" y="589216"/>
                      <a:pt x="2031552" y="589216"/>
                      <a:pt x="2031552" y="589216"/>
                    </a:cubicBezTo>
                    <a:cubicBezTo>
                      <a:pt x="1991810" y="572986"/>
                      <a:pt x="1991810" y="572986"/>
                      <a:pt x="1991810" y="572986"/>
                    </a:cubicBezTo>
                    <a:cubicBezTo>
                      <a:pt x="1984958" y="570281"/>
                      <a:pt x="1982217" y="563518"/>
                      <a:pt x="1983587" y="556756"/>
                    </a:cubicBezTo>
                    <a:cubicBezTo>
                      <a:pt x="1989069" y="529707"/>
                      <a:pt x="1989069" y="529707"/>
                      <a:pt x="1989069" y="529707"/>
                    </a:cubicBezTo>
                    <a:cubicBezTo>
                      <a:pt x="1990439" y="524297"/>
                      <a:pt x="1994551" y="520240"/>
                      <a:pt x="2000032" y="518887"/>
                    </a:cubicBezTo>
                    <a:close/>
                    <a:moveTo>
                      <a:pt x="1925562" y="502808"/>
                    </a:moveTo>
                    <a:cubicBezTo>
                      <a:pt x="1947738" y="502808"/>
                      <a:pt x="1947738" y="502808"/>
                      <a:pt x="1947738" y="502808"/>
                    </a:cubicBezTo>
                    <a:cubicBezTo>
                      <a:pt x="1954669" y="502808"/>
                      <a:pt x="1961599" y="509626"/>
                      <a:pt x="1961599" y="516444"/>
                    </a:cubicBezTo>
                    <a:cubicBezTo>
                      <a:pt x="1961599" y="524626"/>
                      <a:pt x="1954669" y="531444"/>
                      <a:pt x="1947738" y="531444"/>
                    </a:cubicBezTo>
                    <a:cubicBezTo>
                      <a:pt x="1935264" y="531444"/>
                      <a:pt x="1935264" y="531444"/>
                      <a:pt x="1935264" y="531444"/>
                    </a:cubicBezTo>
                    <a:cubicBezTo>
                      <a:pt x="1920018" y="568261"/>
                      <a:pt x="1920018" y="568261"/>
                      <a:pt x="1920018" y="568261"/>
                    </a:cubicBezTo>
                    <a:cubicBezTo>
                      <a:pt x="1917246" y="573716"/>
                      <a:pt x="1911701" y="576443"/>
                      <a:pt x="1906157" y="576443"/>
                    </a:cubicBezTo>
                    <a:cubicBezTo>
                      <a:pt x="1904771" y="576443"/>
                      <a:pt x="1903385" y="576443"/>
                      <a:pt x="1900613" y="575080"/>
                    </a:cubicBezTo>
                    <a:cubicBezTo>
                      <a:pt x="1893683" y="572352"/>
                      <a:pt x="1890911" y="564170"/>
                      <a:pt x="1893683" y="557352"/>
                    </a:cubicBezTo>
                    <a:cubicBezTo>
                      <a:pt x="1911701" y="510989"/>
                      <a:pt x="1911701" y="510989"/>
                      <a:pt x="1911701" y="510989"/>
                    </a:cubicBezTo>
                    <a:cubicBezTo>
                      <a:pt x="1914474" y="506899"/>
                      <a:pt x="1920018" y="502808"/>
                      <a:pt x="1925562" y="502808"/>
                    </a:cubicBezTo>
                    <a:close/>
                    <a:moveTo>
                      <a:pt x="1690287" y="469187"/>
                    </a:moveTo>
                    <a:cubicBezTo>
                      <a:pt x="1693686" y="469531"/>
                      <a:pt x="1696744" y="470908"/>
                      <a:pt x="1698783" y="472973"/>
                    </a:cubicBezTo>
                    <a:cubicBezTo>
                      <a:pt x="1757237" y="534922"/>
                      <a:pt x="1757237" y="534922"/>
                      <a:pt x="1757237" y="534922"/>
                    </a:cubicBezTo>
                    <a:cubicBezTo>
                      <a:pt x="1759956" y="539052"/>
                      <a:pt x="1761315" y="543182"/>
                      <a:pt x="1761315" y="547311"/>
                    </a:cubicBezTo>
                    <a:cubicBezTo>
                      <a:pt x="1754518" y="583104"/>
                      <a:pt x="1754518" y="583104"/>
                      <a:pt x="1754518" y="583104"/>
                    </a:cubicBezTo>
                    <a:cubicBezTo>
                      <a:pt x="1753159" y="588611"/>
                      <a:pt x="1749081" y="592741"/>
                      <a:pt x="1743643" y="594117"/>
                    </a:cubicBezTo>
                    <a:cubicBezTo>
                      <a:pt x="1742284" y="594117"/>
                      <a:pt x="1740924" y="594117"/>
                      <a:pt x="1740924" y="594117"/>
                    </a:cubicBezTo>
                    <a:cubicBezTo>
                      <a:pt x="1736846" y="594117"/>
                      <a:pt x="1732768" y="592741"/>
                      <a:pt x="1730049" y="589987"/>
                    </a:cubicBezTo>
                    <a:cubicBezTo>
                      <a:pt x="1713737" y="572091"/>
                      <a:pt x="1713737" y="572091"/>
                      <a:pt x="1713737" y="572091"/>
                    </a:cubicBezTo>
                    <a:cubicBezTo>
                      <a:pt x="1712377" y="570714"/>
                      <a:pt x="1711018" y="569338"/>
                      <a:pt x="1709659" y="566584"/>
                    </a:cubicBezTo>
                    <a:cubicBezTo>
                      <a:pt x="1705580" y="551441"/>
                      <a:pt x="1698783" y="528038"/>
                      <a:pt x="1697424" y="522532"/>
                    </a:cubicBezTo>
                    <a:cubicBezTo>
                      <a:pt x="1694705" y="518402"/>
                      <a:pt x="1685190" y="503259"/>
                      <a:pt x="1677033" y="490869"/>
                    </a:cubicBezTo>
                    <a:cubicBezTo>
                      <a:pt x="1672955" y="485363"/>
                      <a:pt x="1674315" y="477103"/>
                      <a:pt x="1679752" y="471596"/>
                    </a:cubicBezTo>
                    <a:cubicBezTo>
                      <a:pt x="1683151" y="469531"/>
                      <a:pt x="1686889" y="468843"/>
                      <a:pt x="1690287" y="469187"/>
                    </a:cubicBezTo>
                    <a:close/>
                    <a:moveTo>
                      <a:pt x="1876320" y="438012"/>
                    </a:moveTo>
                    <a:cubicBezTo>
                      <a:pt x="1883091" y="438012"/>
                      <a:pt x="1887154" y="439390"/>
                      <a:pt x="1907467" y="468343"/>
                    </a:cubicBezTo>
                    <a:cubicBezTo>
                      <a:pt x="1910175" y="471100"/>
                      <a:pt x="1911529" y="476615"/>
                      <a:pt x="1910175" y="480751"/>
                    </a:cubicBezTo>
                    <a:cubicBezTo>
                      <a:pt x="1884445" y="557957"/>
                      <a:pt x="1884445" y="557957"/>
                      <a:pt x="1884445" y="557957"/>
                    </a:cubicBezTo>
                    <a:cubicBezTo>
                      <a:pt x="1883091" y="563471"/>
                      <a:pt x="1877675" y="567607"/>
                      <a:pt x="1870904" y="567607"/>
                    </a:cubicBezTo>
                    <a:cubicBezTo>
                      <a:pt x="1870904" y="567607"/>
                      <a:pt x="1869549" y="567607"/>
                      <a:pt x="1868195" y="567607"/>
                    </a:cubicBezTo>
                    <a:cubicBezTo>
                      <a:pt x="1815382" y="552442"/>
                      <a:pt x="1815382" y="552442"/>
                      <a:pt x="1815382" y="552442"/>
                    </a:cubicBezTo>
                    <a:cubicBezTo>
                      <a:pt x="1809965" y="552442"/>
                      <a:pt x="1807257" y="548306"/>
                      <a:pt x="1805903" y="544170"/>
                    </a:cubicBezTo>
                    <a:cubicBezTo>
                      <a:pt x="1795069" y="515218"/>
                      <a:pt x="1795069" y="515218"/>
                      <a:pt x="1795069" y="515218"/>
                    </a:cubicBezTo>
                    <a:cubicBezTo>
                      <a:pt x="1793715" y="511082"/>
                      <a:pt x="1793715" y="506946"/>
                      <a:pt x="1795069" y="504188"/>
                    </a:cubicBezTo>
                    <a:cubicBezTo>
                      <a:pt x="1796423" y="500052"/>
                      <a:pt x="1799132" y="497295"/>
                      <a:pt x="1803194" y="495916"/>
                    </a:cubicBezTo>
                    <a:cubicBezTo>
                      <a:pt x="1811320" y="493159"/>
                      <a:pt x="1820799" y="490402"/>
                      <a:pt x="1824861" y="487644"/>
                    </a:cubicBezTo>
                    <a:cubicBezTo>
                      <a:pt x="1828924" y="482130"/>
                      <a:pt x="1838403" y="471100"/>
                      <a:pt x="1843820" y="465585"/>
                    </a:cubicBezTo>
                    <a:cubicBezTo>
                      <a:pt x="1865487" y="439390"/>
                      <a:pt x="1869549" y="438012"/>
                      <a:pt x="1876320" y="438012"/>
                    </a:cubicBezTo>
                    <a:close/>
                    <a:moveTo>
                      <a:pt x="2043368" y="420340"/>
                    </a:moveTo>
                    <a:cubicBezTo>
                      <a:pt x="2051784" y="420340"/>
                      <a:pt x="2058796" y="427137"/>
                      <a:pt x="2058796" y="433934"/>
                    </a:cubicBezTo>
                    <a:cubicBezTo>
                      <a:pt x="2058796" y="442090"/>
                      <a:pt x="2058796" y="442090"/>
                      <a:pt x="2058796" y="442090"/>
                    </a:cubicBezTo>
                    <a:cubicBezTo>
                      <a:pt x="2058796" y="450246"/>
                      <a:pt x="2051784" y="455684"/>
                      <a:pt x="2043368" y="455684"/>
                    </a:cubicBezTo>
                    <a:cubicBezTo>
                      <a:pt x="2036356" y="455684"/>
                      <a:pt x="2029343" y="450246"/>
                      <a:pt x="2029343" y="442090"/>
                    </a:cubicBezTo>
                    <a:cubicBezTo>
                      <a:pt x="2029343" y="433934"/>
                      <a:pt x="2029343" y="433934"/>
                      <a:pt x="2029343" y="433934"/>
                    </a:cubicBezTo>
                    <a:cubicBezTo>
                      <a:pt x="2029343" y="427137"/>
                      <a:pt x="2036356" y="420340"/>
                      <a:pt x="2043368" y="420340"/>
                    </a:cubicBezTo>
                    <a:close/>
                    <a:moveTo>
                      <a:pt x="1953568" y="411331"/>
                    </a:moveTo>
                    <a:cubicBezTo>
                      <a:pt x="1958923" y="408559"/>
                      <a:pt x="1964278" y="408559"/>
                      <a:pt x="1969633" y="412717"/>
                    </a:cubicBezTo>
                    <a:cubicBezTo>
                      <a:pt x="1973650" y="415489"/>
                      <a:pt x="1976327" y="422419"/>
                      <a:pt x="1974988" y="427963"/>
                    </a:cubicBezTo>
                    <a:cubicBezTo>
                      <a:pt x="1962939" y="469545"/>
                      <a:pt x="1962939" y="469545"/>
                      <a:pt x="1962939" y="469545"/>
                    </a:cubicBezTo>
                    <a:cubicBezTo>
                      <a:pt x="1961600" y="473703"/>
                      <a:pt x="1957584" y="477861"/>
                      <a:pt x="1952229" y="479247"/>
                    </a:cubicBezTo>
                    <a:cubicBezTo>
                      <a:pt x="1952229" y="479247"/>
                      <a:pt x="1950890" y="479247"/>
                      <a:pt x="1949551" y="479247"/>
                    </a:cubicBezTo>
                    <a:cubicBezTo>
                      <a:pt x="1945535" y="479247"/>
                      <a:pt x="1941518" y="477861"/>
                      <a:pt x="1938841" y="475089"/>
                    </a:cubicBezTo>
                    <a:cubicBezTo>
                      <a:pt x="1921437" y="454298"/>
                      <a:pt x="1921437" y="454298"/>
                      <a:pt x="1921437" y="454298"/>
                    </a:cubicBezTo>
                    <a:cubicBezTo>
                      <a:pt x="1918759" y="451526"/>
                      <a:pt x="1917420" y="447368"/>
                      <a:pt x="1917420" y="443210"/>
                    </a:cubicBezTo>
                    <a:cubicBezTo>
                      <a:pt x="1918759" y="439052"/>
                      <a:pt x="1920098" y="434893"/>
                      <a:pt x="1924114" y="432121"/>
                    </a:cubicBezTo>
                    <a:cubicBezTo>
                      <a:pt x="1953568" y="411331"/>
                      <a:pt x="1953568" y="411331"/>
                      <a:pt x="1953568" y="411331"/>
                    </a:cubicBezTo>
                    <a:close/>
                    <a:moveTo>
                      <a:pt x="1905534" y="398157"/>
                    </a:moveTo>
                    <a:cubicBezTo>
                      <a:pt x="1909158" y="397812"/>
                      <a:pt x="1912955" y="398848"/>
                      <a:pt x="1916407" y="400919"/>
                    </a:cubicBezTo>
                    <a:cubicBezTo>
                      <a:pt x="1921929" y="406441"/>
                      <a:pt x="1923310" y="414725"/>
                      <a:pt x="1917788" y="421629"/>
                    </a:cubicBezTo>
                    <a:cubicBezTo>
                      <a:pt x="1906742" y="435435"/>
                      <a:pt x="1906742" y="435435"/>
                      <a:pt x="1906742" y="435435"/>
                    </a:cubicBezTo>
                    <a:cubicBezTo>
                      <a:pt x="1903981" y="438196"/>
                      <a:pt x="1899839" y="440958"/>
                      <a:pt x="1895697" y="440958"/>
                    </a:cubicBezTo>
                    <a:cubicBezTo>
                      <a:pt x="1892936" y="440958"/>
                      <a:pt x="1888794" y="439577"/>
                      <a:pt x="1887413" y="436816"/>
                    </a:cubicBezTo>
                    <a:cubicBezTo>
                      <a:pt x="1880510" y="432674"/>
                      <a:pt x="1879129" y="423009"/>
                      <a:pt x="1884652" y="417487"/>
                    </a:cubicBezTo>
                    <a:cubicBezTo>
                      <a:pt x="1895697" y="403680"/>
                      <a:pt x="1895697" y="403680"/>
                      <a:pt x="1895697" y="403680"/>
                    </a:cubicBezTo>
                    <a:cubicBezTo>
                      <a:pt x="1898458" y="400229"/>
                      <a:pt x="1901910" y="398503"/>
                      <a:pt x="1905534" y="398157"/>
                    </a:cubicBezTo>
                    <a:close/>
                    <a:moveTo>
                      <a:pt x="225483" y="352344"/>
                    </a:moveTo>
                    <a:cubicBezTo>
                      <a:pt x="233337" y="349651"/>
                      <a:pt x="239883" y="353691"/>
                      <a:pt x="242501" y="361769"/>
                    </a:cubicBezTo>
                    <a:cubicBezTo>
                      <a:pt x="249046" y="379273"/>
                      <a:pt x="249046" y="379273"/>
                      <a:pt x="249046" y="379273"/>
                    </a:cubicBezTo>
                    <a:cubicBezTo>
                      <a:pt x="250355" y="386006"/>
                      <a:pt x="246428" y="394084"/>
                      <a:pt x="239883" y="396777"/>
                    </a:cubicBezTo>
                    <a:cubicBezTo>
                      <a:pt x="238574" y="396777"/>
                      <a:pt x="237265" y="396777"/>
                      <a:pt x="235956" y="396777"/>
                    </a:cubicBezTo>
                    <a:cubicBezTo>
                      <a:pt x="229410" y="396777"/>
                      <a:pt x="224174" y="394084"/>
                      <a:pt x="222865" y="387352"/>
                    </a:cubicBezTo>
                    <a:cubicBezTo>
                      <a:pt x="217629" y="369848"/>
                      <a:pt x="217629" y="369848"/>
                      <a:pt x="217629" y="369848"/>
                    </a:cubicBezTo>
                    <a:cubicBezTo>
                      <a:pt x="215011" y="363116"/>
                      <a:pt x="218938" y="355037"/>
                      <a:pt x="225483" y="352344"/>
                    </a:cubicBezTo>
                    <a:close/>
                    <a:moveTo>
                      <a:pt x="161487" y="315725"/>
                    </a:moveTo>
                    <a:cubicBezTo>
                      <a:pt x="209019" y="322816"/>
                      <a:pt x="209019" y="322816"/>
                      <a:pt x="209019" y="322816"/>
                    </a:cubicBezTo>
                    <a:cubicBezTo>
                      <a:pt x="215621" y="324234"/>
                      <a:pt x="220902" y="331325"/>
                      <a:pt x="219582" y="339834"/>
                    </a:cubicBezTo>
                    <a:cubicBezTo>
                      <a:pt x="219582" y="346925"/>
                      <a:pt x="212980" y="352597"/>
                      <a:pt x="206378" y="352597"/>
                    </a:cubicBezTo>
                    <a:cubicBezTo>
                      <a:pt x="206378" y="352597"/>
                      <a:pt x="205058" y="352597"/>
                      <a:pt x="205058" y="352597"/>
                    </a:cubicBezTo>
                    <a:cubicBezTo>
                      <a:pt x="157526" y="344088"/>
                      <a:pt x="157526" y="344088"/>
                      <a:pt x="157526" y="344088"/>
                    </a:cubicBezTo>
                    <a:cubicBezTo>
                      <a:pt x="149604" y="344088"/>
                      <a:pt x="144323" y="335579"/>
                      <a:pt x="145643" y="328489"/>
                    </a:cubicBezTo>
                    <a:cubicBezTo>
                      <a:pt x="146964" y="319980"/>
                      <a:pt x="153565" y="314307"/>
                      <a:pt x="161487" y="315725"/>
                    </a:cubicBezTo>
                    <a:close/>
                    <a:moveTo>
                      <a:pt x="13723" y="287800"/>
                    </a:moveTo>
                    <a:cubicBezTo>
                      <a:pt x="56263" y="287800"/>
                      <a:pt x="56263" y="287800"/>
                      <a:pt x="56263" y="287800"/>
                    </a:cubicBezTo>
                    <a:cubicBezTo>
                      <a:pt x="57635" y="287800"/>
                      <a:pt x="60380" y="287800"/>
                      <a:pt x="63124" y="289165"/>
                    </a:cubicBezTo>
                    <a:cubicBezTo>
                      <a:pt x="82336" y="300085"/>
                      <a:pt x="82336" y="300085"/>
                      <a:pt x="82336" y="300085"/>
                    </a:cubicBezTo>
                    <a:cubicBezTo>
                      <a:pt x="111154" y="311004"/>
                      <a:pt x="111154" y="311004"/>
                      <a:pt x="111154" y="311004"/>
                    </a:cubicBezTo>
                    <a:cubicBezTo>
                      <a:pt x="116643" y="313734"/>
                      <a:pt x="120760" y="320558"/>
                      <a:pt x="119388" y="326018"/>
                    </a:cubicBezTo>
                    <a:cubicBezTo>
                      <a:pt x="118015" y="332843"/>
                      <a:pt x="113899" y="338303"/>
                      <a:pt x="107037" y="338303"/>
                    </a:cubicBezTo>
                    <a:cubicBezTo>
                      <a:pt x="53519" y="343762"/>
                      <a:pt x="53519" y="343762"/>
                      <a:pt x="53519" y="343762"/>
                    </a:cubicBezTo>
                    <a:cubicBezTo>
                      <a:pt x="53519" y="343762"/>
                      <a:pt x="52146" y="343762"/>
                      <a:pt x="52146" y="343762"/>
                    </a:cubicBezTo>
                    <a:cubicBezTo>
                      <a:pt x="45285" y="343762"/>
                      <a:pt x="38424" y="339667"/>
                      <a:pt x="38424" y="331478"/>
                    </a:cubicBezTo>
                    <a:cubicBezTo>
                      <a:pt x="37051" y="324653"/>
                      <a:pt x="42540" y="317829"/>
                      <a:pt x="50774" y="316464"/>
                    </a:cubicBezTo>
                    <a:cubicBezTo>
                      <a:pt x="53519" y="316464"/>
                      <a:pt x="53519" y="316464"/>
                      <a:pt x="53519" y="316464"/>
                    </a:cubicBezTo>
                    <a:cubicBezTo>
                      <a:pt x="52146" y="315099"/>
                      <a:pt x="52146" y="315099"/>
                      <a:pt x="52146" y="315099"/>
                    </a:cubicBezTo>
                    <a:cubicBezTo>
                      <a:pt x="13723" y="315099"/>
                      <a:pt x="13723" y="315099"/>
                      <a:pt x="13723" y="315099"/>
                    </a:cubicBezTo>
                    <a:cubicBezTo>
                      <a:pt x="5489" y="315099"/>
                      <a:pt x="0" y="309639"/>
                      <a:pt x="0" y="301450"/>
                    </a:cubicBezTo>
                    <a:cubicBezTo>
                      <a:pt x="0" y="293260"/>
                      <a:pt x="5489" y="287800"/>
                      <a:pt x="13723" y="287800"/>
                    </a:cubicBezTo>
                    <a:close/>
                    <a:moveTo>
                      <a:pt x="2026643" y="116970"/>
                    </a:moveTo>
                    <a:cubicBezTo>
                      <a:pt x="2030816" y="116970"/>
                      <a:pt x="2036379" y="119724"/>
                      <a:pt x="2037770" y="125232"/>
                    </a:cubicBezTo>
                    <a:cubicBezTo>
                      <a:pt x="2054460" y="155527"/>
                      <a:pt x="2054460" y="155527"/>
                      <a:pt x="2054460" y="155527"/>
                    </a:cubicBezTo>
                    <a:cubicBezTo>
                      <a:pt x="2054460" y="156904"/>
                      <a:pt x="2055851" y="159658"/>
                      <a:pt x="2055851" y="161035"/>
                    </a:cubicBezTo>
                    <a:cubicBezTo>
                      <a:pt x="2055851" y="165167"/>
                      <a:pt x="2054460" y="194084"/>
                      <a:pt x="2030816" y="203724"/>
                    </a:cubicBezTo>
                    <a:cubicBezTo>
                      <a:pt x="2015516" y="210609"/>
                      <a:pt x="1976572" y="223002"/>
                      <a:pt x="1975181" y="223002"/>
                    </a:cubicBezTo>
                    <a:cubicBezTo>
                      <a:pt x="1973790" y="223002"/>
                      <a:pt x="1972399" y="223002"/>
                      <a:pt x="1971009" y="223002"/>
                    </a:cubicBezTo>
                    <a:cubicBezTo>
                      <a:pt x="1966836" y="223002"/>
                      <a:pt x="1961273" y="221625"/>
                      <a:pt x="1958491" y="217494"/>
                    </a:cubicBezTo>
                    <a:cubicBezTo>
                      <a:pt x="1955709" y="211986"/>
                      <a:pt x="1955709" y="205101"/>
                      <a:pt x="1959882" y="200970"/>
                    </a:cubicBezTo>
                    <a:cubicBezTo>
                      <a:pt x="1986308" y="169298"/>
                      <a:pt x="1986308" y="169298"/>
                      <a:pt x="1986308" y="169298"/>
                    </a:cubicBezTo>
                    <a:cubicBezTo>
                      <a:pt x="2012734" y="123855"/>
                      <a:pt x="2012734" y="123855"/>
                      <a:pt x="2012734" y="123855"/>
                    </a:cubicBezTo>
                    <a:cubicBezTo>
                      <a:pt x="2015516" y="119724"/>
                      <a:pt x="2021080" y="116970"/>
                      <a:pt x="2026643" y="116970"/>
                    </a:cubicBezTo>
                    <a:close/>
                    <a:moveTo>
                      <a:pt x="1998723" y="59433"/>
                    </a:moveTo>
                    <a:cubicBezTo>
                      <a:pt x="2043182" y="74502"/>
                      <a:pt x="2043182" y="74502"/>
                      <a:pt x="2043182" y="74502"/>
                    </a:cubicBezTo>
                    <a:cubicBezTo>
                      <a:pt x="2048739" y="75872"/>
                      <a:pt x="2051518" y="81352"/>
                      <a:pt x="2052907" y="86831"/>
                    </a:cubicBezTo>
                    <a:cubicBezTo>
                      <a:pt x="2052907" y="93681"/>
                      <a:pt x="2048739" y="97791"/>
                      <a:pt x="2043182" y="100531"/>
                    </a:cubicBezTo>
                    <a:cubicBezTo>
                      <a:pt x="2009838" y="115600"/>
                      <a:pt x="2009838" y="115600"/>
                      <a:pt x="2009838" y="115600"/>
                    </a:cubicBezTo>
                    <a:cubicBezTo>
                      <a:pt x="2008448" y="115600"/>
                      <a:pt x="2005670" y="116970"/>
                      <a:pt x="2004280" y="116970"/>
                    </a:cubicBezTo>
                    <a:cubicBezTo>
                      <a:pt x="2001502" y="116970"/>
                      <a:pt x="2000112" y="115600"/>
                      <a:pt x="1998723" y="115600"/>
                    </a:cubicBezTo>
                    <a:cubicBezTo>
                      <a:pt x="1994555" y="112860"/>
                      <a:pt x="1991776" y="110120"/>
                      <a:pt x="1990387" y="106010"/>
                    </a:cubicBezTo>
                    <a:cubicBezTo>
                      <a:pt x="1980661" y="77242"/>
                      <a:pt x="1980661" y="77242"/>
                      <a:pt x="1980661" y="77242"/>
                    </a:cubicBezTo>
                    <a:cubicBezTo>
                      <a:pt x="1979272" y="73132"/>
                      <a:pt x="1980661" y="67652"/>
                      <a:pt x="1984829" y="63542"/>
                    </a:cubicBezTo>
                    <a:cubicBezTo>
                      <a:pt x="1988998" y="59433"/>
                      <a:pt x="1994555" y="58063"/>
                      <a:pt x="1998723" y="59433"/>
                    </a:cubicBezTo>
                    <a:close/>
                    <a:moveTo>
                      <a:pt x="365788" y="1938"/>
                    </a:moveTo>
                    <a:cubicBezTo>
                      <a:pt x="371303" y="6111"/>
                      <a:pt x="374060" y="13065"/>
                      <a:pt x="371303" y="20020"/>
                    </a:cubicBezTo>
                    <a:cubicBezTo>
                      <a:pt x="371303" y="20020"/>
                      <a:pt x="371303" y="20020"/>
                      <a:pt x="365788" y="31147"/>
                    </a:cubicBezTo>
                    <a:cubicBezTo>
                      <a:pt x="365788" y="31147"/>
                      <a:pt x="365788" y="31147"/>
                      <a:pt x="371303" y="42274"/>
                    </a:cubicBezTo>
                    <a:cubicBezTo>
                      <a:pt x="371303" y="43665"/>
                      <a:pt x="372681" y="46446"/>
                      <a:pt x="371303" y="49228"/>
                    </a:cubicBezTo>
                    <a:cubicBezTo>
                      <a:pt x="371303" y="49228"/>
                      <a:pt x="371303" y="49228"/>
                      <a:pt x="312019" y="49228"/>
                    </a:cubicBezTo>
                    <a:cubicBezTo>
                      <a:pt x="312019" y="47837"/>
                      <a:pt x="310641" y="46446"/>
                      <a:pt x="310641" y="45056"/>
                    </a:cubicBezTo>
                    <a:cubicBezTo>
                      <a:pt x="309262" y="39492"/>
                      <a:pt x="310641" y="33928"/>
                      <a:pt x="316155" y="29756"/>
                    </a:cubicBezTo>
                    <a:cubicBezTo>
                      <a:pt x="316155" y="29756"/>
                      <a:pt x="316155" y="29756"/>
                      <a:pt x="349244" y="3329"/>
                    </a:cubicBezTo>
                    <a:cubicBezTo>
                      <a:pt x="353380" y="-844"/>
                      <a:pt x="361652" y="-844"/>
                      <a:pt x="365788" y="1938"/>
                    </a:cubicBezTo>
                    <a:close/>
                  </a:path>
                </a:pathLst>
              </a:custGeom>
              <a:grp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9" name="Freeform: Shape 99">
              <a:extLst>
                <a:ext uri="{FF2B5EF4-FFF2-40B4-BE49-F238E27FC236}">
                  <a16:creationId xmlns:a16="http://schemas.microsoft.com/office/drawing/2014/main" id="{6C1BA3F0-2446-488A-9391-3BE59FA74A43}"/>
                </a:ext>
              </a:extLst>
            </p:cNvPr>
            <p:cNvSpPr/>
            <p:nvPr/>
          </p:nvSpPr>
          <p:spPr>
            <a:xfrm>
              <a:off x="1349" y="5112426"/>
              <a:ext cx="12189302" cy="17455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solidFill>
              <a:schemeClr val="bg1">
                <a:alpha val="31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nvGrpSpPr>
            <p:cNvPr id="10" name="Group 9">
              <a:extLst>
                <a:ext uri="{FF2B5EF4-FFF2-40B4-BE49-F238E27FC236}">
                  <a16:creationId xmlns:a16="http://schemas.microsoft.com/office/drawing/2014/main" id="{1A9A0693-77AD-4D7B-835A-7BD018F70099}"/>
                </a:ext>
              </a:extLst>
            </p:cNvPr>
            <p:cNvGrpSpPr/>
            <p:nvPr/>
          </p:nvGrpSpPr>
          <p:grpSpPr>
            <a:xfrm>
              <a:off x="9278176" y="6154848"/>
              <a:ext cx="223240" cy="433634"/>
              <a:chOff x="9576336" y="6019901"/>
              <a:chExt cx="223240" cy="433634"/>
            </a:xfrm>
          </p:grpSpPr>
          <p:grpSp>
            <p:nvGrpSpPr>
              <p:cNvPr id="11" name="Group 10">
                <a:extLst>
                  <a:ext uri="{FF2B5EF4-FFF2-40B4-BE49-F238E27FC236}">
                    <a16:creationId xmlns:a16="http://schemas.microsoft.com/office/drawing/2014/main" id="{9DF531D7-6DF4-4166-BA2A-5079114A2D51}"/>
                  </a:ext>
                </a:extLst>
              </p:cNvPr>
              <p:cNvGrpSpPr/>
              <p:nvPr/>
            </p:nvGrpSpPr>
            <p:grpSpPr>
              <a:xfrm>
                <a:off x="9576336" y="6019901"/>
                <a:ext cx="223240" cy="357070"/>
                <a:chOff x="9523117" y="5842588"/>
                <a:chExt cx="329677" cy="527319"/>
              </a:xfrm>
            </p:grpSpPr>
            <p:sp>
              <p:nvSpPr>
                <p:cNvPr id="13" name="Oval 903">
                  <a:extLst>
                    <a:ext uri="{FF2B5EF4-FFF2-40B4-BE49-F238E27FC236}">
                      <a16:creationId xmlns:a16="http://schemas.microsoft.com/office/drawing/2014/main" id="{63CFCCA1-573B-4106-8B91-9624192962FA}"/>
                    </a:ext>
                  </a:extLst>
                </p:cNvPr>
                <p:cNvSpPr/>
                <p:nvPr/>
              </p:nvSpPr>
              <p:spPr>
                <a:xfrm>
                  <a:off x="9591504"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4" name="Freeform 5">
                  <a:extLst>
                    <a:ext uri="{FF2B5EF4-FFF2-40B4-BE49-F238E27FC236}">
                      <a16:creationId xmlns:a16="http://schemas.microsoft.com/office/drawing/2014/main" id="{4E47D05D-9CEF-44E4-95A5-1B0FADC21E47}"/>
                    </a:ext>
                  </a:extLst>
                </p:cNvPr>
                <p:cNvSpPr>
                  <a:spLocks noEditPoints="1"/>
                </p:cNvSpPr>
                <p:nvPr/>
              </p:nvSpPr>
              <p:spPr bwMode="auto">
                <a:xfrm>
                  <a:off x="9523117"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Semilight"/>
                    <a:ea typeface="+mn-ea"/>
                    <a:cs typeface="+mn-cs"/>
                  </a:endParaRPr>
                </a:p>
              </p:txBody>
            </p:sp>
          </p:grpSp>
          <p:sp>
            <p:nvSpPr>
              <p:cNvPr id="12" name="Freeform: Shape 411">
                <a:extLst>
                  <a:ext uri="{FF2B5EF4-FFF2-40B4-BE49-F238E27FC236}">
                    <a16:creationId xmlns:a16="http://schemas.microsoft.com/office/drawing/2014/main" id="{0BE6FEEA-134F-42DD-860D-8C6DFEFAFB15}"/>
                  </a:ext>
                </a:extLst>
              </p:cNvPr>
              <p:cNvSpPr/>
              <p:nvPr/>
            </p:nvSpPr>
            <p:spPr>
              <a:xfrm>
                <a:off x="9620313"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15" name="Group 14">
              <a:extLst>
                <a:ext uri="{FF2B5EF4-FFF2-40B4-BE49-F238E27FC236}">
                  <a16:creationId xmlns:a16="http://schemas.microsoft.com/office/drawing/2014/main" id="{3ADB8FED-84A7-46CD-9EC0-6768C4C4C1B7}"/>
                </a:ext>
              </a:extLst>
            </p:cNvPr>
            <p:cNvGrpSpPr/>
            <p:nvPr/>
          </p:nvGrpSpPr>
          <p:grpSpPr>
            <a:xfrm>
              <a:off x="7468054" y="6382515"/>
              <a:ext cx="223240" cy="431604"/>
              <a:chOff x="7468054" y="6382515"/>
              <a:chExt cx="223240" cy="431604"/>
            </a:xfrm>
          </p:grpSpPr>
          <p:grpSp>
            <p:nvGrpSpPr>
              <p:cNvPr id="16" name="Group 15">
                <a:extLst>
                  <a:ext uri="{FF2B5EF4-FFF2-40B4-BE49-F238E27FC236}">
                    <a16:creationId xmlns:a16="http://schemas.microsoft.com/office/drawing/2014/main" id="{63ED6F0F-FAE5-46D4-A427-4A0A91009D06}"/>
                  </a:ext>
                </a:extLst>
              </p:cNvPr>
              <p:cNvGrpSpPr/>
              <p:nvPr/>
            </p:nvGrpSpPr>
            <p:grpSpPr>
              <a:xfrm>
                <a:off x="7468054" y="6382515"/>
                <a:ext cx="223240" cy="357070"/>
                <a:chOff x="7414835" y="6205202"/>
                <a:chExt cx="329677" cy="527319"/>
              </a:xfrm>
            </p:grpSpPr>
            <p:sp>
              <p:nvSpPr>
                <p:cNvPr id="18" name="Oval 17">
                  <a:extLst>
                    <a:ext uri="{FF2B5EF4-FFF2-40B4-BE49-F238E27FC236}">
                      <a16:creationId xmlns:a16="http://schemas.microsoft.com/office/drawing/2014/main" id="{FC48A360-0436-42F1-BBB7-30D6FC1E9E7C}"/>
                    </a:ext>
                  </a:extLst>
                </p:cNvPr>
                <p:cNvSpPr/>
                <p:nvPr/>
              </p:nvSpPr>
              <p:spPr>
                <a:xfrm>
                  <a:off x="7483222" y="6265690"/>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9" name="Freeform 5">
                  <a:extLst>
                    <a:ext uri="{FF2B5EF4-FFF2-40B4-BE49-F238E27FC236}">
                      <a16:creationId xmlns:a16="http://schemas.microsoft.com/office/drawing/2014/main" id="{9F787FD5-56A3-4CDA-BABC-C345EF07CEBC}"/>
                    </a:ext>
                  </a:extLst>
                </p:cNvPr>
                <p:cNvSpPr>
                  <a:spLocks noEditPoints="1"/>
                </p:cNvSpPr>
                <p:nvPr/>
              </p:nvSpPr>
              <p:spPr bwMode="auto">
                <a:xfrm>
                  <a:off x="7414835" y="6205202"/>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Semilight"/>
                    <a:ea typeface="+mn-ea"/>
                    <a:cs typeface="+mn-cs"/>
                  </a:endParaRPr>
                </a:p>
              </p:txBody>
            </p:sp>
          </p:grpSp>
          <p:sp>
            <p:nvSpPr>
              <p:cNvPr id="17" name="Freeform: Shape 411">
                <a:extLst>
                  <a:ext uri="{FF2B5EF4-FFF2-40B4-BE49-F238E27FC236}">
                    <a16:creationId xmlns:a16="http://schemas.microsoft.com/office/drawing/2014/main" id="{671E672F-4D89-4650-908C-D1CEA96B5F00}"/>
                  </a:ext>
                </a:extLst>
              </p:cNvPr>
              <p:cNvSpPr/>
              <p:nvPr/>
            </p:nvSpPr>
            <p:spPr>
              <a:xfrm>
                <a:off x="7512031" y="6678832"/>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20" name="Group 19">
              <a:extLst>
                <a:ext uri="{FF2B5EF4-FFF2-40B4-BE49-F238E27FC236}">
                  <a16:creationId xmlns:a16="http://schemas.microsoft.com/office/drawing/2014/main" id="{80C5D843-E0DD-4849-A827-9F04D7D6D255}"/>
                </a:ext>
              </a:extLst>
            </p:cNvPr>
            <p:cNvGrpSpPr/>
            <p:nvPr/>
          </p:nvGrpSpPr>
          <p:grpSpPr>
            <a:xfrm>
              <a:off x="6207483" y="5803084"/>
              <a:ext cx="223240" cy="433634"/>
              <a:chOff x="6393022" y="6019901"/>
              <a:chExt cx="223240" cy="433634"/>
            </a:xfrm>
          </p:grpSpPr>
          <p:grpSp>
            <p:nvGrpSpPr>
              <p:cNvPr id="21" name="Group 20">
                <a:extLst>
                  <a:ext uri="{FF2B5EF4-FFF2-40B4-BE49-F238E27FC236}">
                    <a16:creationId xmlns:a16="http://schemas.microsoft.com/office/drawing/2014/main" id="{126444D3-F247-40B2-9E50-9C6619071FF0}"/>
                  </a:ext>
                </a:extLst>
              </p:cNvPr>
              <p:cNvGrpSpPr/>
              <p:nvPr/>
            </p:nvGrpSpPr>
            <p:grpSpPr>
              <a:xfrm>
                <a:off x="6393022" y="6019901"/>
                <a:ext cx="223240" cy="357070"/>
                <a:chOff x="6339803" y="5842588"/>
                <a:chExt cx="329677" cy="527319"/>
              </a:xfrm>
            </p:grpSpPr>
            <p:sp>
              <p:nvSpPr>
                <p:cNvPr id="23" name="Oval 27">
                  <a:extLst>
                    <a:ext uri="{FF2B5EF4-FFF2-40B4-BE49-F238E27FC236}">
                      <a16:creationId xmlns:a16="http://schemas.microsoft.com/office/drawing/2014/main" id="{198992E2-C6D0-4E0A-BFA3-8713BA4905CC}"/>
                    </a:ext>
                  </a:extLst>
                </p:cNvPr>
                <p:cNvSpPr/>
                <p:nvPr/>
              </p:nvSpPr>
              <p:spPr>
                <a:xfrm>
                  <a:off x="6408190"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4" name="Freeform 5">
                  <a:extLst>
                    <a:ext uri="{FF2B5EF4-FFF2-40B4-BE49-F238E27FC236}">
                      <a16:creationId xmlns:a16="http://schemas.microsoft.com/office/drawing/2014/main" id="{9C46DFE7-8EDE-454F-90AB-9E53F9A07854}"/>
                    </a:ext>
                  </a:extLst>
                </p:cNvPr>
                <p:cNvSpPr>
                  <a:spLocks noEditPoints="1"/>
                </p:cNvSpPr>
                <p:nvPr/>
              </p:nvSpPr>
              <p:spPr bwMode="auto">
                <a:xfrm>
                  <a:off x="6339803"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Semilight"/>
                    <a:ea typeface="+mn-ea"/>
                    <a:cs typeface="+mn-cs"/>
                  </a:endParaRPr>
                </a:p>
              </p:txBody>
            </p:sp>
          </p:grpSp>
          <p:sp>
            <p:nvSpPr>
              <p:cNvPr id="22" name="Freeform: Shape 411">
                <a:extLst>
                  <a:ext uri="{FF2B5EF4-FFF2-40B4-BE49-F238E27FC236}">
                    <a16:creationId xmlns:a16="http://schemas.microsoft.com/office/drawing/2014/main" id="{4703D727-0F75-4FBB-A18D-1472609221A6}"/>
                  </a:ext>
                </a:extLst>
              </p:cNvPr>
              <p:cNvSpPr/>
              <p:nvPr/>
            </p:nvSpPr>
            <p:spPr>
              <a:xfrm>
                <a:off x="6436999"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25" name="Group 24">
              <a:extLst>
                <a:ext uri="{FF2B5EF4-FFF2-40B4-BE49-F238E27FC236}">
                  <a16:creationId xmlns:a16="http://schemas.microsoft.com/office/drawing/2014/main" id="{918B3D98-AB6C-4580-82DE-8998B4FE1FFF}"/>
                </a:ext>
              </a:extLst>
            </p:cNvPr>
            <p:cNvGrpSpPr/>
            <p:nvPr/>
          </p:nvGrpSpPr>
          <p:grpSpPr>
            <a:xfrm>
              <a:off x="2183561" y="6187406"/>
              <a:ext cx="223240" cy="450322"/>
              <a:chOff x="2418475" y="6242316"/>
              <a:chExt cx="223240" cy="450322"/>
            </a:xfrm>
          </p:grpSpPr>
          <p:grpSp>
            <p:nvGrpSpPr>
              <p:cNvPr id="26" name="Group 25">
                <a:extLst>
                  <a:ext uri="{FF2B5EF4-FFF2-40B4-BE49-F238E27FC236}">
                    <a16:creationId xmlns:a16="http://schemas.microsoft.com/office/drawing/2014/main" id="{ACC8E4D9-27D2-452E-9466-3BB65C2D1691}"/>
                  </a:ext>
                </a:extLst>
              </p:cNvPr>
              <p:cNvGrpSpPr/>
              <p:nvPr/>
            </p:nvGrpSpPr>
            <p:grpSpPr>
              <a:xfrm>
                <a:off x="2418475" y="6242316"/>
                <a:ext cx="223240" cy="357070"/>
                <a:chOff x="2365256" y="6065003"/>
                <a:chExt cx="329677" cy="527319"/>
              </a:xfrm>
            </p:grpSpPr>
            <p:sp>
              <p:nvSpPr>
                <p:cNvPr id="28" name="Oval 6">
                  <a:extLst>
                    <a:ext uri="{FF2B5EF4-FFF2-40B4-BE49-F238E27FC236}">
                      <a16:creationId xmlns:a16="http://schemas.microsoft.com/office/drawing/2014/main" id="{A26DDC0F-C2C4-499D-8B44-6711BF40DE50}"/>
                    </a:ext>
                  </a:extLst>
                </p:cNvPr>
                <p:cNvSpPr/>
                <p:nvPr/>
              </p:nvSpPr>
              <p:spPr>
                <a:xfrm>
                  <a:off x="2433643" y="6144209"/>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9" name="Freeform 5">
                  <a:extLst>
                    <a:ext uri="{FF2B5EF4-FFF2-40B4-BE49-F238E27FC236}">
                      <a16:creationId xmlns:a16="http://schemas.microsoft.com/office/drawing/2014/main" id="{714C42F2-6BF1-4CDC-AF21-30D80BFFED7C}"/>
                    </a:ext>
                  </a:extLst>
                </p:cNvPr>
                <p:cNvSpPr>
                  <a:spLocks noEditPoints="1"/>
                </p:cNvSpPr>
                <p:nvPr/>
              </p:nvSpPr>
              <p:spPr bwMode="auto">
                <a:xfrm>
                  <a:off x="2365256" y="6065003"/>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Semilight"/>
                    <a:ea typeface="+mn-ea"/>
                    <a:cs typeface="+mn-cs"/>
                  </a:endParaRPr>
                </a:p>
              </p:txBody>
            </p:sp>
          </p:grpSp>
          <p:sp>
            <p:nvSpPr>
              <p:cNvPr id="27" name="Freeform: Shape 411">
                <a:extLst>
                  <a:ext uri="{FF2B5EF4-FFF2-40B4-BE49-F238E27FC236}">
                    <a16:creationId xmlns:a16="http://schemas.microsoft.com/office/drawing/2014/main" id="{74BBECD4-65D2-4A06-B4F9-E31D6F46CC6F}"/>
                  </a:ext>
                </a:extLst>
              </p:cNvPr>
              <p:cNvSpPr/>
              <p:nvPr/>
            </p:nvSpPr>
            <p:spPr>
              <a:xfrm>
                <a:off x="2462452" y="6557351"/>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30" name="Rectangle 29">
              <a:extLst>
                <a:ext uri="{FF2B5EF4-FFF2-40B4-BE49-F238E27FC236}">
                  <a16:creationId xmlns:a16="http://schemas.microsoft.com/office/drawing/2014/main" id="{786FB071-0BF3-47ED-A958-43ADE812ED34}"/>
                </a:ext>
              </a:extLst>
            </p:cNvPr>
            <p:cNvSpPr/>
            <p:nvPr/>
          </p:nvSpPr>
          <p:spPr bwMode="auto">
            <a:xfrm>
              <a:off x="0" y="5016500"/>
              <a:ext cx="12190651" cy="1841500"/>
            </a:xfrm>
            <a:prstGeom prst="rect">
              <a:avLst/>
            </a:prstGeom>
            <a:gradFill flip="none" rotWithShape="1">
              <a:gsLst>
                <a:gs pos="0">
                  <a:schemeClr val="accent1">
                    <a:lumMod val="0"/>
                    <a:lumOff val="100000"/>
                    <a:alpha val="51000"/>
                  </a:schemeClr>
                </a:gs>
                <a:gs pos="100000">
                  <a:schemeClr val="accent3">
                    <a:lumMod val="60000"/>
                    <a:lumOff val="4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32" name="Arc 31">
            <a:extLst>
              <a:ext uri="{FF2B5EF4-FFF2-40B4-BE49-F238E27FC236}">
                <a16:creationId xmlns:a16="http://schemas.microsoft.com/office/drawing/2014/main" id="{3647C4CC-F789-40DF-8CA2-B6D07DEDC8D0}"/>
              </a:ext>
            </a:extLst>
          </p:cNvPr>
          <p:cNvSpPr/>
          <p:nvPr/>
        </p:nvSpPr>
        <p:spPr>
          <a:xfrm rot="10162744">
            <a:off x="4730770" y="2104465"/>
            <a:ext cx="2582498" cy="361851"/>
          </a:xfrm>
          <a:prstGeom prst="arc">
            <a:avLst/>
          </a:prstGeom>
          <a:ln w="57150">
            <a:solidFill>
              <a:schemeClr val="accent3">
                <a:lumMod val="60000"/>
                <a:lumOff val="4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33" name="Content Placeholder 2">
            <a:extLst>
              <a:ext uri="{FF2B5EF4-FFF2-40B4-BE49-F238E27FC236}">
                <a16:creationId xmlns:a16="http://schemas.microsoft.com/office/drawing/2014/main" id="{6F4DA743-B552-4794-A9E1-09E34FBA4140}"/>
              </a:ext>
            </a:extLst>
          </p:cNvPr>
          <p:cNvSpPr txBox="1">
            <a:spLocks/>
          </p:cNvSpPr>
          <p:nvPr/>
        </p:nvSpPr>
        <p:spPr>
          <a:xfrm>
            <a:off x="2528047" y="3282479"/>
            <a:ext cx="9075308"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3200" dirty="0">
                <a:solidFill>
                  <a:schemeClr val="accent3">
                    <a:lumMod val="60000"/>
                    <a:lumOff val="40000"/>
                  </a:schemeClr>
                </a:solidFill>
              </a:rPr>
              <a:t>Non-relational and</a:t>
            </a:r>
          </a:p>
        </p:txBody>
      </p:sp>
      <p:sp>
        <p:nvSpPr>
          <p:cNvPr id="34" name="Content Placeholder 2">
            <a:extLst>
              <a:ext uri="{FF2B5EF4-FFF2-40B4-BE49-F238E27FC236}">
                <a16:creationId xmlns:a16="http://schemas.microsoft.com/office/drawing/2014/main" id="{67892436-09EF-41F0-8C92-D7FA3C8920E3}"/>
              </a:ext>
            </a:extLst>
          </p:cNvPr>
          <p:cNvSpPr txBox="1">
            <a:spLocks/>
          </p:cNvSpPr>
          <p:nvPr/>
        </p:nvSpPr>
        <p:spPr>
          <a:xfrm>
            <a:off x="5819887" y="3282479"/>
            <a:ext cx="384267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Wingdings" panose="05000000000000000000" pitchFamily="2" charset="2"/>
              <a:buNone/>
            </a:pPr>
            <a:r>
              <a:rPr lang="en-US" sz="3200" dirty="0">
                <a:solidFill>
                  <a:schemeClr val="accent3">
                    <a:lumMod val="60000"/>
                    <a:lumOff val="40000"/>
                  </a:schemeClr>
                </a:solidFill>
              </a:rPr>
              <a:t>horizontally scalable</a:t>
            </a:r>
          </a:p>
        </p:txBody>
      </p:sp>
      <p:cxnSp>
        <p:nvCxnSpPr>
          <p:cNvPr id="36" name="Connector: Curved 35">
            <a:extLst>
              <a:ext uri="{FF2B5EF4-FFF2-40B4-BE49-F238E27FC236}">
                <a16:creationId xmlns:a16="http://schemas.microsoft.com/office/drawing/2014/main" id="{AB33BE3B-F870-4751-B19A-7762A80C872F}"/>
              </a:ext>
            </a:extLst>
          </p:cNvPr>
          <p:cNvCxnSpPr>
            <a:cxnSpLocks/>
          </p:cNvCxnSpPr>
          <p:nvPr/>
        </p:nvCxnSpPr>
        <p:spPr>
          <a:xfrm rot="16200000" flipH="1">
            <a:off x="5225943" y="2876395"/>
            <a:ext cx="512435" cy="299735"/>
          </a:xfrm>
          <a:prstGeom prst="curvedConnector3">
            <a:avLst>
              <a:gd name="adj1" fmla="val 37970"/>
            </a:avLst>
          </a:prstGeom>
          <a:ln w="57150">
            <a:solidFill>
              <a:schemeClr val="accent3">
                <a:lumMod val="60000"/>
                <a:lumOff val="4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60033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300"/>
                                        <p:tgtEl>
                                          <p:spTgt spid="32"/>
                                        </p:tgtEl>
                                      </p:cBhvr>
                                    </p:animEffect>
                                  </p:childTnLst>
                                </p:cTn>
                              </p:par>
                            </p:childTnLst>
                          </p:cTn>
                        </p:par>
                        <p:par>
                          <p:cTn id="19" fill="hold">
                            <p:stCondLst>
                              <p:cond delay="300"/>
                            </p:stCondLst>
                            <p:childTnLst>
                              <p:par>
                                <p:cTn id="20" presetID="22" presetClass="entr" presetSubtype="1"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childTnLst>
                          </p:cTn>
                        </p:par>
                        <p:par>
                          <p:cTn id="23"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animBg="1"/>
      <p:bldP spid="3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Arrow: Up-Down 94">
            <a:extLst>
              <a:ext uri="{FF2B5EF4-FFF2-40B4-BE49-F238E27FC236}">
                <a16:creationId xmlns:a16="http://schemas.microsoft.com/office/drawing/2014/main" id="{37F40D81-D9B8-4827-B9D6-169FE44020DB}"/>
              </a:ext>
            </a:extLst>
          </p:cNvPr>
          <p:cNvSpPr/>
          <p:nvPr/>
        </p:nvSpPr>
        <p:spPr bwMode="auto">
          <a:xfrm>
            <a:off x="5886450" y="3420155"/>
            <a:ext cx="419100" cy="95250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88263" y="457200"/>
            <a:ext cx="11018520" cy="553998"/>
          </a:xfrm>
        </p:spPr>
        <p:txBody>
          <a:bodyPr/>
          <a:lstStyle/>
          <a:p>
            <a:r>
              <a:rPr lang="en-US" dirty="0"/>
              <a:t>What is Azure Cosmos DB?</a:t>
            </a:r>
          </a:p>
        </p:txBody>
      </p:sp>
      <p:sp>
        <p:nvSpPr>
          <p:cNvPr id="35" name="Content Placeholder 2">
            <a:extLst>
              <a:ext uri="{FF2B5EF4-FFF2-40B4-BE49-F238E27FC236}">
                <a16:creationId xmlns:a16="http://schemas.microsoft.com/office/drawing/2014/main" id="{6FB58E72-0802-4491-9A57-8FCEA50C3F44}"/>
              </a:ext>
            </a:extLst>
          </p:cNvPr>
          <p:cNvSpPr txBox="1">
            <a:spLocks/>
          </p:cNvSpPr>
          <p:nvPr/>
        </p:nvSpPr>
        <p:spPr>
          <a:xfrm>
            <a:off x="4174664" y="1259706"/>
            <a:ext cx="384267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Wingdings" panose="05000000000000000000" pitchFamily="2" charset="2"/>
              <a:buNone/>
            </a:pPr>
            <a:r>
              <a:rPr lang="en-US" sz="3200" dirty="0">
                <a:solidFill>
                  <a:schemeClr val="accent3">
                    <a:lumMod val="60000"/>
                    <a:lumOff val="40000"/>
                  </a:schemeClr>
                </a:solidFill>
              </a:rPr>
              <a:t>horizontally scalable</a:t>
            </a:r>
          </a:p>
        </p:txBody>
      </p:sp>
      <p:sp>
        <p:nvSpPr>
          <p:cNvPr id="45" name="Arrow: Up-Down 44">
            <a:extLst>
              <a:ext uri="{FF2B5EF4-FFF2-40B4-BE49-F238E27FC236}">
                <a16:creationId xmlns:a16="http://schemas.microsoft.com/office/drawing/2014/main" id="{667829E5-5E34-4808-AFCF-124D7636D76E}"/>
              </a:ext>
            </a:extLst>
          </p:cNvPr>
          <p:cNvSpPr/>
          <p:nvPr/>
        </p:nvSpPr>
        <p:spPr bwMode="auto">
          <a:xfrm>
            <a:off x="5886450" y="1821335"/>
            <a:ext cx="419100" cy="95250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1" name="Content Placeholder 2">
            <a:extLst>
              <a:ext uri="{FF2B5EF4-FFF2-40B4-BE49-F238E27FC236}">
                <a16:creationId xmlns:a16="http://schemas.microsoft.com/office/drawing/2014/main" id="{A89D2CDE-BF52-4000-8305-F05340F0119B}"/>
              </a:ext>
            </a:extLst>
          </p:cNvPr>
          <p:cNvSpPr>
            <a:spLocks noGrp="1"/>
          </p:cNvSpPr>
          <p:nvPr>
            <p:ph sz="quarter" idx="10"/>
          </p:nvPr>
        </p:nvSpPr>
        <p:spPr>
          <a:xfrm>
            <a:off x="584518" y="5958537"/>
            <a:ext cx="11018838" cy="492443"/>
          </a:xfrm>
        </p:spPr>
        <p:txBody>
          <a:bodyPr/>
          <a:lstStyle/>
          <a:p>
            <a:pPr marL="0" indent="0" algn="ctr">
              <a:buNone/>
            </a:pPr>
            <a:r>
              <a:rPr lang="en-US" sz="3200" dirty="0"/>
              <a:t>Unlimited storage capacity</a:t>
            </a:r>
            <a:endParaRPr lang="en-US" sz="3200" dirty="0">
              <a:solidFill>
                <a:schemeClr val="accent3">
                  <a:lumMod val="60000"/>
                  <a:lumOff val="40000"/>
                </a:schemeClr>
              </a:solidFill>
            </a:endParaRPr>
          </a:p>
        </p:txBody>
      </p:sp>
      <p:sp>
        <p:nvSpPr>
          <p:cNvPr id="75" name="Content Placeholder 2">
            <a:extLst>
              <a:ext uri="{FF2B5EF4-FFF2-40B4-BE49-F238E27FC236}">
                <a16:creationId xmlns:a16="http://schemas.microsoft.com/office/drawing/2014/main" id="{D7AA3348-4028-4129-85DC-6226DECB5463}"/>
              </a:ext>
            </a:extLst>
          </p:cNvPr>
          <p:cNvSpPr txBox="1">
            <a:spLocks/>
          </p:cNvSpPr>
          <p:nvPr/>
        </p:nvSpPr>
        <p:spPr>
          <a:xfrm>
            <a:off x="415280" y="5958536"/>
            <a:ext cx="11018838"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pPr>
            <a:r>
              <a:rPr lang="en-US" sz="3200" dirty="0"/>
              <a:t>Unlimited throughput</a:t>
            </a:r>
            <a:endParaRPr lang="en-US" sz="3200" dirty="0">
              <a:solidFill>
                <a:schemeClr val="accent3">
                  <a:lumMod val="60000"/>
                  <a:lumOff val="40000"/>
                </a:schemeClr>
              </a:solidFill>
            </a:endParaRPr>
          </a:p>
        </p:txBody>
      </p:sp>
      <p:pic>
        <p:nvPicPr>
          <p:cNvPr id="49" name="Picture 48" descr="A close up of a logo&#10;&#10;Description automatically generated">
            <a:extLst>
              <a:ext uri="{FF2B5EF4-FFF2-40B4-BE49-F238E27FC236}">
                <a16:creationId xmlns:a16="http://schemas.microsoft.com/office/drawing/2014/main" id="{BF893AC4-53A7-45AF-ABC5-CB76DB27090B}"/>
              </a:ext>
            </a:extLst>
          </p:cNvPr>
          <p:cNvPicPr>
            <a:picLocks noChangeAspect="1"/>
          </p:cNvPicPr>
          <p:nvPr/>
        </p:nvPicPr>
        <p:blipFill>
          <a:blip r:embed="rId3">
            <a:duotone>
              <a:schemeClr val="accent2">
                <a:shade val="45000"/>
                <a:satMod val="135000"/>
              </a:schemeClr>
              <a:prstClr val="white"/>
            </a:duotone>
          </a:blip>
          <a:stretch>
            <a:fillRect/>
          </a:stretch>
        </p:blipFill>
        <p:spPr>
          <a:xfrm>
            <a:off x="757881" y="4382901"/>
            <a:ext cx="1013255" cy="372055"/>
          </a:xfrm>
          <a:prstGeom prst="rect">
            <a:avLst/>
          </a:prstGeom>
        </p:spPr>
      </p:pic>
      <p:sp>
        <p:nvSpPr>
          <p:cNvPr id="50" name="Rectangle: Rounded Corners 49">
            <a:extLst>
              <a:ext uri="{FF2B5EF4-FFF2-40B4-BE49-F238E27FC236}">
                <a16:creationId xmlns:a16="http://schemas.microsoft.com/office/drawing/2014/main" id="{801EDB78-DD99-4D9A-ACE3-27F089F5F9EC}"/>
              </a:ext>
            </a:extLst>
          </p:cNvPr>
          <p:cNvSpPr/>
          <p:nvPr/>
        </p:nvSpPr>
        <p:spPr bwMode="auto">
          <a:xfrm>
            <a:off x="757881" y="439958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descr="A close up of a logo&#10;&#10;Description automatically generated">
            <a:extLst>
              <a:ext uri="{FF2B5EF4-FFF2-40B4-BE49-F238E27FC236}">
                <a16:creationId xmlns:a16="http://schemas.microsoft.com/office/drawing/2014/main" id="{0F0387BF-BF8C-4829-A905-9B161C2BDD88}"/>
              </a:ext>
            </a:extLst>
          </p:cNvPr>
          <p:cNvPicPr>
            <a:picLocks noChangeAspect="1"/>
          </p:cNvPicPr>
          <p:nvPr/>
        </p:nvPicPr>
        <p:blipFill>
          <a:blip r:embed="rId4">
            <a:duotone>
              <a:schemeClr val="accent2">
                <a:shade val="45000"/>
                <a:satMod val="135000"/>
              </a:schemeClr>
              <a:prstClr val="white"/>
            </a:duotone>
          </a:blip>
          <a:stretch>
            <a:fillRect/>
          </a:stretch>
        </p:blipFill>
        <p:spPr>
          <a:xfrm>
            <a:off x="908297" y="4771636"/>
            <a:ext cx="712421" cy="712421"/>
          </a:xfrm>
          <a:prstGeom prst="rect">
            <a:avLst/>
          </a:prstGeom>
        </p:spPr>
      </p:pic>
      <p:pic>
        <p:nvPicPr>
          <p:cNvPr id="62" name="Picture 61" descr="A close up of a logo&#10;&#10;Description automatically generated">
            <a:extLst>
              <a:ext uri="{FF2B5EF4-FFF2-40B4-BE49-F238E27FC236}">
                <a16:creationId xmlns:a16="http://schemas.microsoft.com/office/drawing/2014/main" id="{C2BDBC2A-4705-4DC0-BB55-7360793BF5B8}"/>
              </a:ext>
            </a:extLst>
          </p:cNvPr>
          <p:cNvPicPr>
            <a:picLocks noChangeAspect="1"/>
          </p:cNvPicPr>
          <p:nvPr/>
        </p:nvPicPr>
        <p:blipFill>
          <a:blip r:embed="rId3">
            <a:duotone>
              <a:schemeClr val="accent2">
                <a:shade val="45000"/>
                <a:satMod val="135000"/>
              </a:schemeClr>
              <a:prstClr val="white"/>
            </a:duotone>
          </a:blip>
          <a:stretch>
            <a:fillRect/>
          </a:stretch>
        </p:blipFill>
        <p:spPr>
          <a:xfrm>
            <a:off x="2368379" y="4382901"/>
            <a:ext cx="1013255" cy="372055"/>
          </a:xfrm>
          <a:prstGeom prst="rect">
            <a:avLst/>
          </a:prstGeom>
        </p:spPr>
      </p:pic>
      <p:sp>
        <p:nvSpPr>
          <p:cNvPr id="63" name="Rectangle: Rounded Corners 62">
            <a:extLst>
              <a:ext uri="{FF2B5EF4-FFF2-40B4-BE49-F238E27FC236}">
                <a16:creationId xmlns:a16="http://schemas.microsoft.com/office/drawing/2014/main" id="{3A08DD60-483B-420D-9C12-87B7AAF0E016}"/>
              </a:ext>
            </a:extLst>
          </p:cNvPr>
          <p:cNvSpPr/>
          <p:nvPr/>
        </p:nvSpPr>
        <p:spPr bwMode="auto">
          <a:xfrm>
            <a:off x="2368379" y="439958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4" name="Picture 63" descr="A close up of a logo&#10;&#10;Description automatically generated">
            <a:extLst>
              <a:ext uri="{FF2B5EF4-FFF2-40B4-BE49-F238E27FC236}">
                <a16:creationId xmlns:a16="http://schemas.microsoft.com/office/drawing/2014/main" id="{4EC452B6-9252-41D8-8B06-E20C9DAC5C4D}"/>
              </a:ext>
            </a:extLst>
          </p:cNvPr>
          <p:cNvPicPr>
            <a:picLocks noChangeAspect="1"/>
          </p:cNvPicPr>
          <p:nvPr/>
        </p:nvPicPr>
        <p:blipFill>
          <a:blip r:embed="rId4">
            <a:duotone>
              <a:schemeClr val="accent2">
                <a:shade val="45000"/>
                <a:satMod val="135000"/>
              </a:schemeClr>
              <a:prstClr val="white"/>
            </a:duotone>
          </a:blip>
          <a:stretch>
            <a:fillRect/>
          </a:stretch>
        </p:blipFill>
        <p:spPr>
          <a:xfrm>
            <a:off x="2518795" y="4771636"/>
            <a:ext cx="712421" cy="712421"/>
          </a:xfrm>
          <a:prstGeom prst="rect">
            <a:avLst/>
          </a:prstGeom>
        </p:spPr>
      </p:pic>
      <p:pic>
        <p:nvPicPr>
          <p:cNvPr id="65" name="Picture 64" descr="A close up of a logo&#10;&#10;Description automatically generated">
            <a:extLst>
              <a:ext uri="{FF2B5EF4-FFF2-40B4-BE49-F238E27FC236}">
                <a16:creationId xmlns:a16="http://schemas.microsoft.com/office/drawing/2014/main" id="{E7362EB3-8B6B-485D-A4B7-4B71BEBA1F52}"/>
              </a:ext>
            </a:extLst>
          </p:cNvPr>
          <p:cNvPicPr>
            <a:picLocks noChangeAspect="1"/>
          </p:cNvPicPr>
          <p:nvPr/>
        </p:nvPicPr>
        <p:blipFill>
          <a:blip r:embed="rId3">
            <a:duotone>
              <a:schemeClr val="accent2">
                <a:shade val="45000"/>
                <a:satMod val="135000"/>
              </a:schemeClr>
              <a:prstClr val="white"/>
            </a:duotone>
          </a:blip>
          <a:stretch>
            <a:fillRect/>
          </a:stretch>
        </p:blipFill>
        <p:spPr>
          <a:xfrm>
            <a:off x="3978875" y="4382901"/>
            <a:ext cx="1013255" cy="372055"/>
          </a:xfrm>
          <a:prstGeom prst="rect">
            <a:avLst/>
          </a:prstGeom>
        </p:spPr>
      </p:pic>
      <p:sp>
        <p:nvSpPr>
          <p:cNvPr id="66" name="Rectangle: Rounded Corners 65">
            <a:extLst>
              <a:ext uri="{FF2B5EF4-FFF2-40B4-BE49-F238E27FC236}">
                <a16:creationId xmlns:a16="http://schemas.microsoft.com/office/drawing/2014/main" id="{636573D5-4616-43E8-9C3E-D59F6F89EC10}"/>
              </a:ext>
            </a:extLst>
          </p:cNvPr>
          <p:cNvSpPr/>
          <p:nvPr/>
        </p:nvSpPr>
        <p:spPr bwMode="auto">
          <a:xfrm>
            <a:off x="3978875" y="439958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6" name="Picture 75" descr="A close up of a logo&#10;&#10;Description automatically generated">
            <a:extLst>
              <a:ext uri="{FF2B5EF4-FFF2-40B4-BE49-F238E27FC236}">
                <a16:creationId xmlns:a16="http://schemas.microsoft.com/office/drawing/2014/main" id="{13504705-1FE1-4086-9862-C080A14E3C6C}"/>
              </a:ext>
            </a:extLst>
          </p:cNvPr>
          <p:cNvPicPr>
            <a:picLocks noChangeAspect="1"/>
          </p:cNvPicPr>
          <p:nvPr/>
        </p:nvPicPr>
        <p:blipFill>
          <a:blip r:embed="rId4">
            <a:duotone>
              <a:schemeClr val="accent2">
                <a:shade val="45000"/>
                <a:satMod val="135000"/>
              </a:schemeClr>
              <a:prstClr val="white"/>
            </a:duotone>
          </a:blip>
          <a:stretch>
            <a:fillRect/>
          </a:stretch>
        </p:blipFill>
        <p:spPr>
          <a:xfrm>
            <a:off x="4129291" y="4771636"/>
            <a:ext cx="712421" cy="712421"/>
          </a:xfrm>
          <a:prstGeom prst="rect">
            <a:avLst/>
          </a:prstGeom>
        </p:spPr>
      </p:pic>
      <p:pic>
        <p:nvPicPr>
          <p:cNvPr id="77" name="Picture 76" descr="A close up of a logo&#10;&#10;Description automatically generated">
            <a:extLst>
              <a:ext uri="{FF2B5EF4-FFF2-40B4-BE49-F238E27FC236}">
                <a16:creationId xmlns:a16="http://schemas.microsoft.com/office/drawing/2014/main" id="{87B9A41A-2E91-478C-9870-B8DB3EF9E864}"/>
              </a:ext>
            </a:extLst>
          </p:cNvPr>
          <p:cNvPicPr>
            <a:picLocks noChangeAspect="1"/>
          </p:cNvPicPr>
          <p:nvPr/>
        </p:nvPicPr>
        <p:blipFill>
          <a:blip r:embed="rId3">
            <a:duotone>
              <a:schemeClr val="accent2">
                <a:shade val="45000"/>
                <a:satMod val="135000"/>
              </a:schemeClr>
              <a:prstClr val="white"/>
            </a:duotone>
          </a:blip>
          <a:stretch>
            <a:fillRect/>
          </a:stretch>
        </p:blipFill>
        <p:spPr>
          <a:xfrm>
            <a:off x="5589372" y="4382901"/>
            <a:ext cx="1013255" cy="372055"/>
          </a:xfrm>
          <a:prstGeom prst="rect">
            <a:avLst/>
          </a:prstGeom>
        </p:spPr>
      </p:pic>
      <p:sp>
        <p:nvSpPr>
          <p:cNvPr id="78" name="Rectangle: Rounded Corners 77">
            <a:extLst>
              <a:ext uri="{FF2B5EF4-FFF2-40B4-BE49-F238E27FC236}">
                <a16:creationId xmlns:a16="http://schemas.microsoft.com/office/drawing/2014/main" id="{46F143BB-D09C-421C-A2AD-C48809BB198D}"/>
              </a:ext>
            </a:extLst>
          </p:cNvPr>
          <p:cNvSpPr/>
          <p:nvPr/>
        </p:nvSpPr>
        <p:spPr bwMode="auto">
          <a:xfrm>
            <a:off x="5589372" y="439958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9" name="Picture 78" descr="A close up of a logo&#10;&#10;Description automatically generated">
            <a:extLst>
              <a:ext uri="{FF2B5EF4-FFF2-40B4-BE49-F238E27FC236}">
                <a16:creationId xmlns:a16="http://schemas.microsoft.com/office/drawing/2014/main" id="{01BC90FD-B8C7-4035-816C-45D7DF99CE7E}"/>
              </a:ext>
            </a:extLst>
          </p:cNvPr>
          <p:cNvPicPr>
            <a:picLocks noChangeAspect="1"/>
          </p:cNvPicPr>
          <p:nvPr/>
        </p:nvPicPr>
        <p:blipFill>
          <a:blip r:embed="rId4">
            <a:duotone>
              <a:schemeClr val="accent2">
                <a:shade val="45000"/>
                <a:satMod val="135000"/>
              </a:schemeClr>
              <a:prstClr val="white"/>
            </a:duotone>
          </a:blip>
          <a:stretch>
            <a:fillRect/>
          </a:stretch>
        </p:blipFill>
        <p:spPr>
          <a:xfrm>
            <a:off x="5739788" y="4771636"/>
            <a:ext cx="712421" cy="712421"/>
          </a:xfrm>
          <a:prstGeom prst="rect">
            <a:avLst/>
          </a:prstGeom>
        </p:spPr>
      </p:pic>
      <p:pic>
        <p:nvPicPr>
          <p:cNvPr id="80" name="Picture 79" descr="A close up of a logo&#10;&#10;Description automatically generated">
            <a:extLst>
              <a:ext uri="{FF2B5EF4-FFF2-40B4-BE49-F238E27FC236}">
                <a16:creationId xmlns:a16="http://schemas.microsoft.com/office/drawing/2014/main" id="{E430C9CE-EE4B-45BE-9169-679F083340BA}"/>
              </a:ext>
            </a:extLst>
          </p:cNvPr>
          <p:cNvPicPr>
            <a:picLocks noChangeAspect="1"/>
          </p:cNvPicPr>
          <p:nvPr/>
        </p:nvPicPr>
        <p:blipFill>
          <a:blip r:embed="rId3">
            <a:duotone>
              <a:schemeClr val="accent2">
                <a:shade val="45000"/>
                <a:satMod val="135000"/>
              </a:schemeClr>
              <a:prstClr val="white"/>
            </a:duotone>
          </a:blip>
          <a:stretch>
            <a:fillRect/>
          </a:stretch>
        </p:blipFill>
        <p:spPr>
          <a:xfrm>
            <a:off x="7199869" y="4382901"/>
            <a:ext cx="1013255" cy="372055"/>
          </a:xfrm>
          <a:prstGeom prst="rect">
            <a:avLst/>
          </a:prstGeom>
        </p:spPr>
      </p:pic>
      <p:sp>
        <p:nvSpPr>
          <p:cNvPr id="81" name="Rectangle: Rounded Corners 80">
            <a:extLst>
              <a:ext uri="{FF2B5EF4-FFF2-40B4-BE49-F238E27FC236}">
                <a16:creationId xmlns:a16="http://schemas.microsoft.com/office/drawing/2014/main" id="{E50A0730-ABDD-43A0-94F2-E53D2537CE3E}"/>
              </a:ext>
            </a:extLst>
          </p:cNvPr>
          <p:cNvSpPr/>
          <p:nvPr/>
        </p:nvSpPr>
        <p:spPr bwMode="auto">
          <a:xfrm>
            <a:off x="7199869" y="439958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2" name="Picture 81" descr="A close up of a logo&#10;&#10;Description automatically generated">
            <a:extLst>
              <a:ext uri="{FF2B5EF4-FFF2-40B4-BE49-F238E27FC236}">
                <a16:creationId xmlns:a16="http://schemas.microsoft.com/office/drawing/2014/main" id="{5F1F66D7-7E88-4B77-BFC1-F6EEED5C0FDB}"/>
              </a:ext>
            </a:extLst>
          </p:cNvPr>
          <p:cNvPicPr>
            <a:picLocks noChangeAspect="1"/>
          </p:cNvPicPr>
          <p:nvPr/>
        </p:nvPicPr>
        <p:blipFill>
          <a:blip r:embed="rId4">
            <a:duotone>
              <a:schemeClr val="accent2">
                <a:shade val="45000"/>
                <a:satMod val="135000"/>
              </a:schemeClr>
              <a:prstClr val="white"/>
            </a:duotone>
          </a:blip>
          <a:stretch>
            <a:fillRect/>
          </a:stretch>
        </p:blipFill>
        <p:spPr>
          <a:xfrm>
            <a:off x="7350285" y="4771636"/>
            <a:ext cx="712421" cy="712421"/>
          </a:xfrm>
          <a:prstGeom prst="rect">
            <a:avLst/>
          </a:prstGeom>
        </p:spPr>
      </p:pic>
      <p:pic>
        <p:nvPicPr>
          <p:cNvPr id="83" name="Picture 82" descr="A close up of a logo&#10;&#10;Description automatically generated">
            <a:extLst>
              <a:ext uri="{FF2B5EF4-FFF2-40B4-BE49-F238E27FC236}">
                <a16:creationId xmlns:a16="http://schemas.microsoft.com/office/drawing/2014/main" id="{495FBE37-F5B6-4957-9742-30E20F053A5A}"/>
              </a:ext>
            </a:extLst>
          </p:cNvPr>
          <p:cNvPicPr>
            <a:picLocks noChangeAspect="1"/>
          </p:cNvPicPr>
          <p:nvPr/>
        </p:nvPicPr>
        <p:blipFill>
          <a:blip r:embed="rId3">
            <a:duotone>
              <a:schemeClr val="accent2">
                <a:shade val="45000"/>
                <a:satMod val="135000"/>
              </a:schemeClr>
              <a:prstClr val="white"/>
            </a:duotone>
          </a:blip>
          <a:stretch>
            <a:fillRect/>
          </a:stretch>
        </p:blipFill>
        <p:spPr>
          <a:xfrm>
            <a:off x="8810366" y="4380061"/>
            <a:ext cx="1013255" cy="372055"/>
          </a:xfrm>
          <a:prstGeom prst="rect">
            <a:avLst/>
          </a:prstGeom>
        </p:spPr>
      </p:pic>
      <p:sp>
        <p:nvSpPr>
          <p:cNvPr id="84" name="Rectangle: Rounded Corners 83">
            <a:extLst>
              <a:ext uri="{FF2B5EF4-FFF2-40B4-BE49-F238E27FC236}">
                <a16:creationId xmlns:a16="http://schemas.microsoft.com/office/drawing/2014/main" id="{1F1B30C8-8923-46EA-B029-83CC57A89077}"/>
              </a:ext>
            </a:extLst>
          </p:cNvPr>
          <p:cNvSpPr/>
          <p:nvPr/>
        </p:nvSpPr>
        <p:spPr bwMode="auto">
          <a:xfrm>
            <a:off x="8810366" y="4396741"/>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5" name="Picture 84" descr="A close up of a logo&#10;&#10;Description automatically generated">
            <a:extLst>
              <a:ext uri="{FF2B5EF4-FFF2-40B4-BE49-F238E27FC236}">
                <a16:creationId xmlns:a16="http://schemas.microsoft.com/office/drawing/2014/main" id="{1111CFCA-77C0-4B22-8C17-56CDD8139FC4}"/>
              </a:ext>
            </a:extLst>
          </p:cNvPr>
          <p:cNvPicPr>
            <a:picLocks noChangeAspect="1"/>
          </p:cNvPicPr>
          <p:nvPr/>
        </p:nvPicPr>
        <p:blipFill>
          <a:blip r:embed="rId4">
            <a:duotone>
              <a:schemeClr val="accent2">
                <a:shade val="45000"/>
                <a:satMod val="135000"/>
              </a:schemeClr>
              <a:prstClr val="white"/>
            </a:duotone>
          </a:blip>
          <a:stretch>
            <a:fillRect/>
          </a:stretch>
        </p:blipFill>
        <p:spPr>
          <a:xfrm>
            <a:off x="8960782" y="4768796"/>
            <a:ext cx="712421" cy="712421"/>
          </a:xfrm>
          <a:prstGeom prst="rect">
            <a:avLst/>
          </a:prstGeom>
        </p:spPr>
      </p:pic>
      <p:pic>
        <p:nvPicPr>
          <p:cNvPr id="86" name="Picture 85" descr="A close up of a logo&#10;&#10;Description automatically generated">
            <a:extLst>
              <a:ext uri="{FF2B5EF4-FFF2-40B4-BE49-F238E27FC236}">
                <a16:creationId xmlns:a16="http://schemas.microsoft.com/office/drawing/2014/main" id="{F5ED36F5-0D9E-4806-B05D-C9875F4954C8}"/>
              </a:ext>
            </a:extLst>
          </p:cNvPr>
          <p:cNvPicPr>
            <a:picLocks noChangeAspect="1"/>
          </p:cNvPicPr>
          <p:nvPr/>
        </p:nvPicPr>
        <p:blipFill>
          <a:blip r:embed="rId3">
            <a:duotone>
              <a:schemeClr val="accent2">
                <a:shade val="45000"/>
                <a:satMod val="135000"/>
              </a:schemeClr>
              <a:prstClr val="white"/>
            </a:duotone>
          </a:blip>
          <a:stretch>
            <a:fillRect/>
          </a:stretch>
        </p:blipFill>
        <p:spPr>
          <a:xfrm>
            <a:off x="10420863" y="4385569"/>
            <a:ext cx="1013255" cy="372055"/>
          </a:xfrm>
          <a:prstGeom prst="rect">
            <a:avLst/>
          </a:prstGeom>
        </p:spPr>
      </p:pic>
      <p:sp>
        <p:nvSpPr>
          <p:cNvPr id="87" name="Rectangle: Rounded Corners 86">
            <a:extLst>
              <a:ext uri="{FF2B5EF4-FFF2-40B4-BE49-F238E27FC236}">
                <a16:creationId xmlns:a16="http://schemas.microsoft.com/office/drawing/2014/main" id="{82FA661B-CC8D-4C0A-B449-EEF16652451A}"/>
              </a:ext>
            </a:extLst>
          </p:cNvPr>
          <p:cNvSpPr/>
          <p:nvPr/>
        </p:nvSpPr>
        <p:spPr bwMode="auto">
          <a:xfrm>
            <a:off x="10420863" y="4402249"/>
            <a:ext cx="1013255" cy="1161826"/>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8" name="Picture 87" descr="A close up of a logo&#10;&#10;Description automatically generated">
            <a:extLst>
              <a:ext uri="{FF2B5EF4-FFF2-40B4-BE49-F238E27FC236}">
                <a16:creationId xmlns:a16="http://schemas.microsoft.com/office/drawing/2014/main" id="{837264F7-1F93-49CD-A43A-93784948EE57}"/>
              </a:ext>
            </a:extLst>
          </p:cNvPr>
          <p:cNvPicPr>
            <a:picLocks noChangeAspect="1"/>
          </p:cNvPicPr>
          <p:nvPr/>
        </p:nvPicPr>
        <p:blipFill>
          <a:blip r:embed="rId4">
            <a:duotone>
              <a:schemeClr val="accent2">
                <a:shade val="45000"/>
                <a:satMod val="135000"/>
              </a:schemeClr>
              <a:prstClr val="white"/>
            </a:duotone>
          </a:blip>
          <a:stretch>
            <a:fillRect/>
          </a:stretch>
        </p:blipFill>
        <p:spPr>
          <a:xfrm>
            <a:off x="10571279" y="4774304"/>
            <a:ext cx="712421" cy="712421"/>
          </a:xfrm>
          <a:prstGeom prst="rect">
            <a:avLst/>
          </a:prstGeom>
        </p:spPr>
      </p:pic>
      <p:sp>
        <p:nvSpPr>
          <p:cNvPr id="71" name="Arrow: Bent-Up 70">
            <a:extLst>
              <a:ext uri="{FF2B5EF4-FFF2-40B4-BE49-F238E27FC236}">
                <a16:creationId xmlns:a16="http://schemas.microsoft.com/office/drawing/2014/main" id="{4294F9CD-0031-42B3-AFEC-AFCD0D738B21}"/>
              </a:ext>
            </a:extLst>
          </p:cNvPr>
          <p:cNvSpPr/>
          <p:nvPr/>
        </p:nvSpPr>
        <p:spPr bwMode="auto">
          <a:xfrm rot="10800000" flipH="1">
            <a:off x="6185082" y="3764929"/>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Arrow: Bent-Up 71">
            <a:extLst>
              <a:ext uri="{FF2B5EF4-FFF2-40B4-BE49-F238E27FC236}">
                <a16:creationId xmlns:a16="http://schemas.microsoft.com/office/drawing/2014/main" id="{DE794EB6-8CA4-43F3-B594-35FC2C12DBFD}"/>
              </a:ext>
            </a:extLst>
          </p:cNvPr>
          <p:cNvSpPr/>
          <p:nvPr/>
        </p:nvSpPr>
        <p:spPr bwMode="auto">
          <a:xfrm rot="10800000" flipH="1">
            <a:off x="6479210" y="3765853"/>
            <a:ext cx="3006984"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Arrow: Bent-Up 72">
            <a:extLst>
              <a:ext uri="{FF2B5EF4-FFF2-40B4-BE49-F238E27FC236}">
                <a16:creationId xmlns:a16="http://schemas.microsoft.com/office/drawing/2014/main" id="{56D5A99D-6C98-4118-9812-1DD279639863}"/>
              </a:ext>
            </a:extLst>
          </p:cNvPr>
          <p:cNvSpPr/>
          <p:nvPr/>
        </p:nvSpPr>
        <p:spPr bwMode="auto">
          <a:xfrm rot="10800000" flipH="1">
            <a:off x="6490097" y="3764928"/>
            <a:ext cx="4584867"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7" name="Arrow: Bent-Up 66">
            <a:extLst>
              <a:ext uri="{FF2B5EF4-FFF2-40B4-BE49-F238E27FC236}">
                <a16:creationId xmlns:a16="http://schemas.microsoft.com/office/drawing/2014/main" id="{DFB141A8-B680-4D23-A73C-1BE99BA7E4E8}"/>
              </a:ext>
            </a:extLst>
          </p:cNvPr>
          <p:cNvSpPr/>
          <p:nvPr/>
        </p:nvSpPr>
        <p:spPr bwMode="auto">
          <a:xfrm rot="10800000">
            <a:off x="4310380" y="3765764"/>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8" name="Arrow: Bent-Up 67">
            <a:extLst>
              <a:ext uri="{FF2B5EF4-FFF2-40B4-BE49-F238E27FC236}">
                <a16:creationId xmlns:a16="http://schemas.microsoft.com/office/drawing/2014/main" id="{DB6A5297-6C66-411C-90EA-ADB97670DA09}"/>
              </a:ext>
            </a:extLst>
          </p:cNvPr>
          <p:cNvSpPr/>
          <p:nvPr/>
        </p:nvSpPr>
        <p:spPr bwMode="auto">
          <a:xfrm rot="10800000">
            <a:off x="2681494" y="3765763"/>
            <a:ext cx="3031296"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Arrow: Bent-Up 68">
            <a:extLst>
              <a:ext uri="{FF2B5EF4-FFF2-40B4-BE49-F238E27FC236}">
                <a16:creationId xmlns:a16="http://schemas.microsoft.com/office/drawing/2014/main" id="{EC0D615A-1B1B-4EB7-A2C9-261507E5EF16}"/>
              </a:ext>
            </a:extLst>
          </p:cNvPr>
          <p:cNvSpPr/>
          <p:nvPr/>
        </p:nvSpPr>
        <p:spPr bwMode="auto">
          <a:xfrm rot="10800000">
            <a:off x="1092724" y="3764929"/>
            <a:ext cx="4645082"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Cylinder 35">
            <a:extLst>
              <a:ext uri="{FF2B5EF4-FFF2-40B4-BE49-F238E27FC236}">
                <a16:creationId xmlns:a16="http://schemas.microsoft.com/office/drawing/2014/main" id="{FFFB4147-4F4B-44C0-AC3C-5C674C1C0115}"/>
              </a:ext>
            </a:extLst>
          </p:cNvPr>
          <p:cNvSpPr/>
          <p:nvPr/>
        </p:nvSpPr>
        <p:spPr bwMode="auto">
          <a:xfrm>
            <a:off x="5589373" y="2843021"/>
            <a:ext cx="1013254" cy="121096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BA847779-FFF6-4A4F-BCA6-2A075950F104}"/>
              </a:ext>
            </a:extLst>
          </p:cNvPr>
          <p:cNvGrpSpPr/>
          <p:nvPr/>
        </p:nvGrpSpPr>
        <p:grpSpPr>
          <a:xfrm>
            <a:off x="5741773" y="3183148"/>
            <a:ext cx="712421" cy="712421"/>
            <a:chOff x="2419350" y="4887768"/>
            <a:chExt cx="883920" cy="883920"/>
          </a:xfrm>
        </p:grpSpPr>
        <p:sp>
          <p:nvSpPr>
            <p:cNvPr id="5" name="Oval 4">
              <a:extLst>
                <a:ext uri="{FF2B5EF4-FFF2-40B4-BE49-F238E27FC236}">
                  <a16:creationId xmlns:a16="http://schemas.microsoft.com/office/drawing/2014/main" id="{1E81CA6A-DF9C-44A8-81EB-D7F6FDA883B9}"/>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a:extLst>
                <a:ext uri="{FF2B5EF4-FFF2-40B4-BE49-F238E27FC236}">
                  <a16:creationId xmlns:a16="http://schemas.microsoft.com/office/drawing/2014/main" id="{E96085DC-91D0-4599-A017-9D5DB04E6426}"/>
                </a:ext>
              </a:extLst>
            </p:cNvPr>
            <p:cNvPicPr>
              <a:picLocks noChangeAspect="1"/>
            </p:cNvPicPr>
            <p:nvPr/>
          </p:nvPicPr>
          <p:blipFill>
            <a:blip r:embed="rId5"/>
            <a:srcRect/>
            <a:stretch/>
          </p:blipFill>
          <p:spPr>
            <a:xfrm>
              <a:off x="2567817" y="5008744"/>
              <a:ext cx="624376" cy="624376"/>
            </a:xfrm>
            <a:prstGeom prst="rect">
              <a:avLst/>
            </a:prstGeom>
          </p:spPr>
        </p:pic>
      </p:grpSp>
    </p:spTree>
    <p:extLst>
      <p:ext uri="{BB962C8B-B14F-4D97-AF65-F5344CB8AC3E}">
        <p14:creationId xmlns:p14="http://schemas.microsoft.com/office/powerpoint/2010/main" val="23698912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5"/>
                                        </p:tgtEl>
                                        <p:attrNameLst>
                                          <p:attrName>style.visibility</p:attrName>
                                        </p:attrNameLst>
                                      </p:cBhvr>
                                      <p:to>
                                        <p:strVal val="visible"/>
                                      </p:to>
                                    </p:set>
                                    <p:animEffect transition="in" filter="wipe(up)">
                                      <p:cBhvr>
                                        <p:cTn id="18" dur="300"/>
                                        <p:tgtEl>
                                          <p:spTgt spid="95"/>
                                        </p:tgtEl>
                                      </p:cBhvr>
                                    </p:animEffect>
                                  </p:childTnLst>
                                </p:cTn>
                              </p:par>
                              <p:par>
                                <p:cTn id="19" presetID="10" presetClass="entr" presetSubtype="0" fill="hold" nodeType="withEffect">
                                  <p:stCondLst>
                                    <p:cond delay="300"/>
                                  </p:stCondLst>
                                  <p:childTnLst>
                                    <p:set>
                                      <p:cBhvr>
                                        <p:cTn id="20" dur="1" fill="hold">
                                          <p:stCondLst>
                                            <p:cond delay="0"/>
                                          </p:stCondLst>
                                        </p:cTn>
                                        <p:tgtEl>
                                          <p:spTgt spid="77"/>
                                        </p:tgtEl>
                                        <p:attrNameLst>
                                          <p:attrName>style.visibility</p:attrName>
                                        </p:attrNameLst>
                                      </p:cBhvr>
                                      <p:to>
                                        <p:strVal val="visible"/>
                                      </p:to>
                                    </p:set>
                                    <p:animEffect transition="in" filter="fade">
                                      <p:cBhvr>
                                        <p:cTn id="21" dur="500"/>
                                        <p:tgtEl>
                                          <p:spTgt spid="77"/>
                                        </p:tgtEl>
                                      </p:cBhvr>
                                    </p:animEffect>
                                  </p:childTnLst>
                                </p:cTn>
                              </p:par>
                              <p:par>
                                <p:cTn id="22" presetID="22" presetClass="entr" presetSubtype="2" fill="hold" grpId="0" nodeType="withEffect">
                                  <p:stCondLst>
                                    <p:cond delay="300"/>
                                  </p:stCondLst>
                                  <p:childTnLst>
                                    <p:set>
                                      <p:cBhvr>
                                        <p:cTn id="23" dur="1" fill="hold">
                                          <p:stCondLst>
                                            <p:cond delay="0"/>
                                          </p:stCondLst>
                                        </p:cTn>
                                        <p:tgtEl>
                                          <p:spTgt spid="67"/>
                                        </p:tgtEl>
                                        <p:attrNameLst>
                                          <p:attrName>style.visibility</p:attrName>
                                        </p:attrNameLst>
                                      </p:cBhvr>
                                      <p:to>
                                        <p:strVal val="visible"/>
                                      </p:to>
                                    </p:set>
                                    <p:animEffect transition="in" filter="wipe(right)">
                                      <p:cBhvr>
                                        <p:cTn id="24" dur="300"/>
                                        <p:tgtEl>
                                          <p:spTgt spid="67"/>
                                        </p:tgtEl>
                                      </p:cBhvr>
                                    </p:animEffect>
                                  </p:childTnLst>
                                </p:cTn>
                              </p:par>
                              <p:par>
                                <p:cTn id="25" presetID="22" presetClass="entr" presetSubtype="8" fill="hold" grpId="0" nodeType="withEffect">
                                  <p:stCondLst>
                                    <p:cond delay="300"/>
                                  </p:stCondLst>
                                  <p:childTnLst>
                                    <p:set>
                                      <p:cBhvr>
                                        <p:cTn id="26" dur="1" fill="hold">
                                          <p:stCondLst>
                                            <p:cond delay="0"/>
                                          </p:stCondLst>
                                        </p:cTn>
                                        <p:tgtEl>
                                          <p:spTgt spid="71"/>
                                        </p:tgtEl>
                                        <p:attrNameLst>
                                          <p:attrName>style.visibility</p:attrName>
                                        </p:attrNameLst>
                                      </p:cBhvr>
                                      <p:to>
                                        <p:strVal val="visible"/>
                                      </p:to>
                                    </p:set>
                                    <p:animEffect transition="in" filter="wipe(left)">
                                      <p:cBhvr>
                                        <p:cTn id="27" dur="300"/>
                                        <p:tgtEl>
                                          <p:spTgt spid="71"/>
                                        </p:tgtEl>
                                      </p:cBhvr>
                                    </p:animEffect>
                                  </p:childTnLst>
                                </p:cTn>
                              </p:par>
                              <p:par>
                                <p:cTn id="28" presetID="10" presetClass="entr" presetSubtype="0" fill="hold" nodeType="withEffect">
                                  <p:stCondLst>
                                    <p:cond delay="60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500"/>
                                        <p:tgtEl>
                                          <p:spTgt spid="65"/>
                                        </p:tgtEl>
                                      </p:cBhvr>
                                    </p:animEffect>
                                  </p:childTnLst>
                                </p:cTn>
                              </p:par>
                              <p:par>
                                <p:cTn id="31" presetID="10" presetClass="entr" presetSubtype="0" fill="hold" nodeType="withEffect">
                                  <p:stCondLst>
                                    <p:cond delay="600"/>
                                  </p:stCondLst>
                                  <p:childTnLst>
                                    <p:set>
                                      <p:cBhvr>
                                        <p:cTn id="32" dur="1" fill="hold">
                                          <p:stCondLst>
                                            <p:cond delay="0"/>
                                          </p:stCondLst>
                                        </p:cTn>
                                        <p:tgtEl>
                                          <p:spTgt spid="80"/>
                                        </p:tgtEl>
                                        <p:attrNameLst>
                                          <p:attrName>style.visibility</p:attrName>
                                        </p:attrNameLst>
                                      </p:cBhvr>
                                      <p:to>
                                        <p:strVal val="visible"/>
                                      </p:to>
                                    </p:set>
                                    <p:animEffect transition="in" filter="fade">
                                      <p:cBhvr>
                                        <p:cTn id="33" dur="500"/>
                                        <p:tgtEl>
                                          <p:spTgt spid="80"/>
                                        </p:tgtEl>
                                      </p:cBhvr>
                                    </p:animEffect>
                                  </p:childTnLst>
                                </p:cTn>
                              </p:par>
                              <p:par>
                                <p:cTn id="34" presetID="22" presetClass="entr" presetSubtype="2" fill="hold" grpId="0" nodeType="withEffect">
                                  <p:stCondLst>
                                    <p:cond delay="600"/>
                                  </p:stCondLst>
                                  <p:childTnLst>
                                    <p:set>
                                      <p:cBhvr>
                                        <p:cTn id="35" dur="1" fill="hold">
                                          <p:stCondLst>
                                            <p:cond delay="0"/>
                                          </p:stCondLst>
                                        </p:cTn>
                                        <p:tgtEl>
                                          <p:spTgt spid="68"/>
                                        </p:tgtEl>
                                        <p:attrNameLst>
                                          <p:attrName>style.visibility</p:attrName>
                                        </p:attrNameLst>
                                      </p:cBhvr>
                                      <p:to>
                                        <p:strVal val="visible"/>
                                      </p:to>
                                    </p:set>
                                    <p:animEffect transition="in" filter="wipe(right)">
                                      <p:cBhvr>
                                        <p:cTn id="36" dur="300"/>
                                        <p:tgtEl>
                                          <p:spTgt spid="68"/>
                                        </p:tgtEl>
                                      </p:cBhvr>
                                    </p:animEffect>
                                  </p:childTnLst>
                                </p:cTn>
                              </p:par>
                              <p:par>
                                <p:cTn id="37" presetID="22" presetClass="entr" presetSubtype="8" fill="hold" grpId="0" nodeType="withEffect">
                                  <p:stCondLst>
                                    <p:cond delay="600"/>
                                  </p:stCondLst>
                                  <p:childTnLst>
                                    <p:set>
                                      <p:cBhvr>
                                        <p:cTn id="38" dur="1" fill="hold">
                                          <p:stCondLst>
                                            <p:cond delay="0"/>
                                          </p:stCondLst>
                                        </p:cTn>
                                        <p:tgtEl>
                                          <p:spTgt spid="72"/>
                                        </p:tgtEl>
                                        <p:attrNameLst>
                                          <p:attrName>style.visibility</p:attrName>
                                        </p:attrNameLst>
                                      </p:cBhvr>
                                      <p:to>
                                        <p:strVal val="visible"/>
                                      </p:to>
                                    </p:set>
                                    <p:animEffect transition="in" filter="wipe(left)">
                                      <p:cBhvr>
                                        <p:cTn id="39" dur="300"/>
                                        <p:tgtEl>
                                          <p:spTgt spid="72"/>
                                        </p:tgtEl>
                                      </p:cBhvr>
                                    </p:animEffect>
                                  </p:childTnLst>
                                </p:cTn>
                              </p:par>
                              <p:par>
                                <p:cTn id="40" presetID="10" presetClass="entr" presetSubtype="0" fill="hold" nodeType="withEffect">
                                  <p:stCondLst>
                                    <p:cond delay="90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nodeType="withEffect">
                                  <p:stCondLst>
                                    <p:cond delay="900"/>
                                  </p:stCondLst>
                                  <p:childTnLst>
                                    <p:set>
                                      <p:cBhvr>
                                        <p:cTn id="44" dur="1" fill="hold">
                                          <p:stCondLst>
                                            <p:cond delay="0"/>
                                          </p:stCondLst>
                                        </p:cTn>
                                        <p:tgtEl>
                                          <p:spTgt spid="83"/>
                                        </p:tgtEl>
                                        <p:attrNameLst>
                                          <p:attrName>style.visibility</p:attrName>
                                        </p:attrNameLst>
                                      </p:cBhvr>
                                      <p:to>
                                        <p:strVal val="visible"/>
                                      </p:to>
                                    </p:set>
                                    <p:animEffect transition="in" filter="fade">
                                      <p:cBhvr>
                                        <p:cTn id="45" dur="500"/>
                                        <p:tgtEl>
                                          <p:spTgt spid="83"/>
                                        </p:tgtEl>
                                      </p:cBhvr>
                                    </p:animEffect>
                                  </p:childTnLst>
                                </p:cTn>
                              </p:par>
                              <p:par>
                                <p:cTn id="46" presetID="22" presetClass="entr" presetSubtype="2" fill="hold" grpId="0" nodeType="withEffect">
                                  <p:stCondLst>
                                    <p:cond delay="900"/>
                                  </p:stCondLst>
                                  <p:childTnLst>
                                    <p:set>
                                      <p:cBhvr>
                                        <p:cTn id="47" dur="1" fill="hold">
                                          <p:stCondLst>
                                            <p:cond delay="0"/>
                                          </p:stCondLst>
                                        </p:cTn>
                                        <p:tgtEl>
                                          <p:spTgt spid="69"/>
                                        </p:tgtEl>
                                        <p:attrNameLst>
                                          <p:attrName>style.visibility</p:attrName>
                                        </p:attrNameLst>
                                      </p:cBhvr>
                                      <p:to>
                                        <p:strVal val="visible"/>
                                      </p:to>
                                    </p:set>
                                    <p:animEffect transition="in" filter="wipe(right)">
                                      <p:cBhvr>
                                        <p:cTn id="48" dur="300"/>
                                        <p:tgtEl>
                                          <p:spTgt spid="69"/>
                                        </p:tgtEl>
                                      </p:cBhvr>
                                    </p:animEffect>
                                  </p:childTnLst>
                                </p:cTn>
                              </p:par>
                              <p:par>
                                <p:cTn id="49" presetID="22" presetClass="entr" presetSubtype="8" fill="hold" grpId="0" nodeType="withEffect">
                                  <p:stCondLst>
                                    <p:cond delay="900"/>
                                  </p:stCondLst>
                                  <p:childTnLst>
                                    <p:set>
                                      <p:cBhvr>
                                        <p:cTn id="50" dur="1" fill="hold">
                                          <p:stCondLst>
                                            <p:cond delay="0"/>
                                          </p:stCondLst>
                                        </p:cTn>
                                        <p:tgtEl>
                                          <p:spTgt spid="73"/>
                                        </p:tgtEl>
                                        <p:attrNameLst>
                                          <p:attrName>style.visibility</p:attrName>
                                        </p:attrNameLst>
                                      </p:cBhvr>
                                      <p:to>
                                        <p:strVal val="visible"/>
                                      </p:to>
                                    </p:set>
                                    <p:animEffect transition="in" filter="wipe(left)">
                                      <p:cBhvr>
                                        <p:cTn id="51" dur="300"/>
                                        <p:tgtEl>
                                          <p:spTgt spid="73"/>
                                        </p:tgtEl>
                                      </p:cBhvr>
                                    </p:animEffect>
                                  </p:childTnLst>
                                </p:cTn>
                              </p:par>
                              <p:par>
                                <p:cTn id="52" presetID="10" presetClass="entr" presetSubtype="0" fill="hold" nodeType="withEffect">
                                  <p:stCondLst>
                                    <p:cond delay="12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500"/>
                                        <p:tgtEl>
                                          <p:spTgt spid="49"/>
                                        </p:tgtEl>
                                      </p:cBhvr>
                                    </p:animEffect>
                                  </p:childTnLst>
                                </p:cTn>
                              </p:par>
                              <p:par>
                                <p:cTn id="55" presetID="10" presetClass="entr" presetSubtype="0" fill="hold" nodeType="withEffect">
                                  <p:stCondLst>
                                    <p:cond delay="1200"/>
                                  </p:stCondLst>
                                  <p:childTnLst>
                                    <p:set>
                                      <p:cBhvr>
                                        <p:cTn id="56" dur="1" fill="hold">
                                          <p:stCondLst>
                                            <p:cond delay="0"/>
                                          </p:stCondLst>
                                        </p:cTn>
                                        <p:tgtEl>
                                          <p:spTgt spid="86"/>
                                        </p:tgtEl>
                                        <p:attrNameLst>
                                          <p:attrName>style.visibility</p:attrName>
                                        </p:attrNameLst>
                                      </p:cBhvr>
                                      <p:to>
                                        <p:strVal val="visible"/>
                                      </p:to>
                                    </p:set>
                                    <p:animEffect transition="in" filter="fade">
                                      <p:cBhvr>
                                        <p:cTn id="57" dur="500"/>
                                        <p:tgtEl>
                                          <p:spTgt spid="8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wipe(up)">
                                      <p:cBhvr>
                                        <p:cTn id="62" dur="500"/>
                                        <p:tgtEl>
                                          <p:spTgt spid="50"/>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wipe(up)">
                                      <p:cBhvr>
                                        <p:cTn id="65" dur="500"/>
                                        <p:tgtEl>
                                          <p:spTgt spid="63"/>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66"/>
                                        </p:tgtEl>
                                        <p:attrNameLst>
                                          <p:attrName>style.visibility</p:attrName>
                                        </p:attrNameLst>
                                      </p:cBhvr>
                                      <p:to>
                                        <p:strVal val="visible"/>
                                      </p:to>
                                    </p:set>
                                    <p:animEffect transition="in" filter="wipe(up)">
                                      <p:cBhvr>
                                        <p:cTn id="68" dur="500"/>
                                        <p:tgtEl>
                                          <p:spTgt spid="6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wipe(up)">
                                      <p:cBhvr>
                                        <p:cTn id="71" dur="500"/>
                                        <p:tgtEl>
                                          <p:spTgt spid="78"/>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81"/>
                                        </p:tgtEl>
                                        <p:attrNameLst>
                                          <p:attrName>style.visibility</p:attrName>
                                        </p:attrNameLst>
                                      </p:cBhvr>
                                      <p:to>
                                        <p:strVal val="visible"/>
                                      </p:to>
                                    </p:set>
                                    <p:animEffect transition="in" filter="wipe(up)">
                                      <p:cBhvr>
                                        <p:cTn id="74" dur="500"/>
                                        <p:tgtEl>
                                          <p:spTgt spid="81"/>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4"/>
                                        </p:tgtEl>
                                        <p:attrNameLst>
                                          <p:attrName>style.visibility</p:attrName>
                                        </p:attrNameLst>
                                      </p:cBhvr>
                                      <p:to>
                                        <p:strVal val="visible"/>
                                      </p:to>
                                    </p:set>
                                    <p:animEffect transition="in" filter="wipe(up)">
                                      <p:cBhvr>
                                        <p:cTn id="77" dur="500"/>
                                        <p:tgtEl>
                                          <p:spTgt spid="84"/>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87"/>
                                        </p:tgtEl>
                                        <p:attrNameLst>
                                          <p:attrName>style.visibility</p:attrName>
                                        </p:attrNameLst>
                                      </p:cBhvr>
                                      <p:to>
                                        <p:strVal val="visible"/>
                                      </p:to>
                                    </p:set>
                                    <p:animEffect transition="in" filter="wipe(up)">
                                      <p:cBhvr>
                                        <p:cTn id="80" dur="500"/>
                                        <p:tgtEl>
                                          <p:spTgt spid="87"/>
                                        </p:tgtEl>
                                      </p:cBhvr>
                                    </p:animEffect>
                                  </p:childTnLst>
                                </p:cTn>
                              </p:par>
                            </p:childTnLst>
                          </p:cTn>
                        </p:par>
                        <p:par>
                          <p:cTn id="81" fill="hold">
                            <p:stCondLst>
                              <p:cond delay="500"/>
                            </p:stCondLst>
                            <p:childTnLst>
                              <p:par>
                                <p:cTn id="82" presetID="10" presetClass="entr" presetSubtype="0" fill="hold" nodeType="after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nodeType="withEffect">
                                  <p:stCondLst>
                                    <p:cond delay="0"/>
                                  </p:stCondLst>
                                  <p:childTnLst>
                                    <p:set>
                                      <p:cBhvr>
                                        <p:cTn id="86" dur="1" fill="hold">
                                          <p:stCondLst>
                                            <p:cond delay="0"/>
                                          </p:stCondLst>
                                        </p:cTn>
                                        <p:tgtEl>
                                          <p:spTgt spid="64"/>
                                        </p:tgtEl>
                                        <p:attrNameLst>
                                          <p:attrName>style.visibility</p:attrName>
                                        </p:attrNameLst>
                                      </p:cBhvr>
                                      <p:to>
                                        <p:strVal val="visible"/>
                                      </p:to>
                                    </p:set>
                                    <p:animEffect transition="in" filter="fade">
                                      <p:cBhvr>
                                        <p:cTn id="87" dur="500"/>
                                        <p:tgtEl>
                                          <p:spTgt spid="64"/>
                                        </p:tgtEl>
                                      </p:cBhvr>
                                    </p:animEffect>
                                  </p:childTnLst>
                                </p:cTn>
                              </p:par>
                              <p:par>
                                <p:cTn id="88" presetID="10" presetClass="entr" presetSubtype="0" fill="hold" nodeType="withEffect">
                                  <p:stCondLst>
                                    <p:cond delay="0"/>
                                  </p:stCondLst>
                                  <p:childTnLst>
                                    <p:set>
                                      <p:cBhvr>
                                        <p:cTn id="89" dur="1" fill="hold">
                                          <p:stCondLst>
                                            <p:cond delay="0"/>
                                          </p:stCondLst>
                                        </p:cTn>
                                        <p:tgtEl>
                                          <p:spTgt spid="76"/>
                                        </p:tgtEl>
                                        <p:attrNameLst>
                                          <p:attrName>style.visibility</p:attrName>
                                        </p:attrNameLst>
                                      </p:cBhvr>
                                      <p:to>
                                        <p:strVal val="visible"/>
                                      </p:to>
                                    </p:set>
                                    <p:animEffect transition="in" filter="fade">
                                      <p:cBhvr>
                                        <p:cTn id="90" dur="500"/>
                                        <p:tgtEl>
                                          <p:spTgt spid="76"/>
                                        </p:tgtEl>
                                      </p:cBhvr>
                                    </p:animEffect>
                                  </p:childTnLst>
                                </p:cTn>
                              </p:par>
                              <p:par>
                                <p:cTn id="91" presetID="10" presetClass="entr" presetSubtype="0" fill="hold" nodeType="withEffect">
                                  <p:stCondLst>
                                    <p:cond delay="0"/>
                                  </p:stCondLst>
                                  <p:childTnLst>
                                    <p:set>
                                      <p:cBhvr>
                                        <p:cTn id="92" dur="1" fill="hold">
                                          <p:stCondLst>
                                            <p:cond delay="0"/>
                                          </p:stCondLst>
                                        </p:cTn>
                                        <p:tgtEl>
                                          <p:spTgt spid="79"/>
                                        </p:tgtEl>
                                        <p:attrNameLst>
                                          <p:attrName>style.visibility</p:attrName>
                                        </p:attrNameLst>
                                      </p:cBhvr>
                                      <p:to>
                                        <p:strVal val="visible"/>
                                      </p:to>
                                    </p:set>
                                    <p:animEffect transition="in" filter="fade">
                                      <p:cBhvr>
                                        <p:cTn id="93" dur="500"/>
                                        <p:tgtEl>
                                          <p:spTgt spid="79"/>
                                        </p:tgtEl>
                                      </p:cBhvr>
                                    </p:animEffect>
                                  </p:childTnLst>
                                </p:cTn>
                              </p:par>
                              <p:par>
                                <p:cTn id="94" presetID="10" presetClass="entr" presetSubtype="0" fill="hold" nodeType="withEffect">
                                  <p:stCondLst>
                                    <p:cond delay="0"/>
                                  </p:stCondLst>
                                  <p:childTnLst>
                                    <p:set>
                                      <p:cBhvr>
                                        <p:cTn id="95" dur="1" fill="hold">
                                          <p:stCondLst>
                                            <p:cond delay="0"/>
                                          </p:stCondLst>
                                        </p:cTn>
                                        <p:tgtEl>
                                          <p:spTgt spid="82"/>
                                        </p:tgtEl>
                                        <p:attrNameLst>
                                          <p:attrName>style.visibility</p:attrName>
                                        </p:attrNameLst>
                                      </p:cBhvr>
                                      <p:to>
                                        <p:strVal val="visible"/>
                                      </p:to>
                                    </p:set>
                                    <p:animEffect transition="in" filter="fade">
                                      <p:cBhvr>
                                        <p:cTn id="96" dur="500"/>
                                        <p:tgtEl>
                                          <p:spTgt spid="82"/>
                                        </p:tgtEl>
                                      </p:cBhvr>
                                    </p:animEffect>
                                  </p:childTnLst>
                                </p:cTn>
                              </p:par>
                              <p:par>
                                <p:cTn id="97" presetID="10" presetClass="entr" presetSubtype="0" fill="hold" nodeType="withEffect">
                                  <p:stCondLst>
                                    <p:cond delay="0"/>
                                  </p:stCondLst>
                                  <p:childTnLst>
                                    <p:set>
                                      <p:cBhvr>
                                        <p:cTn id="98" dur="1" fill="hold">
                                          <p:stCondLst>
                                            <p:cond delay="0"/>
                                          </p:stCondLst>
                                        </p:cTn>
                                        <p:tgtEl>
                                          <p:spTgt spid="85"/>
                                        </p:tgtEl>
                                        <p:attrNameLst>
                                          <p:attrName>style.visibility</p:attrName>
                                        </p:attrNameLst>
                                      </p:cBhvr>
                                      <p:to>
                                        <p:strVal val="visible"/>
                                      </p:to>
                                    </p:set>
                                    <p:animEffect transition="in" filter="fade">
                                      <p:cBhvr>
                                        <p:cTn id="99" dur="500"/>
                                        <p:tgtEl>
                                          <p:spTgt spid="85"/>
                                        </p:tgtEl>
                                      </p:cBhvr>
                                    </p:animEffect>
                                  </p:childTnLst>
                                </p:cTn>
                              </p:par>
                              <p:par>
                                <p:cTn id="100" presetID="10" presetClass="entr" presetSubtype="0" fill="hold" nodeType="withEffect">
                                  <p:stCondLst>
                                    <p:cond delay="0"/>
                                  </p:stCondLst>
                                  <p:childTnLst>
                                    <p:set>
                                      <p:cBhvr>
                                        <p:cTn id="101" dur="1" fill="hold">
                                          <p:stCondLst>
                                            <p:cond delay="0"/>
                                          </p:stCondLst>
                                        </p:cTn>
                                        <p:tgtEl>
                                          <p:spTgt spid="88"/>
                                        </p:tgtEl>
                                        <p:attrNameLst>
                                          <p:attrName>style.visibility</p:attrName>
                                        </p:attrNameLst>
                                      </p:cBhvr>
                                      <p:to>
                                        <p:strVal val="visible"/>
                                      </p:to>
                                    </p:set>
                                    <p:animEffect transition="in" filter="fade">
                                      <p:cBhvr>
                                        <p:cTn id="102" dur="500"/>
                                        <p:tgtEl>
                                          <p:spTgt spid="8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1">
                                            <p:txEl>
                                              <p:pRg st="0" end="0"/>
                                            </p:txEl>
                                          </p:spTgt>
                                        </p:tgtEl>
                                        <p:attrNameLst>
                                          <p:attrName>style.visibility</p:attrName>
                                        </p:attrNameLst>
                                      </p:cBhvr>
                                      <p:to>
                                        <p:strVal val="visible"/>
                                      </p:to>
                                    </p:set>
                                    <p:animEffect transition="in" filter="fade">
                                      <p:cBhvr>
                                        <p:cTn id="105" dur="500"/>
                                        <p:tgtEl>
                                          <p:spTgt spid="61">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61">
                                            <p:txEl>
                                              <p:pRg st="0" end="0"/>
                                            </p:txEl>
                                          </p:spTgt>
                                        </p:tgtEl>
                                      </p:cBhvr>
                                    </p:animEffect>
                                    <p:set>
                                      <p:cBhvr>
                                        <p:cTn id="110" dur="1" fill="hold">
                                          <p:stCondLst>
                                            <p:cond delay="499"/>
                                          </p:stCondLst>
                                        </p:cTn>
                                        <p:tgtEl>
                                          <p:spTgt spid="61">
                                            <p:txEl>
                                              <p:pRg st="0" end="0"/>
                                            </p:txEl>
                                          </p:spTgt>
                                        </p:tgtEl>
                                        <p:attrNameLst>
                                          <p:attrName>style.visibility</p:attrName>
                                        </p:attrNameLst>
                                      </p:cBhvr>
                                      <p:to>
                                        <p:strVal val="hidden"/>
                                      </p:to>
                                    </p:set>
                                  </p:childTnLst>
                                </p:cTn>
                              </p:par>
                              <p:par>
                                <p:cTn id="111" presetID="10" presetClass="entr" presetSubtype="0" fill="hold" grpId="0" nodeType="withEffect">
                                  <p:stCondLst>
                                    <p:cond delay="0"/>
                                  </p:stCondLst>
                                  <p:childTnLst>
                                    <p:set>
                                      <p:cBhvr>
                                        <p:cTn id="112" dur="1" fill="hold">
                                          <p:stCondLst>
                                            <p:cond delay="0"/>
                                          </p:stCondLst>
                                        </p:cTn>
                                        <p:tgtEl>
                                          <p:spTgt spid="75"/>
                                        </p:tgtEl>
                                        <p:attrNameLst>
                                          <p:attrName>style.visibility</p:attrName>
                                        </p:attrNameLst>
                                      </p:cBhvr>
                                      <p:to>
                                        <p:strVal val="visible"/>
                                      </p:to>
                                    </p:set>
                                    <p:animEffect transition="in" filter="fade">
                                      <p:cBhvr>
                                        <p:cTn id="113" dur="500"/>
                                        <p:tgtEl>
                                          <p:spTgt spid="75"/>
                                        </p:tgtEl>
                                      </p:cBhvr>
                                    </p:animEffect>
                                  </p:childTnLst>
                                </p:cTn>
                              </p:par>
                              <p:par>
                                <p:cTn id="114" presetID="30" presetClass="emph" presetSubtype="0" repeatCount="8000" fill="remove" grpId="1" nodeType="withEffect">
                                  <p:stCondLst>
                                    <p:cond delay="0"/>
                                  </p:stCondLst>
                                  <p:childTnLst>
                                    <p:animClr clrSpc="hsl" dir="cw">
                                      <p:cBhvr override="childStyle">
                                        <p:cTn id="115" dur="500" fill="hold"/>
                                        <p:tgtEl>
                                          <p:spTgt spid="95"/>
                                        </p:tgtEl>
                                        <p:attrNameLst>
                                          <p:attrName>style.color</p:attrName>
                                        </p:attrNameLst>
                                      </p:cBhvr>
                                      <p:by>
                                        <p:hsl h="0" s="12549" l="25098"/>
                                      </p:by>
                                    </p:animClr>
                                    <p:animClr clrSpc="hsl" dir="cw">
                                      <p:cBhvr>
                                        <p:cTn id="116" dur="500" fill="hold"/>
                                        <p:tgtEl>
                                          <p:spTgt spid="95"/>
                                        </p:tgtEl>
                                        <p:attrNameLst>
                                          <p:attrName>fillcolor</p:attrName>
                                        </p:attrNameLst>
                                      </p:cBhvr>
                                      <p:by>
                                        <p:hsl h="0" s="12549" l="25098"/>
                                      </p:by>
                                    </p:animClr>
                                    <p:animClr clrSpc="hsl" dir="cw">
                                      <p:cBhvr>
                                        <p:cTn id="117" dur="500" fill="hold"/>
                                        <p:tgtEl>
                                          <p:spTgt spid="95"/>
                                        </p:tgtEl>
                                        <p:attrNameLst>
                                          <p:attrName>stroke.color</p:attrName>
                                        </p:attrNameLst>
                                      </p:cBhvr>
                                      <p:by>
                                        <p:hsl h="0" s="12549" l="25098"/>
                                      </p:by>
                                    </p:animClr>
                                    <p:set>
                                      <p:cBhvr>
                                        <p:cTn id="118" dur="500" fill="hold"/>
                                        <p:tgtEl>
                                          <p:spTgt spid="95"/>
                                        </p:tgtEl>
                                        <p:attrNameLst>
                                          <p:attrName>fill.type</p:attrName>
                                        </p:attrNameLst>
                                      </p:cBhvr>
                                      <p:to>
                                        <p:strVal val="solid"/>
                                      </p:to>
                                    </p:set>
                                  </p:childTnLst>
                                </p:cTn>
                              </p:par>
                              <p:par>
                                <p:cTn id="119" presetID="30" presetClass="emph" presetSubtype="0" repeatCount="8000" fill="remove" grpId="1" nodeType="withEffect">
                                  <p:stCondLst>
                                    <p:cond delay="150"/>
                                  </p:stCondLst>
                                  <p:childTnLst>
                                    <p:animClr clrSpc="hsl" dir="cw">
                                      <p:cBhvr override="childStyle">
                                        <p:cTn id="120" dur="500" fill="hold"/>
                                        <p:tgtEl>
                                          <p:spTgt spid="67"/>
                                        </p:tgtEl>
                                        <p:attrNameLst>
                                          <p:attrName>style.color</p:attrName>
                                        </p:attrNameLst>
                                      </p:cBhvr>
                                      <p:by>
                                        <p:hsl h="0" s="12549" l="25098"/>
                                      </p:by>
                                    </p:animClr>
                                    <p:animClr clrSpc="hsl" dir="cw">
                                      <p:cBhvr>
                                        <p:cTn id="121" dur="500" fill="hold"/>
                                        <p:tgtEl>
                                          <p:spTgt spid="67"/>
                                        </p:tgtEl>
                                        <p:attrNameLst>
                                          <p:attrName>fillcolor</p:attrName>
                                        </p:attrNameLst>
                                      </p:cBhvr>
                                      <p:by>
                                        <p:hsl h="0" s="12549" l="25098"/>
                                      </p:by>
                                    </p:animClr>
                                    <p:animClr clrSpc="hsl" dir="cw">
                                      <p:cBhvr>
                                        <p:cTn id="122" dur="500" fill="hold"/>
                                        <p:tgtEl>
                                          <p:spTgt spid="67"/>
                                        </p:tgtEl>
                                        <p:attrNameLst>
                                          <p:attrName>stroke.color</p:attrName>
                                        </p:attrNameLst>
                                      </p:cBhvr>
                                      <p:by>
                                        <p:hsl h="0" s="12549" l="25098"/>
                                      </p:by>
                                    </p:animClr>
                                    <p:set>
                                      <p:cBhvr>
                                        <p:cTn id="123" dur="500" fill="hold"/>
                                        <p:tgtEl>
                                          <p:spTgt spid="67"/>
                                        </p:tgtEl>
                                        <p:attrNameLst>
                                          <p:attrName>fill.type</p:attrName>
                                        </p:attrNameLst>
                                      </p:cBhvr>
                                      <p:to>
                                        <p:strVal val="solid"/>
                                      </p:to>
                                    </p:set>
                                  </p:childTnLst>
                                </p:cTn>
                              </p:par>
                              <p:par>
                                <p:cTn id="124" presetID="30" presetClass="emph" presetSubtype="0" repeatCount="8000" fill="remove" grpId="1" nodeType="withEffect">
                                  <p:stCondLst>
                                    <p:cond delay="600"/>
                                  </p:stCondLst>
                                  <p:childTnLst>
                                    <p:animClr clrSpc="hsl" dir="cw">
                                      <p:cBhvr override="childStyle">
                                        <p:cTn id="125" dur="500" fill="hold"/>
                                        <p:tgtEl>
                                          <p:spTgt spid="71"/>
                                        </p:tgtEl>
                                        <p:attrNameLst>
                                          <p:attrName>style.color</p:attrName>
                                        </p:attrNameLst>
                                      </p:cBhvr>
                                      <p:by>
                                        <p:hsl h="0" s="12549" l="25098"/>
                                      </p:by>
                                    </p:animClr>
                                    <p:animClr clrSpc="hsl" dir="cw">
                                      <p:cBhvr>
                                        <p:cTn id="126" dur="500" fill="hold"/>
                                        <p:tgtEl>
                                          <p:spTgt spid="71"/>
                                        </p:tgtEl>
                                        <p:attrNameLst>
                                          <p:attrName>fillcolor</p:attrName>
                                        </p:attrNameLst>
                                      </p:cBhvr>
                                      <p:by>
                                        <p:hsl h="0" s="12549" l="25098"/>
                                      </p:by>
                                    </p:animClr>
                                    <p:animClr clrSpc="hsl" dir="cw">
                                      <p:cBhvr>
                                        <p:cTn id="127" dur="500" fill="hold"/>
                                        <p:tgtEl>
                                          <p:spTgt spid="71"/>
                                        </p:tgtEl>
                                        <p:attrNameLst>
                                          <p:attrName>stroke.color</p:attrName>
                                        </p:attrNameLst>
                                      </p:cBhvr>
                                      <p:by>
                                        <p:hsl h="0" s="12549" l="25098"/>
                                      </p:by>
                                    </p:animClr>
                                    <p:set>
                                      <p:cBhvr>
                                        <p:cTn id="128" dur="500" fill="hold"/>
                                        <p:tgtEl>
                                          <p:spTgt spid="71"/>
                                        </p:tgtEl>
                                        <p:attrNameLst>
                                          <p:attrName>fill.type</p:attrName>
                                        </p:attrNameLst>
                                      </p:cBhvr>
                                      <p:to>
                                        <p:strVal val="solid"/>
                                      </p:to>
                                    </p:set>
                                  </p:childTnLst>
                                </p:cTn>
                              </p:par>
                              <p:par>
                                <p:cTn id="129" presetID="30" presetClass="emph" presetSubtype="0" repeatCount="8000" fill="remove" grpId="1" nodeType="withEffect">
                                  <p:stCondLst>
                                    <p:cond delay="750"/>
                                  </p:stCondLst>
                                  <p:childTnLst>
                                    <p:animClr clrSpc="hsl" dir="cw">
                                      <p:cBhvr override="childStyle">
                                        <p:cTn id="130" dur="500" fill="hold"/>
                                        <p:tgtEl>
                                          <p:spTgt spid="68"/>
                                        </p:tgtEl>
                                        <p:attrNameLst>
                                          <p:attrName>style.color</p:attrName>
                                        </p:attrNameLst>
                                      </p:cBhvr>
                                      <p:by>
                                        <p:hsl h="0" s="12549" l="25098"/>
                                      </p:by>
                                    </p:animClr>
                                    <p:animClr clrSpc="hsl" dir="cw">
                                      <p:cBhvr>
                                        <p:cTn id="131" dur="500" fill="hold"/>
                                        <p:tgtEl>
                                          <p:spTgt spid="68"/>
                                        </p:tgtEl>
                                        <p:attrNameLst>
                                          <p:attrName>fillcolor</p:attrName>
                                        </p:attrNameLst>
                                      </p:cBhvr>
                                      <p:by>
                                        <p:hsl h="0" s="12549" l="25098"/>
                                      </p:by>
                                    </p:animClr>
                                    <p:animClr clrSpc="hsl" dir="cw">
                                      <p:cBhvr>
                                        <p:cTn id="132" dur="500" fill="hold"/>
                                        <p:tgtEl>
                                          <p:spTgt spid="68"/>
                                        </p:tgtEl>
                                        <p:attrNameLst>
                                          <p:attrName>stroke.color</p:attrName>
                                        </p:attrNameLst>
                                      </p:cBhvr>
                                      <p:by>
                                        <p:hsl h="0" s="12549" l="25098"/>
                                      </p:by>
                                    </p:animClr>
                                    <p:set>
                                      <p:cBhvr>
                                        <p:cTn id="133" dur="500" fill="hold"/>
                                        <p:tgtEl>
                                          <p:spTgt spid="68"/>
                                        </p:tgtEl>
                                        <p:attrNameLst>
                                          <p:attrName>fill.type</p:attrName>
                                        </p:attrNameLst>
                                      </p:cBhvr>
                                      <p:to>
                                        <p:strVal val="solid"/>
                                      </p:to>
                                    </p:set>
                                  </p:childTnLst>
                                </p:cTn>
                              </p:par>
                              <p:par>
                                <p:cTn id="134" presetID="30" presetClass="emph" presetSubtype="0" repeatCount="8000" fill="remove" grpId="1" nodeType="withEffect">
                                  <p:stCondLst>
                                    <p:cond delay="300"/>
                                  </p:stCondLst>
                                  <p:childTnLst>
                                    <p:animClr clrSpc="hsl" dir="cw">
                                      <p:cBhvr override="childStyle">
                                        <p:cTn id="135" dur="500" fill="hold"/>
                                        <p:tgtEl>
                                          <p:spTgt spid="72"/>
                                        </p:tgtEl>
                                        <p:attrNameLst>
                                          <p:attrName>style.color</p:attrName>
                                        </p:attrNameLst>
                                      </p:cBhvr>
                                      <p:by>
                                        <p:hsl h="0" s="12549" l="25098"/>
                                      </p:by>
                                    </p:animClr>
                                    <p:animClr clrSpc="hsl" dir="cw">
                                      <p:cBhvr>
                                        <p:cTn id="136" dur="500" fill="hold"/>
                                        <p:tgtEl>
                                          <p:spTgt spid="72"/>
                                        </p:tgtEl>
                                        <p:attrNameLst>
                                          <p:attrName>fillcolor</p:attrName>
                                        </p:attrNameLst>
                                      </p:cBhvr>
                                      <p:by>
                                        <p:hsl h="0" s="12549" l="25098"/>
                                      </p:by>
                                    </p:animClr>
                                    <p:animClr clrSpc="hsl" dir="cw">
                                      <p:cBhvr>
                                        <p:cTn id="137" dur="500" fill="hold"/>
                                        <p:tgtEl>
                                          <p:spTgt spid="72"/>
                                        </p:tgtEl>
                                        <p:attrNameLst>
                                          <p:attrName>stroke.color</p:attrName>
                                        </p:attrNameLst>
                                      </p:cBhvr>
                                      <p:by>
                                        <p:hsl h="0" s="12549" l="25098"/>
                                      </p:by>
                                    </p:animClr>
                                    <p:set>
                                      <p:cBhvr>
                                        <p:cTn id="138" dur="500" fill="hold"/>
                                        <p:tgtEl>
                                          <p:spTgt spid="72"/>
                                        </p:tgtEl>
                                        <p:attrNameLst>
                                          <p:attrName>fill.type</p:attrName>
                                        </p:attrNameLst>
                                      </p:cBhvr>
                                      <p:to>
                                        <p:strVal val="solid"/>
                                      </p:to>
                                    </p:set>
                                  </p:childTnLst>
                                </p:cTn>
                              </p:par>
                              <p:par>
                                <p:cTn id="139" presetID="30" presetClass="emph" presetSubtype="0" repeatCount="8000" fill="remove" grpId="1" nodeType="withEffect">
                                  <p:stCondLst>
                                    <p:cond delay="450"/>
                                  </p:stCondLst>
                                  <p:childTnLst>
                                    <p:animClr clrSpc="hsl" dir="cw">
                                      <p:cBhvr override="childStyle">
                                        <p:cTn id="140" dur="500" fill="hold"/>
                                        <p:tgtEl>
                                          <p:spTgt spid="69"/>
                                        </p:tgtEl>
                                        <p:attrNameLst>
                                          <p:attrName>style.color</p:attrName>
                                        </p:attrNameLst>
                                      </p:cBhvr>
                                      <p:by>
                                        <p:hsl h="0" s="12549" l="25098"/>
                                      </p:by>
                                    </p:animClr>
                                    <p:animClr clrSpc="hsl" dir="cw">
                                      <p:cBhvr>
                                        <p:cTn id="141" dur="500" fill="hold"/>
                                        <p:tgtEl>
                                          <p:spTgt spid="69"/>
                                        </p:tgtEl>
                                        <p:attrNameLst>
                                          <p:attrName>fillcolor</p:attrName>
                                        </p:attrNameLst>
                                      </p:cBhvr>
                                      <p:by>
                                        <p:hsl h="0" s="12549" l="25098"/>
                                      </p:by>
                                    </p:animClr>
                                    <p:animClr clrSpc="hsl" dir="cw">
                                      <p:cBhvr>
                                        <p:cTn id="142" dur="500" fill="hold"/>
                                        <p:tgtEl>
                                          <p:spTgt spid="69"/>
                                        </p:tgtEl>
                                        <p:attrNameLst>
                                          <p:attrName>stroke.color</p:attrName>
                                        </p:attrNameLst>
                                      </p:cBhvr>
                                      <p:by>
                                        <p:hsl h="0" s="12549" l="25098"/>
                                      </p:by>
                                    </p:animClr>
                                    <p:set>
                                      <p:cBhvr>
                                        <p:cTn id="143" dur="500" fill="hold"/>
                                        <p:tgtEl>
                                          <p:spTgt spid="69"/>
                                        </p:tgtEl>
                                        <p:attrNameLst>
                                          <p:attrName>fill.type</p:attrName>
                                        </p:attrNameLst>
                                      </p:cBhvr>
                                      <p:to>
                                        <p:strVal val="solid"/>
                                      </p:to>
                                    </p:set>
                                  </p:childTnLst>
                                </p:cTn>
                              </p:par>
                              <p:par>
                                <p:cTn id="144" presetID="30" presetClass="emph" presetSubtype="0" repeatCount="8000" fill="remove" grpId="1" nodeType="withEffect">
                                  <p:stCondLst>
                                    <p:cond delay="900"/>
                                  </p:stCondLst>
                                  <p:childTnLst>
                                    <p:animClr clrSpc="hsl" dir="cw">
                                      <p:cBhvr override="childStyle">
                                        <p:cTn id="145" dur="500" fill="hold"/>
                                        <p:tgtEl>
                                          <p:spTgt spid="73"/>
                                        </p:tgtEl>
                                        <p:attrNameLst>
                                          <p:attrName>style.color</p:attrName>
                                        </p:attrNameLst>
                                      </p:cBhvr>
                                      <p:by>
                                        <p:hsl h="0" s="12549" l="25098"/>
                                      </p:by>
                                    </p:animClr>
                                    <p:animClr clrSpc="hsl" dir="cw">
                                      <p:cBhvr>
                                        <p:cTn id="146" dur="500" fill="hold"/>
                                        <p:tgtEl>
                                          <p:spTgt spid="73"/>
                                        </p:tgtEl>
                                        <p:attrNameLst>
                                          <p:attrName>fillcolor</p:attrName>
                                        </p:attrNameLst>
                                      </p:cBhvr>
                                      <p:by>
                                        <p:hsl h="0" s="12549" l="25098"/>
                                      </p:by>
                                    </p:animClr>
                                    <p:animClr clrSpc="hsl" dir="cw">
                                      <p:cBhvr>
                                        <p:cTn id="147" dur="500" fill="hold"/>
                                        <p:tgtEl>
                                          <p:spTgt spid="73"/>
                                        </p:tgtEl>
                                        <p:attrNameLst>
                                          <p:attrName>stroke.color</p:attrName>
                                        </p:attrNameLst>
                                      </p:cBhvr>
                                      <p:by>
                                        <p:hsl h="0" s="12549" l="25098"/>
                                      </p:by>
                                    </p:animClr>
                                    <p:set>
                                      <p:cBhvr>
                                        <p:cTn id="148" dur="500" fill="hold"/>
                                        <p:tgtEl>
                                          <p:spTgt spid="7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5" grpId="1" animBg="1"/>
      <p:bldP spid="45" grpId="0" animBg="1"/>
      <p:bldP spid="61" grpId="0" build="p"/>
      <p:bldP spid="61" grpId="1" build="p"/>
      <p:bldP spid="75" grpId="0"/>
      <p:bldP spid="50" grpId="0" animBg="1"/>
      <p:bldP spid="63" grpId="0" animBg="1"/>
      <p:bldP spid="66" grpId="0" animBg="1"/>
      <p:bldP spid="78" grpId="0" animBg="1"/>
      <p:bldP spid="81" grpId="0" animBg="1"/>
      <p:bldP spid="84" grpId="0" animBg="1"/>
      <p:bldP spid="87" grpId="0" animBg="1"/>
      <p:bldP spid="71" grpId="0" animBg="1"/>
      <p:bldP spid="71" grpId="1" animBg="1"/>
      <p:bldP spid="72" grpId="0" animBg="1"/>
      <p:bldP spid="72" grpId="1" animBg="1"/>
      <p:bldP spid="73" grpId="0" animBg="1"/>
      <p:bldP spid="73" grpId="1" animBg="1"/>
      <p:bldP spid="67" grpId="0" animBg="1"/>
      <p:bldP spid="67" grpId="1" animBg="1"/>
      <p:bldP spid="68" grpId="0" animBg="1"/>
      <p:bldP spid="68" grpId="1" animBg="1"/>
      <p:bldP spid="69" grpId="0" animBg="1"/>
      <p:bldP spid="69" grpId="1"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88263" y="457200"/>
            <a:ext cx="11018520" cy="553998"/>
          </a:xfrm>
        </p:spPr>
        <p:txBody>
          <a:bodyPr/>
          <a:lstStyle/>
          <a:p>
            <a:r>
              <a:rPr lang="en-US" dirty="0"/>
              <a:t>What is Azure Cosmos DB?</a:t>
            </a:r>
          </a:p>
        </p:txBody>
      </p:sp>
      <p:pic>
        <p:nvPicPr>
          <p:cNvPr id="48" name="Picture 47">
            <a:extLst>
              <a:ext uri="{FF2B5EF4-FFF2-40B4-BE49-F238E27FC236}">
                <a16:creationId xmlns:a16="http://schemas.microsoft.com/office/drawing/2014/main" id="{A8768474-294A-495E-A837-53B531F50188}"/>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6958" y="3419240"/>
            <a:ext cx="781866" cy="781866"/>
          </a:xfrm>
          <a:prstGeom prst="rect">
            <a:avLst/>
          </a:prstGeom>
        </p:spPr>
      </p:pic>
      <p:pic>
        <p:nvPicPr>
          <p:cNvPr id="52" name="Picture 51">
            <a:extLst>
              <a:ext uri="{FF2B5EF4-FFF2-40B4-BE49-F238E27FC236}">
                <a16:creationId xmlns:a16="http://schemas.microsoft.com/office/drawing/2014/main" id="{11EFA085-4582-472F-81F3-DA41922783BE}"/>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484072" y="3419240"/>
            <a:ext cx="781866" cy="781866"/>
          </a:xfrm>
          <a:prstGeom prst="rect">
            <a:avLst/>
          </a:prstGeom>
        </p:spPr>
      </p:pic>
      <p:pic>
        <p:nvPicPr>
          <p:cNvPr id="53" name="Picture 52">
            <a:extLst>
              <a:ext uri="{FF2B5EF4-FFF2-40B4-BE49-F238E27FC236}">
                <a16:creationId xmlns:a16="http://schemas.microsoft.com/office/drawing/2014/main" id="{EE7579EA-ADB1-4776-BEC0-518717EA4C72}"/>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94569" y="3413034"/>
            <a:ext cx="781866" cy="781866"/>
          </a:xfrm>
          <a:prstGeom prst="rect">
            <a:avLst/>
          </a:prstGeom>
        </p:spPr>
      </p:pic>
      <p:pic>
        <p:nvPicPr>
          <p:cNvPr id="54" name="Picture 53">
            <a:extLst>
              <a:ext uri="{FF2B5EF4-FFF2-40B4-BE49-F238E27FC236}">
                <a16:creationId xmlns:a16="http://schemas.microsoft.com/office/drawing/2014/main" id="{53882326-A6CF-4BF3-BC25-89F94CE4628E}"/>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705066" y="3419240"/>
            <a:ext cx="781866" cy="781866"/>
          </a:xfrm>
          <a:prstGeom prst="rect">
            <a:avLst/>
          </a:prstGeom>
        </p:spPr>
      </p:pic>
      <p:pic>
        <p:nvPicPr>
          <p:cNvPr id="55" name="Picture 54">
            <a:extLst>
              <a:ext uri="{FF2B5EF4-FFF2-40B4-BE49-F238E27FC236}">
                <a16:creationId xmlns:a16="http://schemas.microsoft.com/office/drawing/2014/main" id="{F446183D-7542-4C0D-A3DC-56245544A2E2}"/>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315563" y="3424236"/>
            <a:ext cx="781866" cy="781866"/>
          </a:xfrm>
          <a:prstGeom prst="rect">
            <a:avLst/>
          </a:prstGeom>
        </p:spPr>
      </p:pic>
      <p:pic>
        <p:nvPicPr>
          <p:cNvPr id="56" name="Picture 55">
            <a:extLst>
              <a:ext uri="{FF2B5EF4-FFF2-40B4-BE49-F238E27FC236}">
                <a16:creationId xmlns:a16="http://schemas.microsoft.com/office/drawing/2014/main" id="{1F22E06A-4358-4A2B-9FC7-C246A4FFA170}"/>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26062" y="3424236"/>
            <a:ext cx="781866" cy="781866"/>
          </a:xfrm>
          <a:prstGeom prst="rect">
            <a:avLst/>
          </a:prstGeom>
        </p:spPr>
      </p:pic>
      <p:pic>
        <p:nvPicPr>
          <p:cNvPr id="57" name="Picture 56">
            <a:extLst>
              <a:ext uri="{FF2B5EF4-FFF2-40B4-BE49-F238E27FC236}">
                <a16:creationId xmlns:a16="http://schemas.microsoft.com/office/drawing/2014/main" id="{2F4BB475-92AF-4C1E-BB26-F163F6D6287E}"/>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36557" y="3424236"/>
            <a:ext cx="781866" cy="781866"/>
          </a:xfrm>
          <a:prstGeom prst="rect">
            <a:avLst/>
          </a:prstGeom>
        </p:spPr>
      </p:pic>
      <p:cxnSp>
        <p:nvCxnSpPr>
          <p:cNvPr id="58" name="Connector: Elbow 57">
            <a:extLst>
              <a:ext uri="{FF2B5EF4-FFF2-40B4-BE49-F238E27FC236}">
                <a16:creationId xmlns:a16="http://schemas.microsoft.com/office/drawing/2014/main" id="{51AD56D8-242D-427E-A398-06D992225C59}"/>
              </a:ext>
            </a:extLst>
          </p:cNvPr>
          <p:cNvCxnSpPr>
            <a:cxnSpLocks/>
          </p:cNvCxnSpPr>
          <p:nvPr/>
        </p:nvCxnSpPr>
        <p:spPr>
          <a:xfrm rot="16200000" flipH="1">
            <a:off x="2068742" y="3377313"/>
            <a:ext cx="12700" cy="1605162"/>
          </a:xfrm>
          <a:prstGeom prst="bentConnector3">
            <a:avLst>
              <a:gd name="adj1" fmla="val 2371433"/>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EFB7C2D5-14C3-40E6-B7D2-ABD82223E7E4}"/>
              </a:ext>
            </a:extLst>
          </p:cNvPr>
          <p:cNvCxnSpPr>
            <a:cxnSpLocks/>
          </p:cNvCxnSpPr>
          <p:nvPr/>
        </p:nvCxnSpPr>
        <p:spPr>
          <a:xfrm rot="16200000" flipH="1">
            <a:off x="5287068" y="3383301"/>
            <a:ext cx="12700" cy="1610497"/>
          </a:xfrm>
          <a:prstGeom prst="bentConnector3">
            <a:avLst>
              <a:gd name="adj1" fmla="val 2028567"/>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CCC948B4-CAAD-483C-A4CC-7E378B80F581}"/>
              </a:ext>
            </a:extLst>
          </p:cNvPr>
          <p:cNvCxnSpPr>
            <a:cxnSpLocks/>
          </p:cNvCxnSpPr>
          <p:nvPr/>
        </p:nvCxnSpPr>
        <p:spPr>
          <a:xfrm rot="16200000" flipH="1">
            <a:off x="6091802" y="2578568"/>
            <a:ext cx="12700" cy="3219964"/>
          </a:xfrm>
          <a:prstGeom prst="bentConnector3">
            <a:avLst>
              <a:gd name="adj1" fmla="val 2714283"/>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9EC98032-26DC-4611-AE5E-C14E563B5287}"/>
              </a:ext>
            </a:extLst>
          </p:cNvPr>
          <p:cNvCxnSpPr>
            <a:cxnSpLocks/>
          </p:cNvCxnSpPr>
          <p:nvPr/>
        </p:nvCxnSpPr>
        <p:spPr>
          <a:xfrm rot="16200000" flipH="1">
            <a:off x="9312796" y="2577538"/>
            <a:ext cx="12700" cy="3222024"/>
          </a:xfrm>
          <a:prstGeom prst="bentConnector3">
            <a:avLst>
              <a:gd name="adj1" fmla="val 2700000"/>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21A4682-D37F-4B9E-9C1A-B44D0C3B0204}"/>
              </a:ext>
            </a:extLst>
          </p:cNvPr>
          <p:cNvCxnSpPr>
            <a:cxnSpLocks/>
          </p:cNvCxnSpPr>
          <p:nvPr/>
        </p:nvCxnSpPr>
        <p:spPr>
          <a:xfrm rot="16200000" flipH="1">
            <a:off x="6087989" y="963228"/>
            <a:ext cx="8656" cy="6441988"/>
          </a:xfrm>
          <a:prstGeom prst="bentConnector3">
            <a:avLst>
              <a:gd name="adj1" fmla="val 6094524"/>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sp>
        <p:nvSpPr>
          <p:cNvPr id="89" name="Content Placeholder 2">
            <a:extLst>
              <a:ext uri="{FF2B5EF4-FFF2-40B4-BE49-F238E27FC236}">
                <a16:creationId xmlns:a16="http://schemas.microsoft.com/office/drawing/2014/main" id="{47FF64E7-C708-413B-9916-ED9D3D758EEC}"/>
              </a:ext>
            </a:extLst>
          </p:cNvPr>
          <p:cNvSpPr txBox="1">
            <a:spLocks/>
          </p:cNvSpPr>
          <p:nvPr/>
        </p:nvSpPr>
        <p:spPr>
          <a:xfrm>
            <a:off x="4180499" y="1259690"/>
            <a:ext cx="384267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pPr>
            <a:r>
              <a:rPr lang="en-US" sz="3200" dirty="0">
                <a:solidFill>
                  <a:schemeClr val="accent3">
                    <a:lumMod val="60000"/>
                    <a:lumOff val="40000"/>
                  </a:schemeClr>
                </a:solidFill>
              </a:rPr>
              <a:t>non-relational</a:t>
            </a:r>
          </a:p>
        </p:txBody>
      </p:sp>
    </p:spTree>
    <p:extLst>
      <p:ext uri="{BB962C8B-B14F-4D97-AF65-F5344CB8AC3E}">
        <p14:creationId xmlns:p14="http://schemas.microsoft.com/office/powerpoint/2010/main" val="6278533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200"/>
                                        <p:tgtEl>
                                          <p:spTgt spid="48"/>
                                        </p:tgtEl>
                                      </p:cBhvr>
                                    </p:animEffect>
                                  </p:childTnLst>
                                </p:cTn>
                              </p:par>
                            </p:childTnLst>
                          </p:cTn>
                        </p:par>
                        <p:par>
                          <p:cTn id="8" fill="hold">
                            <p:stCondLst>
                              <p:cond delay="200"/>
                            </p:stCondLst>
                            <p:childTnLst>
                              <p:par>
                                <p:cTn id="9" presetID="10"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200"/>
                                        <p:tgtEl>
                                          <p:spTgt spid="52"/>
                                        </p:tgtEl>
                                      </p:cBhvr>
                                    </p:animEffect>
                                  </p:childTnLst>
                                </p:cTn>
                              </p:par>
                            </p:childTnLst>
                          </p:cTn>
                        </p:par>
                        <p:par>
                          <p:cTn id="12" fill="hold">
                            <p:stCondLst>
                              <p:cond delay="400"/>
                            </p:stCondLst>
                            <p:childTnLst>
                              <p:par>
                                <p:cTn id="13" presetID="10" presetClass="entr" presetSubtype="0"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200"/>
                                        <p:tgtEl>
                                          <p:spTgt spid="53"/>
                                        </p:tgtEl>
                                      </p:cBhvr>
                                    </p:animEffect>
                                  </p:childTnLst>
                                </p:cTn>
                              </p:par>
                            </p:childTnLst>
                          </p:cTn>
                        </p:par>
                        <p:par>
                          <p:cTn id="16" fill="hold">
                            <p:stCondLst>
                              <p:cond delay="600"/>
                            </p:stCondLst>
                            <p:childTnLst>
                              <p:par>
                                <p:cTn id="17" presetID="10"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200"/>
                                        <p:tgtEl>
                                          <p:spTgt spid="54"/>
                                        </p:tgtEl>
                                      </p:cBhvr>
                                    </p:animEffect>
                                  </p:childTnLst>
                                </p:cTn>
                              </p:par>
                            </p:childTnLst>
                          </p:cTn>
                        </p:par>
                        <p:par>
                          <p:cTn id="20" fill="hold">
                            <p:stCondLst>
                              <p:cond delay="800"/>
                            </p:stCondLst>
                            <p:childTnLst>
                              <p:par>
                                <p:cTn id="21" presetID="10" presetClass="entr" presetSubtype="0"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200"/>
                                        <p:tgtEl>
                                          <p:spTgt spid="55"/>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200"/>
                                        <p:tgtEl>
                                          <p:spTgt spid="56"/>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200"/>
                                        <p:tgtEl>
                                          <p:spTgt spid="57"/>
                                        </p:tgtEl>
                                      </p:cBhvr>
                                    </p:animEffect>
                                  </p:childTnLst>
                                </p:cTn>
                              </p:par>
                            </p:childTnLst>
                          </p:cTn>
                        </p:par>
                        <p:par>
                          <p:cTn id="32" fill="hold">
                            <p:stCondLst>
                              <p:cond delay="1400"/>
                            </p:stCondLst>
                            <p:childTnLst>
                              <p:par>
                                <p:cTn id="33" presetID="14" presetClass="entr" presetSubtype="10" fill="hold" nodeType="after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randombar(horizontal)">
                                      <p:cBhvr>
                                        <p:cTn id="35" dur="500"/>
                                        <p:tgtEl>
                                          <p:spTgt spid="58"/>
                                        </p:tgtEl>
                                      </p:cBhvr>
                                    </p:animEffect>
                                  </p:childTnLst>
                                </p:cTn>
                              </p:par>
                              <p:par>
                                <p:cTn id="36" presetID="14" presetClass="entr" presetSubtype="10" fill="hold" nodeType="with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randombar(horizontal)">
                                      <p:cBhvr>
                                        <p:cTn id="38" dur="500"/>
                                        <p:tgtEl>
                                          <p:spTgt spid="74"/>
                                        </p:tgtEl>
                                      </p:cBhvr>
                                    </p:animEffect>
                                  </p:childTnLst>
                                </p:cTn>
                              </p:par>
                              <p:par>
                                <p:cTn id="39" presetID="14" presetClass="entr" presetSubtype="1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randombar(horizontal)">
                                      <p:cBhvr>
                                        <p:cTn id="41" dur="500"/>
                                        <p:tgtEl>
                                          <p:spTgt spid="60"/>
                                        </p:tgtEl>
                                      </p:cBhvr>
                                    </p:animEffect>
                                  </p:childTnLst>
                                </p:cTn>
                              </p:par>
                              <p:par>
                                <p:cTn id="42" presetID="14" presetClass="entr" presetSubtype="1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randombar(horizontal)">
                                      <p:cBhvr>
                                        <p:cTn id="44" dur="500"/>
                                        <p:tgtEl>
                                          <p:spTgt spid="59"/>
                                        </p:tgtEl>
                                      </p:cBhvr>
                                    </p:animEffect>
                                  </p:childTnLst>
                                </p:cTn>
                              </p:par>
                              <p:par>
                                <p:cTn id="45" presetID="14" presetClass="entr" presetSubtype="10" fill="hold" nodeType="with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randombar(horizontal)">
                                      <p:cBhvr>
                                        <p:cTn id="47" dur="5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7" presetClass="emph" presetSubtype="2" fill="hold" nodeType="clickEffect">
                                  <p:stCondLst>
                                    <p:cond delay="0"/>
                                  </p:stCondLst>
                                  <p:childTnLst>
                                    <p:animClr clrSpc="rgb" dir="cw">
                                      <p:cBhvr>
                                        <p:cTn id="51" dur="1000" fill="hold"/>
                                        <p:tgtEl>
                                          <p:spTgt spid="58"/>
                                        </p:tgtEl>
                                        <p:attrNameLst>
                                          <p:attrName>stroke.color</p:attrName>
                                        </p:attrNameLst>
                                      </p:cBhvr>
                                      <p:to>
                                        <a:srgbClr val="FF9900"/>
                                      </p:to>
                                    </p:animClr>
                                    <p:set>
                                      <p:cBhvr>
                                        <p:cTn id="52" dur="1000" fill="hold"/>
                                        <p:tgtEl>
                                          <p:spTgt spid="58"/>
                                        </p:tgtEl>
                                        <p:attrNameLst>
                                          <p:attrName>stroke.on</p:attrName>
                                        </p:attrNameLst>
                                      </p:cBhvr>
                                      <p:to>
                                        <p:strVal val="true"/>
                                      </p:to>
                                    </p:set>
                                  </p:childTnLst>
                                </p:cTn>
                              </p:par>
                              <p:par>
                                <p:cTn id="53" presetID="7" presetClass="emph" presetSubtype="2" fill="hold" nodeType="withEffect">
                                  <p:stCondLst>
                                    <p:cond delay="0"/>
                                  </p:stCondLst>
                                  <p:childTnLst>
                                    <p:animClr clrSpc="rgb" dir="cw">
                                      <p:cBhvr>
                                        <p:cTn id="54" dur="1000" fill="hold"/>
                                        <p:tgtEl>
                                          <p:spTgt spid="74"/>
                                        </p:tgtEl>
                                        <p:attrNameLst>
                                          <p:attrName>stroke.color</p:attrName>
                                        </p:attrNameLst>
                                      </p:cBhvr>
                                      <p:to>
                                        <a:srgbClr val="FF9900"/>
                                      </p:to>
                                    </p:animClr>
                                    <p:set>
                                      <p:cBhvr>
                                        <p:cTn id="55" dur="1000" fill="hold"/>
                                        <p:tgtEl>
                                          <p:spTgt spid="74"/>
                                        </p:tgtEl>
                                        <p:attrNameLst>
                                          <p:attrName>stroke.on</p:attrName>
                                        </p:attrNameLst>
                                      </p:cBhvr>
                                      <p:to>
                                        <p:strVal val="true"/>
                                      </p:to>
                                    </p:set>
                                  </p:childTnLst>
                                </p:cTn>
                              </p:par>
                              <p:par>
                                <p:cTn id="56" presetID="7" presetClass="emph" presetSubtype="2" fill="hold" nodeType="withEffect">
                                  <p:stCondLst>
                                    <p:cond delay="0"/>
                                  </p:stCondLst>
                                  <p:childTnLst>
                                    <p:animClr clrSpc="rgb" dir="cw">
                                      <p:cBhvr>
                                        <p:cTn id="57" dur="1000" fill="hold"/>
                                        <p:tgtEl>
                                          <p:spTgt spid="60"/>
                                        </p:tgtEl>
                                        <p:attrNameLst>
                                          <p:attrName>stroke.color</p:attrName>
                                        </p:attrNameLst>
                                      </p:cBhvr>
                                      <p:to>
                                        <a:srgbClr val="FF9900"/>
                                      </p:to>
                                    </p:animClr>
                                    <p:set>
                                      <p:cBhvr>
                                        <p:cTn id="58" dur="1000" fill="hold"/>
                                        <p:tgtEl>
                                          <p:spTgt spid="60"/>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1000" fill="hold"/>
                                        <p:tgtEl>
                                          <p:spTgt spid="59"/>
                                        </p:tgtEl>
                                        <p:attrNameLst>
                                          <p:attrName>stroke.color</p:attrName>
                                        </p:attrNameLst>
                                      </p:cBhvr>
                                      <p:to>
                                        <a:srgbClr val="FF9900"/>
                                      </p:to>
                                    </p:animClr>
                                    <p:set>
                                      <p:cBhvr>
                                        <p:cTn id="61" dur="1000" fill="hold"/>
                                        <p:tgtEl>
                                          <p:spTgt spid="59"/>
                                        </p:tgtEl>
                                        <p:attrNameLst>
                                          <p:attrName>stroke.on</p:attrName>
                                        </p:attrNameLst>
                                      </p:cBhvr>
                                      <p:to>
                                        <p:strVal val="true"/>
                                      </p:to>
                                    </p:set>
                                  </p:childTnLst>
                                </p:cTn>
                              </p:par>
                              <p:par>
                                <p:cTn id="62" presetID="7" presetClass="emph" presetSubtype="2" fill="hold" nodeType="withEffect">
                                  <p:stCondLst>
                                    <p:cond delay="0"/>
                                  </p:stCondLst>
                                  <p:childTnLst>
                                    <p:animClr clrSpc="rgb" dir="cw">
                                      <p:cBhvr>
                                        <p:cTn id="63" dur="1000" fill="hold"/>
                                        <p:tgtEl>
                                          <p:spTgt spid="70"/>
                                        </p:tgtEl>
                                        <p:attrNameLst>
                                          <p:attrName>stroke.color</p:attrName>
                                        </p:attrNameLst>
                                      </p:cBhvr>
                                      <p:to>
                                        <a:srgbClr val="FF9900"/>
                                      </p:to>
                                    </p:animClr>
                                    <p:set>
                                      <p:cBhvr>
                                        <p:cTn id="64" dur="1000" fill="hold"/>
                                        <p:tgtEl>
                                          <p:spTgt spid="70"/>
                                        </p:tgtEl>
                                        <p:attrNameLst>
                                          <p:attrName>stroke.on</p:attrName>
                                        </p:attrNameLst>
                                      </p:cBhvr>
                                      <p:to>
                                        <p:strVal val="true"/>
                                      </p:to>
                                    </p:set>
                                  </p:childTnLst>
                                </p:cTn>
                              </p:par>
                            </p:childTnLst>
                          </p:cTn>
                        </p:par>
                        <p:par>
                          <p:cTn id="65" fill="hold">
                            <p:stCondLst>
                              <p:cond delay="1000"/>
                            </p:stCondLst>
                            <p:childTnLst>
                              <p:par>
                                <p:cTn id="66" presetID="22" presetClass="exit" presetSubtype="1" fill="hold" nodeType="afterEffect">
                                  <p:stCondLst>
                                    <p:cond delay="0"/>
                                  </p:stCondLst>
                                  <p:childTnLst>
                                    <p:animEffect transition="out" filter="wipe(up)">
                                      <p:cBhvr>
                                        <p:cTn id="67" dur="500"/>
                                        <p:tgtEl>
                                          <p:spTgt spid="58"/>
                                        </p:tgtEl>
                                      </p:cBhvr>
                                    </p:animEffect>
                                    <p:set>
                                      <p:cBhvr>
                                        <p:cTn id="68" dur="1" fill="hold">
                                          <p:stCondLst>
                                            <p:cond delay="499"/>
                                          </p:stCondLst>
                                        </p:cTn>
                                        <p:tgtEl>
                                          <p:spTgt spid="58"/>
                                        </p:tgtEl>
                                        <p:attrNameLst>
                                          <p:attrName>style.visibility</p:attrName>
                                        </p:attrNameLst>
                                      </p:cBhvr>
                                      <p:to>
                                        <p:strVal val="hidden"/>
                                      </p:to>
                                    </p:set>
                                  </p:childTnLst>
                                </p:cTn>
                              </p:par>
                              <p:par>
                                <p:cTn id="69" presetID="22" presetClass="exit" presetSubtype="1" fill="hold" nodeType="withEffect">
                                  <p:stCondLst>
                                    <p:cond delay="0"/>
                                  </p:stCondLst>
                                  <p:childTnLst>
                                    <p:animEffect transition="out" filter="wipe(up)">
                                      <p:cBhvr>
                                        <p:cTn id="70" dur="500"/>
                                        <p:tgtEl>
                                          <p:spTgt spid="74"/>
                                        </p:tgtEl>
                                      </p:cBhvr>
                                    </p:animEffect>
                                    <p:set>
                                      <p:cBhvr>
                                        <p:cTn id="71" dur="1" fill="hold">
                                          <p:stCondLst>
                                            <p:cond delay="499"/>
                                          </p:stCondLst>
                                        </p:cTn>
                                        <p:tgtEl>
                                          <p:spTgt spid="74"/>
                                        </p:tgtEl>
                                        <p:attrNameLst>
                                          <p:attrName>style.visibility</p:attrName>
                                        </p:attrNameLst>
                                      </p:cBhvr>
                                      <p:to>
                                        <p:strVal val="hidden"/>
                                      </p:to>
                                    </p:set>
                                  </p:childTnLst>
                                </p:cTn>
                              </p:par>
                              <p:par>
                                <p:cTn id="72" presetID="22" presetClass="exit" presetSubtype="1" fill="hold" nodeType="withEffect">
                                  <p:stCondLst>
                                    <p:cond delay="0"/>
                                  </p:stCondLst>
                                  <p:childTnLst>
                                    <p:animEffect transition="out" filter="wipe(up)">
                                      <p:cBhvr>
                                        <p:cTn id="73" dur="500"/>
                                        <p:tgtEl>
                                          <p:spTgt spid="60"/>
                                        </p:tgtEl>
                                      </p:cBhvr>
                                    </p:animEffect>
                                    <p:set>
                                      <p:cBhvr>
                                        <p:cTn id="74" dur="1" fill="hold">
                                          <p:stCondLst>
                                            <p:cond delay="499"/>
                                          </p:stCondLst>
                                        </p:cTn>
                                        <p:tgtEl>
                                          <p:spTgt spid="60"/>
                                        </p:tgtEl>
                                        <p:attrNameLst>
                                          <p:attrName>style.visibility</p:attrName>
                                        </p:attrNameLst>
                                      </p:cBhvr>
                                      <p:to>
                                        <p:strVal val="hidden"/>
                                      </p:to>
                                    </p:set>
                                  </p:childTnLst>
                                </p:cTn>
                              </p:par>
                              <p:par>
                                <p:cTn id="75" presetID="22" presetClass="exit" presetSubtype="1" fill="hold" nodeType="withEffect">
                                  <p:stCondLst>
                                    <p:cond delay="0"/>
                                  </p:stCondLst>
                                  <p:childTnLst>
                                    <p:animEffect transition="out" filter="wipe(up)">
                                      <p:cBhvr>
                                        <p:cTn id="76" dur="500"/>
                                        <p:tgtEl>
                                          <p:spTgt spid="59"/>
                                        </p:tgtEl>
                                      </p:cBhvr>
                                    </p:animEffect>
                                    <p:set>
                                      <p:cBhvr>
                                        <p:cTn id="77" dur="1" fill="hold">
                                          <p:stCondLst>
                                            <p:cond delay="499"/>
                                          </p:stCondLst>
                                        </p:cTn>
                                        <p:tgtEl>
                                          <p:spTgt spid="59"/>
                                        </p:tgtEl>
                                        <p:attrNameLst>
                                          <p:attrName>style.visibility</p:attrName>
                                        </p:attrNameLst>
                                      </p:cBhvr>
                                      <p:to>
                                        <p:strVal val="hidden"/>
                                      </p:to>
                                    </p:set>
                                  </p:childTnLst>
                                </p:cTn>
                              </p:par>
                              <p:par>
                                <p:cTn id="78" presetID="22" presetClass="exit" presetSubtype="1" fill="hold" nodeType="withEffect">
                                  <p:stCondLst>
                                    <p:cond delay="0"/>
                                  </p:stCondLst>
                                  <p:childTnLst>
                                    <p:animEffect transition="out" filter="wipe(up)">
                                      <p:cBhvr>
                                        <p:cTn id="79" dur="500"/>
                                        <p:tgtEl>
                                          <p:spTgt spid="70"/>
                                        </p:tgtEl>
                                      </p:cBhvr>
                                    </p:animEffect>
                                    <p:set>
                                      <p:cBhvr>
                                        <p:cTn id="80" dur="1" fill="hold">
                                          <p:stCondLst>
                                            <p:cond delay="499"/>
                                          </p:stCondLst>
                                        </p:cTn>
                                        <p:tgtEl>
                                          <p:spTgt spid="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88263" y="457200"/>
            <a:ext cx="11018520" cy="553998"/>
          </a:xfrm>
        </p:spPr>
        <p:txBody>
          <a:bodyPr/>
          <a:lstStyle/>
          <a:p>
            <a:r>
              <a:rPr lang="en-US" dirty="0"/>
              <a:t>What is Azure Cosmos DB?</a:t>
            </a:r>
          </a:p>
        </p:txBody>
      </p:sp>
      <p:grpSp>
        <p:nvGrpSpPr>
          <p:cNvPr id="8" name="Group 7">
            <a:extLst>
              <a:ext uri="{FF2B5EF4-FFF2-40B4-BE49-F238E27FC236}">
                <a16:creationId xmlns:a16="http://schemas.microsoft.com/office/drawing/2014/main" id="{C3A660EA-1679-41DC-9269-D7515781EC40}"/>
              </a:ext>
            </a:extLst>
          </p:cNvPr>
          <p:cNvGrpSpPr/>
          <p:nvPr/>
        </p:nvGrpSpPr>
        <p:grpSpPr>
          <a:xfrm>
            <a:off x="757881" y="2843021"/>
            <a:ext cx="10676237" cy="2850442"/>
            <a:chOff x="757881" y="2843021"/>
            <a:chExt cx="10676237" cy="2850442"/>
          </a:xfrm>
        </p:grpSpPr>
        <p:sp>
          <p:nvSpPr>
            <p:cNvPr id="95" name="Arrow: Up-Down 94">
              <a:extLst>
                <a:ext uri="{FF2B5EF4-FFF2-40B4-BE49-F238E27FC236}">
                  <a16:creationId xmlns:a16="http://schemas.microsoft.com/office/drawing/2014/main" id="{37F40D81-D9B8-4827-B9D6-169FE44020DB}"/>
                </a:ext>
              </a:extLst>
            </p:cNvPr>
            <p:cNvSpPr/>
            <p:nvPr/>
          </p:nvSpPr>
          <p:spPr bwMode="auto">
            <a:xfrm>
              <a:off x="5886450" y="3420155"/>
              <a:ext cx="419100" cy="95250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7" name="Arrow: Bent-Up 66">
              <a:extLst>
                <a:ext uri="{FF2B5EF4-FFF2-40B4-BE49-F238E27FC236}">
                  <a16:creationId xmlns:a16="http://schemas.microsoft.com/office/drawing/2014/main" id="{DFB141A8-B680-4D23-A73C-1BE99BA7E4E8}"/>
                </a:ext>
              </a:extLst>
            </p:cNvPr>
            <p:cNvSpPr/>
            <p:nvPr/>
          </p:nvSpPr>
          <p:spPr bwMode="auto">
            <a:xfrm rot="10800000">
              <a:off x="4310380" y="3765764"/>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8" name="Arrow: Bent-Up 67">
              <a:extLst>
                <a:ext uri="{FF2B5EF4-FFF2-40B4-BE49-F238E27FC236}">
                  <a16:creationId xmlns:a16="http://schemas.microsoft.com/office/drawing/2014/main" id="{DB6A5297-6C66-411C-90EA-ADB97670DA09}"/>
                </a:ext>
              </a:extLst>
            </p:cNvPr>
            <p:cNvSpPr/>
            <p:nvPr/>
          </p:nvSpPr>
          <p:spPr bwMode="auto">
            <a:xfrm rot="10800000">
              <a:off x="2681494" y="3765764"/>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Arrow: Bent-Up 68">
              <a:extLst>
                <a:ext uri="{FF2B5EF4-FFF2-40B4-BE49-F238E27FC236}">
                  <a16:creationId xmlns:a16="http://schemas.microsoft.com/office/drawing/2014/main" id="{EC0D615A-1B1B-4EB7-A2C9-261507E5EF16}"/>
                </a:ext>
              </a:extLst>
            </p:cNvPr>
            <p:cNvSpPr/>
            <p:nvPr/>
          </p:nvSpPr>
          <p:spPr bwMode="auto">
            <a:xfrm rot="10800000">
              <a:off x="1092724" y="3764930"/>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Arrow: Bent-Up 70">
              <a:extLst>
                <a:ext uri="{FF2B5EF4-FFF2-40B4-BE49-F238E27FC236}">
                  <a16:creationId xmlns:a16="http://schemas.microsoft.com/office/drawing/2014/main" id="{4294F9CD-0031-42B3-AFEC-AFCD0D738B21}"/>
                </a:ext>
              </a:extLst>
            </p:cNvPr>
            <p:cNvSpPr/>
            <p:nvPr/>
          </p:nvSpPr>
          <p:spPr bwMode="auto">
            <a:xfrm rot="10800000" flipH="1">
              <a:off x="6185082" y="3764929"/>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Arrow: Bent-Up 71">
              <a:extLst>
                <a:ext uri="{FF2B5EF4-FFF2-40B4-BE49-F238E27FC236}">
                  <a16:creationId xmlns:a16="http://schemas.microsoft.com/office/drawing/2014/main" id="{DE794EB6-8CA4-43F3-B594-35FC2C12DBFD}"/>
                </a:ext>
              </a:extLst>
            </p:cNvPr>
            <p:cNvSpPr/>
            <p:nvPr/>
          </p:nvSpPr>
          <p:spPr bwMode="auto">
            <a:xfrm rot="10800000" flipH="1">
              <a:off x="7764256" y="3765854"/>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Arrow: Bent-Up 72">
              <a:extLst>
                <a:ext uri="{FF2B5EF4-FFF2-40B4-BE49-F238E27FC236}">
                  <a16:creationId xmlns:a16="http://schemas.microsoft.com/office/drawing/2014/main" id="{56D5A99D-6C98-4118-9812-1DD279639863}"/>
                </a:ext>
              </a:extLst>
            </p:cNvPr>
            <p:cNvSpPr/>
            <p:nvPr/>
          </p:nvSpPr>
          <p:spPr bwMode="auto">
            <a:xfrm rot="10800000" flipH="1">
              <a:off x="9353026" y="3764929"/>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9" name="Picture 48" descr="A close up of a logo&#10;&#10;Description automatically generated">
              <a:extLst>
                <a:ext uri="{FF2B5EF4-FFF2-40B4-BE49-F238E27FC236}">
                  <a16:creationId xmlns:a16="http://schemas.microsoft.com/office/drawing/2014/main" id="{BF893AC4-53A7-45AF-ABC5-CB76DB27090B}"/>
                </a:ext>
              </a:extLst>
            </p:cNvPr>
            <p:cNvPicPr>
              <a:picLocks noChangeAspect="1"/>
            </p:cNvPicPr>
            <p:nvPr/>
          </p:nvPicPr>
          <p:blipFill>
            <a:blip r:embed="rId3">
              <a:duotone>
                <a:schemeClr val="accent2">
                  <a:shade val="45000"/>
                  <a:satMod val="135000"/>
                </a:schemeClr>
                <a:prstClr val="white"/>
              </a:duotone>
            </a:blip>
            <a:stretch>
              <a:fillRect/>
            </a:stretch>
          </p:blipFill>
          <p:spPr>
            <a:xfrm>
              <a:off x="757881" y="4382901"/>
              <a:ext cx="1013255" cy="372055"/>
            </a:xfrm>
            <a:prstGeom prst="rect">
              <a:avLst/>
            </a:prstGeom>
          </p:spPr>
        </p:pic>
        <p:sp>
          <p:nvSpPr>
            <p:cNvPr id="50" name="Rectangle: Rounded Corners 49">
              <a:extLst>
                <a:ext uri="{FF2B5EF4-FFF2-40B4-BE49-F238E27FC236}">
                  <a16:creationId xmlns:a16="http://schemas.microsoft.com/office/drawing/2014/main" id="{801EDB78-DD99-4D9A-ACE3-27F089F5F9EC}"/>
                </a:ext>
              </a:extLst>
            </p:cNvPr>
            <p:cNvSpPr/>
            <p:nvPr/>
          </p:nvSpPr>
          <p:spPr bwMode="auto">
            <a:xfrm>
              <a:off x="757881" y="439958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2" name="Picture 61" descr="A close up of a logo&#10;&#10;Description automatically generated">
              <a:extLst>
                <a:ext uri="{FF2B5EF4-FFF2-40B4-BE49-F238E27FC236}">
                  <a16:creationId xmlns:a16="http://schemas.microsoft.com/office/drawing/2014/main" id="{C2BDBC2A-4705-4DC0-BB55-7360793BF5B8}"/>
                </a:ext>
              </a:extLst>
            </p:cNvPr>
            <p:cNvPicPr>
              <a:picLocks noChangeAspect="1"/>
            </p:cNvPicPr>
            <p:nvPr/>
          </p:nvPicPr>
          <p:blipFill>
            <a:blip r:embed="rId3">
              <a:duotone>
                <a:schemeClr val="accent2">
                  <a:shade val="45000"/>
                  <a:satMod val="135000"/>
                </a:schemeClr>
                <a:prstClr val="white"/>
              </a:duotone>
            </a:blip>
            <a:stretch>
              <a:fillRect/>
            </a:stretch>
          </p:blipFill>
          <p:spPr>
            <a:xfrm>
              <a:off x="2368379" y="4382901"/>
              <a:ext cx="1013255" cy="372055"/>
            </a:xfrm>
            <a:prstGeom prst="rect">
              <a:avLst/>
            </a:prstGeom>
          </p:spPr>
        </p:pic>
        <p:sp>
          <p:nvSpPr>
            <p:cNvPr id="63" name="Rectangle: Rounded Corners 62">
              <a:extLst>
                <a:ext uri="{FF2B5EF4-FFF2-40B4-BE49-F238E27FC236}">
                  <a16:creationId xmlns:a16="http://schemas.microsoft.com/office/drawing/2014/main" id="{3A08DD60-483B-420D-9C12-87B7AAF0E016}"/>
                </a:ext>
              </a:extLst>
            </p:cNvPr>
            <p:cNvSpPr/>
            <p:nvPr/>
          </p:nvSpPr>
          <p:spPr bwMode="auto">
            <a:xfrm>
              <a:off x="2368379" y="439958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5" name="Picture 64" descr="A close up of a logo&#10;&#10;Description automatically generated">
              <a:extLst>
                <a:ext uri="{FF2B5EF4-FFF2-40B4-BE49-F238E27FC236}">
                  <a16:creationId xmlns:a16="http://schemas.microsoft.com/office/drawing/2014/main" id="{E7362EB3-8B6B-485D-A4B7-4B71BEBA1F52}"/>
                </a:ext>
              </a:extLst>
            </p:cNvPr>
            <p:cNvPicPr>
              <a:picLocks noChangeAspect="1"/>
            </p:cNvPicPr>
            <p:nvPr/>
          </p:nvPicPr>
          <p:blipFill>
            <a:blip r:embed="rId3">
              <a:duotone>
                <a:schemeClr val="accent2">
                  <a:shade val="45000"/>
                  <a:satMod val="135000"/>
                </a:schemeClr>
                <a:prstClr val="white"/>
              </a:duotone>
            </a:blip>
            <a:stretch>
              <a:fillRect/>
            </a:stretch>
          </p:blipFill>
          <p:spPr>
            <a:xfrm>
              <a:off x="3978875" y="4382901"/>
              <a:ext cx="1013255" cy="372055"/>
            </a:xfrm>
            <a:prstGeom prst="rect">
              <a:avLst/>
            </a:prstGeom>
          </p:spPr>
        </p:pic>
        <p:sp>
          <p:nvSpPr>
            <p:cNvPr id="66" name="Rectangle: Rounded Corners 65">
              <a:extLst>
                <a:ext uri="{FF2B5EF4-FFF2-40B4-BE49-F238E27FC236}">
                  <a16:creationId xmlns:a16="http://schemas.microsoft.com/office/drawing/2014/main" id="{636573D5-4616-43E8-9C3E-D59F6F89EC10}"/>
                </a:ext>
              </a:extLst>
            </p:cNvPr>
            <p:cNvSpPr/>
            <p:nvPr/>
          </p:nvSpPr>
          <p:spPr bwMode="auto">
            <a:xfrm>
              <a:off x="3978875" y="439958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7" name="Picture 76" descr="A close up of a logo&#10;&#10;Description automatically generated">
              <a:extLst>
                <a:ext uri="{FF2B5EF4-FFF2-40B4-BE49-F238E27FC236}">
                  <a16:creationId xmlns:a16="http://schemas.microsoft.com/office/drawing/2014/main" id="{87B9A41A-2E91-478C-9870-B8DB3EF9E864}"/>
                </a:ext>
              </a:extLst>
            </p:cNvPr>
            <p:cNvPicPr>
              <a:picLocks noChangeAspect="1"/>
            </p:cNvPicPr>
            <p:nvPr/>
          </p:nvPicPr>
          <p:blipFill>
            <a:blip r:embed="rId3">
              <a:duotone>
                <a:schemeClr val="accent2">
                  <a:shade val="45000"/>
                  <a:satMod val="135000"/>
                </a:schemeClr>
                <a:prstClr val="white"/>
              </a:duotone>
            </a:blip>
            <a:stretch>
              <a:fillRect/>
            </a:stretch>
          </p:blipFill>
          <p:spPr>
            <a:xfrm>
              <a:off x="5589372" y="4382901"/>
              <a:ext cx="1013255" cy="372055"/>
            </a:xfrm>
            <a:prstGeom prst="rect">
              <a:avLst/>
            </a:prstGeom>
          </p:spPr>
        </p:pic>
        <p:sp>
          <p:nvSpPr>
            <p:cNvPr id="78" name="Rectangle: Rounded Corners 77">
              <a:extLst>
                <a:ext uri="{FF2B5EF4-FFF2-40B4-BE49-F238E27FC236}">
                  <a16:creationId xmlns:a16="http://schemas.microsoft.com/office/drawing/2014/main" id="{46F143BB-D09C-421C-A2AD-C48809BB198D}"/>
                </a:ext>
              </a:extLst>
            </p:cNvPr>
            <p:cNvSpPr/>
            <p:nvPr/>
          </p:nvSpPr>
          <p:spPr bwMode="auto">
            <a:xfrm>
              <a:off x="5589372" y="439958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0" name="Picture 79" descr="A close up of a logo&#10;&#10;Description automatically generated">
              <a:extLst>
                <a:ext uri="{FF2B5EF4-FFF2-40B4-BE49-F238E27FC236}">
                  <a16:creationId xmlns:a16="http://schemas.microsoft.com/office/drawing/2014/main" id="{E430C9CE-EE4B-45BE-9169-679F083340BA}"/>
                </a:ext>
              </a:extLst>
            </p:cNvPr>
            <p:cNvPicPr>
              <a:picLocks noChangeAspect="1"/>
            </p:cNvPicPr>
            <p:nvPr/>
          </p:nvPicPr>
          <p:blipFill>
            <a:blip r:embed="rId3">
              <a:duotone>
                <a:schemeClr val="accent2">
                  <a:shade val="45000"/>
                  <a:satMod val="135000"/>
                </a:schemeClr>
                <a:prstClr val="white"/>
              </a:duotone>
            </a:blip>
            <a:stretch>
              <a:fillRect/>
            </a:stretch>
          </p:blipFill>
          <p:spPr>
            <a:xfrm>
              <a:off x="7199869" y="4382901"/>
              <a:ext cx="1013255" cy="372055"/>
            </a:xfrm>
            <a:prstGeom prst="rect">
              <a:avLst/>
            </a:prstGeom>
          </p:spPr>
        </p:pic>
        <p:sp>
          <p:nvSpPr>
            <p:cNvPr id="81" name="Rectangle: Rounded Corners 80">
              <a:extLst>
                <a:ext uri="{FF2B5EF4-FFF2-40B4-BE49-F238E27FC236}">
                  <a16:creationId xmlns:a16="http://schemas.microsoft.com/office/drawing/2014/main" id="{E50A0730-ABDD-43A0-94F2-E53D2537CE3E}"/>
                </a:ext>
              </a:extLst>
            </p:cNvPr>
            <p:cNvSpPr/>
            <p:nvPr/>
          </p:nvSpPr>
          <p:spPr bwMode="auto">
            <a:xfrm>
              <a:off x="7199869" y="439958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3" name="Picture 82" descr="A close up of a logo&#10;&#10;Description automatically generated">
              <a:extLst>
                <a:ext uri="{FF2B5EF4-FFF2-40B4-BE49-F238E27FC236}">
                  <a16:creationId xmlns:a16="http://schemas.microsoft.com/office/drawing/2014/main" id="{495FBE37-F5B6-4957-9742-30E20F053A5A}"/>
                </a:ext>
              </a:extLst>
            </p:cNvPr>
            <p:cNvPicPr>
              <a:picLocks noChangeAspect="1"/>
            </p:cNvPicPr>
            <p:nvPr/>
          </p:nvPicPr>
          <p:blipFill>
            <a:blip r:embed="rId3">
              <a:duotone>
                <a:schemeClr val="accent2">
                  <a:shade val="45000"/>
                  <a:satMod val="135000"/>
                </a:schemeClr>
                <a:prstClr val="white"/>
              </a:duotone>
            </a:blip>
            <a:stretch>
              <a:fillRect/>
            </a:stretch>
          </p:blipFill>
          <p:spPr>
            <a:xfrm>
              <a:off x="8810366" y="4380061"/>
              <a:ext cx="1013255" cy="372055"/>
            </a:xfrm>
            <a:prstGeom prst="rect">
              <a:avLst/>
            </a:prstGeom>
          </p:spPr>
        </p:pic>
        <p:sp>
          <p:nvSpPr>
            <p:cNvPr id="84" name="Rectangle: Rounded Corners 83">
              <a:extLst>
                <a:ext uri="{FF2B5EF4-FFF2-40B4-BE49-F238E27FC236}">
                  <a16:creationId xmlns:a16="http://schemas.microsoft.com/office/drawing/2014/main" id="{1F1B30C8-8923-46EA-B029-83CC57A89077}"/>
                </a:ext>
              </a:extLst>
            </p:cNvPr>
            <p:cNvSpPr/>
            <p:nvPr/>
          </p:nvSpPr>
          <p:spPr bwMode="auto">
            <a:xfrm>
              <a:off x="8810366" y="4396741"/>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6" name="Picture 85" descr="A close up of a logo&#10;&#10;Description automatically generated">
              <a:extLst>
                <a:ext uri="{FF2B5EF4-FFF2-40B4-BE49-F238E27FC236}">
                  <a16:creationId xmlns:a16="http://schemas.microsoft.com/office/drawing/2014/main" id="{F5ED36F5-0D9E-4806-B05D-C9875F4954C8}"/>
                </a:ext>
              </a:extLst>
            </p:cNvPr>
            <p:cNvPicPr>
              <a:picLocks noChangeAspect="1"/>
            </p:cNvPicPr>
            <p:nvPr/>
          </p:nvPicPr>
          <p:blipFill>
            <a:blip r:embed="rId3">
              <a:duotone>
                <a:schemeClr val="accent2">
                  <a:shade val="45000"/>
                  <a:satMod val="135000"/>
                </a:schemeClr>
                <a:prstClr val="white"/>
              </a:duotone>
            </a:blip>
            <a:stretch>
              <a:fillRect/>
            </a:stretch>
          </p:blipFill>
          <p:spPr>
            <a:xfrm>
              <a:off x="10420863" y="4385569"/>
              <a:ext cx="1013255" cy="372055"/>
            </a:xfrm>
            <a:prstGeom prst="rect">
              <a:avLst/>
            </a:prstGeom>
          </p:spPr>
        </p:pic>
        <p:sp>
          <p:nvSpPr>
            <p:cNvPr id="87" name="Rectangle: Rounded Corners 86">
              <a:extLst>
                <a:ext uri="{FF2B5EF4-FFF2-40B4-BE49-F238E27FC236}">
                  <a16:creationId xmlns:a16="http://schemas.microsoft.com/office/drawing/2014/main" id="{82FA661B-CC8D-4C0A-B449-EEF16652451A}"/>
                </a:ext>
              </a:extLst>
            </p:cNvPr>
            <p:cNvSpPr/>
            <p:nvPr/>
          </p:nvSpPr>
          <p:spPr bwMode="auto">
            <a:xfrm>
              <a:off x="10420863" y="4402249"/>
              <a:ext cx="1013255" cy="1291214"/>
            </a:xfrm>
            <a:prstGeom prst="roundRect">
              <a:avLst>
                <a:gd name="adj" fmla="val 7305"/>
              </a:avLst>
            </a:prstGeom>
            <a:noFill/>
            <a:ln w="5715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Cylinder 35">
              <a:extLst>
                <a:ext uri="{FF2B5EF4-FFF2-40B4-BE49-F238E27FC236}">
                  <a16:creationId xmlns:a16="http://schemas.microsoft.com/office/drawing/2014/main" id="{FFFB4147-4F4B-44C0-AC3C-5C674C1C0115}"/>
                </a:ext>
              </a:extLst>
            </p:cNvPr>
            <p:cNvSpPr/>
            <p:nvPr/>
          </p:nvSpPr>
          <p:spPr bwMode="auto">
            <a:xfrm>
              <a:off x="5589373" y="2843021"/>
              <a:ext cx="1013254" cy="121096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BA847779-FFF6-4A4F-BCA6-2A075950F104}"/>
                </a:ext>
              </a:extLst>
            </p:cNvPr>
            <p:cNvGrpSpPr/>
            <p:nvPr/>
          </p:nvGrpSpPr>
          <p:grpSpPr>
            <a:xfrm>
              <a:off x="5741773" y="3183148"/>
              <a:ext cx="712421" cy="712421"/>
              <a:chOff x="2419350" y="4887768"/>
              <a:chExt cx="883920" cy="883920"/>
            </a:xfrm>
          </p:grpSpPr>
          <p:sp>
            <p:nvSpPr>
              <p:cNvPr id="5" name="Oval 4">
                <a:extLst>
                  <a:ext uri="{FF2B5EF4-FFF2-40B4-BE49-F238E27FC236}">
                    <a16:creationId xmlns:a16="http://schemas.microsoft.com/office/drawing/2014/main" id="{1E81CA6A-DF9C-44A8-81EB-D7F6FDA883B9}"/>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a:extLst>
                  <a:ext uri="{FF2B5EF4-FFF2-40B4-BE49-F238E27FC236}">
                    <a16:creationId xmlns:a16="http://schemas.microsoft.com/office/drawing/2014/main" id="{E96085DC-91D0-4599-A017-9D5DB04E6426}"/>
                  </a:ext>
                </a:extLst>
              </p:cNvPr>
              <p:cNvPicPr>
                <a:picLocks noChangeAspect="1"/>
              </p:cNvPicPr>
              <p:nvPr/>
            </p:nvPicPr>
            <p:blipFill>
              <a:blip r:embed="rId4"/>
              <a:srcRect/>
              <a:stretch/>
            </p:blipFill>
            <p:spPr>
              <a:xfrm>
                <a:off x="2567817" y="5008744"/>
                <a:ext cx="624376" cy="624376"/>
              </a:xfrm>
              <a:prstGeom prst="rect">
                <a:avLst/>
              </a:prstGeom>
            </p:spPr>
          </p:pic>
        </p:grpSp>
      </p:grpSp>
      <p:pic>
        <p:nvPicPr>
          <p:cNvPr id="48" name="Picture 47">
            <a:extLst>
              <a:ext uri="{FF2B5EF4-FFF2-40B4-BE49-F238E27FC236}">
                <a16:creationId xmlns:a16="http://schemas.microsoft.com/office/drawing/2014/main" id="{A8768474-294A-495E-A837-53B531F50188}"/>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6958" y="4796221"/>
            <a:ext cx="781866" cy="781866"/>
          </a:xfrm>
          <a:prstGeom prst="rect">
            <a:avLst/>
          </a:prstGeom>
        </p:spPr>
      </p:pic>
      <p:pic>
        <p:nvPicPr>
          <p:cNvPr id="52" name="Picture 51">
            <a:extLst>
              <a:ext uri="{FF2B5EF4-FFF2-40B4-BE49-F238E27FC236}">
                <a16:creationId xmlns:a16="http://schemas.microsoft.com/office/drawing/2014/main" id="{11EFA085-4582-472F-81F3-DA41922783BE}"/>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484072" y="4796221"/>
            <a:ext cx="781866" cy="781866"/>
          </a:xfrm>
          <a:prstGeom prst="rect">
            <a:avLst/>
          </a:prstGeom>
        </p:spPr>
      </p:pic>
      <p:pic>
        <p:nvPicPr>
          <p:cNvPr id="53" name="Picture 52">
            <a:extLst>
              <a:ext uri="{FF2B5EF4-FFF2-40B4-BE49-F238E27FC236}">
                <a16:creationId xmlns:a16="http://schemas.microsoft.com/office/drawing/2014/main" id="{EE7579EA-ADB1-4776-BEC0-518717EA4C72}"/>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94569" y="4790015"/>
            <a:ext cx="781866" cy="781866"/>
          </a:xfrm>
          <a:prstGeom prst="rect">
            <a:avLst/>
          </a:prstGeom>
        </p:spPr>
      </p:pic>
      <p:pic>
        <p:nvPicPr>
          <p:cNvPr id="54" name="Picture 53">
            <a:extLst>
              <a:ext uri="{FF2B5EF4-FFF2-40B4-BE49-F238E27FC236}">
                <a16:creationId xmlns:a16="http://schemas.microsoft.com/office/drawing/2014/main" id="{53882326-A6CF-4BF3-BC25-89F94CE4628E}"/>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705066" y="4796221"/>
            <a:ext cx="781866" cy="781866"/>
          </a:xfrm>
          <a:prstGeom prst="rect">
            <a:avLst/>
          </a:prstGeom>
        </p:spPr>
      </p:pic>
      <p:pic>
        <p:nvPicPr>
          <p:cNvPr id="55" name="Picture 54">
            <a:extLst>
              <a:ext uri="{FF2B5EF4-FFF2-40B4-BE49-F238E27FC236}">
                <a16:creationId xmlns:a16="http://schemas.microsoft.com/office/drawing/2014/main" id="{F446183D-7542-4C0D-A3DC-56245544A2E2}"/>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315563" y="4801217"/>
            <a:ext cx="781866" cy="781866"/>
          </a:xfrm>
          <a:prstGeom prst="rect">
            <a:avLst/>
          </a:prstGeom>
        </p:spPr>
      </p:pic>
      <p:pic>
        <p:nvPicPr>
          <p:cNvPr id="56" name="Picture 55">
            <a:extLst>
              <a:ext uri="{FF2B5EF4-FFF2-40B4-BE49-F238E27FC236}">
                <a16:creationId xmlns:a16="http://schemas.microsoft.com/office/drawing/2014/main" id="{1F22E06A-4358-4A2B-9FC7-C246A4FFA170}"/>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26062" y="4801217"/>
            <a:ext cx="781866" cy="781866"/>
          </a:xfrm>
          <a:prstGeom prst="rect">
            <a:avLst/>
          </a:prstGeom>
        </p:spPr>
      </p:pic>
      <p:pic>
        <p:nvPicPr>
          <p:cNvPr id="57" name="Picture 56">
            <a:extLst>
              <a:ext uri="{FF2B5EF4-FFF2-40B4-BE49-F238E27FC236}">
                <a16:creationId xmlns:a16="http://schemas.microsoft.com/office/drawing/2014/main" id="{2F4BB475-92AF-4C1E-BB26-F163F6D6287E}"/>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36557" y="4801217"/>
            <a:ext cx="781866" cy="781866"/>
          </a:xfrm>
          <a:prstGeom prst="rect">
            <a:avLst/>
          </a:prstGeom>
        </p:spPr>
      </p:pic>
      <p:sp>
        <p:nvSpPr>
          <p:cNvPr id="89" name="Content Placeholder 2">
            <a:extLst>
              <a:ext uri="{FF2B5EF4-FFF2-40B4-BE49-F238E27FC236}">
                <a16:creationId xmlns:a16="http://schemas.microsoft.com/office/drawing/2014/main" id="{47FF64E7-C708-413B-9916-ED9D3D758EEC}"/>
              </a:ext>
            </a:extLst>
          </p:cNvPr>
          <p:cNvSpPr txBox="1">
            <a:spLocks/>
          </p:cNvSpPr>
          <p:nvPr/>
        </p:nvSpPr>
        <p:spPr>
          <a:xfrm>
            <a:off x="4180499" y="1259690"/>
            <a:ext cx="3842672" cy="49244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pPr>
            <a:r>
              <a:rPr lang="en-US" sz="3200" dirty="0">
                <a:solidFill>
                  <a:schemeClr val="accent3">
                    <a:lumMod val="60000"/>
                    <a:lumOff val="40000"/>
                  </a:schemeClr>
                </a:solidFill>
              </a:rPr>
              <a:t>non-relational</a:t>
            </a:r>
          </a:p>
        </p:txBody>
      </p:sp>
      <p:sp>
        <p:nvSpPr>
          <p:cNvPr id="90" name="Content Placeholder 2">
            <a:extLst>
              <a:ext uri="{FF2B5EF4-FFF2-40B4-BE49-F238E27FC236}">
                <a16:creationId xmlns:a16="http://schemas.microsoft.com/office/drawing/2014/main" id="{D56CA6DF-A75E-4668-8F48-77D4F046F4F6}"/>
              </a:ext>
            </a:extLst>
          </p:cNvPr>
          <p:cNvSpPr txBox="1">
            <a:spLocks/>
          </p:cNvSpPr>
          <p:nvPr/>
        </p:nvSpPr>
        <p:spPr>
          <a:xfrm>
            <a:off x="3735013" y="1729756"/>
            <a:ext cx="4714608" cy="98488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pPr>
            <a:r>
              <a:rPr lang="en-US" sz="3200" i="1" dirty="0">
                <a:solidFill>
                  <a:schemeClr val="accent3">
                    <a:lumMod val="60000"/>
                    <a:lumOff val="40000"/>
                  </a:schemeClr>
                </a:solidFill>
              </a:rPr>
              <a:t>and</a:t>
            </a:r>
            <a:br>
              <a:rPr lang="en-US" sz="3200" i="1" dirty="0">
                <a:solidFill>
                  <a:schemeClr val="accent3">
                    <a:lumMod val="60000"/>
                    <a:lumOff val="40000"/>
                  </a:schemeClr>
                </a:solidFill>
              </a:rPr>
            </a:br>
            <a:r>
              <a:rPr lang="en-US" sz="3200" dirty="0">
                <a:solidFill>
                  <a:schemeClr val="accent3">
                    <a:lumMod val="60000"/>
                    <a:lumOff val="40000"/>
                  </a:schemeClr>
                </a:solidFill>
              </a:rPr>
              <a:t>horizontally scalable</a:t>
            </a:r>
          </a:p>
        </p:txBody>
      </p:sp>
    </p:spTree>
    <p:extLst>
      <p:ext uri="{BB962C8B-B14F-4D97-AF65-F5344CB8AC3E}">
        <p14:creationId xmlns:p14="http://schemas.microsoft.com/office/powerpoint/2010/main" val="20460993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64D8F-CBF5-4787-B07C-DC446B5F40E9}"/>
              </a:ext>
            </a:extLst>
          </p:cNvPr>
          <p:cNvSpPr>
            <a:spLocks noGrp="1"/>
          </p:cNvSpPr>
          <p:nvPr>
            <p:ph type="title"/>
          </p:nvPr>
        </p:nvSpPr>
        <p:spPr>
          <a:xfrm>
            <a:off x="588263" y="457200"/>
            <a:ext cx="11018520" cy="1107996"/>
          </a:xfrm>
        </p:spPr>
        <p:txBody>
          <a:bodyPr/>
          <a:lstStyle/>
          <a:p>
            <a:r>
              <a:rPr lang="en-US" dirty="0"/>
              <a:t>So is Azure Cosmos DB suitable for relational workloads?</a:t>
            </a:r>
          </a:p>
        </p:txBody>
      </p:sp>
      <p:sp>
        <p:nvSpPr>
          <p:cNvPr id="3" name="Content Placeholder 2">
            <a:extLst>
              <a:ext uri="{FF2B5EF4-FFF2-40B4-BE49-F238E27FC236}">
                <a16:creationId xmlns:a16="http://schemas.microsoft.com/office/drawing/2014/main" id="{4F725BF2-A65E-4AD4-AF2B-5F9B90941515}"/>
              </a:ext>
            </a:extLst>
          </p:cNvPr>
          <p:cNvSpPr>
            <a:spLocks noGrp="1"/>
          </p:cNvSpPr>
          <p:nvPr>
            <p:ph sz="quarter" idx="10"/>
          </p:nvPr>
        </p:nvSpPr>
        <p:spPr>
          <a:xfrm>
            <a:off x="588263" y="1789061"/>
            <a:ext cx="11018838" cy="4099584"/>
          </a:xfrm>
        </p:spPr>
        <p:txBody>
          <a:bodyPr/>
          <a:lstStyle/>
          <a:p>
            <a:r>
              <a:rPr lang="en-US" dirty="0"/>
              <a:t>It sure is!</a:t>
            </a:r>
          </a:p>
          <a:p>
            <a:pPr lvl="1"/>
            <a:r>
              <a:rPr lang="en-US" dirty="0"/>
              <a:t>Most workloads are actually relational</a:t>
            </a:r>
          </a:p>
          <a:p>
            <a:endParaRPr lang="en-US" dirty="0"/>
          </a:p>
          <a:p>
            <a:r>
              <a:rPr lang="en-US" dirty="0"/>
              <a:t>Need to use different techniques to implement relations between entities</a:t>
            </a:r>
          </a:p>
          <a:p>
            <a:endParaRPr lang="en-US" dirty="0"/>
          </a:p>
          <a:p>
            <a:r>
              <a:rPr lang="en-US" dirty="0"/>
              <a:t>Approach is very different from designing a data model for relational databases</a:t>
            </a:r>
          </a:p>
          <a:p>
            <a:pPr lvl="1"/>
            <a:r>
              <a:rPr lang="en-US" dirty="0"/>
              <a:t>Most intuitions and best practices don't translate well and may even be anti-patterns!</a:t>
            </a:r>
          </a:p>
        </p:txBody>
      </p:sp>
    </p:spTree>
    <p:extLst>
      <p:ext uri="{BB962C8B-B14F-4D97-AF65-F5344CB8AC3E}">
        <p14:creationId xmlns:p14="http://schemas.microsoft.com/office/powerpoint/2010/main" val="3453921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0C545C-1AFD-4082-838A-D11D83114424}"/>
              </a:ext>
            </a:extLst>
          </p:cNvPr>
          <p:cNvSpPr/>
          <p:nvPr/>
        </p:nvSpPr>
        <p:spPr bwMode="auto">
          <a:xfrm>
            <a:off x="9710114" y="3448050"/>
            <a:ext cx="1180264" cy="7969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D31E73B6-F9BB-4E40-A8D2-3CE835843B15}"/>
              </a:ext>
            </a:extLst>
          </p:cNvPr>
          <p:cNvSpPr/>
          <p:nvPr/>
        </p:nvSpPr>
        <p:spPr bwMode="auto">
          <a:xfrm>
            <a:off x="9589971" y="1252427"/>
            <a:ext cx="1433630" cy="1004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DF737392-0EB5-4F98-92CA-3A4C50F88301}"/>
              </a:ext>
            </a:extLst>
          </p:cNvPr>
          <p:cNvSpPr/>
          <p:nvPr/>
        </p:nvSpPr>
        <p:spPr bwMode="auto">
          <a:xfrm>
            <a:off x="7921377" y="1257412"/>
            <a:ext cx="1316791" cy="20477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a:extLst>
              <a:ext uri="{FF2B5EF4-FFF2-40B4-BE49-F238E27FC236}">
                <a16:creationId xmlns:a16="http://schemas.microsoft.com/office/drawing/2014/main" id="{3ECB9669-405D-4E2A-A0C9-0C3BA73FF505}"/>
              </a:ext>
            </a:extLst>
          </p:cNvPr>
          <p:cNvSpPr/>
          <p:nvPr/>
        </p:nvSpPr>
        <p:spPr bwMode="auto">
          <a:xfrm>
            <a:off x="6217613" y="1252427"/>
            <a:ext cx="1205537" cy="184002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19F91ECE-CDBE-4AAB-8C41-D801D331A33D}"/>
              </a:ext>
            </a:extLst>
          </p:cNvPr>
          <p:cNvSpPr>
            <a:spLocks noGrp="1"/>
          </p:cNvSpPr>
          <p:nvPr>
            <p:ph type="title"/>
          </p:nvPr>
        </p:nvSpPr>
        <p:spPr>
          <a:xfrm>
            <a:off x="588263" y="457200"/>
            <a:ext cx="11018520" cy="553998"/>
          </a:xfrm>
        </p:spPr>
        <p:txBody>
          <a:bodyPr/>
          <a:lstStyle/>
          <a:p>
            <a:r>
              <a:rPr lang="en-US" dirty="0"/>
              <a:t>Let's look at a concrete example</a:t>
            </a:r>
          </a:p>
        </p:txBody>
      </p:sp>
      <p:sp>
        <p:nvSpPr>
          <p:cNvPr id="3" name="Content Placeholder 2">
            <a:extLst>
              <a:ext uri="{FF2B5EF4-FFF2-40B4-BE49-F238E27FC236}">
                <a16:creationId xmlns:a16="http://schemas.microsoft.com/office/drawing/2014/main" id="{1CA0C91A-C949-406C-98E8-B6593BF10F1D}"/>
              </a:ext>
            </a:extLst>
          </p:cNvPr>
          <p:cNvSpPr>
            <a:spLocks noGrp="1"/>
          </p:cNvSpPr>
          <p:nvPr>
            <p:ph sz="quarter" idx="10"/>
          </p:nvPr>
        </p:nvSpPr>
        <p:spPr>
          <a:xfrm>
            <a:off x="584200" y="1435100"/>
            <a:ext cx="11018838" cy="3237809"/>
          </a:xfrm>
        </p:spPr>
        <p:txBody>
          <a:bodyPr/>
          <a:lstStyle/>
          <a:p>
            <a:r>
              <a:rPr lang="en-US" dirty="0"/>
              <a:t>E-commerce workload</a:t>
            </a:r>
          </a:p>
          <a:p>
            <a:endParaRPr lang="en-US" dirty="0"/>
          </a:p>
          <a:p>
            <a:r>
              <a:rPr lang="en-US" dirty="0"/>
              <a:t>Customers</a:t>
            </a:r>
          </a:p>
          <a:p>
            <a:r>
              <a:rPr lang="en-US" dirty="0"/>
              <a:t>Products</a:t>
            </a:r>
          </a:p>
          <a:p>
            <a:pPr lvl="1"/>
            <a:r>
              <a:rPr lang="en-US" dirty="0"/>
              <a:t>Categories</a:t>
            </a:r>
          </a:p>
          <a:p>
            <a:pPr lvl="1"/>
            <a:r>
              <a:rPr lang="en-US" dirty="0"/>
              <a:t>Tags</a:t>
            </a:r>
          </a:p>
          <a:p>
            <a:r>
              <a:rPr lang="en-US" dirty="0"/>
              <a:t>Sales Orders</a:t>
            </a:r>
          </a:p>
        </p:txBody>
      </p:sp>
      <p:sp>
        <p:nvSpPr>
          <p:cNvPr id="8" name="Rectangle 7">
            <a:extLst>
              <a:ext uri="{FF2B5EF4-FFF2-40B4-BE49-F238E27FC236}">
                <a16:creationId xmlns:a16="http://schemas.microsoft.com/office/drawing/2014/main" id="{F09C43EC-FFCC-4FEB-B87A-8EC0A3A3368B}"/>
              </a:ext>
            </a:extLst>
          </p:cNvPr>
          <p:cNvSpPr/>
          <p:nvPr/>
        </p:nvSpPr>
        <p:spPr bwMode="auto">
          <a:xfrm>
            <a:off x="6217613" y="3448050"/>
            <a:ext cx="1205537" cy="7969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E1E1BCDA-310F-4DA3-8313-1EBE570CF34A}"/>
              </a:ext>
            </a:extLst>
          </p:cNvPr>
          <p:cNvSpPr/>
          <p:nvPr/>
        </p:nvSpPr>
        <p:spPr bwMode="auto">
          <a:xfrm>
            <a:off x="7979610" y="3448050"/>
            <a:ext cx="1180265" cy="16129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B0265AA-C8DF-413A-9C46-7194977FC013}"/>
              </a:ext>
            </a:extLst>
          </p:cNvPr>
          <p:cNvSpPr/>
          <p:nvPr/>
        </p:nvSpPr>
        <p:spPr bwMode="auto">
          <a:xfrm>
            <a:off x="9710115" y="4351087"/>
            <a:ext cx="1180266" cy="79876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E39EE5B6-4A3F-4BC3-89CE-C8B324D1B058}"/>
              </a:ext>
            </a:extLst>
          </p:cNvPr>
          <p:cNvSpPr/>
          <p:nvPr/>
        </p:nvSpPr>
        <p:spPr bwMode="auto">
          <a:xfrm>
            <a:off x="6108700" y="5131736"/>
            <a:ext cx="1431925" cy="80233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2E14D907-31F5-4B91-B349-4A3D1B631218}"/>
              </a:ext>
            </a:extLst>
          </p:cNvPr>
          <p:cNvSpPr/>
          <p:nvPr/>
        </p:nvSpPr>
        <p:spPr bwMode="auto">
          <a:xfrm>
            <a:off x="7864475" y="5125787"/>
            <a:ext cx="1406663" cy="16210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F8A58CD7-75BC-4F90-B8A0-62993102A480}"/>
              </a:ext>
            </a:extLst>
          </p:cNvPr>
          <p:cNvPicPr>
            <a:picLocks noChangeAspect="1"/>
          </p:cNvPicPr>
          <p:nvPr/>
        </p:nvPicPr>
        <p:blipFill>
          <a:blip r:embed="rId3"/>
          <a:srcRect/>
          <a:stretch/>
        </p:blipFill>
        <p:spPr>
          <a:xfrm>
            <a:off x="5656769" y="1069685"/>
            <a:ext cx="5699901" cy="5875124"/>
          </a:xfrm>
          <a:prstGeom prst="rect">
            <a:avLst/>
          </a:prstGeom>
        </p:spPr>
      </p:pic>
    </p:spTree>
    <p:extLst>
      <p:ext uri="{BB962C8B-B14F-4D97-AF65-F5344CB8AC3E}">
        <p14:creationId xmlns:p14="http://schemas.microsoft.com/office/powerpoint/2010/main" val="3250002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xit" presetSubtype="0" fill="hold" grpId="1" nodeType="with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par>
                                <p:cTn id="43" presetID="10" presetClass="exit" presetSubtype="0" fill="hold" grpId="1" nodeType="withEffect">
                                  <p:stCondLst>
                                    <p:cond delay="0"/>
                                  </p:stCondLst>
                                  <p:childTnLst>
                                    <p:animEffect transition="out" filter="fade">
                                      <p:cBhvr>
                                        <p:cTn id="44" dur="500"/>
                                        <p:tgtEl>
                                          <p:spTgt spid="9"/>
                                        </p:tgtEl>
                                      </p:cBhvr>
                                    </p:animEffect>
                                    <p:set>
                                      <p:cBhvr>
                                        <p:cTn id="45" dur="1" fill="hold">
                                          <p:stCondLst>
                                            <p:cond delay="499"/>
                                          </p:stCondLst>
                                        </p:cTn>
                                        <p:tgtEl>
                                          <p:spTgt spid="9"/>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Effect transition="in" filter="fade">
                                      <p:cBhvr>
                                        <p:cTn id="53" dur="500"/>
                                        <p:tgtEl>
                                          <p:spTgt spid="3">
                                            <p:txEl>
                                              <p:pRg st="5" end="5"/>
                                            </p:txEl>
                                          </p:spTgt>
                                        </p:tgtEl>
                                      </p:cBhvr>
                                    </p:animEffect>
                                  </p:childTnLst>
                                </p:cTn>
                              </p:par>
                              <p:par>
                                <p:cTn id="54" presetID="10" presetClass="exit" presetSubtype="0" fill="hold" grpId="1" nodeType="withEffect">
                                  <p:stCondLst>
                                    <p:cond delay="0"/>
                                  </p:stCondLst>
                                  <p:childTnLst>
                                    <p:animEffect transition="out" filter="fade">
                                      <p:cBhvr>
                                        <p:cTn id="55" dur="500"/>
                                        <p:tgtEl>
                                          <p:spTgt spid="8"/>
                                        </p:tgtEl>
                                      </p:cBhvr>
                                    </p:animEffect>
                                    <p:set>
                                      <p:cBhvr>
                                        <p:cTn id="56" dur="1" fill="hold">
                                          <p:stCondLst>
                                            <p:cond delay="499"/>
                                          </p:stCondLst>
                                        </p:cTn>
                                        <p:tgtEl>
                                          <p:spTgt spid="8"/>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fade">
                                      <p:cBhvr>
                                        <p:cTn id="67" dur="500"/>
                                        <p:tgtEl>
                                          <p:spTgt spid="3">
                                            <p:txEl>
                                              <p:pRg st="6" end="6"/>
                                            </p:txEl>
                                          </p:spTgt>
                                        </p:tgtEl>
                                      </p:cBhvr>
                                    </p:animEffect>
                                  </p:childTnLst>
                                </p:cTn>
                              </p:par>
                              <p:par>
                                <p:cTn id="68" presetID="10" presetClass="exit" presetSubtype="0" fill="hold" grpId="1" nodeType="withEffect">
                                  <p:stCondLst>
                                    <p:cond delay="0"/>
                                  </p:stCondLst>
                                  <p:childTnLst>
                                    <p:animEffect transition="out" filter="fade">
                                      <p:cBhvr>
                                        <p:cTn id="69" dur="500"/>
                                        <p:tgtEl>
                                          <p:spTgt spid="10"/>
                                        </p:tgtEl>
                                      </p:cBhvr>
                                    </p:animEffect>
                                    <p:set>
                                      <p:cBhvr>
                                        <p:cTn id="70" dur="1" fill="hold">
                                          <p:stCondLst>
                                            <p:cond delay="499"/>
                                          </p:stCondLst>
                                        </p:cTn>
                                        <p:tgtEl>
                                          <p:spTgt spid="10"/>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11"/>
                                        </p:tgtEl>
                                      </p:cBhvr>
                                    </p:animEffect>
                                    <p:set>
                                      <p:cBhvr>
                                        <p:cTn id="73" dur="1" fill="hold">
                                          <p:stCondLst>
                                            <p:cond delay="499"/>
                                          </p:stCondLst>
                                        </p:cTn>
                                        <p:tgtEl>
                                          <p:spTgt spid="11"/>
                                        </p:tgtEl>
                                        <p:attrNameLst>
                                          <p:attrName>style.visibility</p:attrName>
                                        </p:attrNameLst>
                                      </p:cBhvr>
                                      <p:to>
                                        <p:strVal val="hidden"/>
                                      </p:to>
                                    </p:set>
                                  </p:childTnLst>
                                </p:cTn>
                              </p:par>
                              <p:par>
                                <p:cTn id="74" presetID="10" presetClass="entr" presetSubtype="0"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5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12"/>
                                        </p:tgtEl>
                                      </p:cBhvr>
                                    </p:animEffect>
                                    <p:set>
                                      <p:cBhvr>
                                        <p:cTn id="81" dur="1" fill="hold">
                                          <p:stCondLst>
                                            <p:cond delay="499"/>
                                          </p:stCondLst>
                                        </p:cTn>
                                        <p:tgtEl>
                                          <p:spTgt spid="12"/>
                                        </p:tgtEl>
                                        <p:attrNameLst>
                                          <p:attrName>style.visibility</p:attrName>
                                        </p:attrNameLst>
                                      </p:cBhvr>
                                      <p:to>
                                        <p:strVal val="hidden"/>
                                      </p:to>
                                    </p:set>
                                  </p:childTnLst>
                                </p:cTn>
                              </p:par>
                              <p:par>
                                <p:cTn id="82" presetID="10" presetClass="entr" presetSubtype="0" fill="hold" grpId="0" nodeType="with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fade">
                                      <p:cBhvr>
                                        <p:cTn id="8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7" grpId="0" animBg="1"/>
      <p:bldP spid="7" grpId="1" animBg="1"/>
      <p:bldP spid="6" grpId="0" animBg="1"/>
      <p:bldP spid="6" grpId="1" animBg="1"/>
      <p:bldP spid="4" grpId="0" animBg="1"/>
      <p:bldP spid="4" grpId="1" animBg="1"/>
      <p:bldP spid="8" grpId="0" animBg="1"/>
      <p:bldP spid="8" grpId="1" animBg="1"/>
      <p:bldP spid="9" grpId="0" animBg="1"/>
      <p:bldP spid="9" grpId="1" animBg="1"/>
      <p:bldP spid="11" grpId="0" animBg="1"/>
      <p:bldP spid="11" grpId="1" animBg="1"/>
      <p:bldP spid="12" grpId="0" animBg="1"/>
      <p:bldP spid="12" grpId="1"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5D387-CAE7-4584-9A5E-49CD40545027}"/>
              </a:ext>
            </a:extLst>
          </p:cNvPr>
          <p:cNvSpPr>
            <a:spLocks noGrp="1"/>
          </p:cNvSpPr>
          <p:nvPr>
            <p:ph type="title"/>
          </p:nvPr>
        </p:nvSpPr>
        <p:spPr/>
        <p:txBody>
          <a:bodyPr/>
          <a:lstStyle/>
          <a:p>
            <a:r>
              <a:rPr lang="en-US" dirty="0"/>
              <a:t>Identifying the operations we have to serve</a:t>
            </a:r>
          </a:p>
        </p:txBody>
      </p:sp>
      <p:sp>
        <p:nvSpPr>
          <p:cNvPr id="3" name="Content Placeholder 2">
            <a:extLst>
              <a:ext uri="{FF2B5EF4-FFF2-40B4-BE49-F238E27FC236}">
                <a16:creationId xmlns:a16="http://schemas.microsoft.com/office/drawing/2014/main" id="{596294F5-4CC3-4557-931D-ADA74DFA3411}"/>
              </a:ext>
            </a:extLst>
          </p:cNvPr>
          <p:cNvSpPr>
            <a:spLocks noGrp="1"/>
          </p:cNvSpPr>
          <p:nvPr>
            <p:ph sz="quarter" idx="12"/>
          </p:nvPr>
        </p:nvSpPr>
        <p:spPr>
          <a:xfrm>
            <a:off x="584200" y="1435100"/>
            <a:ext cx="5211763" cy="5084469"/>
          </a:xfrm>
        </p:spPr>
        <p:txBody>
          <a:bodyPr/>
          <a:lstStyle/>
          <a:p>
            <a:r>
              <a:rPr lang="en-US" dirty="0"/>
              <a:t>Create a customer</a:t>
            </a:r>
          </a:p>
          <a:p>
            <a:r>
              <a:rPr lang="en-US" dirty="0"/>
              <a:t>Retrieve a customer</a:t>
            </a:r>
          </a:p>
          <a:p>
            <a:endParaRPr lang="en-US" dirty="0"/>
          </a:p>
          <a:p>
            <a:r>
              <a:rPr lang="en-US" dirty="0"/>
              <a:t>Create a product category</a:t>
            </a:r>
          </a:p>
          <a:p>
            <a:r>
              <a:rPr lang="en-US" dirty="0"/>
              <a:t>Edit a product category</a:t>
            </a:r>
          </a:p>
          <a:p>
            <a:r>
              <a:rPr lang="en-US" dirty="0"/>
              <a:t>List all product categories</a:t>
            </a:r>
          </a:p>
          <a:p>
            <a:endParaRPr lang="en-US" dirty="0"/>
          </a:p>
          <a:p>
            <a:r>
              <a:rPr lang="en-US" dirty="0"/>
              <a:t>Create a product tag</a:t>
            </a:r>
          </a:p>
          <a:p>
            <a:r>
              <a:rPr lang="en-US" dirty="0"/>
              <a:t>Edit a product tag</a:t>
            </a:r>
          </a:p>
          <a:p>
            <a:r>
              <a:rPr lang="en-US" dirty="0"/>
              <a:t>List all product tags</a:t>
            </a:r>
          </a:p>
        </p:txBody>
      </p:sp>
      <p:sp>
        <p:nvSpPr>
          <p:cNvPr id="4" name="Content Placeholder 3">
            <a:extLst>
              <a:ext uri="{FF2B5EF4-FFF2-40B4-BE49-F238E27FC236}">
                <a16:creationId xmlns:a16="http://schemas.microsoft.com/office/drawing/2014/main" id="{3DDBB1E6-1546-42C3-A908-F130C48FD666}"/>
              </a:ext>
            </a:extLst>
          </p:cNvPr>
          <p:cNvSpPr>
            <a:spLocks noGrp="1"/>
          </p:cNvSpPr>
          <p:nvPr>
            <p:ph sz="quarter" idx="13"/>
          </p:nvPr>
        </p:nvSpPr>
        <p:spPr>
          <a:xfrm>
            <a:off x="6389687" y="1435100"/>
            <a:ext cx="5347041" cy="4764381"/>
          </a:xfrm>
        </p:spPr>
        <p:txBody>
          <a:bodyPr/>
          <a:lstStyle/>
          <a:p>
            <a:r>
              <a:rPr lang="en-US" dirty="0"/>
              <a:t>Create a product</a:t>
            </a:r>
          </a:p>
          <a:p>
            <a:r>
              <a:rPr lang="en-US" dirty="0"/>
              <a:t>Edit a product</a:t>
            </a:r>
          </a:p>
          <a:p>
            <a:r>
              <a:rPr lang="en-US" dirty="0"/>
              <a:t>List all products from a category</a:t>
            </a:r>
            <a:br>
              <a:rPr lang="en-US" dirty="0"/>
            </a:br>
            <a:r>
              <a:rPr lang="en-US" sz="2400" dirty="0"/>
              <a:t>(with name of category and tags)</a:t>
            </a:r>
            <a:endParaRPr lang="en-US" dirty="0"/>
          </a:p>
          <a:p>
            <a:endParaRPr lang="en-US" dirty="0"/>
          </a:p>
          <a:p>
            <a:r>
              <a:rPr lang="en-US" dirty="0"/>
              <a:t>Create a sales order</a:t>
            </a:r>
          </a:p>
          <a:p>
            <a:r>
              <a:rPr lang="en-US" dirty="0"/>
              <a:t>List all sales order for a customer</a:t>
            </a:r>
          </a:p>
          <a:p>
            <a:r>
              <a:rPr lang="en-US" dirty="0"/>
              <a:t>List customers by descending number of sales orders</a:t>
            </a:r>
          </a:p>
        </p:txBody>
      </p:sp>
    </p:spTree>
    <p:extLst>
      <p:ext uri="{BB962C8B-B14F-4D97-AF65-F5344CB8AC3E}">
        <p14:creationId xmlns:p14="http://schemas.microsoft.com/office/powerpoint/2010/main" val="3277614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 end="1"/>
                                            </p:txEl>
                                          </p:spTgt>
                                        </p:tgtEl>
                                        <p:attrNameLst>
                                          <p:attrName>style.visibility</p:attrName>
                                        </p:attrNameLst>
                                      </p:cBhvr>
                                      <p:to>
                                        <p:strVal val="visible"/>
                                      </p:to>
                                    </p:set>
                                    <p:animEffect transition="in" filter="fade">
                                      <p:cBhvr>
                                        <p:cTn id="40" dur="500"/>
                                        <p:tgtEl>
                                          <p:spTgt spid="4">
                                            <p:txEl>
                                              <p:pRg st="1" end="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animEffect transition="in" filter="fade">
                                      <p:cBhvr>
                                        <p:cTn id="43" dur="500"/>
                                        <p:tgtEl>
                                          <p:spTgt spid="4">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
                                            <p:txEl>
                                              <p:pRg st="4" end="4"/>
                                            </p:txEl>
                                          </p:spTgt>
                                        </p:tgtEl>
                                        <p:attrNameLst>
                                          <p:attrName>style.visibility</p:attrName>
                                        </p:attrNameLst>
                                      </p:cBhvr>
                                      <p:to>
                                        <p:strVal val="visible"/>
                                      </p:to>
                                    </p:set>
                                    <p:animEffect transition="in" filter="fade">
                                      <p:cBhvr>
                                        <p:cTn id="48" dur="500"/>
                                        <p:tgtEl>
                                          <p:spTgt spid="4">
                                            <p:txEl>
                                              <p:pRg st="4" end="4"/>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animEffect transition="in" filter="fade">
                                      <p:cBhvr>
                                        <p:cTn id="51" dur="500"/>
                                        <p:tgtEl>
                                          <p:spTgt spid="4">
                                            <p:txEl>
                                              <p:pRg st="5" end="5"/>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4">
                                            <p:txEl>
                                              <p:pRg st="6" end="6"/>
                                            </p:txEl>
                                          </p:spTgt>
                                        </p:tgtEl>
                                        <p:attrNameLst>
                                          <p:attrName>style.visibility</p:attrName>
                                        </p:attrNameLst>
                                      </p:cBhvr>
                                      <p:to>
                                        <p:strVal val="visible"/>
                                      </p:to>
                                    </p:set>
                                    <p:animEffect transition="in" filter="fade">
                                      <p:cBhvr>
                                        <p:cTn id="54"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p:txBody>
          <a:bodyPr/>
          <a:lstStyle/>
          <a:p>
            <a:r>
              <a:rPr lang="en-US" dirty="0"/>
              <a:t>Now let's implement this model on Azure Cosmos DB!</a:t>
            </a:r>
          </a:p>
        </p:txBody>
      </p:sp>
      <p:pic>
        <p:nvPicPr>
          <p:cNvPr id="14" name="Picture 13" descr="A screenshot of a cell phone&#10;&#10;Description automatically generated">
            <a:extLst>
              <a:ext uri="{FF2B5EF4-FFF2-40B4-BE49-F238E27FC236}">
                <a16:creationId xmlns:a16="http://schemas.microsoft.com/office/drawing/2014/main" id="{9022E269-4FCB-452B-B677-E950DED8EA24}"/>
              </a:ext>
            </a:extLst>
          </p:cNvPr>
          <p:cNvPicPr>
            <a:picLocks noChangeAspect="1"/>
          </p:cNvPicPr>
          <p:nvPr/>
        </p:nvPicPr>
        <p:blipFill>
          <a:blip r:embed="rId2"/>
          <a:stretch>
            <a:fillRect/>
          </a:stretch>
        </p:blipFill>
        <p:spPr>
          <a:xfrm>
            <a:off x="3290597" y="1022840"/>
            <a:ext cx="5610803" cy="5783288"/>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3A59993F-44A2-49FB-88FF-BE1797B3ED10}"/>
              </a:ext>
            </a:extLst>
          </p:cNvPr>
          <p:cNvPicPr>
            <a:picLocks noChangeAspect="1"/>
          </p:cNvPicPr>
          <p:nvPr/>
        </p:nvPicPr>
        <p:blipFill>
          <a:blip r:embed="rId3"/>
          <a:stretch>
            <a:fillRect/>
          </a:stretch>
        </p:blipFill>
        <p:spPr>
          <a:xfrm>
            <a:off x="3885683" y="1094434"/>
            <a:ext cx="4882737" cy="2242316"/>
          </a:xfrm>
          <a:prstGeom prst="rect">
            <a:avLst/>
          </a:prstGeom>
        </p:spPr>
      </p:pic>
    </p:spTree>
    <p:extLst>
      <p:ext uri="{BB962C8B-B14F-4D97-AF65-F5344CB8AC3E}">
        <p14:creationId xmlns:p14="http://schemas.microsoft.com/office/powerpoint/2010/main" val="7401995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p:txBody>
          <a:bodyPr/>
          <a:lstStyle/>
          <a:p>
            <a:r>
              <a:rPr lang="en-US" dirty="0"/>
              <a:t>Starting with the Customer entity</a:t>
            </a:r>
          </a:p>
        </p:txBody>
      </p:sp>
      <p:sp>
        <p:nvSpPr>
          <p:cNvPr id="5" name="Rectangle: Folded Corner 4">
            <a:extLst>
              <a:ext uri="{FF2B5EF4-FFF2-40B4-BE49-F238E27FC236}">
                <a16:creationId xmlns:a16="http://schemas.microsoft.com/office/drawing/2014/main" id="{C7AC324E-B6AB-486C-8DAC-386ED63CEDEB}"/>
              </a:ext>
            </a:extLst>
          </p:cNvPr>
          <p:cNvSpPr/>
          <p:nvPr/>
        </p:nvSpPr>
        <p:spPr bwMode="auto">
          <a:xfrm>
            <a:off x="2483319" y="3429001"/>
            <a:ext cx="2311153" cy="224231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7" name="Rectangle: Folded Corner 6">
            <a:extLst>
              <a:ext uri="{FF2B5EF4-FFF2-40B4-BE49-F238E27FC236}">
                <a16:creationId xmlns:a16="http://schemas.microsoft.com/office/drawing/2014/main" id="{7A85827A-C762-4053-8EF4-4DF4BD76C2E4}"/>
              </a:ext>
            </a:extLst>
          </p:cNvPr>
          <p:cNvSpPr/>
          <p:nvPr/>
        </p:nvSpPr>
        <p:spPr bwMode="auto">
          <a:xfrm>
            <a:off x="5194776" y="3429002"/>
            <a:ext cx="2062674" cy="2403908"/>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"state":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zipCode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"country":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8" name="Rectangle: Folded Corner 7">
            <a:extLst>
              <a:ext uri="{FF2B5EF4-FFF2-40B4-BE49-F238E27FC236}">
                <a16:creationId xmlns:a16="http://schemas.microsoft.com/office/drawing/2014/main" id="{C3472490-3724-45E3-BE54-0E598B0A55A8}"/>
              </a:ext>
            </a:extLst>
          </p:cNvPr>
          <p:cNvSpPr/>
          <p:nvPr/>
        </p:nvSpPr>
        <p:spPr bwMode="auto">
          <a:xfrm>
            <a:off x="7657754" y="3429000"/>
            <a:ext cx="2062675" cy="156570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pic>
        <p:nvPicPr>
          <p:cNvPr id="9" name="Picture 8" descr="A screenshot of a cell phone&#10;&#10;Description automatically generated">
            <a:extLst>
              <a:ext uri="{FF2B5EF4-FFF2-40B4-BE49-F238E27FC236}">
                <a16:creationId xmlns:a16="http://schemas.microsoft.com/office/drawing/2014/main" id="{8A61165A-39BD-44C0-9E79-932D96765188}"/>
              </a:ext>
            </a:extLst>
          </p:cNvPr>
          <p:cNvPicPr>
            <a:picLocks noChangeAspect="1"/>
          </p:cNvPicPr>
          <p:nvPr/>
        </p:nvPicPr>
        <p:blipFill>
          <a:blip r:embed="rId3"/>
          <a:stretch>
            <a:fillRect/>
          </a:stretch>
        </p:blipFill>
        <p:spPr>
          <a:xfrm>
            <a:off x="3885683" y="1094434"/>
            <a:ext cx="4882737" cy="2242316"/>
          </a:xfrm>
          <a:prstGeom prst="rect">
            <a:avLst/>
          </a:prstGeom>
        </p:spPr>
      </p:pic>
      <p:sp>
        <p:nvSpPr>
          <p:cNvPr id="11" name="Rectangle 10">
            <a:extLst>
              <a:ext uri="{FF2B5EF4-FFF2-40B4-BE49-F238E27FC236}">
                <a16:creationId xmlns:a16="http://schemas.microsoft.com/office/drawing/2014/main" id="{9CD74564-78A7-48C5-9D02-2B2DFFC35070}"/>
              </a:ext>
            </a:extLst>
          </p:cNvPr>
          <p:cNvSpPr/>
          <p:nvPr/>
        </p:nvSpPr>
        <p:spPr bwMode="auto">
          <a:xfrm>
            <a:off x="2483319" y="3786284"/>
            <a:ext cx="2311153" cy="233266"/>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D029A105-FB76-44B7-82DA-AAC55A3B2040}"/>
              </a:ext>
            </a:extLst>
          </p:cNvPr>
          <p:cNvSpPr/>
          <p:nvPr/>
        </p:nvSpPr>
        <p:spPr bwMode="auto">
          <a:xfrm>
            <a:off x="5194776" y="4002883"/>
            <a:ext cx="2062674" cy="233266"/>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2662E31C-FC16-49B3-8D70-778F7EA1CD2C}"/>
              </a:ext>
            </a:extLst>
          </p:cNvPr>
          <p:cNvSpPr/>
          <p:nvPr/>
        </p:nvSpPr>
        <p:spPr bwMode="auto">
          <a:xfrm>
            <a:off x="7657754" y="4002678"/>
            <a:ext cx="2062674" cy="233266"/>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5" name="Connector: Elbow 14">
            <a:extLst>
              <a:ext uri="{FF2B5EF4-FFF2-40B4-BE49-F238E27FC236}">
                <a16:creationId xmlns:a16="http://schemas.microsoft.com/office/drawing/2014/main" id="{751C1588-F517-4C45-A8C6-23DE22583F86}"/>
              </a:ext>
            </a:extLst>
          </p:cNvPr>
          <p:cNvCxnSpPr>
            <a:cxnSpLocks/>
            <a:stCxn id="11" idx="3"/>
            <a:endCxn id="12" idx="1"/>
          </p:cNvCxnSpPr>
          <p:nvPr/>
        </p:nvCxnSpPr>
        <p:spPr>
          <a:xfrm>
            <a:off x="4794472" y="3902917"/>
            <a:ext cx="400304" cy="216599"/>
          </a:xfrm>
          <a:prstGeom prst="bentConnector3">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31C897C-944F-4EB8-BF40-6896874B74F9}"/>
              </a:ext>
            </a:extLst>
          </p:cNvPr>
          <p:cNvCxnSpPr>
            <a:cxnSpLocks/>
            <a:stCxn id="12" idx="3"/>
            <a:endCxn id="13" idx="1"/>
          </p:cNvCxnSpPr>
          <p:nvPr/>
        </p:nvCxnSpPr>
        <p:spPr>
          <a:xfrm flipV="1">
            <a:off x="7257450" y="4119311"/>
            <a:ext cx="400304" cy="205"/>
          </a:xfrm>
          <a:prstGeom prst="bentConnector3">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209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a:xfrm>
            <a:off x="588263" y="457200"/>
            <a:ext cx="11018520" cy="553998"/>
          </a:xfrm>
        </p:spPr>
        <p:txBody>
          <a:bodyPr/>
          <a:lstStyle/>
          <a:p>
            <a:r>
              <a:rPr lang="en-US" dirty="0"/>
              <a:t>Starting with the Customer entity</a:t>
            </a:r>
          </a:p>
        </p:txBody>
      </p:sp>
      <p:sp>
        <p:nvSpPr>
          <p:cNvPr id="5" name="Rectangle: Folded Corner 4">
            <a:extLst>
              <a:ext uri="{FF2B5EF4-FFF2-40B4-BE49-F238E27FC236}">
                <a16:creationId xmlns:a16="http://schemas.microsoft.com/office/drawing/2014/main" id="{C7AC324E-B6AB-486C-8DAC-386ED63CEDEB}"/>
              </a:ext>
            </a:extLst>
          </p:cNvPr>
          <p:cNvSpPr/>
          <p:nvPr/>
        </p:nvSpPr>
        <p:spPr bwMode="auto">
          <a:xfrm>
            <a:off x="7732115" y="1474957"/>
            <a:ext cx="2287786" cy="476442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"state":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zipCode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"country":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pic>
        <p:nvPicPr>
          <p:cNvPr id="9" name="Picture 8" descr="A screenshot of a cell phone&#10;&#10;Description automatically generated">
            <a:extLst>
              <a:ext uri="{FF2B5EF4-FFF2-40B4-BE49-F238E27FC236}">
                <a16:creationId xmlns:a16="http://schemas.microsoft.com/office/drawing/2014/main" id="{8A61165A-39BD-44C0-9E79-932D96765188}"/>
              </a:ext>
            </a:extLst>
          </p:cNvPr>
          <p:cNvPicPr>
            <a:picLocks noChangeAspect="1"/>
          </p:cNvPicPr>
          <p:nvPr/>
        </p:nvPicPr>
        <p:blipFill>
          <a:blip r:embed="rId3"/>
          <a:stretch>
            <a:fillRect/>
          </a:stretch>
        </p:blipFill>
        <p:spPr>
          <a:xfrm>
            <a:off x="1755941" y="2400092"/>
            <a:ext cx="4882737" cy="2242316"/>
          </a:xfrm>
          <a:prstGeom prst="rect">
            <a:avLst/>
          </a:prstGeom>
        </p:spPr>
      </p:pic>
      <p:sp>
        <p:nvSpPr>
          <p:cNvPr id="14" name="Rectangle 13">
            <a:extLst>
              <a:ext uri="{FF2B5EF4-FFF2-40B4-BE49-F238E27FC236}">
                <a16:creationId xmlns:a16="http://schemas.microsoft.com/office/drawing/2014/main" id="{D0A220E3-F21E-407F-A26A-737765870C9F}"/>
              </a:ext>
            </a:extLst>
          </p:cNvPr>
          <p:cNvSpPr/>
          <p:nvPr/>
        </p:nvSpPr>
        <p:spPr bwMode="auto">
          <a:xfrm>
            <a:off x="7732114" y="3346192"/>
            <a:ext cx="2287786" cy="17120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48B05841-BB00-4041-9373-407359568B3D}"/>
              </a:ext>
            </a:extLst>
          </p:cNvPr>
          <p:cNvSpPr/>
          <p:nvPr/>
        </p:nvSpPr>
        <p:spPr bwMode="auto">
          <a:xfrm>
            <a:off x="7732114" y="5058276"/>
            <a:ext cx="2287786" cy="847725"/>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333753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Folded Corner 3">
            <a:extLst>
              <a:ext uri="{FF2B5EF4-FFF2-40B4-BE49-F238E27FC236}">
                <a16:creationId xmlns:a16="http://schemas.microsoft.com/office/drawing/2014/main" id="{5CB426B0-3E6B-4921-9A61-D24FA6B3B5D9}"/>
              </a:ext>
            </a:extLst>
          </p:cNvPr>
          <p:cNvSpPr/>
          <p:nvPr/>
        </p:nvSpPr>
        <p:spPr bwMode="auto">
          <a:xfrm>
            <a:off x="7185503" y="2893814"/>
            <a:ext cx="2099830" cy="2450938"/>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"state":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zipCode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"country":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2" name="Title 1">
            <a:extLst>
              <a:ext uri="{FF2B5EF4-FFF2-40B4-BE49-F238E27FC236}">
                <a16:creationId xmlns:a16="http://schemas.microsoft.com/office/drawing/2014/main" id="{60405A6F-EC68-44F4-8645-8F295C1792F5}"/>
              </a:ext>
            </a:extLst>
          </p:cNvPr>
          <p:cNvSpPr>
            <a:spLocks noGrp="1"/>
          </p:cNvSpPr>
          <p:nvPr>
            <p:ph type="title"/>
          </p:nvPr>
        </p:nvSpPr>
        <p:spPr/>
        <p:txBody>
          <a:bodyPr/>
          <a:lstStyle/>
          <a:p>
            <a:r>
              <a:rPr lang="en-US" dirty="0"/>
              <a:t>To embed or to reference?</a:t>
            </a:r>
          </a:p>
        </p:txBody>
      </p:sp>
      <p:sp>
        <p:nvSpPr>
          <p:cNvPr id="3" name="Rectangle: Folded Corner 2">
            <a:extLst>
              <a:ext uri="{FF2B5EF4-FFF2-40B4-BE49-F238E27FC236}">
                <a16:creationId xmlns:a16="http://schemas.microsoft.com/office/drawing/2014/main" id="{B880A13F-B563-4B37-8F57-23399D1728F9}"/>
              </a:ext>
            </a:extLst>
          </p:cNvPr>
          <p:cNvSpPr/>
          <p:nvPr/>
        </p:nvSpPr>
        <p:spPr bwMode="auto">
          <a:xfrm>
            <a:off x="4863822" y="1519179"/>
            <a:ext cx="2235822" cy="220787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5" name="Rectangle: Folded Corner 4">
            <a:extLst>
              <a:ext uri="{FF2B5EF4-FFF2-40B4-BE49-F238E27FC236}">
                <a16:creationId xmlns:a16="http://schemas.microsoft.com/office/drawing/2014/main" id="{59BC2036-3682-4597-A724-2797EC8ED8E1}"/>
              </a:ext>
            </a:extLst>
          </p:cNvPr>
          <p:cNvSpPr/>
          <p:nvPr/>
        </p:nvSpPr>
        <p:spPr bwMode="auto">
          <a:xfrm>
            <a:off x="9371192" y="4535971"/>
            <a:ext cx="2099831" cy="157126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3" name="Rectangle: Folded Corner 12">
            <a:extLst>
              <a:ext uri="{FF2B5EF4-FFF2-40B4-BE49-F238E27FC236}">
                <a16:creationId xmlns:a16="http://schemas.microsoft.com/office/drawing/2014/main" id="{FEF50A02-B6A1-46BF-9663-C65EACFAE4B6}"/>
              </a:ext>
            </a:extLst>
          </p:cNvPr>
          <p:cNvSpPr/>
          <p:nvPr/>
        </p:nvSpPr>
        <p:spPr bwMode="auto">
          <a:xfrm>
            <a:off x="1110665" y="1519179"/>
            <a:ext cx="2235822" cy="471932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"state":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zipCode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"country":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28373205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DE0D-EA65-457F-8289-31D11E1B817A}"/>
              </a:ext>
            </a:extLst>
          </p:cNvPr>
          <p:cNvSpPr>
            <a:spLocks noGrp="1"/>
          </p:cNvSpPr>
          <p:nvPr>
            <p:ph type="title"/>
          </p:nvPr>
        </p:nvSpPr>
        <p:spPr/>
        <p:txBody>
          <a:bodyPr/>
          <a:lstStyle/>
          <a:p>
            <a:r>
              <a:rPr lang="en-US" dirty="0"/>
              <a:t>To embed or to reference?</a:t>
            </a:r>
          </a:p>
        </p:txBody>
      </p:sp>
      <p:sp>
        <p:nvSpPr>
          <p:cNvPr id="3" name="Text Placeholder 2">
            <a:extLst>
              <a:ext uri="{FF2B5EF4-FFF2-40B4-BE49-F238E27FC236}">
                <a16:creationId xmlns:a16="http://schemas.microsoft.com/office/drawing/2014/main" id="{646CB911-0A81-44F3-BF6D-4877A675B41F}"/>
              </a:ext>
            </a:extLst>
          </p:cNvPr>
          <p:cNvSpPr>
            <a:spLocks noGrp="1"/>
          </p:cNvSpPr>
          <p:nvPr>
            <p:ph type="body" sz="quarter" idx="10"/>
          </p:nvPr>
        </p:nvSpPr>
        <p:spPr>
          <a:xfrm>
            <a:off x="584200" y="1435100"/>
            <a:ext cx="5212080" cy="2616101"/>
          </a:xfrm>
        </p:spPr>
        <p:txBody>
          <a:bodyPr/>
          <a:lstStyle/>
          <a:p>
            <a:r>
              <a:rPr lang="en-US" dirty="0"/>
              <a:t>Embed when:</a:t>
            </a:r>
          </a:p>
          <a:p>
            <a:pPr marL="457200" indent="-457200">
              <a:buFontTx/>
              <a:buChar char="-"/>
            </a:pPr>
            <a:r>
              <a:rPr lang="en-US" dirty="0"/>
              <a:t>1:1 relationship</a:t>
            </a:r>
          </a:p>
          <a:p>
            <a:pPr marL="457200" indent="-457200">
              <a:buFontTx/>
              <a:buChar char="-"/>
            </a:pPr>
            <a:r>
              <a:rPr lang="en-US" dirty="0"/>
              <a:t>1:few relationship</a:t>
            </a:r>
          </a:p>
          <a:p>
            <a:pPr marL="457200" indent="-457200">
              <a:buFontTx/>
              <a:buChar char="-"/>
            </a:pPr>
            <a:r>
              <a:rPr lang="en-US" dirty="0"/>
              <a:t>Related items are queried or updated together</a:t>
            </a:r>
          </a:p>
        </p:txBody>
      </p:sp>
      <p:sp>
        <p:nvSpPr>
          <p:cNvPr id="4" name="Text Placeholder 3">
            <a:extLst>
              <a:ext uri="{FF2B5EF4-FFF2-40B4-BE49-F238E27FC236}">
                <a16:creationId xmlns:a16="http://schemas.microsoft.com/office/drawing/2014/main" id="{4739E2D8-D1E0-4AE7-AAA4-E70E9CBFA68A}"/>
              </a:ext>
            </a:extLst>
          </p:cNvPr>
          <p:cNvSpPr>
            <a:spLocks noGrp="1"/>
          </p:cNvSpPr>
          <p:nvPr>
            <p:ph type="body" sz="quarter" idx="12"/>
          </p:nvPr>
        </p:nvSpPr>
        <p:spPr>
          <a:xfrm>
            <a:off x="6397171" y="1435100"/>
            <a:ext cx="5212080" cy="3631763"/>
          </a:xfrm>
        </p:spPr>
        <p:txBody>
          <a:bodyPr/>
          <a:lstStyle/>
          <a:p>
            <a:r>
              <a:rPr lang="en-US" dirty="0"/>
              <a:t>Reference when:</a:t>
            </a:r>
          </a:p>
          <a:p>
            <a:pPr marL="457200" indent="-457200">
              <a:buFontTx/>
              <a:buChar char="-"/>
            </a:pPr>
            <a:r>
              <a:rPr lang="en-US" dirty="0"/>
              <a:t>1:many relationship (especially if unbounded)</a:t>
            </a:r>
          </a:p>
          <a:p>
            <a:pPr marL="457200" indent="-457200">
              <a:buFontTx/>
              <a:buChar char="-"/>
            </a:pPr>
            <a:r>
              <a:rPr lang="en-US" dirty="0" err="1"/>
              <a:t>Many:many</a:t>
            </a:r>
            <a:r>
              <a:rPr lang="en-US" dirty="0"/>
              <a:t> relationship</a:t>
            </a:r>
          </a:p>
          <a:p>
            <a:pPr marL="457200" indent="-457200">
              <a:buFontTx/>
              <a:buChar char="-"/>
            </a:pPr>
            <a:r>
              <a:rPr lang="en-US" dirty="0"/>
              <a:t>Related items are queried or updated independently</a:t>
            </a:r>
          </a:p>
          <a:p>
            <a:pPr marL="457200" indent="-457200">
              <a:buFontTx/>
              <a:buChar char="-"/>
            </a:pPr>
            <a:endParaRPr lang="en-US" dirty="0"/>
          </a:p>
        </p:txBody>
      </p:sp>
    </p:spTree>
    <p:extLst>
      <p:ext uri="{BB962C8B-B14F-4D97-AF65-F5344CB8AC3E}">
        <p14:creationId xmlns:p14="http://schemas.microsoft.com/office/powerpoint/2010/main" val="1764566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lstStyle/>
          <a:p>
            <a:r>
              <a:rPr lang="en-US" dirty="0"/>
              <a:t>Our first entity: Customer</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4520889" y="1266373"/>
            <a:ext cx="3150221" cy="525176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firstName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lastName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emailAddress</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phoneNumber</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creationDate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261911326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lstStyle/>
          <a:p>
            <a:r>
              <a:rPr lang="en-US" dirty="0"/>
              <a:t>Customer</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7067320" y="1266373"/>
            <a:ext cx="3150221" cy="525176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firstName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lastName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emailAddress</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phoneNumber</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creationDate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1007" y="281043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5" name="Connector: Elbow 4">
            <a:extLst>
              <a:ext uri="{FF2B5EF4-FFF2-40B4-BE49-F238E27FC236}">
                <a16:creationId xmlns:a16="http://schemas.microsoft.com/office/drawing/2014/main" id="{D6F4F9CD-520B-4D3C-A28E-490AD9D2570D}"/>
              </a:ext>
            </a:extLst>
          </p:cNvPr>
          <p:cNvCxnSpPr>
            <a:cxnSpLocks/>
            <a:stCxn id="4" idx="4"/>
            <a:endCxn id="3" idx="1"/>
          </p:cNvCxnSpPr>
          <p:nvPr/>
        </p:nvCxnSpPr>
        <p:spPr>
          <a:xfrm>
            <a:off x="4053590" y="3429000"/>
            <a:ext cx="3013730" cy="46325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1138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6" name="Picture 5" descr="A close up of a logo&#10;&#10;Description automatically generated">
            <a:extLst>
              <a:ext uri="{FF2B5EF4-FFF2-40B4-BE49-F238E27FC236}">
                <a16:creationId xmlns:a16="http://schemas.microsoft.com/office/drawing/2014/main" id="{00864BF3-87AF-4A18-95EC-99EBC3F01862}"/>
              </a:ext>
            </a:extLst>
          </p:cNvPr>
          <p:cNvPicPr>
            <a:picLocks noChangeAspect="1"/>
          </p:cNvPicPr>
          <p:nvPr/>
        </p:nvPicPr>
        <p:blipFill>
          <a:blip r:embed="rId3">
            <a:duotone>
              <a:schemeClr val="accent2">
                <a:shade val="45000"/>
                <a:satMod val="135000"/>
              </a:schemeClr>
              <a:prstClr val="white"/>
            </a:duotone>
          </a:blip>
          <a:stretch>
            <a:fillRect/>
          </a:stretch>
        </p:blipFill>
        <p:spPr>
          <a:xfrm>
            <a:off x="757881" y="4078101"/>
            <a:ext cx="1013255" cy="372055"/>
          </a:xfrm>
          <a:prstGeom prst="rect">
            <a:avLst/>
          </a:prstGeom>
        </p:spPr>
      </p:pic>
      <p:pic>
        <p:nvPicPr>
          <p:cNvPr id="9" name="Picture 8" descr="A close up of a logo&#10;&#10;Description automatically generated">
            <a:extLst>
              <a:ext uri="{FF2B5EF4-FFF2-40B4-BE49-F238E27FC236}">
                <a16:creationId xmlns:a16="http://schemas.microsoft.com/office/drawing/2014/main" id="{8CED9260-9412-4B36-85E2-2C94995BB51B}"/>
              </a:ext>
            </a:extLst>
          </p:cNvPr>
          <p:cNvPicPr>
            <a:picLocks noChangeAspect="1"/>
          </p:cNvPicPr>
          <p:nvPr/>
        </p:nvPicPr>
        <p:blipFill>
          <a:blip r:embed="rId3">
            <a:duotone>
              <a:schemeClr val="accent2">
                <a:shade val="45000"/>
                <a:satMod val="135000"/>
              </a:schemeClr>
              <a:prstClr val="white"/>
            </a:duotone>
          </a:blip>
          <a:stretch>
            <a:fillRect/>
          </a:stretch>
        </p:blipFill>
        <p:spPr>
          <a:xfrm>
            <a:off x="2368379" y="4078101"/>
            <a:ext cx="1013255" cy="372055"/>
          </a:xfrm>
          <a:prstGeom prst="rect">
            <a:avLst/>
          </a:prstGeom>
        </p:spPr>
      </p:pic>
      <p:pic>
        <p:nvPicPr>
          <p:cNvPr id="12" name="Picture 11" descr="A close up of a logo&#10;&#10;Description automatically generated">
            <a:extLst>
              <a:ext uri="{FF2B5EF4-FFF2-40B4-BE49-F238E27FC236}">
                <a16:creationId xmlns:a16="http://schemas.microsoft.com/office/drawing/2014/main" id="{26E1CE3F-B73C-4E5A-B109-C0A6014651FC}"/>
              </a:ext>
            </a:extLst>
          </p:cNvPr>
          <p:cNvPicPr>
            <a:picLocks noChangeAspect="1"/>
          </p:cNvPicPr>
          <p:nvPr/>
        </p:nvPicPr>
        <p:blipFill>
          <a:blip r:embed="rId3">
            <a:duotone>
              <a:schemeClr val="accent2">
                <a:shade val="45000"/>
                <a:satMod val="135000"/>
              </a:schemeClr>
              <a:prstClr val="white"/>
            </a:duotone>
          </a:blip>
          <a:stretch>
            <a:fillRect/>
          </a:stretch>
        </p:blipFill>
        <p:spPr>
          <a:xfrm>
            <a:off x="3978875" y="4078101"/>
            <a:ext cx="1013255" cy="372055"/>
          </a:xfrm>
          <a:prstGeom prst="rect">
            <a:avLst/>
          </a:prstGeom>
        </p:spPr>
      </p:pic>
      <p:pic>
        <p:nvPicPr>
          <p:cNvPr id="15" name="Picture 14" descr="A close up of a logo&#10;&#10;Description automatically generated">
            <a:extLst>
              <a:ext uri="{FF2B5EF4-FFF2-40B4-BE49-F238E27FC236}">
                <a16:creationId xmlns:a16="http://schemas.microsoft.com/office/drawing/2014/main" id="{88B47630-55FA-445A-91B1-E39B7FF303DB}"/>
              </a:ext>
            </a:extLst>
          </p:cNvPr>
          <p:cNvPicPr>
            <a:picLocks noChangeAspect="1"/>
          </p:cNvPicPr>
          <p:nvPr/>
        </p:nvPicPr>
        <p:blipFill>
          <a:blip r:embed="rId3">
            <a:duotone>
              <a:schemeClr val="accent2">
                <a:shade val="45000"/>
                <a:satMod val="135000"/>
              </a:schemeClr>
              <a:prstClr val="white"/>
            </a:duotone>
          </a:blip>
          <a:stretch>
            <a:fillRect/>
          </a:stretch>
        </p:blipFill>
        <p:spPr>
          <a:xfrm>
            <a:off x="5589372" y="4078101"/>
            <a:ext cx="1013255" cy="372055"/>
          </a:xfrm>
          <a:prstGeom prst="rect">
            <a:avLst/>
          </a:prstGeom>
        </p:spPr>
      </p:pic>
      <p:pic>
        <p:nvPicPr>
          <p:cNvPr id="18" name="Picture 17" descr="A close up of a logo&#10;&#10;Description automatically generated">
            <a:extLst>
              <a:ext uri="{FF2B5EF4-FFF2-40B4-BE49-F238E27FC236}">
                <a16:creationId xmlns:a16="http://schemas.microsoft.com/office/drawing/2014/main" id="{2568D1E9-3E3C-4DEA-9041-C805757FA26B}"/>
              </a:ext>
            </a:extLst>
          </p:cNvPr>
          <p:cNvPicPr>
            <a:picLocks noChangeAspect="1"/>
          </p:cNvPicPr>
          <p:nvPr/>
        </p:nvPicPr>
        <p:blipFill>
          <a:blip r:embed="rId3">
            <a:duotone>
              <a:schemeClr val="accent2">
                <a:shade val="45000"/>
                <a:satMod val="135000"/>
              </a:schemeClr>
              <a:prstClr val="white"/>
            </a:duotone>
          </a:blip>
          <a:stretch>
            <a:fillRect/>
          </a:stretch>
        </p:blipFill>
        <p:spPr>
          <a:xfrm>
            <a:off x="7199869" y="4078101"/>
            <a:ext cx="1013255" cy="372055"/>
          </a:xfrm>
          <a:prstGeom prst="rect">
            <a:avLst/>
          </a:prstGeom>
        </p:spPr>
      </p:pic>
      <p:pic>
        <p:nvPicPr>
          <p:cNvPr id="21" name="Picture 20" descr="A close up of a logo&#10;&#10;Description automatically generated">
            <a:extLst>
              <a:ext uri="{FF2B5EF4-FFF2-40B4-BE49-F238E27FC236}">
                <a16:creationId xmlns:a16="http://schemas.microsoft.com/office/drawing/2014/main" id="{C53BD7A9-D3C2-46B5-859D-FEFC0E91F7A4}"/>
              </a:ext>
            </a:extLst>
          </p:cNvPr>
          <p:cNvPicPr>
            <a:picLocks noChangeAspect="1"/>
          </p:cNvPicPr>
          <p:nvPr/>
        </p:nvPicPr>
        <p:blipFill>
          <a:blip r:embed="rId3">
            <a:duotone>
              <a:schemeClr val="accent2">
                <a:shade val="45000"/>
                <a:satMod val="135000"/>
              </a:schemeClr>
              <a:prstClr val="white"/>
            </a:duotone>
          </a:blip>
          <a:stretch>
            <a:fillRect/>
          </a:stretch>
        </p:blipFill>
        <p:spPr>
          <a:xfrm>
            <a:off x="8810366" y="4075261"/>
            <a:ext cx="1013255" cy="372055"/>
          </a:xfrm>
          <a:prstGeom prst="rect">
            <a:avLst/>
          </a:prstGeom>
        </p:spPr>
      </p:pic>
      <p:pic>
        <p:nvPicPr>
          <p:cNvPr id="24" name="Picture 23" descr="A close up of a logo&#10;&#10;Description automatically generated">
            <a:extLst>
              <a:ext uri="{FF2B5EF4-FFF2-40B4-BE49-F238E27FC236}">
                <a16:creationId xmlns:a16="http://schemas.microsoft.com/office/drawing/2014/main" id="{BD9D0AC0-950A-4D11-9A88-9FF37BC133C9}"/>
              </a:ext>
            </a:extLst>
          </p:cNvPr>
          <p:cNvPicPr>
            <a:picLocks noChangeAspect="1"/>
          </p:cNvPicPr>
          <p:nvPr/>
        </p:nvPicPr>
        <p:blipFill>
          <a:blip r:embed="rId3">
            <a:duotone>
              <a:schemeClr val="accent2">
                <a:shade val="45000"/>
                <a:satMod val="135000"/>
              </a:schemeClr>
              <a:prstClr val="white"/>
            </a:duotone>
          </a:blip>
          <a:stretch>
            <a:fillRect/>
          </a:stretch>
        </p:blipFill>
        <p:spPr>
          <a:xfrm>
            <a:off x="10420863" y="4080769"/>
            <a:ext cx="1013255" cy="372055"/>
          </a:xfrm>
          <a:prstGeom prst="rect">
            <a:avLst/>
          </a:prstGeom>
        </p:spPr>
      </p:pic>
      <p:sp>
        <p:nvSpPr>
          <p:cNvPr id="27" name="Arrow: Up-Down 26">
            <a:extLst>
              <a:ext uri="{FF2B5EF4-FFF2-40B4-BE49-F238E27FC236}">
                <a16:creationId xmlns:a16="http://schemas.microsoft.com/office/drawing/2014/main" id="{EFFD7E21-FEF0-43DD-BE12-0744A5AF65E9}"/>
              </a:ext>
            </a:extLst>
          </p:cNvPr>
          <p:cNvSpPr/>
          <p:nvPr/>
        </p:nvSpPr>
        <p:spPr bwMode="auto">
          <a:xfrm>
            <a:off x="5886450" y="3112973"/>
            <a:ext cx="419100" cy="95250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Cylinder 27">
            <a:extLst>
              <a:ext uri="{FF2B5EF4-FFF2-40B4-BE49-F238E27FC236}">
                <a16:creationId xmlns:a16="http://schemas.microsoft.com/office/drawing/2014/main" id="{0BFDFCCD-B8CB-411C-861B-AF2C3466E421}"/>
              </a:ext>
            </a:extLst>
          </p:cNvPr>
          <p:cNvSpPr/>
          <p:nvPr/>
        </p:nvSpPr>
        <p:spPr bwMode="auto">
          <a:xfrm>
            <a:off x="5589373" y="2535839"/>
            <a:ext cx="1013254" cy="121096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9" name="Arrow: Bent-Up 28">
            <a:extLst>
              <a:ext uri="{FF2B5EF4-FFF2-40B4-BE49-F238E27FC236}">
                <a16:creationId xmlns:a16="http://schemas.microsoft.com/office/drawing/2014/main" id="{34E07EBC-5FBF-4EBE-886D-BC7A3D4EE880}"/>
              </a:ext>
            </a:extLst>
          </p:cNvPr>
          <p:cNvSpPr/>
          <p:nvPr/>
        </p:nvSpPr>
        <p:spPr bwMode="auto">
          <a:xfrm rot="10800000">
            <a:off x="4310380" y="3458582"/>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0" name="Arrow: Bent-Up 29">
            <a:extLst>
              <a:ext uri="{FF2B5EF4-FFF2-40B4-BE49-F238E27FC236}">
                <a16:creationId xmlns:a16="http://schemas.microsoft.com/office/drawing/2014/main" id="{D5ABF4BB-C609-4367-B9CF-4FFBE243CB7C}"/>
              </a:ext>
            </a:extLst>
          </p:cNvPr>
          <p:cNvSpPr/>
          <p:nvPr/>
        </p:nvSpPr>
        <p:spPr bwMode="auto">
          <a:xfrm rot="10800000">
            <a:off x="2681494" y="3458582"/>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Arrow: Bent-Up 30">
            <a:extLst>
              <a:ext uri="{FF2B5EF4-FFF2-40B4-BE49-F238E27FC236}">
                <a16:creationId xmlns:a16="http://schemas.microsoft.com/office/drawing/2014/main" id="{871F7B14-9223-43AA-82B0-3DB7EE43A379}"/>
              </a:ext>
            </a:extLst>
          </p:cNvPr>
          <p:cNvSpPr/>
          <p:nvPr/>
        </p:nvSpPr>
        <p:spPr bwMode="auto">
          <a:xfrm rot="10800000">
            <a:off x="1092724" y="3457748"/>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3" name="Arrow: Bent-Up 32">
            <a:extLst>
              <a:ext uri="{FF2B5EF4-FFF2-40B4-BE49-F238E27FC236}">
                <a16:creationId xmlns:a16="http://schemas.microsoft.com/office/drawing/2014/main" id="{D30C15E8-5DBF-41D7-B7AC-9C51240B9468}"/>
              </a:ext>
            </a:extLst>
          </p:cNvPr>
          <p:cNvSpPr/>
          <p:nvPr/>
        </p:nvSpPr>
        <p:spPr bwMode="auto">
          <a:xfrm rot="10800000" flipH="1">
            <a:off x="6185082" y="3457747"/>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4" name="Arrow: Bent-Up 33">
            <a:extLst>
              <a:ext uri="{FF2B5EF4-FFF2-40B4-BE49-F238E27FC236}">
                <a16:creationId xmlns:a16="http://schemas.microsoft.com/office/drawing/2014/main" id="{0EFA08CB-2883-47D9-840B-9F91498EA815}"/>
              </a:ext>
            </a:extLst>
          </p:cNvPr>
          <p:cNvSpPr/>
          <p:nvPr/>
        </p:nvSpPr>
        <p:spPr bwMode="auto">
          <a:xfrm rot="10800000" flipH="1">
            <a:off x="7764256" y="3458672"/>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Arrow: Bent-Up 34">
            <a:extLst>
              <a:ext uri="{FF2B5EF4-FFF2-40B4-BE49-F238E27FC236}">
                <a16:creationId xmlns:a16="http://schemas.microsoft.com/office/drawing/2014/main" id="{A947B3F4-631E-41C7-9F84-240CBEFD982C}"/>
              </a:ext>
            </a:extLst>
          </p:cNvPr>
          <p:cNvSpPr/>
          <p:nvPr/>
        </p:nvSpPr>
        <p:spPr bwMode="auto">
          <a:xfrm rot="10800000" flipH="1">
            <a:off x="9353026" y="3457747"/>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5229E069-8216-4B39-84CB-5D70F215E299}"/>
              </a:ext>
            </a:extLst>
          </p:cNvPr>
          <p:cNvGrpSpPr/>
          <p:nvPr/>
        </p:nvGrpSpPr>
        <p:grpSpPr>
          <a:xfrm>
            <a:off x="5741773" y="2875966"/>
            <a:ext cx="712421" cy="712421"/>
            <a:chOff x="2419350" y="4887768"/>
            <a:chExt cx="883920" cy="883920"/>
          </a:xfrm>
        </p:grpSpPr>
        <p:sp>
          <p:nvSpPr>
            <p:cNvPr id="38" name="Oval 37">
              <a:extLst>
                <a:ext uri="{FF2B5EF4-FFF2-40B4-BE49-F238E27FC236}">
                  <a16:creationId xmlns:a16="http://schemas.microsoft.com/office/drawing/2014/main" id="{C67C66AA-656A-44BE-BCC9-E304B6DC31E8}"/>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9" name="Picture 38">
              <a:extLst>
                <a:ext uri="{FF2B5EF4-FFF2-40B4-BE49-F238E27FC236}">
                  <a16:creationId xmlns:a16="http://schemas.microsoft.com/office/drawing/2014/main" id="{01BA5704-9E04-4D73-8BFC-BAA1B246444C}"/>
                </a:ext>
              </a:extLst>
            </p:cNvPr>
            <p:cNvPicPr>
              <a:picLocks noChangeAspect="1"/>
            </p:cNvPicPr>
            <p:nvPr/>
          </p:nvPicPr>
          <p:blipFill>
            <a:blip r:embed="rId4"/>
            <a:srcRect/>
            <a:stretch/>
          </p:blipFill>
          <p:spPr>
            <a:xfrm>
              <a:off x="2567817" y="5008744"/>
              <a:ext cx="624376" cy="624376"/>
            </a:xfrm>
            <a:prstGeom prst="rect">
              <a:avLst/>
            </a:prstGeom>
          </p:spPr>
        </p:pic>
      </p:grpSp>
    </p:spTree>
    <p:extLst>
      <p:ext uri="{BB962C8B-B14F-4D97-AF65-F5344CB8AC3E}">
        <p14:creationId xmlns:p14="http://schemas.microsoft.com/office/powerpoint/2010/main" val="8305174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up)">
                                      <p:cBhvr>
                                        <p:cTn id="14" dur="500"/>
                                        <p:tgtEl>
                                          <p:spTgt spid="27"/>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up)">
                                      <p:cBhvr>
                                        <p:cTn id="17" dur="500"/>
                                        <p:tgtEl>
                                          <p:spTgt spid="29"/>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up)">
                                      <p:cBhvr>
                                        <p:cTn id="20" dur="500"/>
                                        <p:tgtEl>
                                          <p:spTgt spid="30"/>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up)">
                                      <p:cBhvr>
                                        <p:cTn id="26" dur="500"/>
                                        <p:tgtEl>
                                          <p:spTgt spid="33"/>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up)">
                                      <p:cBhvr>
                                        <p:cTn id="29" dur="500"/>
                                        <p:tgtEl>
                                          <p:spTgt spid="34"/>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up)">
                                      <p:cBhvr>
                                        <p:cTn id="32" dur="500"/>
                                        <p:tgtEl>
                                          <p:spTgt spid="35"/>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10"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3" grpId="0" animBg="1"/>
      <p:bldP spid="34" grpId="0" animBg="1"/>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12" name="Picture 11" descr="A close up of a logo&#10;&#10;Description automatically generated">
            <a:extLst>
              <a:ext uri="{FF2B5EF4-FFF2-40B4-BE49-F238E27FC236}">
                <a16:creationId xmlns:a16="http://schemas.microsoft.com/office/drawing/2014/main" id="{26E1CE3F-B73C-4E5A-B109-C0A6014651FC}"/>
              </a:ext>
            </a:extLst>
          </p:cNvPr>
          <p:cNvPicPr>
            <a:picLocks noChangeAspect="1"/>
          </p:cNvPicPr>
          <p:nvPr/>
        </p:nvPicPr>
        <p:blipFill>
          <a:blip r:embed="rId3">
            <a:duotone>
              <a:schemeClr val="accent2">
                <a:shade val="45000"/>
                <a:satMod val="135000"/>
              </a:schemeClr>
              <a:prstClr val="white"/>
            </a:duotone>
          </a:blip>
          <a:stretch>
            <a:fillRect/>
          </a:stretch>
        </p:blipFill>
        <p:spPr>
          <a:xfrm>
            <a:off x="850246" y="1616909"/>
            <a:ext cx="2948177" cy="1082535"/>
          </a:xfrm>
          <a:prstGeom prst="rect">
            <a:avLst/>
          </a:prstGeom>
        </p:spPr>
      </p:pic>
      <p:sp>
        <p:nvSpPr>
          <p:cNvPr id="36" name="Rectangle: Rounded Corners 35">
            <a:extLst>
              <a:ext uri="{FF2B5EF4-FFF2-40B4-BE49-F238E27FC236}">
                <a16:creationId xmlns:a16="http://schemas.microsoft.com/office/drawing/2014/main" id="{52041003-5CDC-4D48-9F29-AC89E2C796A8}"/>
              </a:ext>
            </a:extLst>
          </p:cNvPr>
          <p:cNvSpPr/>
          <p:nvPr/>
        </p:nvSpPr>
        <p:spPr bwMode="auto">
          <a:xfrm>
            <a:off x="850246" y="1658158"/>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0" name="Picture 39" descr="A close up of a logo&#10;&#10;Description automatically generated">
            <a:extLst>
              <a:ext uri="{FF2B5EF4-FFF2-40B4-BE49-F238E27FC236}">
                <a16:creationId xmlns:a16="http://schemas.microsoft.com/office/drawing/2014/main" id="{0B805668-BAD3-4374-9998-A01841636474}"/>
              </a:ext>
            </a:extLst>
          </p:cNvPr>
          <p:cNvPicPr>
            <a:picLocks noChangeAspect="1"/>
          </p:cNvPicPr>
          <p:nvPr/>
        </p:nvPicPr>
        <p:blipFill>
          <a:blip r:embed="rId3">
            <a:duotone>
              <a:schemeClr val="accent2">
                <a:shade val="45000"/>
                <a:satMod val="135000"/>
              </a:schemeClr>
              <a:prstClr val="white"/>
            </a:duotone>
          </a:blip>
          <a:stretch>
            <a:fillRect/>
          </a:stretch>
        </p:blipFill>
        <p:spPr>
          <a:xfrm>
            <a:off x="4643426" y="1616909"/>
            <a:ext cx="2948177" cy="1082535"/>
          </a:xfrm>
          <a:prstGeom prst="rect">
            <a:avLst/>
          </a:prstGeom>
        </p:spPr>
      </p:pic>
      <p:sp>
        <p:nvSpPr>
          <p:cNvPr id="41" name="Rectangle: Rounded Corners 40">
            <a:extLst>
              <a:ext uri="{FF2B5EF4-FFF2-40B4-BE49-F238E27FC236}">
                <a16:creationId xmlns:a16="http://schemas.microsoft.com/office/drawing/2014/main" id="{9410A4BD-EC1D-42DF-8ABA-728283E6E9B1}"/>
              </a:ext>
            </a:extLst>
          </p:cNvPr>
          <p:cNvSpPr/>
          <p:nvPr/>
        </p:nvSpPr>
        <p:spPr bwMode="auto">
          <a:xfrm>
            <a:off x="4643426" y="1658158"/>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2" name="Picture 41" descr="A close up of a logo&#10;&#10;Description automatically generated">
            <a:extLst>
              <a:ext uri="{FF2B5EF4-FFF2-40B4-BE49-F238E27FC236}">
                <a16:creationId xmlns:a16="http://schemas.microsoft.com/office/drawing/2014/main" id="{1433B87A-88DF-4CCE-AB31-A37349A8C2F2}"/>
              </a:ext>
            </a:extLst>
          </p:cNvPr>
          <p:cNvPicPr>
            <a:picLocks noChangeAspect="1"/>
          </p:cNvPicPr>
          <p:nvPr/>
        </p:nvPicPr>
        <p:blipFill>
          <a:blip r:embed="rId3">
            <a:duotone>
              <a:schemeClr val="accent2">
                <a:shade val="45000"/>
                <a:satMod val="135000"/>
              </a:schemeClr>
              <a:prstClr val="white"/>
            </a:duotone>
          </a:blip>
          <a:stretch>
            <a:fillRect/>
          </a:stretch>
        </p:blipFill>
        <p:spPr>
          <a:xfrm>
            <a:off x="8436607" y="1658158"/>
            <a:ext cx="2948177" cy="1082535"/>
          </a:xfrm>
          <a:prstGeom prst="rect">
            <a:avLst/>
          </a:prstGeom>
        </p:spPr>
      </p:pic>
      <p:sp>
        <p:nvSpPr>
          <p:cNvPr id="43" name="Rectangle: Rounded Corners 42">
            <a:extLst>
              <a:ext uri="{FF2B5EF4-FFF2-40B4-BE49-F238E27FC236}">
                <a16:creationId xmlns:a16="http://schemas.microsoft.com/office/drawing/2014/main" id="{290DE0A6-6FFF-48E7-8BB1-1350D0432094}"/>
              </a:ext>
            </a:extLst>
          </p:cNvPr>
          <p:cNvSpPr/>
          <p:nvPr/>
        </p:nvSpPr>
        <p:spPr bwMode="auto">
          <a:xfrm>
            <a:off x="8436607" y="1699407"/>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4">
            <a:duotone>
              <a:schemeClr val="accent2">
                <a:shade val="45000"/>
                <a:satMod val="135000"/>
              </a:schemeClr>
              <a:prstClr val="white"/>
            </a:duotone>
          </a:blip>
          <a:stretch>
            <a:fillRect/>
          </a:stretch>
        </p:blipFill>
        <p:spPr>
          <a:xfrm>
            <a:off x="1041106" y="2926219"/>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4">
            <a:duotone>
              <a:schemeClr val="accent2">
                <a:shade val="45000"/>
                <a:satMod val="135000"/>
              </a:schemeClr>
              <a:prstClr val="white"/>
            </a:duotone>
          </a:blip>
          <a:stretch>
            <a:fillRect/>
          </a:stretch>
        </p:blipFill>
        <p:spPr>
          <a:xfrm>
            <a:off x="1714440" y="2926219"/>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4">
            <a:duotone>
              <a:schemeClr val="accent2">
                <a:shade val="45000"/>
                <a:satMod val="135000"/>
              </a:schemeClr>
              <a:prstClr val="white"/>
            </a:duotone>
          </a:blip>
          <a:stretch>
            <a:fillRect/>
          </a:stretch>
        </p:blipFill>
        <p:spPr>
          <a:xfrm>
            <a:off x="1041106" y="369015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4">
            <a:duotone>
              <a:schemeClr val="accent2">
                <a:shade val="45000"/>
                <a:satMod val="135000"/>
              </a:schemeClr>
              <a:prstClr val="white"/>
            </a:duotone>
          </a:blip>
          <a:stretch>
            <a:fillRect/>
          </a:stretch>
        </p:blipFill>
        <p:spPr>
          <a:xfrm>
            <a:off x="1714440" y="3690157"/>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4">
            <a:duotone>
              <a:schemeClr val="accent2">
                <a:shade val="45000"/>
                <a:satMod val="135000"/>
              </a:schemeClr>
              <a:prstClr val="white"/>
            </a:duotone>
          </a:blip>
          <a:stretch>
            <a:fillRect/>
          </a:stretch>
        </p:blipFill>
        <p:spPr>
          <a:xfrm>
            <a:off x="1549106" y="4653713"/>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4">
            <a:duotone>
              <a:schemeClr val="accent2">
                <a:shade val="45000"/>
                <a:satMod val="135000"/>
              </a:schemeClr>
              <a:prstClr val="white"/>
            </a:duotone>
          </a:blip>
          <a:stretch>
            <a:fillRect/>
          </a:stretch>
        </p:blipFill>
        <p:spPr>
          <a:xfrm>
            <a:off x="2222440" y="465371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4">
            <a:duotone>
              <a:schemeClr val="accent2">
                <a:shade val="45000"/>
                <a:satMod val="135000"/>
              </a:schemeClr>
              <a:prstClr val="white"/>
            </a:duotone>
          </a:blip>
          <a:stretch>
            <a:fillRect/>
          </a:stretch>
        </p:blipFill>
        <p:spPr>
          <a:xfrm>
            <a:off x="2895774" y="4653713"/>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3066352"/>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3066352"/>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3066352"/>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3853409"/>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3853409"/>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3853409"/>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4640466"/>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4640466"/>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4640466"/>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4">
            <a:duotone>
              <a:schemeClr val="accent2">
                <a:shade val="45000"/>
                <a:satMod val="135000"/>
              </a:schemeClr>
              <a:prstClr val="white"/>
            </a:duotone>
          </a:blip>
          <a:stretch>
            <a:fillRect/>
          </a:stretch>
        </p:blipFill>
        <p:spPr>
          <a:xfrm>
            <a:off x="8622892" y="2903100"/>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4">
            <a:duotone>
              <a:schemeClr val="accent2">
                <a:shade val="45000"/>
                <a:satMod val="135000"/>
              </a:schemeClr>
              <a:prstClr val="white"/>
            </a:duotone>
          </a:blip>
          <a:stretch>
            <a:fillRect/>
          </a:stretch>
        </p:blipFill>
        <p:spPr>
          <a:xfrm>
            <a:off x="9296226" y="2903100"/>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4">
            <a:duotone>
              <a:schemeClr val="accent2">
                <a:shade val="45000"/>
                <a:satMod val="135000"/>
              </a:schemeClr>
              <a:prstClr val="white"/>
            </a:duotone>
          </a:blip>
          <a:stretch>
            <a:fillRect/>
          </a:stretch>
        </p:blipFill>
        <p:spPr>
          <a:xfrm>
            <a:off x="9232786" y="3896794"/>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4">
            <a:duotone>
              <a:schemeClr val="accent2">
                <a:shade val="45000"/>
                <a:satMod val="135000"/>
              </a:schemeClr>
              <a:prstClr val="white"/>
            </a:duotone>
          </a:blip>
          <a:stretch>
            <a:fillRect/>
          </a:stretch>
        </p:blipFill>
        <p:spPr>
          <a:xfrm>
            <a:off x="9906120" y="3896794"/>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4">
            <a:duotone>
              <a:schemeClr val="accent2">
                <a:shade val="45000"/>
                <a:satMod val="135000"/>
              </a:schemeClr>
              <a:prstClr val="white"/>
            </a:duotone>
          </a:blip>
          <a:stretch>
            <a:fillRect/>
          </a:stretch>
        </p:blipFill>
        <p:spPr>
          <a:xfrm>
            <a:off x="9906120" y="4832259"/>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4">
            <a:duotone>
              <a:schemeClr val="accent2">
                <a:shade val="45000"/>
                <a:satMod val="135000"/>
              </a:schemeClr>
              <a:prstClr val="white"/>
            </a:duotone>
          </a:blip>
          <a:stretch>
            <a:fillRect/>
          </a:stretch>
        </p:blipFill>
        <p:spPr>
          <a:xfrm>
            <a:off x="10579454" y="4832259"/>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82995" y="2805373"/>
            <a:ext cx="1417305" cy="159108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1509713" y="4550500"/>
            <a:ext cx="2032885" cy="831794"/>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5047082" y="2960801"/>
            <a:ext cx="2097146" cy="242149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8587574" y="280061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199113" y="3789827"/>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870087" y="471635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Box 3">
            <a:extLst>
              <a:ext uri="{FF2B5EF4-FFF2-40B4-BE49-F238E27FC236}">
                <a16:creationId xmlns:a16="http://schemas.microsoft.com/office/drawing/2014/main" id="{D03889F5-2DB1-4CBE-AC11-8EDAAEAB2710}"/>
              </a:ext>
            </a:extLst>
          </p:cNvPr>
          <p:cNvSpPr txBox="1"/>
          <p:nvPr/>
        </p:nvSpPr>
        <p:spPr>
          <a:xfrm>
            <a:off x="4643426" y="6066732"/>
            <a:ext cx="2895279" cy="430887"/>
          </a:xfrm>
          <a:prstGeom prst="rect">
            <a:avLst/>
          </a:prstGeom>
          <a:noFill/>
        </p:spPr>
        <p:txBody>
          <a:bodyPr wrap="square" lIns="0" tIns="0" rIns="0" bIns="0" rtlCol="0">
            <a:spAutoFit/>
          </a:bodyPr>
          <a:lstStyle/>
          <a:p>
            <a:pPr algn="ctr"/>
            <a:r>
              <a:rPr lang="en-US" sz="2800" dirty="0">
                <a:solidFill>
                  <a:schemeClr val="accent2">
                    <a:lumMod val="60000"/>
                    <a:lumOff val="40000"/>
                  </a:schemeClr>
                </a:solidFill>
              </a:rPr>
              <a:t>logical partitions</a:t>
            </a:r>
          </a:p>
        </p:txBody>
      </p:sp>
      <p:cxnSp>
        <p:nvCxnSpPr>
          <p:cNvPr id="32" name="Straight Connector 31">
            <a:extLst>
              <a:ext uri="{FF2B5EF4-FFF2-40B4-BE49-F238E27FC236}">
                <a16:creationId xmlns:a16="http://schemas.microsoft.com/office/drawing/2014/main" id="{233D9F7A-B4E7-4262-A740-42756E2D955A}"/>
              </a:ext>
            </a:extLst>
          </p:cNvPr>
          <p:cNvCxnSpPr>
            <a:stCxn id="4" idx="3"/>
            <a:endCxn id="73" idx="1"/>
          </p:cNvCxnSpPr>
          <p:nvPr/>
        </p:nvCxnSpPr>
        <p:spPr>
          <a:xfrm flipV="1">
            <a:off x="7538705" y="5126130"/>
            <a:ext cx="2331382" cy="1156046"/>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4" name="Straight Connector 73">
            <a:extLst>
              <a:ext uri="{FF2B5EF4-FFF2-40B4-BE49-F238E27FC236}">
                <a16:creationId xmlns:a16="http://schemas.microsoft.com/office/drawing/2014/main" id="{C4C259E6-8EDE-4864-8B32-1AA018EB7D1C}"/>
              </a:ext>
            </a:extLst>
          </p:cNvPr>
          <p:cNvCxnSpPr>
            <a:cxnSpLocks/>
            <a:stCxn id="4" idx="0"/>
            <a:endCxn id="70" idx="2"/>
          </p:cNvCxnSpPr>
          <p:nvPr/>
        </p:nvCxnSpPr>
        <p:spPr>
          <a:xfrm flipV="1">
            <a:off x="6091066" y="5382294"/>
            <a:ext cx="4589" cy="684438"/>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5" name="Straight Connector 74">
            <a:extLst>
              <a:ext uri="{FF2B5EF4-FFF2-40B4-BE49-F238E27FC236}">
                <a16:creationId xmlns:a16="http://schemas.microsoft.com/office/drawing/2014/main" id="{FBA2318B-678A-449D-A98A-49B306D8FE94}"/>
              </a:ext>
            </a:extLst>
          </p:cNvPr>
          <p:cNvCxnSpPr>
            <a:cxnSpLocks/>
            <a:stCxn id="4" idx="1"/>
            <a:endCxn id="69" idx="2"/>
          </p:cNvCxnSpPr>
          <p:nvPr/>
        </p:nvCxnSpPr>
        <p:spPr>
          <a:xfrm flipH="1" flipV="1">
            <a:off x="2526156" y="5382294"/>
            <a:ext cx="2117270" cy="899882"/>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9069545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wipe(up)">
                                      <p:cBhvr>
                                        <p:cTn id="10" dur="500"/>
                                        <p:tgtEl>
                                          <p:spTgt spid="41"/>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up)">
                                      <p:cBhvr>
                                        <p:cTn id="13" dur="500"/>
                                        <p:tgtEl>
                                          <p:spTgt spid="43"/>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additive="base">
                                        <p:cTn id="17" dur="150" fill="hold"/>
                                        <p:tgtEl>
                                          <p:spTgt spid="44"/>
                                        </p:tgtEl>
                                        <p:attrNameLst>
                                          <p:attrName>ppt_x</p:attrName>
                                        </p:attrNameLst>
                                      </p:cBhvr>
                                      <p:tavLst>
                                        <p:tav tm="0">
                                          <p:val>
                                            <p:strVal val="#ppt_x"/>
                                          </p:val>
                                        </p:tav>
                                        <p:tav tm="100000">
                                          <p:val>
                                            <p:strVal val="#ppt_x"/>
                                          </p:val>
                                        </p:tav>
                                      </p:tavLst>
                                    </p:anim>
                                    <p:anim calcmode="lin" valueType="num">
                                      <p:cBhvr additive="base">
                                        <p:cTn id="18" dur="150" fill="hold"/>
                                        <p:tgtEl>
                                          <p:spTgt spid="44"/>
                                        </p:tgtEl>
                                        <p:attrNameLst>
                                          <p:attrName>ppt_y</p:attrName>
                                        </p:attrNameLst>
                                      </p:cBhvr>
                                      <p:tavLst>
                                        <p:tav tm="0">
                                          <p:val>
                                            <p:strVal val="1+#ppt_h/2"/>
                                          </p:val>
                                        </p:tav>
                                        <p:tav tm="100000">
                                          <p:val>
                                            <p:strVal val="#ppt_y"/>
                                          </p:val>
                                        </p:tav>
                                      </p:tavLst>
                                    </p:anim>
                                  </p:childTnLst>
                                </p:cTn>
                              </p:par>
                            </p:childTnLst>
                          </p:cTn>
                        </p:par>
                        <p:par>
                          <p:cTn id="19" fill="hold">
                            <p:stCondLst>
                              <p:cond delay="650"/>
                            </p:stCondLst>
                            <p:childTnLst>
                              <p:par>
                                <p:cTn id="20" presetID="2" presetClass="entr" presetSubtype="4" fill="hold" nodeType="after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additive="base">
                                        <p:cTn id="22" dur="150" fill="hold"/>
                                        <p:tgtEl>
                                          <p:spTgt spid="45"/>
                                        </p:tgtEl>
                                        <p:attrNameLst>
                                          <p:attrName>ppt_x</p:attrName>
                                        </p:attrNameLst>
                                      </p:cBhvr>
                                      <p:tavLst>
                                        <p:tav tm="0">
                                          <p:val>
                                            <p:strVal val="#ppt_x"/>
                                          </p:val>
                                        </p:tav>
                                        <p:tav tm="100000">
                                          <p:val>
                                            <p:strVal val="#ppt_x"/>
                                          </p:val>
                                        </p:tav>
                                      </p:tavLst>
                                    </p:anim>
                                    <p:anim calcmode="lin" valueType="num">
                                      <p:cBhvr additive="base">
                                        <p:cTn id="23" dur="150" fill="hold"/>
                                        <p:tgtEl>
                                          <p:spTgt spid="45"/>
                                        </p:tgtEl>
                                        <p:attrNameLst>
                                          <p:attrName>ppt_y</p:attrName>
                                        </p:attrNameLst>
                                      </p:cBhvr>
                                      <p:tavLst>
                                        <p:tav tm="0">
                                          <p:val>
                                            <p:strVal val="1+#ppt_h/2"/>
                                          </p:val>
                                        </p:tav>
                                        <p:tav tm="100000">
                                          <p:val>
                                            <p:strVal val="#ppt_y"/>
                                          </p:val>
                                        </p:tav>
                                      </p:tavLst>
                                    </p:anim>
                                  </p:childTnLst>
                                </p:cTn>
                              </p:par>
                            </p:childTnLst>
                          </p:cTn>
                        </p:par>
                        <p:par>
                          <p:cTn id="24" fill="hold">
                            <p:stCondLst>
                              <p:cond delay="800"/>
                            </p:stCondLst>
                            <p:childTnLst>
                              <p:par>
                                <p:cTn id="25" presetID="2" presetClass="entr" presetSubtype="4"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150" fill="hold"/>
                                        <p:tgtEl>
                                          <p:spTgt spid="51"/>
                                        </p:tgtEl>
                                        <p:attrNameLst>
                                          <p:attrName>ppt_x</p:attrName>
                                        </p:attrNameLst>
                                      </p:cBhvr>
                                      <p:tavLst>
                                        <p:tav tm="0">
                                          <p:val>
                                            <p:strVal val="#ppt_x"/>
                                          </p:val>
                                        </p:tav>
                                        <p:tav tm="100000">
                                          <p:val>
                                            <p:strVal val="#ppt_x"/>
                                          </p:val>
                                        </p:tav>
                                      </p:tavLst>
                                    </p:anim>
                                    <p:anim calcmode="lin" valueType="num">
                                      <p:cBhvr additive="base">
                                        <p:cTn id="28" dur="150" fill="hold"/>
                                        <p:tgtEl>
                                          <p:spTgt spid="51"/>
                                        </p:tgtEl>
                                        <p:attrNameLst>
                                          <p:attrName>ppt_y</p:attrName>
                                        </p:attrNameLst>
                                      </p:cBhvr>
                                      <p:tavLst>
                                        <p:tav tm="0">
                                          <p:val>
                                            <p:strVal val="1+#ppt_h/2"/>
                                          </p:val>
                                        </p:tav>
                                        <p:tav tm="100000">
                                          <p:val>
                                            <p:strVal val="#ppt_y"/>
                                          </p:val>
                                        </p:tav>
                                      </p:tavLst>
                                    </p:anim>
                                  </p:childTnLst>
                                </p:cTn>
                              </p:par>
                            </p:childTnLst>
                          </p:cTn>
                        </p:par>
                        <p:par>
                          <p:cTn id="29" fill="hold">
                            <p:stCondLst>
                              <p:cond delay="950"/>
                            </p:stCondLst>
                            <p:childTnLst>
                              <p:par>
                                <p:cTn id="30" presetID="2" presetClass="entr" presetSubtype="4" fill="hold" nodeType="afterEffect">
                                  <p:stCondLst>
                                    <p:cond delay="0"/>
                                  </p:stCondLst>
                                  <p:childTnLst>
                                    <p:set>
                                      <p:cBhvr>
                                        <p:cTn id="31" dur="1" fill="hold">
                                          <p:stCondLst>
                                            <p:cond delay="0"/>
                                          </p:stCondLst>
                                        </p:cTn>
                                        <p:tgtEl>
                                          <p:spTgt spid="60"/>
                                        </p:tgtEl>
                                        <p:attrNameLst>
                                          <p:attrName>style.visibility</p:attrName>
                                        </p:attrNameLst>
                                      </p:cBhvr>
                                      <p:to>
                                        <p:strVal val="visible"/>
                                      </p:to>
                                    </p:set>
                                    <p:anim calcmode="lin" valueType="num">
                                      <p:cBhvr additive="base">
                                        <p:cTn id="32" dur="150" fill="hold"/>
                                        <p:tgtEl>
                                          <p:spTgt spid="60"/>
                                        </p:tgtEl>
                                        <p:attrNameLst>
                                          <p:attrName>ppt_x</p:attrName>
                                        </p:attrNameLst>
                                      </p:cBhvr>
                                      <p:tavLst>
                                        <p:tav tm="0">
                                          <p:val>
                                            <p:strVal val="#ppt_x"/>
                                          </p:val>
                                        </p:tav>
                                        <p:tav tm="100000">
                                          <p:val>
                                            <p:strVal val="#ppt_x"/>
                                          </p:val>
                                        </p:tav>
                                      </p:tavLst>
                                    </p:anim>
                                    <p:anim calcmode="lin" valueType="num">
                                      <p:cBhvr additive="base">
                                        <p:cTn id="33" dur="150" fill="hold"/>
                                        <p:tgtEl>
                                          <p:spTgt spid="60"/>
                                        </p:tgtEl>
                                        <p:attrNameLst>
                                          <p:attrName>ppt_y</p:attrName>
                                        </p:attrNameLst>
                                      </p:cBhvr>
                                      <p:tavLst>
                                        <p:tav tm="0">
                                          <p:val>
                                            <p:strVal val="1+#ppt_h/2"/>
                                          </p:val>
                                        </p:tav>
                                        <p:tav tm="100000">
                                          <p:val>
                                            <p:strVal val="#ppt_y"/>
                                          </p:val>
                                        </p:tav>
                                      </p:tavLst>
                                    </p:anim>
                                  </p:childTnLst>
                                </p:cTn>
                              </p:par>
                            </p:childTnLst>
                          </p:cTn>
                        </p:par>
                        <p:par>
                          <p:cTn id="34" fill="hold">
                            <p:stCondLst>
                              <p:cond delay="1100"/>
                            </p:stCondLst>
                            <p:childTnLst>
                              <p:par>
                                <p:cTn id="35" presetID="2" presetClass="entr" presetSubtype="4" fill="hold" nodeType="after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150" fill="hold"/>
                                        <p:tgtEl>
                                          <p:spTgt spid="48"/>
                                        </p:tgtEl>
                                        <p:attrNameLst>
                                          <p:attrName>ppt_x</p:attrName>
                                        </p:attrNameLst>
                                      </p:cBhvr>
                                      <p:tavLst>
                                        <p:tav tm="0">
                                          <p:val>
                                            <p:strVal val="#ppt_x"/>
                                          </p:val>
                                        </p:tav>
                                        <p:tav tm="100000">
                                          <p:val>
                                            <p:strVal val="#ppt_x"/>
                                          </p:val>
                                        </p:tav>
                                      </p:tavLst>
                                    </p:anim>
                                    <p:anim calcmode="lin" valueType="num">
                                      <p:cBhvr additive="base">
                                        <p:cTn id="38" dur="150" fill="hold"/>
                                        <p:tgtEl>
                                          <p:spTgt spid="48"/>
                                        </p:tgtEl>
                                        <p:attrNameLst>
                                          <p:attrName>ppt_y</p:attrName>
                                        </p:attrNameLst>
                                      </p:cBhvr>
                                      <p:tavLst>
                                        <p:tav tm="0">
                                          <p:val>
                                            <p:strVal val="1+#ppt_h/2"/>
                                          </p:val>
                                        </p:tav>
                                        <p:tav tm="100000">
                                          <p:val>
                                            <p:strVal val="#ppt_y"/>
                                          </p:val>
                                        </p:tav>
                                      </p:tavLst>
                                    </p:anim>
                                  </p:childTnLst>
                                </p:cTn>
                              </p:par>
                            </p:childTnLst>
                          </p:cTn>
                        </p:par>
                        <p:par>
                          <p:cTn id="39" fill="hold">
                            <p:stCondLst>
                              <p:cond delay="1250"/>
                            </p:stCondLst>
                            <p:childTnLst>
                              <p:par>
                                <p:cTn id="40" presetID="2" presetClass="entr" presetSubtype="4" fill="hold" nodeType="afterEffect">
                                  <p:stCondLst>
                                    <p:cond delay="0"/>
                                  </p:stCondLst>
                                  <p:childTnLst>
                                    <p:set>
                                      <p:cBhvr>
                                        <p:cTn id="41" dur="1" fill="hold">
                                          <p:stCondLst>
                                            <p:cond delay="0"/>
                                          </p:stCondLst>
                                        </p:cTn>
                                        <p:tgtEl>
                                          <p:spTgt spid="67"/>
                                        </p:tgtEl>
                                        <p:attrNameLst>
                                          <p:attrName>style.visibility</p:attrName>
                                        </p:attrNameLst>
                                      </p:cBhvr>
                                      <p:to>
                                        <p:strVal val="visible"/>
                                      </p:to>
                                    </p:set>
                                    <p:anim calcmode="lin" valueType="num">
                                      <p:cBhvr additive="base">
                                        <p:cTn id="42" dur="150" fill="hold"/>
                                        <p:tgtEl>
                                          <p:spTgt spid="67"/>
                                        </p:tgtEl>
                                        <p:attrNameLst>
                                          <p:attrName>ppt_x</p:attrName>
                                        </p:attrNameLst>
                                      </p:cBhvr>
                                      <p:tavLst>
                                        <p:tav tm="0">
                                          <p:val>
                                            <p:strVal val="#ppt_x"/>
                                          </p:val>
                                        </p:tav>
                                        <p:tav tm="100000">
                                          <p:val>
                                            <p:strVal val="#ppt_x"/>
                                          </p:val>
                                        </p:tav>
                                      </p:tavLst>
                                    </p:anim>
                                    <p:anim calcmode="lin" valueType="num">
                                      <p:cBhvr additive="base">
                                        <p:cTn id="43" dur="150" fill="hold"/>
                                        <p:tgtEl>
                                          <p:spTgt spid="67"/>
                                        </p:tgtEl>
                                        <p:attrNameLst>
                                          <p:attrName>ppt_y</p:attrName>
                                        </p:attrNameLst>
                                      </p:cBhvr>
                                      <p:tavLst>
                                        <p:tav tm="0">
                                          <p:val>
                                            <p:strVal val="1+#ppt_h/2"/>
                                          </p:val>
                                        </p:tav>
                                        <p:tav tm="100000">
                                          <p:val>
                                            <p:strVal val="#ppt_y"/>
                                          </p:val>
                                        </p:tav>
                                      </p:tavLst>
                                    </p:anim>
                                  </p:childTnLst>
                                </p:cTn>
                              </p:par>
                            </p:childTnLst>
                          </p:cTn>
                        </p:par>
                        <p:par>
                          <p:cTn id="44" fill="hold">
                            <p:stCondLst>
                              <p:cond delay="1400"/>
                            </p:stCondLst>
                            <p:childTnLst>
                              <p:par>
                                <p:cTn id="45" presetID="2" presetClass="entr" presetSubtype="4" fill="hold" nodeType="afterEffect">
                                  <p:stCondLst>
                                    <p:cond delay="0"/>
                                  </p:stCondLst>
                                  <p:childTnLst>
                                    <p:set>
                                      <p:cBhvr>
                                        <p:cTn id="46" dur="1" fill="hold">
                                          <p:stCondLst>
                                            <p:cond delay="0"/>
                                          </p:stCondLst>
                                        </p:cTn>
                                        <p:tgtEl>
                                          <p:spTgt spid="52"/>
                                        </p:tgtEl>
                                        <p:attrNameLst>
                                          <p:attrName>style.visibility</p:attrName>
                                        </p:attrNameLst>
                                      </p:cBhvr>
                                      <p:to>
                                        <p:strVal val="visible"/>
                                      </p:to>
                                    </p:set>
                                    <p:anim calcmode="lin" valueType="num">
                                      <p:cBhvr additive="base">
                                        <p:cTn id="47" dur="150" fill="hold"/>
                                        <p:tgtEl>
                                          <p:spTgt spid="52"/>
                                        </p:tgtEl>
                                        <p:attrNameLst>
                                          <p:attrName>ppt_x</p:attrName>
                                        </p:attrNameLst>
                                      </p:cBhvr>
                                      <p:tavLst>
                                        <p:tav tm="0">
                                          <p:val>
                                            <p:strVal val="#ppt_x"/>
                                          </p:val>
                                        </p:tav>
                                        <p:tav tm="100000">
                                          <p:val>
                                            <p:strVal val="#ppt_x"/>
                                          </p:val>
                                        </p:tav>
                                      </p:tavLst>
                                    </p:anim>
                                    <p:anim calcmode="lin" valueType="num">
                                      <p:cBhvr additive="base">
                                        <p:cTn id="48" dur="150" fill="hold"/>
                                        <p:tgtEl>
                                          <p:spTgt spid="52"/>
                                        </p:tgtEl>
                                        <p:attrNameLst>
                                          <p:attrName>ppt_y</p:attrName>
                                        </p:attrNameLst>
                                      </p:cBhvr>
                                      <p:tavLst>
                                        <p:tav tm="0">
                                          <p:val>
                                            <p:strVal val="1+#ppt_h/2"/>
                                          </p:val>
                                        </p:tav>
                                        <p:tav tm="100000">
                                          <p:val>
                                            <p:strVal val="#ppt_y"/>
                                          </p:val>
                                        </p:tav>
                                      </p:tavLst>
                                    </p:anim>
                                  </p:childTnLst>
                                </p:cTn>
                              </p:par>
                            </p:childTnLst>
                          </p:cTn>
                        </p:par>
                        <p:par>
                          <p:cTn id="49" fill="hold">
                            <p:stCondLst>
                              <p:cond delay="1550"/>
                            </p:stCondLst>
                            <p:childTnLst>
                              <p:par>
                                <p:cTn id="50" presetID="2" presetClass="entr" presetSubtype="4" fill="hold" nodeType="afterEffect">
                                  <p:stCondLst>
                                    <p:cond delay="0"/>
                                  </p:stCondLst>
                                  <p:childTnLst>
                                    <p:set>
                                      <p:cBhvr>
                                        <p:cTn id="51" dur="1" fill="hold">
                                          <p:stCondLst>
                                            <p:cond delay="0"/>
                                          </p:stCondLst>
                                        </p:cTn>
                                        <p:tgtEl>
                                          <p:spTgt spid="53"/>
                                        </p:tgtEl>
                                        <p:attrNameLst>
                                          <p:attrName>style.visibility</p:attrName>
                                        </p:attrNameLst>
                                      </p:cBhvr>
                                      <p:to>
                                        <p:strVal val="visible"/>
                                      </p:to>
                                    </p:set>
                                    <p:anim calcmode="lin" valueType="num">
                                      <p:cBhvr additive="base">
                                        <p:cTn id="52" dur="150" fill="hold"/>
                                        <p:tgtEl>
                                          <p:spTgt spid="53"/>
                                        </p:tgtEl>
                                        <p:attrNameLst>
                                          <p:attrName>ppt_x</p:attrName>
                                        </p:attrNameLst>
                                      </p:cBhvr>
                                      <p:tavLst>
                                        <p:tav tm="0">
                                          <p:val>
                                            <p:strVal val="#ppt_x"/>
                                          </p:val>
                                        </p:tav>
                                        <p:tav tm="100000">
                                          <p:val>
                                            <p:strVal val="#ppt_x"/>
                                          </p:val>
                                        </p:tav>
                                      </p:tavLst>
                                    </p:anim>
                                    <p:anim calcmode="lin" valueType="num">
                                      <p:cBhvr additive="base">
                                        <p:cTn id="53" dur="150" fill="hold"/>
                                        <p:tgtEl>
                                          <p:spTgt spid="53"/>
                                        </p:tgtEl>
                                        <p:attrNameLst>
                                          <p:attrName>ppt_y</p:attrName>
                                        </p:attrNameLst>
                                      </p:cBhvr>
                                      <p:tavLst>
                                        <p:tav tm="0">
                                          <p:val>
                                            <p:strVal val="1+#ppt_h/2"/>
                                          </p:val>
                                        </p:tav>
                                        <p:tav tm="100000">
                                          <p:val>
                                            <p:strVal val="#ppt_y"/>
                                          </p:val>
                                        </p:tav>
                                      </p:tavLst>
                                    </p:anim>
                                  </p:childTnLst>
                                </p:cTn>
                              </p:par>
                            </p:childTnLst>
                          </p:cTn>
                        </p:par>
                        <p:par>
                          <p:cTn id="54" fill="hold">
                            <p:stCondLst>
                              <p:cond delay="1700"/>
                            </p:stCondLst>
                            <p:childTnLst>
                              <p:par>
                                <p:cTn id="55" presetID="2" presetClass="entr" presetSubtype="4" fill="hold" nodeType="after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150" fill="hold"/>
                                        <p:tgtEl>
                                          <p:spTgt spid="46"/>
                                        </p:tgtEl>
                                        <p:attrNameLst>
                                          <p:attrName>ppt_x</p:attrName>
                                        </p:attrNameLst>
                                      </p:cBhvr>
                                      <p:tavLst>
                                        <p:tav tm="0">
                                          <p:val>
                                            <p:strVal val="#ppt_x"/>
                                          </p:val>
                                        </p:tav>
                                        <p:tav tm="100000">
                                          <p:val>
                                            <p:strVal val="#ppt_x"/>
                                          </p:val>
                                        </p:tav>
                                      </p:tavLst>
                                    </p:anim>
                                    <p:anim calcmode="lin" valueType="num">
                                      <p:cBhvr additive="base">
                                        <p:cTn id="58" dur="150" fill="hold"/>
                                        <p:tgtEl>
                                          <p:spTgt spid="46"/>
                                        </p:tgtEl>
                                        <p:attrNameLst>
                                          <p:attrName>ppt_y</p:attrName>
                                        </p:attrNameLst>
                                      </p:cBhvr>
                                      <p:tavLst>
                                        <p:tav tm="0">
                                          <p:val>
                                            <p:strVal val="1+#ppt_h/2"/>
                                          </p:val>
                                        </p:tav>
                                        <p:tav tm="100000">
                                          <p:val>
                                            <p:strVal val="#ppt_y"/>
                                          </p:val>
                                        </p:tav>
                                      </p:tavLst>
                                    </p:anim>
                                  </p:childTnLst>
                                </p:cTn>
                              </p:par>
                            </p:childTnLst>
                          </p:cTn>
                        </p:par>
                        <p:par>
                          <p:cTn id="59" fill="hold">
                            <p:stCondLst>
                              <p:cond delay="1850"/>
                            </p:stCondLst>
                            <p:childTnLst>
                              <p:par>
                                <p:cTn id="60" presetID="2" presetClass="entr" presetSubtype="4" fill="hold" nodeType="afterEffect">
                                  <p:stCondLst>
                                    <p:cond delay="0"/>
                                  </p:stCondLst>
                                  <p:childTnLst>
                                    <p:set>
                                      <p:cBhvr>
                                        <p:cTn id="61" dur="1" fill="hold">
                                          <p:stCondLst>
                                            <p:cond delay="0"/>
                                          </p:stCondLst>
                                        </p:cTn>
                                        <p:tgtEl>
                                          <p:spTgt spid="54"/>
                                        </p:tgtEl>
                                        <p:attrNameLst>
                                          <p:attrName>style.visibility</p:attrName>
                                        </p:attrNameLst>
                                      </p:cBhvr>
                                      <p:to>
                                        <p:strVal val="visible"/>
                                      </p:to>
                                    </p:set>
                                    <p:anim calcmode="lin" valueType="num">
                                      <p:cBhvr additive="base">
                                        <p:cTn id="62" dur="150" fill="hold"/>
                                        <p:tgtEl>
                                          <p:spTgt spid="54"/>
                                        </p:tgtEl>
                                        <p:attrNameLst>
                                          <p:attrName>ppt_x</p:attrName>
                                        </p:attrNameLst>
                                      </p:cBhvr>
                                      <p:tavLst>
                                        <p:tav tm="0">
                                          <p:val>
                                            <p:strVal val="#ppt_x"/>
                                          </p:val>
                                        </p:tav>
                                        <p:tav tm="100000">
                                          <p:val>
                                            <p:strVal val="#ppt_x"/>
                                          </p:val>
                                        </p:tav>
                                      </p:tavLst>
                                    </p:anim>
                                    <p:anim calcmode="lin" valueType="num">
                                      <p:cBhvr additive="base">
                                        <p:cTn id="63" dur="150" fill="hold"/>
                                        <p:tgtEl>
                                          <p:spTgt spid="54"/>
                                        </p:tgtEl>
                                        <p:attrNameLst>
                                          <p:attrName>ppt_y</p:attrName>
                                        </p:attrNameLst>
                                      </p:cBhvr>
                                      <p:tavLst>
                                        <p:tav tm="0">
                                          <p:val>
                                            <p:strVal val="1+#ppt_h/2"/>
                                          </p:val>
                                        </p:tav>
                                        <p:tav tm="100000">
                                          <p:val>
                                            <p:strVal val="#ppt_y"/>
                                          </p:val>
                                        </p:tav>
                                      </p:tavLst>
                                    </p:anim>
                                  </p:childTnLst>
                                </p:cTn>
                              </p:par>
                            </p:childTnLst>
                          </p:cTn>
                        </p:par>
                        <p:par>
                          <p:cTn id="64" fill="hold">
                            <p:stCondLst>
                              <p:cond delay="2000"/>
                            </p:stCondLst>
                            <p:childTnLst>
                              <p:par>
                                <p:cTn id="65" presetID="2" presetClass="entr" presetSubtype="4" fill="hold" nodeType="afterEffect">
                                  <p:stCondLst>
                                    <p:cond delay="0"/>
                                  </p:stCondLst>
                                  <p:childTnLst>
                                    <p:set>
                                      <p:cBhvr>
                                        <p:cTn id="66" dur="1" fill="hold">
                                          <p:stCondLst>
                                            <p:cond delay="0"/>
                                          </p:stCondLst>
                                        </p:cTn>
                                        <p:tgtEl>
                                          <p:spTgt spid="49"/>
                                        </p:tgtEl>
                                        <p:attrNameLst>
                                          <p:attrName>style.visibility</p:attrName>
                                        </p:attrNameLst>
                                      </p:cBhvr>
                                      <p:to>
                                        <p:strVal val="visible"/>
                                      </p:to>
                                    </p:set>
                                    <p:anim calcmode="lin" valueType="num">
                                      <p:cBhvr additive="base">
                                        <p:cTn id="67" dur="150" fill="hold"/>
                                        <p:tgtEl>
                                          <p:spTgt spid="49"/>
                                        </p:tgtEl>
                                        <p:attrNameLst>
                                          <p:attrName>ppt_x</p:attrName>
                                        </p:attrNameLst>
                                      </p:cBhvr>
                                      <p:tavLst>
                                        <p:tav tm="0">
                                          <p:val>
                                            <p:strVal val="#ppt_x"/>
                                          </p:val>
                                        </p:tav>
                                        <p:tav tm="100000">
                                          <p:val>
                                            <p:strVal val="#ppt_x"/>
                                          </p:val>
                                        </p:tav>
                                      </p:tavLst>
                                    </p:anim>
                                    <p:anim calcmode="lin" valueType="num">
                                      <p:cBhvr additive="base">
                                        <p:cTn id="68" dur="150" fill="hold"/>
                                        <p:tgtEl>
                                          <p:spTgt spid="49"/>
                                        </p:tgtEl>
                                        <p:attrNameLst>
                                          <p:attrName>ppt_y</p:attrName>
                                        </p:attrNameLst>
                                      </p:cBhvr>
                                      <p:tavLst>
                                        <p:tav tm="0">
                                          <p:val>
                                            <p:strVal val="1+#ppt_h/2"/>
                                          </p:val>
                                        </p:tav>
                                        <p:tav tm="100000">
                                          <p:val>
                                            <p:strVal val="#ppt_y"/>
                                          </p:val>
                                        </p:tav>
                                      </p:tavLst>
                                    </p:anim>
                                  </p:childTnLst>
                                </p:cTn>
                              </p:par>
                            </p:childTnLst>
                          </p:cTn>
                        </p:par>
                        <p:par>
                          <p:cTn id="69" fill="hold">
                            <p:stCondLst>
                              <p:cond delay="2150"/>
                            </p:stCondLst>
                            <p:childTnLst>
                              <p:par>
                                <p:cTn id="70" presetID="2" presetClass="entr" presetSubtype="4" fill="hold" nodeType="afterEffect">
                                  <p:stCondLst>
                                    <p:cond delay="0"/>
                                  </p:stCondLst>
                                  <p:childTnLst>
                                    <p:set>
                                      <p:cBhvr>
                                        <p:cTn id="71" dur="1" fill="hold">
                                          <p:stCondLst>
                                            <p:cond delay="0"/>
                                          </p:stCondLst>
                                        </p:cTn>
                                        <p:tgtEl>
                                          <p:spTgt spid="61"/>
                                        </p:tgtEl>
                                        <p:attrNameLst>
                                          <p:attrName>style.visibility</p:attrName>
                                        </p:attrNameLst>
                                      </p:cBhvr>
                                      <p:to>
                                        <p:strVal val="visible"/>
                                      </p:to>
                                    </p:set>
                                    <p:anim calcmode="lin" valueType="num">
                                      <p:cBhvr additive="base">
                                        <p:cTn id="72" dur="150" fill="hold"/>
                                        <p:tgtEl>
                                          <p:spTgt spid="61"/>
                                        </p:tgtEl>
                                        <p:attrNameLst>
                                          <p:attrName>ppt_x</p:attrName>
                                        </p:attrNameLst>
                                      </p:cBhvr>
                                      <p:tavLst>
                                        <p:tav tm="0">
                                          <p:val>
                                            <p:strVal val="#ppt_x"/>
                                          </p:val>
                                        </p:tav>
                                        <p:tav tm="100000">
                                          <p:val>
                                            <p:strVal val="#ppt_x"/>
                                          </p:val>
                                        </p:tav>
                                      </p:tavLst>
                                    </p:anim>
                                    <p:anim calcmode="lin" valueType="num">
                                      <p:cBhvr additive="base">
                                        <p:cTn id="73" dur="150" fill="hold"/>
                                        <p:tgtEl>
                                          <p:spTgt spid="61"/>
                                        </p:tgtEl>
                                        <p:attrNameLst>
                                          <p:attrName>ppt_y</p:attrName>
                                        </p:attrNameLst>
                                      </p:cBhvr>
                                      <p:tavLst>
                                        <p:tav tm="0">
                                          <p:val>
                                            <p:strVal val="1+#ppt_h/2"/>
                                          </p:val>
                                        </p:tav>
                                        <p:tav tm="100000">
                                          <p:val>
                                            <p:strVal val="#ppt_y"/>
                                          </p:val>
                                        </p:tav>
                                      </p:tavLst>
                                    </p:anim>
                                  </p:childTnLst>
                                </p:cTn>
                              </p:par>
                            </p:childTnLst>
                          </p:cTn>
                        </p:par>
                        <p:par>
                          <p:cTn id="74" fill="hold">
                            <p:stCondLst>
                              <p:cond delay="2300"/>
                            </p:stCondLst>
                            <p:childTnLst>
                              <p:par>
                                <p:cTn id="75" presetID="2" presetClass="entr" presetSubtype="4" fill="hold" nodeType="afterEffect">
                                  <p:stCondLst>
                                    <p:cond delay="0"/>
                                  </p:stCondLst>
                                  <p:childTnLst>
                                    <p:set>
                                      <p:cBhvr>
                                        <p:cTn id="76" dur="1" fill="hold">
                                          <p:stCondLst>
                                            <p:cond delay="0"/>
                                          </p:stCondLst>
                                        </p:cTn>
                                        <p:tgtEl>
                                          <p:spTgt spid="55"/>
                                        </p:tgtEl>
                                        <p:attrNameLst>
                                          <p:attrName>style.visibility</p:attrName>
                                        </p:attrNameLst>
                                      </p:cBhvr>
                                      <p:to>
                                        <p:strVal val="visible"/>
                                      </p:to>
                                    </p:set>
                                    <p:anim calcmode="lin" valueType="num">
                                      <p:cBhvr additive="base">
                                        <p:cTn id="77" dur="150" fill="hold"/>
                                        <p:tgtEl>
                                          <p:spTgt spid="55"/>
                                        </p:tgtEl>
                                        <p:attrNameLst>
                                          <p:attrName>ppt_x</p:attrName>
                                        </p:attrNameLst>
                                      </p:cBhvr>
                                      <p:tavLst>
                                        <p:tav tm="0">
                                          <p:val>
                                            <p:strVal val="#ppt_x"/>
                                          </p:val>
                                        </p:tav>
                                        <p:tav tm="100000">
                                          <p:val>
                                            <p:strVal val="#ppt_x"/>
                                          </p:val>
                                        </p:tav>
                                      </p:tavLst>
                                    </p:anim>
                                    <p:anim calcmode="lin" valueType="num">
                                      <p:cBhvr additive="base">
                                        <p:cTn id="78" dur="150" fill="hold"/>
                                        <p:tgtEl>
                                          <p:spTgt spid="55"/>
                                        </p:tgtEl>
                                        <p:attrNameLst>
                                          <p:attrName>ppt_y</p:attrName>
                                        </p:attrNameLst>
                                      </p:cBhvr>
                                      <p:tavLst>
                                        <p:tav tm="0">
                                          <p:val>
                                            <p:strVal val="1+#ppt_h/2"/>
                                          </p:val>
                                        </p:tav>
                                        <p:tav tm="100000">
                                          <p:val>
                                            <p:strVal val="#ppt_y"/>
                                          </p:val>
                                        </p:tav>
                                      </p:tavLst>
                                    </p:anim>
                                  </p:childTnLst>
                                </p:cTn>
                              </p:par>
                            </p:childTnLst>
                          </p:cTn>
                        </p:par>
                        <p:par>
                          <p:cTn id="79" fill="hold">
                            <p:stCondLst>
                              <p:cond delay="2450"/>
                            </p:stCondLst>
                            <p:childTnLst>
                              <p:par>
                                <p:cTn id="80" presetID="2" presetClass="entr" presetSubtype="4" fill="hold" nodeType="afterEffect">
                                  <p:stCondLst>
                                    <p:cond delay="0"/>
                                  </p:stCondLst>
                                  <p:childTnLst>
                                    <p:set>
                                      <p:cBhvr>
                                        <p:cTn id="81" dur="1" fill="hold">
                                          <p:stCondLst>
                                            <p:cond delay="0"/>
                                          </p:stCondLst>
                                        </p:cTn>
                                        <p:tgtEl>
                                          <p:spTgt spid="56"/>
                                        </p:tgtEl>
                                        <p:attrNameLst>
                                          <p:attrName>style.visibility</p:attrName>
                                        </p:attrNameLst>
                                      </p:cBhvr>
                                      <p:to>
                                        <p:strVal val="visible"/>
                                      </p:to>
                                    </p:set>
                                    <p:anim calcmode="lin" valueType="num">
                                      <p:cBhvr additive="base">
                                        <p:cTn id="82" dur="150" fill="hold"/>
                                        <p:tgtEl>
                                          <p:spTgt spid="56"/>
                                        </p:tgtEl>
                                        <p:attrNameLst>
                                          <p:attrName>ppt_x</p:attrName>
                                        </p:attrNameLst>
                                      </p:cBhvr>
                                      <p:tavLst>
                                        <p:tav tm="0">
                                          <p:val>
                                            <p:strVal val="#ppt_x"/>
                                          </p:val>
                                        </p:tav>
                                        <p:tav tm="100000">
                                          <p:val>
                                            <p:strVal val="#ppt_x"/>
                                          </p:val>
                                        </p:tav>
                                      </p:tavLst>
                                    </p:anim>
                                    <p:anim calcmode="lin" valueType="num">
                                      <p:cBhvr additive="base">
                                        <p:cTn id="83" dur="150" fill="hold"/>
                                        <p:tgtEl>
                                          <p:spTgt spid="56"/>
                                        </p:tgtEl>
                                        <p:attrNameLst>
                                          <p:attrName>ppt_y</p:attrName>
                                        </p:attrNameLst>
                                      </p:cBhvr>
                                      <p:tavLst>
                                        <p:tav tm="0">
                                          <p:val>
                                            <p:strVal val="1+#ppt_h/2"/>
                                          </p:val>
                                        </p:tav>
                                        <p:tav tm="100000">
                                          <p:val>
                                            <p:strVal val="#ppt_y"/>
                                          </p:val>
                                        </p:tav>
                                      </p:tavLst>
                                    </p:anim>
                                  </p:childTnLst>
                                </p:cTn>
                              </p:par>
                            </p:childTnLst>
                          </p:cTn>
                        </p:par>
                        <p:par>
                          <p:cTn id="84" fill="hold">
                            <p:stCondLst>
                              <p:cond delay="2600"/>
                            </p:stCondLst>
                            <p:childTnLst>
                              <p:par>
                                <p:cTn id="85" presetID="2" presetClass="entr" presetSubtype="4" fill="hold" nodeType="afterEffect">
                                  <p:stCondLst>
                                    <p:cond delay="0"/>
                                  </p:stCondLst>
                                  <p:childTnLst>
                                    <p:set>
                                      <p:cBhvr>
                                        <p:cTn id="86" dur="1" fill="hold">
                                          <p:stCondLst>
                                            <p:cond delay="0"/>
                                          </p:stCondLst>
                                        </p:cTn>
                                        <p:tgtEl>
                                          <p:spTgt spid="47"/>
                                        </p:tgtEl>
                                        <p:attrNameLst>
                                          <p:attrName>style.visibility</p:attrName>
                                        </p:attrNameLst>
                                      </p:cBhvr>
                                      <p:to>
                                        <p:strVal val="visible"/>
                                      </p:to>
                                    </p:set>
                                    <p:anim calcmode="lin" valueType="num">
                                      <p:cBhvr additive="base">
                                        <p:cTn id="87" dur="150" fill="hold"/>
                                        <p:tgtEl>
                                          <p:spTgt spid="47"/>
                                        </p:tgtEl>
                                        <p:attrNameLst>
                                          <p:attrName>ppt_x</p:attrName>
                                        </p:attrNameLst>
                                      </p:cBhvr>
                                      <p:tavLst>
                                        <p:tav tm="0">
                                          <p:val>
                                            <p:strVal val="#ppt_x"/>
                                          </p:val>
                                        </p:tav>
                                        <p:tav tm="100000">
                                          <p:val>
                                            <p:strVal val="#ppt_x"/>
                                          </p:val>
                                        </p:tav>
                                      </p:tavLst>
                                    </p:anim>
                                    <p:anim calcmode="lin" valueType="num">
                                      <p:cBhvr additive="base">
                                        <p:cTn id="88" dur="150" fill="hold"/>
                                        <p:tgtEl>
                                          <p:spTgt spid="47"/>
                                        </p:tgtEl>
                                        <p:attrNameLst>
                                          <p:attrName>ppt_y</p:attrName>
                                        </p:attrNameLst>
                                      </p:cBhvr>
                                      <p:tavLst>
                                        <p:tav tm="0">
                                          <p:val>
                                            <p:strVal val="1+#ppt_h/2"/>
                                          </p:val>
                                        </p:tav>
                                        <p:tav tm="100000">
                                          <p:val>
                                            <p:strVal val="#ppt_y"/>
                                          </p:val>
                                        </p:tav>
                                      </p:tavLst>
                                    </p:anim>
                                  </p:childTnLst>
                                </p:cTn>
                              </p:par>
                            </p:childTnLst>
                          </p:cTn>
                        </p:par>
                        <p:par>
                          <p:cTn id="89" fill="hold">
                            <p:stCondLst>
                              <p:cond delay="2750"/>
                            </p:stCondLst>
                            <p:childTnLst>
                              <p:par>
                                <p:cTn id="90" presetID="2" presetClass="entr" presetSubtype="4" fill="hold" nodeType="afterEffect">
                                  <p:stCondLst>
                                    <p:cond delay="0"/>
                                  </p:stCondLst>
                                  <p:childTnLst>
                                    <p:set>
                                      <p:cBhvr>
                                        <p:cTn id="91" dur="1" fill="hold">
                                          <p:stCondLst>
                                            <p:cond delay="0"/>
                                          </p:stCondLst>
                                        </p:cTn>
                                        <p:tgtEl>
                                          <p:spTgt spid="64"/>
                                        </p:tgtEl>
                                        <p:attrNameLst>
                                          <p:attrName>style.visibility</p:attrName>
                                        </p:attrNameLst>
                                      </p:cBhvr>
                                      <p:to>
                                        <p:strVal val="visible"/>
                                      </p:to>
                                    </p:set>
                                    <p:anim calcmode="lin" valueType="num">
                                      <p:cBhvr additive="base">
                                        <p:cTn id="92" dur="150" fill="hold"/>
                                        <p:tgtEl>
                                          <p:spTgt spid="64"/>
                                        </p:tgtEl>
                                        <p:attrNameLst>
                                          <p:attrName>ppt_x</p:attrName>
                                        </p:attrNameLst>
                                      </p:cBhvr>
                                      <p:tavLst>
                                        <p:tav tm="0">
                                          <p:val>
                                            <p:strVal val="#ppt_x"/>
                                          </p:val>
                                        </p:tav>
                                        <p:tav tm="100000">
                                          <p:val>
                                            <p:strVal val="#ppt_x"/>
                                          </p:val>
                                        </p:tav>
                                      </p:tavLst>
                                    </p:anim>
                                    <p:anim calcmode="lin" valueType="num">
                                      <p:cBhvr additive="base">
                                        <p:cTn id="93" dur="150" fill="hold"/>
                                        <p:tgtEl>
                                          <p:spTgt spid="64"/>
                                        </p:tgtEl>
                                        <p:attrNameLst>
                                          <p:attrName>ppt_y</p:attrName>
                                        </p:attrNameLst>
                                      </p:cBhvr>
                                      <p:tavLst>
                                        <p:tav tm="0">
                                          <p:val>
                                            <p:strVal val="1+#ppt_h/2"/>
                                          </p:val>
                                        </p:tav>
                                        <p:tav tm="100000">
                                          <p:val>
                                            <p:strVal val="#ppt_y"/>
                                          </p:val>
                                        </p:tav>
                                      </p:tavLst>
                                    </p:anim>
                                  </p:childTnLst>
                                </p:cTn>
                              </p:par>
                            </p:childTnLst>
                          </p:cTn>
                        </p:par>
                        <p:par>
                          <p:cTn id="94" fill="hold">
                            <p:stCondLst>
                              <p:cond delay="2900"/>
                            </p:stCondLst>
                            <p:childTnLst>
                              <p:par>
                                <p:cTn id="95" presetID="2" presetClass="entr" presetSubtype="4" fill="hold" nodeType="afterEffect">
                                  <p:stCondLst>
                                    <p:cond delay="0"/>
                                  </p:stCondLst>
                                  <p:childTnLst>
                                    <p:set>
                                      <p:cBhvr>
                                        <p:cTn id="96" dur="1" fill="hold">
                                          <p:stCondLst>
                                            <p:cond delay="0"/>
                                          </p:stCondLst>
                                        </p:cTn>
                                        <p:tgtEl>
                                          <p:spTgt spid="50"/>
                                        </p:tgtEl>
                                        <p:attrNameLst>
                                          <p:attrName>style.visibility</p:attrName>
                                        </p:attrNameLst>
                                      </p:cBhvr>
                                      <p:to>
                                        <p:strVal val="visible"/>
                                      </p:to>
                                    </p:set>
                                    <p:anim calcmode="lin" valueType="num">
                                      <p:cBhvr additive="base">
                                        <p:cTn id="97" dur="150" fill="hold"/>
                                        <p:tgtEl>
                                          <p:spTgt spid="50"/>
                                        </p:tgtEl>
                                        <p:attrNameLst>
                                          <p:attrName>ppt_x</p:attrName>
                                        </p:attrNameLst>
                                      </p:cBhvr>
                                      <p:tavLst>
                                        <p:tav tm="0">
                                          <p:val>
                                            <p:strVal val="#ppt_x"/>
                                          </p:val>
                                        </p:tav>
                                        <p:tav tm="100000">
                                          <p:val>
                                            <p:strVal val="#ppt_x"/>
                                          </p:val>
                                        </p:tav>
                                      </p:tavLst>
                                    </p:anim>
                                    <p:anim calcmode="lin" valueType="num">
                                      <p:cBhvr additive="base">
                                        <p:cTn id="98" dur="150" fill="hold"/>
                                        <p:tgtEl>
                                          <p:spTgt spid="50"/>
                                        </p:tgtEl>
                                        <p:attrNameLst>
                                          <p:attrName>ppt_y</p:attrName>
                                        </p:attrNameLst>
                                      </p:cBhvr>
                                      <p:tavLst>
                                        <p:tav tm="0">
                                          <p:val>
                                            <p:strVal val="1+#ppt_h/2"/>
                                          </p:val>
                                        </p:tav>
                                        <p:tav tm="100000">
                                          <p:val>
                                            <p:strVal val="#ppt_y"/>
                                          </p:val>
                                        </p:tav>
                                      </p:tavLst>
                                    </p:anim>
                                  </p:childTnLst>
                                </p:cTn>
                              </p:par>
                            </p:childTnLst>
                          </p:cTn>
                        </p:par>
                        <p:par>
                          <p:cTn id="99" fill="hold">
                            <p:stCondLst>
                              <p:cond delay="3050"/>
                            </p:stCondLst>
                            <p:childTnLst>
                              <p:par>
                                <p:cTn id="100" presetID="2" presetClass="entr" presetSubtype="4" fill="hold" nodeType="afterEffect">
                                  <p:stCondLst>
                                    <p:cond delay="0"/>
                                  </p:stCondLst>
                                  <p:childTnLst>
                                    <p:set>
                                      <p:cBhvr>
                                        <p:cTn id="101" dur="1" fill="hold">
                                          <p:stCondLst>
                                            <p:cond delay="0"/>
                                          </p:stCondLst>
                                        </p:cTn>
                                        <p:tgtEl>
                                          <p:spTgt spid="57"/>
                                        </p:tgtEl>
                                        <p:attrNameLst>
                                          <p:attrName>style.visibility</p:attrName>
                                        </p:attrNameLst>
                                      </p:cBhvr>
                                      <p:to>
                                        <p:strVal val="visible"/>
                                      </p:to>
                                    </p:set>
                                    <p:anim calcmode="lin" valueType="num">
                                      <p:cBhvr additive="base">
                                        <p:cTn id="102" dur="150" fill="hold"/>
                                        <p:tgtEl>
                                          <p:spTgt spid="57"/>
                                        </p:tgtEl>
                                        <p:attrNameLst>
                                          <p:attrName>ppt_x</p:attrName>
                                        </p:attrNameLst>
                                      </p:cBhvr>
                                      <p:tavLst>
                                        <p:tav tm="0">
                                          <p:val>
                                            <p:strVal val="#ppt_x"/>
                                          </p:val>
                                        </p:tav>
                                        <p:tav tm="100000">
                                          <p:val>
                                            <p:strVal val="#ppt_x"/>
                                          </p:val>
                                        </p:tav>
                                      </p:tavLst>
                                    </p:anim>
                                    <p:anim calcmode="lin" valueType="num">
                                      <p:cBhvr additive="base">
                                        <p:cTn id="103" dur="150" fill="hold"/>
                                        <p:tgtEl>
                                          <p:spTgt spid="57"/>
                                        </p:tgtEl>
                                        <p:attrNameLst>
                                          <p:attrName>ppt_y</p:attrName>
                                        </p:attrNameLst>
                                      </p:cBhvr>
                                      <p:tavLst>
                                        <p:tav tm="0">
                                          <p:val>
                                            <p:strVal val="1+#ppt_h/2"/>
                                          </p:val>
                                        </p:tav>
                                        <p:tav tm="100000">
                                          <p:val>
                                            <p:strVal val="#ppt_y"/>
                                          </p:val>
                                        </p:tav>
                                      </p:tavLst>
                                    </p:anim>
                                  </p:childTnLst>
                                </p:cTn>
                              </p:par>
                            </p:childTnLst>
                          </p:cTn>
                        </p:par>
                        <p:par>
                          <p:cTn id="104" fill="hold">
                            <p:stCondLst>
                              <p:cond delay="3200"/>
                            </p:stCondLst>
                            <p:childTnLst>
                              <p:par>
                                <p:cTn id="105" presetID="2" presetClass="entr" presetSubtype="4" fill="hold" nodeType="afterEffect">
                                  <p:stCondLst>
                                    <p:cond delay="0"/>
                                  </p:stCondLst>
                                  <p:childTnLst>
                                    <p:set>
                                      <p:cBhvr>
                                        <p:cTn id="106" dur="1" fill="hold">
                                          <p:stCondLst>
                                            <p:cond delay="0"/>
                                          </p:stCondLst>
                                        </p:cTn>
                                        <p:tgtEl>
                                          <p:spTgt spid="58"/>
                                        </p:tgtEl>
                                        <p:attrNameLst>
                                          <p:attrName>style.visibility</p:attrName>
                                        </p:attrNameLst>
                                      </p:cBhvr>
                                      <p:to>
                                        <p:strVal val="visible"/>
                                      </p:to>
                                    </p:set>
                                    <p:anim calcmode="lin" valueType="num">
                                      <p:cBhvr additive="base">
                                        <p:cTn id="107" dur="150" fill="hold"/>
                                        <p:tgtEl>
                                          <p:spTgt spid="58"/>
                                        </p:tgtEl>
                                        <p:attrNameLst>
                                          <p:attrName>ppt_x</p:attrName>
                                        </p:attrNameLst>
                                      </p:cBhvr>
                                      <p:tavLst>
                                        <p:tav tm="0">
                                          <p:val>
                                            <p:strVal val="#ppt_x"/>
                                          </p:val>
                                        </p:tav>
                                        <p:tav tm="100000">
                                          <p:val>
                                            <p:strVal val="#ppt_x"/>
                                          </p:val>
                                        </p:tav>
                                      </p:tavLst>
                                    </p:anim>
                                    <p:anim calcmode="lin" valueType="num">
                                      <p:cBhvr additive="base">
                                        <p:cTn id="108" dur="150" fill="hold"/>
                                        <p:tgtEl>
                                          <p:spTgt spid="58"/>
                                        </p:tgtEl>
                                        <p:attrNameLst>
                                          <p:attrName>ppt_y</p:attrName>
                                        </p:attrNameLst>
                                      </p:cBhvr>
                                      <p:tavLst>
                                        <p:tav tm="0">
                                          <p:val>
                                            <p:strVal val="1+#ppt_h/2"/>
                                          </p:val>
                                        </p:tav>
                                        <p:tav tm="100000">
                                          <p:val>
                                            <p:strVal val="#ppt_y"/>
                                          </p:val>
                                        </p:tav>
                                      </p:tavLst>
                                    </p:anim>
                                  </p:childTnLst>
                                </p:cTn>
                              </p:par>
                            </p:childTnLst>
                          </p:cTn>
                        </p:par>
                        <p:par>
                          <p:cTn id="109" fill="hold">
                            <p:stCondLst>
                              <p:cond delay="3350"/>
                            </p:stCondLst>
                            <p:childTnLst>
                              <p:par>
                                <p:cTn id="110" presetID="2" presetClass="entr" presetSubtype="4" fill="hold" nodeType="afterEffect">
                                  <p:stCondLst>
                                    <p:cond delay="0"/>
                                  </p:stCondLst>
                                  <p:childTnLst>
                                    <p:set>
                                      <p:cBhvr>
                                        <p:cTn id="111" dur="1" fill="hold">
                                          <p:stCondLst>
                                            <p:cond delay="0"/>
                                          </p:stCondLst>
                                        </p:cTn>
                                        <p:tgtEl>
                                          <p:spTgt spid="68"/>
                                        </p:tgtEl>
                                        <p:attrNameLst>
                                          <p:attrName>style.visibility</p:attrName>
                                        </p:attrNameLst>
                                      </p:cBhvr>
                                      <p:to>
                                        <p:strVal val="visible"/>
                                      </p:to>
                                    </p:set>
                                    <p:anim calcmode="lin" valueType="num">
                                      <p:cBhvr additive="base">
                                        <p:cTn id="112" dur="150" fill="hold"/>
                                        <p:tgtEl>
                                          <p:spTgt spid="68"/>
                                        </p:tgtEl>
                                        <p:attrNameLst>
                                          <p:attrName>ppt_x</p:attrName>
                                        </p:attrNameLst>
                                      </p:cBhvr>
                                      <p:tavLst>
                                        <p:tav tm="0">
                                          <p:val>
                                            <p:strVal val="#ppt_x"/>
                                          </p:val>
                                        </p:tav>
                                        <p:tav tm="100000">
                                          <p:val>
                                            <p:strVal val="#ppt_x"/>
                                          </p:val>
                                        </p:tav>
                                      </p:tavLst>
                                    </p:anim>
                                    <p:anim calcmode="lin" valueType="num">
                                      <p:cBhvr additive="base">
                                        <p:cTn id="113" dur="150" fill="hold"/>
                                        <p:tgtEl>
                                          <p:spTgt spid="68"/>
                                        </p:tgtEl>
                                        <p:attrNameLst>
                                          <p:attrName>ppt_y</p:attrName>
                                        </p:attrNameLst>
                                      </p:cBhvr>
                                      <p:tavLst>
                                        <p:tav tm="0">
                                          <p:val>
                                            <p:strVal val="1+#ppt_h/2"/>
                                          </p:val>
                                        </p:tav>
                                        <p:tav tm="100000">
                                          <p:val>
                                            <p:strVal val="#ppt_y"/>
                                          </p:val>
                                        </p:tav>
                                      </p:tavLst>
                                    </p:anim>
                                  </p:childTnLst>
                                </p:cTn>
                              </p:par>
                            </p:childTnLst>
                          </p:cTn>
                        </p:par>
                        <p:par>
                          <p:cTn id="114" fill="hold">
                            <p:stCondLst>
                              <p:cond delay="3500"/>
                            </p:stCondLst>
                            <p:childTnLst>
                              <p:par>
                                <p:cTn id="115" presetID="2" presetClass="entr" presetSubtype="4" fill="hold" nodeType="afterEffect">
                                  <p:stCondLst>
                                    <p:cond delay="0"/>
                                  </p:stCondLst>
                                  <p:childTnLst>
                                    <p:set>
                                      <p:cBhvr>
                                        <p:cTn id="116" dur="1" fill="hold">
                                          <p:stCondLst>
                                            <p:cond delay="0"/>
                                          </p:stCondLst>
                                        </p:cTn>
                                        <p:tgtEl>
                                          <p:spTgt spid="65"/>
                                        </p:tgtEl>
                                        <p:attrNameLst>
                                          <p:attrName>style.visibility</p:attrName>
                                        </p:attrNameLst>
                                      </p:cBhvr>
                                      <p:to>
                                        <p:strVal val="visible"/>
                                      </p:to>
                                    </p:set>
                                    <p:anim calcmode="lin" valueType="num">
                                      <p:cBhvr additive="base">
                                        <p:cTn id="117" dur="150" fill="hold"/>
                                        <p:tgtEl>
                                          <p:spTgt spid="65"/>
                                        </p:tgtEl>
                                        <p:attrNameLst>
                                          <p:attrName>ppt_x</p:attrName>
                                        </p:attrNameLst>
                                      </p:cBhvr>
                                      <p:tavLst>
                                        <p:tav tm="0">
                                          <p:val>
                                            <p:strVal val="#ppt_x"/>
                                          </p:val>
                                        </p:tav>
                                        <p:tav tm="100000">
                                          <p:val>
                                            <p:strVal val="#ppt_x"/>
                                          </p:val>
                                        </p:tav>
                                      </p:tavLst>
                                    </p:anim>
                                    <p:anim calcmode="lin" valueType="num">
                                      <p:cBhvr additive="base">
                                        <p:cTn id="118" dur="150" fill="hold"/>
                                        <p:tgtEl>
                                          <p:spTgt spid="65"/>
                                        </p:tgtEl>
                                        <p:attrNameLst>
                                          <p:attrName>ppt_y</p:attrName>
                                        </p:attrNameLst>
                                      </p:cBhvr>
                                      <p:tavLst>
                                        <p:tav tm="0">
                                          <p:val>
                                            <p:strVal val="1+#ppt_h/2"/>
                                          </p:val>
                                        </p:tav>
                                        <p:tav tm="100000">
                                          <p:val>
                                            <p:strVal val="#ppt_y"/>
                                          </p:val>
                                        </p:tav>
                                      </p:tavLst>
                                    </p:anim>
                                  </p:childTnLst>
                                </p:cTn>
                              </p:par>
                            </p:childTnLst>
                          </p:cTn>
                        </p:par>
                        <p:par>
                          <p:cTn id="119" fill="hold">
                            <p:stCondLst>
                              <p:cond delay="3650"/>
                            </p:stCondLst>
                            <p:childTnLst>
                              <p:par>
                                <p:cTn id="120" presetID="2" presetClass="entr" presetSubtype="4" fill="hold" nodeType="afterEffect">
                                  <p:stCondLst>
                                    <p:cond delay="0"/>
                                  </p:stCondLst>
                                  <p:childTnLst>
                                    <p:set>
                                      <p:cBhvr>
                                        <p:cTn id="121" dur="1" fill="hold">
                                          <p:stCondLst>
                                            <p:cond delay="0"/>
                                          </p:stCondLst>
                                        </p:cTn>
                                        <p:tgtEl>
                                          <p:spTgt spid="59"/>
                                        </p:tgtEl>
                                        <p:attrNameLst>
                                          <p:attrName>style.visibility</p:attrName>
                                        </p:attrNameLst>
                                      </p:cBhvr>
                                      <p:to>
                                        <p:strVal val="visible"/>
                                      </p:to>
                                    </p:set>
                                    <p:anim calcmode="lin" valueType="num">
                                      <p:cBhvr additive="base">
                                        <p:cTn id="122" dur="150" fill="hold"/>
                                        <p:tgtEl>
                                          <p:spTgt spid="59"/>
                                        </p:tgtEl>
                                        <p:attrNameLst>
                                          <p:attrName>ppt_x</p:attrName>
                                        </p:attrNameLst>
                                      </p:cBhvr>
                                      <p:tavLst>
                                        <p:tav tm="0">
                                          <p:val>
                                            <p:strVal val="#ppt_x"/>
                                          </p:val>
                                        </p:tav>
                                        <p:tav tm="100000">
                                          <p:val>
                                            <p:strVal val="#ppt_x"/>
                                          </p:val>
                                        </p:tav>
                                      </p:tavLst>
                                    </p:anim>
                                    <p:anim calcmode="lin" valueType="num">
                                      <p:cBhvr additive="base">
                                        <p:cTn id="123" dur="15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3"/>
                                        </p:tgtEl>
                                        <p:attrNameLst>
                                          <p:attrName>style.visibility</p:attrName>
                                        </p:attrNameLst>
                                      </p:cBhvr>
                                      <p:to>
                                        <p:strVal val="visible"/>
                                      </p:to>
                                    </p:set>
                                    <p:animEffect transition="in" filter="fade">
                                      <p:cBhvr>
                                        <p:cTn id="128" dur="500"/>
                                        <p:tgtEl>
                                          <p:spTgt spid="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animEffect transition="in" filter="fade">
                                      <p:cBhvr>
                                        <p:cTn id="131" dur="500"/>
                                        <p:tgtEl>
                                          <p:spTgt spid="6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70"/>
                                        </p:tgtEl>
                                        <p:attrNameLst>
                                          <p:attrName>style.visibility</p:attrName>
                                        </p:attrNameLst>
                                      </p:cBhvr>
                                      <p:to>
                                        <p:strVal val="visible"/>
                                      </p:to>
                                    </p:set>
                                    <p:animEffect transition="in" filter="fade">
                                      <p:cBhvr>
                                        <p:cTn id="134" dur="500"/>
                                        <p:tgtEl>
                                          <p:spTgt spid="7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71"/>
                                        </p:tgtEl>
                                        <p:attrNameLst>
                                          <p:attrName>style.visibility</p:attrName>
                                        </p:attrNameLst>
                                      </p:cBhvr>
                                      <p:to>
                                        <p:strVal val="visible"/>
                                      </p:to>
                                    </p:set>
                                    <p:animEffect transition="in" filter="fade">
                                      <p:cBhvr>
                                        <p:cTn id="137" dur="500"/>
                                        <p:tgtEl>
                                          <p:spTgt spid="71"/>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72"/>
                                        </p:tgtEl>
                                        <p:attrNameLst>
                                          <p:attrName>style.visibility</p:attrName>
                                        </p:attrNameLst>
                                      </p:cBhvr>
                                      <p:to>
                                        <p:strVal val="visible"/>
                                      </p:to>
                                    </p:set>
                                    <p:animEffect transition="in" filter="fade">
                                      <p:cBhvr>
                                        <p:cTn id="140" dur="500"/>
                                        <p:tgtEl>
                                          <p:spTgt spid="7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73"/>
                                        </p:tgtEl>
                                        <p:attrNameLst>
                                          <p:attrName>style.visibility</p:attrName>
                                        </p:attrNameLst>
                                      </p:cBhvr>
                                      <p:to>
                                        <p:strVal val="visible"/>
                                      </p:to>
                                    </p:set>
                                    <p:animEffect transition="in" filter="fade">
                                      <p:cBhvr>
                                        <p:cTn id="143" dur="500"/>
                                        <p:tgtEl>
                                          <p:spTgt spid="73"/>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
                                        </p:tgtEl>
                                        <p:attrNameLst>
                                          <p:attrName>style.visibility</p:attrName>
                                        </p:attrNameLst>
                                      </p:cBhvr>
                                      <p:to>
                                        <p:strVal val="visible"/>
                                      </p:to>
                                    </p:set>
                                    <p:animEffect transition="in" filter="fade">
                                      <p:cBhvr>
                                        <p:cTn id="146" dur="500"/>
                                        <p:tgtEl>
                                          <p:spTgt spid="4"/>
                                        </p:tgtEl>
                                      </p:cBhvr>
                                    </p:animEffect>
                                  </p:childTnLst>
                                </p:cTn>
                              </p:par>
                              <p:par>
                                <p:cTn id="147" presetID="10" presetClass="entr" presetSubtype="0" fill="hold" nodeType="withEffect">
                                  <p:stCondLst>
                                    <p:cond delay="0"/>
                                  </p:stCondLst>
                                  <p:childTnLst>
                                    <p:set>
                                      <p:cBhvr>
                                        <p:cTn id="148" dur="1" fill="hold">
                                          <p:stCondLst>
                                            <p:cond delay="0"/>
                                          </p:stCondLst>
                                        </p:cTn>
                                        <p:tgtEl>
                                          <p:spTgt spid="75"/>
                                        </p:tgtEl>
                                        <p:attrNameLst>
                                          <p:attrName>style.visibility</p:attrName>
                                        </p:attrNameLst>
                                      </p:cBhvr>
                                      <p:to>
                                        <p:strVal val="visible"/>
                                      </p:to>
                                    </p:set>
                                    <p:animEffect transition="in" filter="fade">
                                      <p:cBhvr>
                                        <p:cTn id="149" dur="500"/>
                                        <p:tgtEl>
                                          <p:spTgt spid="75"/>
                                        </p:tgtEl>
                                      </p:cBhvr>
                                    </p:animEffect>
                                  </p:childTnLst>
                                </p:cTn>
                              </p:par>
                              <p:par>
                                <p:cTn id="150" presetID="10" presetClass="entr" presetSubtype="0" fill="hold" nodeType="withEffect">
                                  <p:stCondLst>
                                    <p:cond delay="0"/>
                                  </p:stCondLst>
                                  <p:childTnLst>
                                    <p:set>
                                      <p:cBhvr>
                                        <p:cTn id="151" dur="1" fill="hold">
                                          <p:stCondLst>
                                            <p:cond delay="0"/>
                                          </p:stCondLst>
                                        </p:cTn>
                                        <p:tgtEl>
                                          <p:spTgt spid="74"/>
                                        </p:tgtEl>
                                        <p:attrNameLst>
                                          <p:attrName>style.visibility</p:attrName>
                                        </p:attrNameLst>
                                      </p:cBhvr>
                                      <p:to>
                                        <p:strVal val="visible"/>
                                      </p:to>
                                    </p:set>
                                    <p:animEffect transition="in" filter="fade">
                                      <p:cBhvr>
                                        <p:cTn id="152" dur="500"/>
                                        <p:tgtEl>
                                          <p:spTgt spid="74"/>
                                        </p:tgtEl>
                                      </p:cBhvr>
                                    </p:animEffect>
                                  </p:childTnLst>
                                </p:cTn>
                              </p:par>
                              <p:par>
                                <p:cTn id="153" presetID="10" presetClass="entr" presetSubtype="0" fill="hold" nodeType="withEffect">
                                  <p:stCondLst>
                                    <p:cond delay="0"/>
                                  </p:stCondLst>
                                  <p:childTnLst>
                                    <p:set>
                                      <p:cBhvr>
                                        <p:cTn id="154" dur="1" fill="hold">
                                          <p:stCondLst>
                                            <p:cond delay="0"/>
                                          </p:stCondLst>
                                        </p:cTn>
                                        <p:tgtEl>
                                          <p:spTgt spid="32"/>
                                        </p:tgtEl>
                                        <p:attrNameLst>
                                          <p:attrName>style.visibility</p:attrName>
                                        </p:attrNameLst>
                                      </p:cBhvr>
                                      <p:to>
                                        <p:strVal val="visible"/>
                                      </p:to>
                                    </p:set>
                                    <p:animEffect transition="in" filter="fade">
                                      <p:cBhvr>
                                        <p:cTn id="155" dur="500"/>
                                        <p:tgtEl>
                                          <p:spTgt spid="32"/>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xit" presetSubtype="0" fill="hold" grpId="1" nodeType="clickEffect">
                                  <p:stCondLst>
                                    <p:cond delay="0"/>
                                  </p:stCondLst>
                                  <p:childTnLst>
                                    <p:animEffect transition="out" filter="fade">
                                      <p:cBhvr>
                                        <p:cTn id="159" dur="500"/>
                                        <p:tgtEl>
                                          <p:spTgt spid="36"/>
                                        </p:tgtEl>
                                      </p:cBhvr>
                                    </p:animEffect>
                                    <p:set>
                                      <p:cBhvr>
                                        <p:cTn id="160" dur="1" fill="hold">
                                          <p:stCondLst>
                                            <p:cond delay="499"/>
                                          </p:stCondLst>
                                        </p:cTn>
                                        <p:tgtEl>
                                          <p:spTgt spid="36"/>
                                        </p:tgtEl>
                                        <p:attrNameLst>
                                          <p:attrName>style.visibility</p:attrName>
                                        </p:attrNameLst>
                                      </p:cBhvr>
                                      <p:to>
                                        <p:strVal val="hidden"/>
                                      </p:to>
                                    </p:set>
                                  </p:childTnLst>
                                </p:cTn>
                              </p:par>
                              <p:par>
                                <p:cTn id="161" presetID="10" presetClass="exit" presetSubtype="0" fill="hold" grpId="1" nodeType="withEffect">
                                  <p:stCondLst>
                                    <p:cond delay="0"/>
                                  </p:stCondLst>
                                  <p:childTnLst>
                                    <p:animEffect transition="out" filter="fade">
                                      <p:cBhvr>
                                        <p:cTn id="162" dur="500"/>
                                        <p:tgtEl>
                                          <p:spTgt spid="41"/>
                                        </p:tgtEl>
                                      </p:cBhvr>
                                    </p:animEffect>
                                    <p:set>
                                      <p:cBhvr>
                                        <p:cTn id="163" dur="1" fill="hold">
                                          <p:stCondLst>
                                            <p:cond delay="499"/>
                                          </p:stCondLst>
                                        </p:cTn>
                                        <p:tgtEl>
                                          <p:spTgt spid="41"/>
                                        </p:tgtEl>
                                        <p:attrNameLst>
                                          <p:attrName>style.visibility</p:attrName>
                                        </p:attrNameLst>
                                      </p:cBhvr>
                                      <p:to>
                                        <p:strVal val="hidden"/>
                                      </p:to>
                                    </p:set>
                                  </p:childTnLst>
                                </p:cTn>
                              </p:par>
                              <p:par>
                                <p:cTn id="164" presetID="10" presetClass="exit" presetSubtype="0" fill="hold" grpId="1" nodeType="withEffect">
                                  <p:stCondLst>
                                    <p:cond delay="0"/>
                                  </p:stCondLst>
                                  <p:childTnLst>
                                    <p:animEffect transition="out" filter="fade">
                                      <p:cBhvr>
                                        <p:cTn id="165" dur="500"/>
                                        <p:tgtEl>
                                          <p:spTgt spid="43"/>
                                        </p:tgtEl>
                                      </p:cBhvr>
                                    </p:animEffect>
                                    <p:set>
                                      <p:cBhvr>
                                        <p:cTn id="166" dur="1" fill="hold">
                                          <p:stCondLst>
                                            <p:cond delay="499"/>
                                          </p:stCondLst>
                                        </p:cTn>
                                        <p:tgtEl>
                                          <p:spTgt spid="43"/>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42"/>
                                        </p:tgtEl>
                                      </p:cBhvr>
                                    </p:animEffect>
                                    <p:set>
                                      <p:cBhvr>
                                        <p:cTn id="169" dur="1" fill="hold">
                                          <p:stCondLst>
                                            <p:cond delay="499"/>
                                          </p:stCondLst>
                                        </p:cTn>
                                        <p:tgtEl>
                                          <p:spTgt spid="4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12"/>
                                        </p:tgtEl>
                                      </p:cBhvr>
                                    </p:animEffect>
                                    <p:set>
                                      <p:cBhvr>
                                        <p:cTn id="172" dur="1" fill="hold">
                                          <p:stCondLst>
                                            <p:cond delay="499"/>
                                          </p:stCondLst>
                                        </p:cTn>
                                        <p:tgtEl>
                                          <p:spTgt spid="12"/>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40"/>
                                        </p:tgtEl>
                                      </p:cBhvr>
                                    </p:animEffect>
                                    <p:set>
                                      <p:cBhvr>
                                        <p:cTn id="175" dur="1" fill="hold">
                                          <p:stCondLst>
                                            <p:cond delay="499"/>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41" grpId="0" animBg="1"/>
      <p:bldP spid="41" grpId="1" animBg="1"/>
      <p:bldP spid="43" grpId="0" animBg="1"/>
      <p:bldP spid="43" grpId="1" animBg="1"/>
      <p:bldP spid="3" grpId="0" animBg="1"/>
      <p:bldP spid="69" grpId="0" animBg="1"/>
      <p:bldP spid="70" grpId="0" animBg="1"/>
      <p:bldP spid="71" grpId="0" animBg="1"/>
      <p:bldP spid="72" grpId="0" animBg="1"/>
      <p:bldP spid="73"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3795068" y="2926219"/>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4468402" y="2926219"/>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3795068" y="369015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4468402" y="3690157"/>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303068" y="4653713"/>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4976402" y="465371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5649736" y="4653713"/>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3066352"/>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3066352"/>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3066352"/>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3853409"/>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3853409"/>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3853409"/>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4640466"/>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4640466"/>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4640466"/>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9268351" y="2903100"/>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9941685" y="2903100"/>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9878245" y="3896794"/>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10551579" y="3896794"/>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10551579" y="4832259"/>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11224913" y="4832259"/>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3736957" y="2805373"/>
            <a:ext cx="1417305" cy="159108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4263675" y="4550500"/>
            <a:ext cx="2032885" cy="831794"/>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6725279" y="2960801"/>
            <a:ext cx="2097146" cy="242149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9233033" y="280061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844572" y="3789827"/>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10515546" y="471635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screenshot of a cell phone&#10;&#10;Description automatically generated">
            <a:extLst>
              <a:ext uri="{FF2B5EF4-FFF2-40B4-BE49-F238E27FC236}">
                <a16:creationId xmlns:a16="http://schemas.microsoft.com/office/drawing/2014/main" id="{FFA83B14-9B34-49E3-8BE5-81A1E84976F2}"/>
              </a:ext>
            </a:extLst>
          </p:cNvPr>
          <p:cNvPicPr>
            <a:picLocks noChangeAspect="1"/>
          </p:cNvPicPr>
          <p:nvPr/>
        </p:nvPicPr>
        <p:blipFill>
          <a:blip r:embed="rId4"/>
          <a:stretch>
            <a:fillRect/>
          </a:stretch>
        </p:blipFill>
        <p:spPr>
          <a:xfrm>
            <a:off x="588263" y="3789827"/>
            <a:ext cx="2211279" cy="2077840"/>
          </a:xfrm>
          <a:prstGeom prst="rect">
            <a:avLst/>
          </a:prstGeom>
          <a:ln w="19050">
            <a:solidFill>
              <a:schemeClr val="accent2">
                <a:lumMod val="60000"/>
                <a:lumOff val="40000"/>
              </a:schemeClr>
            </a:solidFill>
          </a:ln>
        </p:spPr>
      </p:pic>
      <p:sp>
        <p:nvSpPr>
          <p:cNvPr id="62" name="Cylinder 61">
            <a:extLst>
              <a:ext uri="{FF2B5EF4-FFF2-40B4-BE49-F238E27FC236}">
                <a16:creationId xmlns:a16="http://schemas.microsoft.com/office/drawing/2014/main" id="{2390C761-459D-4E32-B786-F9C54DB19405}"/>
              </a:ext>
            </a:extLst>
          </p:cNvPr>
          <p:cNvSpPr/>
          <p:nvPr/>
        </p:nvSpPr>
        <p:spPr bwMode="auto">
          <a:xfrm>
            <a:off x="1187275" y="2174555"/>
            <a:ext cx="1013254" cy="121096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3" name="Group 62">
            <a:extLst>
              <a:ext uri="{FF2B5EF4-FFF2-40B4-BE49-F238E27FC236}">
                <a16:creationId xmlns:a16="http://schemas.microsoft.com/office/drawing/2014/main" id="{8E4C6F4A-537D-4E87-A338-4D8A5DA2BDC2}"/>
              </a:ext>
            </a:extLst>
          </p:cNvPr>
          <p:cNvGrpSpPr/>
          <p:nvPr/>
        </p:nvGrpSpPr>
        <p:grpSpPr>
          <a:xfrm>
            <a:off x="1339675" y="2514682"/>
            <a:ext cx="712421" cy="712421"/>
            <a:chOff x="2419350" y="4887768"/>
            <a:chExt cx="883920" cy="883920"/>
          </a:xfrm>
        </p:grpSpPr>
        <p:sp>
          <p:nvSpPr>
            <p:cNvPr id="66" name="Oval 65">
              <a:extLst>
                <a:ext uri="{FF2B5EF4-FFF2-40B4-BE49-F238E27FC236}">
                  <a16:creationId xmlns:a16="http://schemas.microsoft.com/office/drawing/2014/main" id="{7A669695-DB73-4E1E-B3AC-430A4BB69700}"/>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6" name="Picture 75">
              <a:extLst>
                <a:ext uri="{FF2B5EF4-FFF2-40B4-BE49-F238E27FC236}">
                  <a16:creationId xmlns:a16="http://schemas.microsoft.com/office/drawing/2014/main" id="{1C12AF8D-BB19-47D8-951D-3D3A433A7F0F}"/>
                </a:ext>
              </a:extLst>
            </p:cNvPr>
            <p:cNvPicPr>
              <a:picLocks noChangeAspect="1"/>
            </p:cNvPicPr>
            <p:nvPr/>
          </p:nvPicPr>
          <p:blipFill>
            <a:blip r:embed="rId5"/>
            <a:srcRect/>
            <a:stretch/>
          </p:blipFill>
          <p:spPr>
            <a:xfrm>
              <a:off x="2567817" y="5008744"/>
              <a:ext cx="624376" cy="624376"/>
            </a:xfrm>
            <a:prstGeom prst="rect">
              <a:avLst/>
            </a:prstGeom>
          </p:spPr>
        </p:pic>
      </p:grpSp>
      <p:cxnSp>
        <p:nvCxnSpPr>
          <p:cNvPr id="8" name="Straight Connector 7">
            <a:extLst>
              <a:ext uri="{FF2B5EF4-FFF2-40B4-BE49-F238E27FC236}">
                <a16:creationId xmlns:a16="http://schemas.microsoft.com/office/drawing/2014/main" id="{D4F10E9B-FE5C-451E-8A99-F8460B54234D}"/>
              </a:ext>
            </a:extLst>
          </p:cNvPr>
          <p:cNvCxnSpPr>
            <a:stCxn id="6" idx="0"/>
            <a:endCxn id="62" idx="3"/>
          </p:cNvCxnSpPr>
          <p:nvPr/>
        </p:nvCxnSpPr>
        <p:spPr>
          <a:xfrm flipH="1" flipV="1">
            <a:off x="1693902" y="3385517"/>
            <a:ext cx="1" cy="40431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3A9CE49-E149-4639-AB5B-382CB85EF83E}"/>
              </a:ext>
            </a:extLst>
          </p:cNvPr>
          <p:cNvSpPr/>
          <p:nvPr/>
        </p:nvSpPr>
        <p:spPr bwMode="auto">
          <a:xfrm>
            <a:off x="588263" y="5250360"/>
            <a:ext cx="2211270" cy="617308"/>
          </a:xfrm>
          <a:prstGeom prst="rect">
            <a:avLst/>
          </a:prstGeom>
          <a:noFill/>
          <a:ln w="571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8" name="TextBox 37">
            <a:extLst>
              <a:ext uri="{FF2B5EF4-FFF2-40B4-BE49-F238E27FC236}">
                <a16:creationId xmlns:a16="http://schemas.microsoft.com/office/drawing/2014/main" id="{BC27B2B0-C597-4E8F-BA6F-085F44E71D86}"/>
              </a:ext>
            </a:extLst>
          </p:cNvPr>
          <p:cNvSpPr txBox="1"/>
          <p:nvPr/>
        </p:nvSpPr>
        <p:spPr>
          <a:xfrm>
            <a:off x="4976402" y="2031180"/>
            <a:ext cx="121484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Andrew</a:t>
            </a:r>
          </a:p>
        </p:txBody>
      </p:sp>
      <p:cxnSp>
        <p:nvCxnSpPr>
          <p:cNvPr id="39" name="Straight Connector 38">
            <a:extLst>
              <a:ext uri="{FF2B5EF4-FFF2-40B4-BE49-F238E27FC236}">
                <a16:creationId xmlns:a16="http://schemas.microsoft.com/office/drawing/2014/main" id="{52E2E5A5-532A-4447-B5F2-2D6B81824B86}"/>
              </a:ext>
            </a:extLst>
          </p:cNvPr>
          <p:cNvCxnSpPr>
            <a:cxnSpLocks/>
            <a:stCxn id="38" idx="1"/>
            <a:endCxn id="3" idx="0"/>
          </p:cNvCxnSpPr>
          <p:nvPr/>
        </p:nvCxnSpPr>
        <p:spPr>
          <a:xfrm flipH="1">
            <a:off x="4445610" y="2215846"/>
            <a:ext cx="530792" cy="589527"/>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3" name="TextBox 42">
            <a:extLst>
              <a:ext uri="{FF2B5EF4-FFF2-40B4-BE49-F238E27FC236}">
                <a16:creationId xmlns:a16="http://schemas.microsoft.com/office/drawing/2014/main" id="{EEB5F916-428D-421B-84B7-735F952509B1}"/>
              </a:ext>
            </a:extLst>
          </p:cNvPr>
          <p:cNvSpPr txBox="1"/>
          <p:nvPr/>
        </p:nvSpPr>
        <p:spPr>
          <a:xfrm>
            <a:off x="10134599" y="5955364"/>
            <a:ext cx="806097"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Theo</a:t>
            </a:r>
          </a:p>
        </p:txBody>
      </p:sp>
      <p:cxnSp>
        <p:nvCxnSpPr>
          <p:cNvPr id="74" name="Straight Connector 73">
            <a:extLst>
              <a:ext uri="{FF2B5EF4-FFF2-40B4-BE49-F238E27FC236}">
                <a16:creationId xmlns:a16="http://schemas.microsoft.com/office/drawing/2014/main" id="{C9BAFBCB-0113-4241-9103-2FE96A797583}"/>
              </a:ext>
            </a:extLst>
          </p:cNvPr>
          <p:cNvCxnSpPr>
            <a:cxnSpLocks/>
            <a:stCxn id="43" idx="3"/>
            <a:endCxn id="73" idx="2"/>
          </p:cNvCxnSpPr>
          <p:nvPr/>
        </p:nvCxnSpPr>
        <p:spPr>
          <a:xfrm flipV="1">
            <a:off x="10940696" y="5535908"/>
            <a:ext cx="257876" cy="604122"/>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5" name="TextBox 74">
            <a:extLst>
              <a:ext uri="{FF2B5EF4-FFF2-40B4-BE49-F238E27FC236}">
                <a16:creationId xmlns:a16="http://schemas.microsoft.com/office/drawing/2014/main" id="{88A294C6-125C-40B3-99F5-795EB28E30CB}"/>
              </a:ext>
            </a:extLst>
          </p:cNvPr>
          <p:cNvSpPr txBox="1"/>
          <p:nvPr/>
        </p:nvSpPr>
        <p:spPr>
          <a:xfrm>
            <a:off x="10488139" y="2031180"/>
            <a:ext cx="846611"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Mark</a:t>
            </a:r>
          </a:p>
        </p:txBody>
      </p:sp>
      <p:cxnSp>
        <p:nvCxnSpPr>
          <p:cNvPr id="77" name="Straight Connector 76">
            <a:extLst>
              <a:ext uri="{FF2B5EF4-FFF2-40B4-BE49-F238E27FC236}">
                <a16:creationId xmlns:a16="http://schemas.microsoft.com/office/drawing/2014/main" id="{F79C9D5A-22AD-44FC-A83B-322FFE617E8F}"/>
              </a:ext>
            </a:extLst>
          </p:cNvPr>
          <p:cNvCxnSpPr>
            <a:cxnSpLocks/>
            <a:stCxn id="75" idx="1"/>
            <a:endCxn id="71" idx="0"/>
          </p:cNvCxnSpPr>
          <p:nvPr/>
        </p:nvCxnSpPr>
        <p:spPr>
          <a:xfrm flipH="1">
            <a:off x="9916059" y="2215846"/>
            <a:ext cx="572080" cy="584765"/>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8" name="TextBox 77">
            <a:extLst>
              <a:ext uri="{FF2B5EF4-FFF2-40B4-BE49-F238E27FC236}">
                <a16:creationId xmlns:a16="http://schemas.microsoft.com/office/drawing/2014/main" id="{745FBE2B-8119-4040-8EC5-3B2DF63CBDF1}"/>
              </a:ext>
            </a:extLst>
          </p:cNvPr>
          <p:cNvSpPr txBox="1"/>
          <p:nvPr/>
        </p:nvSpPr>
        <p:spPr>
          <a:xfrm>
            <a:off x="8142584" y="5955316"/>
            <a:ext cx="73859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Tim</a:t>
            </a:r>
          </a:p>
        </p:txBody>
      </p:sp>
      <p:cxnSp>
        <p:nvCxnSpPr>
          <p:cNvPr id="79" name="Straight Connector 78">
            <a:extLst>
              <a:ext uri="{FF2B5EF4-FFF2-40B4-BE49-F238E27FC236}">
                <a16:creationId xmlns:a16="http://schemas.microsoft.com/office/drawing/2014/main" id="{E969F4C6-B9F3-473C-A10D-A2036BD8F950}"/>
              </a:ext>
            </a:extLst>
          </p:cNvPr>
          <p:cNvCxnSpPr>
            <a:cxnSpLocks/>
            <a:stCxn id="78" idx="1"/>
            <a:endCxn id="70" idx="2"/>
          </p:cNvCxnSpPr>
          <p:nvPr/>
        </p:nvCxnSpPr>
        <p:spPr>
          <a:xfrm flipH="1" flipV="1">
            <a:off x="7773852" y="5382294"/>
            <a:ext cx="368732" cy="757688"/>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0" name="TextBox 79">
            <a:extLst>
              <a:ext uri="{FF2B5EF4-FFF2-40B4-BE49-F238E27FC236}">
                <a16:creationId xmlns:a16="http://schemas.microsoft.com/office/drawing/2014/main" id="{16F78640-233F-4907-9CBD-2593C937FF3F}"/>
              </a:ext>
            </a:extLst>
          </p:cNvPr>
          <p:cNvSpPr txBox="1"/>
          <p:nvPr/>
        </p:nvSpPr>
        <p:spPr>
          <a:xfrm>
            <a:off x="5608488" y="5971425"/>
            <a:ext cx="1376144"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Deborah</a:t>
            </a:r>
          </a:p>
        </p:txBody>
      </p:sp>
      <p:cxnSp>
        <p:nvCxnSpPr>
          <p:cNvPr id="81" name="Straight Connector 80">
            <a:extLst>
              <a:ext uri="{FF2B5EF4-FFF2-40B4-BE49-F238E27FC236}">
                <a16:creationId xmlns:a16="http://schemas.microsoft.com/office/drawing/2014/main" id="{6F24296C-53CB-4EC5-A363-E7B9D42C4BA8}"/>
              </a:ext>
            </a:extLst>
          </p:cNvPr>
          <p:cNvCxnSpPr>
            <a:cxnSpLocks/>
            <a:stCxn id="80" idx="1"/>
            <a:endCxn id="69" idx="2"/>
          </p:cNvCxnSpPr>
          <p:nvPr/>
        </p:nvCxnSpPr>
        <p:spPr>
          <a:xfrm flipH="1" flipV="1">
            <a:off x="5280118" y="5382294"/>
            <a:ext cx="328370" cy="773797"/>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2" name="TextBox 81">
            <a:extLst>
              <a:ext uri="{FF2B5EF4-FFF2-40B4-BE49-F238E27FC236}">
                <a16:creationId xmlns:a16="http://schemas.microsoft.com/office/drawing/2014/main" id="{F0281F59-C518-4AE2-AEF3-FFA2CCB5F0DE}"/>
              </a:ext>
            </a:extLst>
          </p:cNvPr>
          <p:cNvSpPr txBox="1"/>
          <p:nvPr/>
        </p:nvSpPr>
        <p:spPr>
          <a:xfrm>
            <a:off x="8977257" y="5955316"/>
            <a:ext cx="628106"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Luis</a:t>
            </a:r>
          </a:p>
        </p:txBody>
      </p:sp>
      <p:cxnSp>
        <p:nvCxnSpPr>
          <p:cNvPr id="83" name="Straight Connector 82">
            <a:extLst>
              <a:ext uri="{FF2B5EF4-FFF2-40B4-BE49-F238E27FC236}">
                <a16:creationId xmlns:a16="http://schemas.microsoft.com/office/drawing/2014/main" id="{4A5C6928-A07E-4242-BC9D-6EE97778E755}"/>
              </a:ext>
            </a:extLst>
          </p:cNvPr>
          <p:cNvCxnSpPr>
            <a:cxnSpLocks/>
            <a:stCxn id="82" idx="3"/>
          </p:cNvCxnSpPr>
          <p:nvPr/>
        </p:nvCxnSpPr>
        <p:spPr>
          <a:xfrm flipV="1">
            <a:off x="9605363" y="4640466"/>
            <a:ext cx="738787" cy="1499516"/>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7217221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up)">
                                      <p:cBhvr>
                                        <p:cTn id="14" dur="500"/>
                                        <p:tgtEl>
                                          <p:spTgt spid="8"/>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wipe(down)">
                                      <p:cBhvr>
                                        <p:cTn id="26" dur="500"/>
                                        <p:tgtEl>
                                          <p:spTgt spid="39"/>
                                        </p:tgtEl>
                                      </p:cBhvr>
                                    </p:animEffect>
                                  </p:childTnLst>
                                </p:cTn>
                              </p:par>
                              <p:par>
                                <p:cTn id="27" presetID="22" presetClass="entr" presetSubtype="4" fill="hold"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down)">
                                      <p:cBhvr>
                                        <p:cTn id="29" dur="500"/>
                                        <p:tgtEl>
                                          <p:spTgt spid="77"/>
                                        </p:tgtEl>
                                      </p:cBhvr>
                                    </p:animEffect>
                                  </p:childTnLst>
                                </p:cTn>
                              </p:par>
                              <p:par>
                                <p:cTn id="30" presetID="22" presetClass="entr" presetSubtype="1" fill="hold" nodeType="with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wipe(up)">
                                      <p:cBhvr>
                                        <p:cTn id="32" dur="500"/>
                                        <p:tgtEl>
                                          <p:spTgt spid="81"/>
                                        </p:tgtEl>
                                      </p:cBhvr>
                                    </p:animEffect>
                                  </p:childTnLst>
                                </p:cTn>
                              </p:par>
                              <p:par>
                                <p:cTn id="33" presetID="22" presetClass="entr" presetSubtype="1" fill="hold"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wipe(up)">
                                      <p:cBhvr>
                                        <p:cTn id="35" dur="500"/>
                                        <p:tgtEl>
                                          <p:spTgt spid="79"/>
                                        </p:tgtEl>
                                      </p:cBhvr>
                                    </p:animEffect>
                                  </p:childTnLst>
                                </p:cTn>
                              </p:par>
                              <p:par>
                                <p:cTn id="36" presetID="22" presetClass="entr" presetSubtype="1" fill="hold" nodeType="withEffect">
                                  <p:stCondLst>
                                    <p:cond delay="0"/>
                                  </p:stCondLst>
                                  <p:childTnLst>
                                    <p:set>
                                      <p:cBhvr>
                                        <p:cTn id="37" dur="1" fill="hold">
                                          <p:stCondLst>
                                            <p:cond delay="0"/>
                                          </p:stCondLst>
                                        </p:cTn>
                                        <p:tgtEl>
                                          <p:spTgt spid="83"/>
                                        </p:tgtEl>
                                        <p:attrNameLst>
                                          <p:attrName>style.visibility</p:attrName>
                                        </p:attrNameLst>
                                      </p:cBhvr>
                                      <p:to>
                                        <p:strVal val="visible"/>
                                      </p:to>
                                    </p:set>
                                    <p:animEffect transition="in" filter="wipe(up)">
                                      <p:cBhvr>
                                        <p:cTn id="38" dur="500"/>
                                        <p:tgtEl>
                                          <p:spTgt spid="83"/>
                                        </p:tgtEl>
                                      </p:cBhvr>
                                    </p:animEffect>
                                  </p:childTnLst>
                                </p:cTn>
                              </p:par>
                              <p:par>
                                <p:cTn id="39" presetID="22" presetClass="entr" presetSubtype="1" fill="hold" nodeType="with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wipe(up)">
                                      <p:cBhvr>
                                        <p:cTn id="41" dur="500"/>
                                        <p:tgtEl>
                                          <p:spTgt spid="7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fade">
                                      <p:cBhvr>
                                        <p:cTn id="48" dur="500"/>
                                        <p:tgtEl>
                                          <p:spTgt spid="8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animEffect transition="in" filter="fade">
                                      <p:cBhvr>
                                        <p:cTn id="51" dur="500"/>
                                        <p:tgtEl>
                                          <p:spTgt spid="7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fade">
                                      <p:cBhvr>
                                        <p:cTn id="54" dur="500"/>
                                        <p:tgtEl>
                                          <p:spTgt spid="7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2"/>
                                        </p:tgtEl>
                                        <p:attrNameLst>
                                          <p:attrName>style.visibility</p:attrName>
                                        </p:attrNameLst>
                                      </p:cBhvr>
                                      <p:to>
                                        <p:strVal val="visible"/>
                                      </p:to>
                                    </p:set>
                                    <p:animEffect transition="in" filter="fade">
                                      <p:cBhvr>
                                        <p:cTn id="57" dur="500"/>
                                        <p:tgtEl>
                                          <p:spTgt spid="8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 grpId="0" animBg="1"/>
      <p:bldP spid="38" grpId="0"/>
      <p:bldP spid="43" grpId="0"/>
      <p:bldP spid="75" grpId="0"/>
      <p:bldP spid="78" grpId="0"/>
      <p:bldP spid="80" grpId="0"/>
      <p:bldP spid="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3795068" y="2926219"/>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4468402" y="2926219"/>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3795068" y="369015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4468402" y="3690157"/>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303068" y="4653713"/>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4976402" y="465371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5649736" y="4653713"/>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3066352"/>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3066352"/>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3066352"/>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3853409"/>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3853409"/>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3853409"/>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6795916" y="4640466"/>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7469250" y="4640466"/>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8142584" y="4640466"/>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9268351" y="2903100"/>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9941685" y="2903100"/>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9878245" y="3896794"/>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10551579" y="3896794"/>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10551579" y="4832259"/>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11224913" y="4832259"/>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3736957" y="2805373"/>
            <a:ext cx="1417305" cy="159108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4263675" y="4550500"/>
            <a:ext cx="2032885" cy="831794"/>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6725279" y="2960801"/>
            <a:ext cx="2097146" cy="242149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9233033" y="280061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844572" y="3789827"/>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10515546" y="471635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8" name="TextBox 37">
            <a:extLst>
              <a:ext uri="{FF2B5EF4-FFF2-40B4-BE49-F238E27FC236}">
                <a16:creationId xmlns:a16="http://schemas.microsoft.com/office/drawing/2014/main" id="{BC27B2B0-C597-4E8F-BA6F-085F44E71D86}"/>
              </a:ext>
            </a:extLst>
          </p:cNvPr>
          <p:cNvSpPr txBox="1"/>
          <p:nvPr/>
        </p:nvSpPr>
        <p:spPr>
          <a:xfrm>
            <a:off x="541005" y="3625772"/>
            <a:ext cx="2173805" cy="369332"/>
          </a:xfrm>
          <a:prstGeom prst="rect">
            <a:avLst/>
          </a:prstGeom>
          <a:noFill/>
        </p:spPr>
        <p:txBody>
          <a:bodyPr wrap="square" lIns="0" tIns="0" rIns="0" bIns="0" rtlCol="0">
            <a:spAutoFit/>
          </a:bodyPr>
          <a:lstStyle/>
          <a:p>
            <a:r>
              <a:rPr lang="en-US" sz="2400" dirty="0">
                <a:solidFill>
                  <a:schemeClr val="accent2">
                    <a:lumMod val="60000"/>
                    <a:lumOff val="40000"/>
                  </a:schemeClr>
                </a:solidFill>
              </a:rPr>
              <a:t>Max size: 20 GB</a:t>
            </a:r>
          </a:p>
        </p:txBody>
      </p:sp>
      <p:cxnSp>
        <p:nvCxnSpPr>
          <p:cNvPr id="39" name="Straight Connector 38">
            <a:extLst>
              <a:ext uri="{FF2B5EF4-FFF2-40B4-BE49-F238E27FC236}">
                <a16:creationId xmlns:a16="http://schemas.microsoft.com/office/drawing/2014/main" id="{52E2E5A5-532A-4447-B5F2-2D6B81824B86}"/>
              </a:ext>
            </a:extLst>
          </p:cNvPr>
          <p:cNvCxnSpPr>
            <a:cxnSpLocks/>
            <a:stCxn id="38" idx="3"/>
            <a:endCxn id="3" idx="1"/>
          </p:cNvCxnSpPr>
          <p:nvPr/>
        </p:nvCxnSpPr>
        <p:spPr>
          <a:xfrm flipV="1">
            <a:off x="2714810" y="3600915"/>
            <a:ext cx="1022147" cy="209523"/>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0" name="TextBox 79">
            <a:extLst>
              <a:ext uri="{FF2B5EF4-FFF2-40B4-BE49-F238E27FC236}">
                <a16:creationId xmlns:a16="http://schemas.microsoft.com/office/drawing/2014/main" id="{16F78640-233F-4907-9CBD-2593C937FF3F}"/>
              </a:ext>
            </a:extLst>
          </p:cNvPr>
          <p:cNvSpPr txBox="1"/>
          <p:nvPr/>
        </p:nvSpPr>
        <p:spPr>
          <a:xfrm>
            <a:off x="541005" y="2776135"/>
            <a:ext cx="2114735" cy="369332"/>
          </a:xfrm>
          <a:prstGeom prst="rect">
            <a:avLst/>
          </a:prstGeom>
          <a:noFill/>
        </p:spPr>
        <p:txBody>
          <a:bodyPr wrap="square" lIns="0" tIns="0" rIns="0" bIns="0" rtlCol="0">
            <a:spAutoFit/>
          </a:bodyPr>
          <a:lstStyle/>
          <a:p>
            <a:r>
              <a:rPr lang="en-US" sz="2400" dirty="0">
                <a:solidFill>
                  <a:schemeClr val="accent2">
                    <a:lumMod val="60000"/>
                    <a:lumOff val="40000"/>
                  </a:schemeClr>
                </a:solidFill>
              </a:rPr>
              <a:t>Max size: 2 MB</a:t>
            </a:r>
          </a:p>
        </p:txBody>
      </p:sp>
      <p:cxnSp>
        <p:nvCxnSpPr>
          <p:cNvPr id="81" name="Straight Connector 80">
            <a:extLst>
              <a:ext uri="{FF2B5EF4-FFF2-40B4-BE49-F238E27FC236}">
                <a16:creationId xmlns:a16="http://schemas.microsoft.com/office/drawing/2014/main" id="{6F24296C-53CB-4EC5-A363-E7B9D42C4BA8}"/>
              </a:ext>
            </a:extLst>
          </p:cNvPr>
          <p:cNvCxnSpPr>
            <a:cxnSpLocks/>
            <a:stCxn id="80" idx="3"/>
          </p:cNvCxnSpPr>
          <p:nvPr/>
        </p:nvCxnSpPr>
        <p:spPr>
          <a:xfrm>
            <a:off x="2655740" y="2960801"/>
            <a:ext cx="1211410" cy="275318"/>
          </a:xfrm>
          <a:prstGeom prst="line">
            <a:avLst/>
          </a:prstGeom>
          <a:noFill/>
          <a:ln w="28575">
            <a:solidFill>
              <a:schemeClr val="tx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381546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500"/>
                                        <p:tgtEl>
                                          <p:spTgt spid="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right)">
                                      <p:cBhvr>
                                        <p:cTn id="16" dur="500"/>
                                        <p:tgtEl>
                                          <p:spTgt spid="3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8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2598153"/>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54335" y="2616781"/>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334500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2616781"/>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4097341"/>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1784412" y="4097341"/>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4849675"/>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1433357" y="2954318"/>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1440516" y="4508128"/>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818132" y="3275644"/>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1424806" y="3758915"/>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068889" y="3083330"/>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1682743" y="3974999"/>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1765132" y="4849675"/>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1068889" y="4563512"/>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1648" y="2598153"/>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1804082" y="4492877"/>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484672" y="2562727"/>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2616781"/>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2616781"/>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7696" y="2616781"/>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3220" y="2598153"/>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1018808" y="2421188"/>
            <a:ext cx="1501416" cy="3208086"/>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5285" y="2421189"/>
            <a:ext cx="1501416" cy="3208085"/>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0318"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15"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6989" y="2416052"/>
            <a:ext cx="1501415"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2407" y="2423382"/>
            <a:ext cx="1501415" cy="321816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close up of a logo&#10;&#10;Description automatically generated">
            <a:extLst>
              <a:ext uri="{FF2B5EF4-FFF2-40B4-BE49-F238E27FC236}">
                <a16:creationId xmlns:a16="http://schemas.microsoft.com/office/drawing/2014/main" id="{D9C25016-E833-487D-9135-F936ED846AA8}"/>
              </a:ext>
            </a:extLst>
          </p:cNvPr>
          <p:cNvPicPr>
            <a:picLocks noChangeAspect="1"/>
          </p:cNvPicPr>
          <p:nvPr/>
        </p:nvPicPr>
        <p:blipFill>
          <a:blip r:embed="rId4">
            <a:duotone>
              <a:schemeClr val="accent3">
                <a:shade val="45000"/>
                <a:satMod val="135000"/>
              </a:schemeClr>
              <a:prstClr val="white"/>
            </a:duotone>
          </a:blip>
          <a:stretch>
            <a:fillRect/>
          </a:stretch>
        </p:blipFill>
        <p:spPr>
          <a:xfrm>
            <a:off x="1377174" y="5766683"/>
            <a:ext cx="657526" cy="657526"/>
          </a:xfrm>
          <a:prstGeom prst="rect">
            <a:avLst/>
          </a:prstGeom>
        </p:spPr>
      </p:pic>
    </p:spTree>
    <p:extLst>
      <p:ext uri="{BB962C8B-B14F-4D97-AF65-F5344CB8AC3E}">
        <p14:creationId xmlns:p14="http://schemas.microsoft.com/office/powerpoint/2010/main" val="1627887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2598153"/>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5793" y="3345007"/>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334500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2616781"/>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3737" y="3345007"/>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7954" y="259815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3345007"/>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5071" y="3345007"/>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3345007"/>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3114" y="2608971"/>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398489" y="2616781"/>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0002" y="3345007"/>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3345007"/>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4676" y="3345007"/>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20477" y="3345007"/>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1648" y="2598153"/>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2616781"/>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3111" y="2609767"/>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2616781"/>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2616781"/>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7696" y="2616781"/>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3220" y="2598153"/>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5085" y="2421189"/>
            <a:ext cx="1501416" cy="3208086"/>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5285" y="2421189"/>
            <a:ext cx="1501416" cy="3208085"/>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0318"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15"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6989" y="2416052"/>
            <a:ext cx="1501415"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2407" y="2423382"/>
            <a:ext cx="1501415" cy="321816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A close up of a logo&#10;&#10;Description automatically generated">
            <a:extLst>
              <a:ext uri="{FF2B5EF4-FFF2-40B4-BE49-F238E27FC236}">
                <a16:creationId xmlns:a16="http://schemas.microsoft.com/office/drawing/2014/main" id="{D9C25016-E833-487D-9135-F936ED846AA8}"/>
              </a:ext>
            </a:extLst>
          </p:cNvPr>
          <p:cNvPicPr>
            <a:picLocks noChangeAspect="1"/>
          </p:cNvPicPr>
          <p:nvPr/>
        </p:nvPicPr>
        <p:blipFill>
          <a:blip r:embed="rId4">
            <a:duotone>
              <a:schemeClr val="accent3">
                <a:shade val="45000"/>
                <a:satMod val="135000"/>
              </a:schemeClr>
              <a:prstClr val="white"/>
            </a:duotone>
          </a:blip>
          <a:stretch>
            <a:fillRect/>
          </a:stretch>
        </p:blipFill>
        <p:spPr>
          <a:xfrm>
            <a:off x="6537860" y="5766683"/>
            <a:ext cx="657526" cy="657526"/>
          </a:xfrm>
          <a:prstGeom prst="rect">
            <a:avLst/>
          </a:prstGeom>
        </p:spPr>
      </p:pic>
      <p:cxnSp>
        <p:nvCxnSpPr>
          <p:cNvPr id="6" name="Straight Arrow Connector 5">
            <a:extLst>
              <a:ext uri="{FF2B5EF4-FFF2-40B4-BE49-F238E27FC236}">
                <a16:creationId xmlns:a16="http://schemas.microsoft.com/office/drawing/2014/main" id="{CB9C8FC6-4A67-4B6B-9D93-A4FD2BAEB88D}"/>
              </a:ext>
            </a:extLst>
          </p:cNvPr>
          <p:cNvCxnSpPr>
            <a:cxnSpLocks/>
            <a:stCxn id="3" idx="0"/>
          </p:cNvCxnSpPr>
          <p:nvPr/>
        </p:nvCxnSpPr>
        <p:spPr>
          <a:xfrm flipH="1" flipV="1">
            <a:off x="1723113" y="1409701"/>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5" name="Straight Arrow Connector 34">
            <a:extLst>
              <a:ext uri="{FF2B5EF4-FFF2-40B4-BE49-F238E27FC236}">
                <a16:creationId xmlns:a16="http://schemas.microsoft.com/office/drawing/2014/main" id="{26985C4B-C7C0-44E0-A048-484EE481D5EF}"/>
              </a:ext>
            </a:extLst>
          </p:cNvPr>
          <p:cNvCxnSpPr>
            <a:cxnSpLocks/>
          </p:cNvCxnSpPr>
          <p:nvPr/>
        </p:nvCxnSpPr>
        <p:spPr>
          <a:xfrm flipH="1" flipV="1">
            <a:off x="6871983"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6" name="Straight Arrow Connector 35">
            <a:extLst>
              <a:ext uri="{FF2B5EF4-FFF2-40B4-BE49-F238E27FC236}">
                <a16:creationId xmlns:a16="http://schemas.microsoft.com/office/drawing/2014/main" id="{215FCDC8-A7F9-4513-8BB5-B90823F0275B}"/>
              </a:ext>
            </a:extLst>
          </p:cNvPr>
          <p:cNvCxnSpPr>
            <a:cxnSpLocks/>
          </p:cNvCxnSpPr>
          <p:nvPr/>
        </p:nvCxnSpPr>
        <p:spPr>
          <a:xfrm flipH="1" flipV="1">
            <a:off x="5140846" y="1411894"/>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7" name="Straight Arrow Connector 36">
            <a:extLst>
              <a:ext uri="{FF2B5EF4-FFF2-40B4-BE49-F238E27FC236}">
                <a16:creationId xmlns:a16="http://schemas.microsoft.com/office/drawing/2014/main" id="{5AD5661E-A6C3-4766-A256-016545B294D4}"/>
              </a:ext>
            </a:extLst>
          </p:cNvPr>
          <p:cNvCxnSpPr>
            <a:cxnSpLocks/>
          </p:cNvCxnSpPr>
          <p:nvPr/>
        </p:nvCxnSpPr>
        <p:spPr>
          <a:xfrm flipH="1" flipV="1">
            <a:off x="3433313" y="1404564"/>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8" name="Straight Arrow Connector 37">
            <a:extLst>
              <a:ext uri="{FF2B5EF4-FFF2-40B4-BE49-F238E27FC236}">
                <a16:creationId xmlns:a16="http://schemas.microsoft.com/office/drawing/2014/main" id="{8B810882-A1F0-49A8-BF0B-C27CE223BA67}"/>
              </a:ext>
            </a:extLst>
          </p:cNvPr>
          <p:cNvCxnSpPr>
            <a:cxnSpLocks/>
          </p:cNvCxnSpPr>
          <p:nvPr/>
        </p:nvCxnSpPr>
        <p:spPr>
          <a:xfrm flipH="1" flipV="1">
            <a:off x="6647313"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9" name="Straight Arrow Connector 38">
            <a:extLst>
              <a:ext uri="{FF2B5EF4-FFF2-40B4-BE49-F238E27FC236}">
                <a16:creationId xmlns:a16="http://schemas.microsoft.com/office/drawing/2014/main" id="{427195BC-B189-42B9-A2C7-E2E2E3EFB277}"/>
              </a:ext>
            </a:extLst>
          </p:cNvPr>
          <p:cNvCxnSpPr>
            <a:cxnSpLocks/>
          </p:cNvCxnSpPr>
          <p:nvPr/>
        </p:nvCxnSpPr>
        <p:spPr>
          <a:xfrm flipH="1" flipV="1">
            <a:off x="10280434" y="1400483"/>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40" name="Straight Arrow Connector 39">
            <a:extLst>
              <a:ext uri="{FF2B5EF4-FFF2-40B4-BE49-F238E27FC236}">
                <a16:creationId xmlns:a16="http://schemas.microsoft.com/office/drawing/2014/main" id="{BFADC008-F9C3-4E44-9A9B-75CA387E4787}"/>
              </a:ext>
            </a:extLst>
          </p:cNvPr>
          <p:cNvCxnSpPr>
            <a:cxnSpLocks/>
          </p:cNvCxnSpPr>
          <p:nvPr/>
        </p:nvCxnSpPr>
        <p:spPr>
          <a:xfrm flipH="1" flipV="1">
            <a:off x="8598543" y="1363298"/>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66" name="Straight Arrow Connector 65">
            <a:extLst>
              <a:ext uri="{FF2B5EF4-FFF2-40B4-BE49-F238E27FC236}">
                <a16:creationId xmlns:a16="http://schemas.microsoft.com/office/drawing/2014/main" id="{3122932E-9AFB-440D-AE45-2D47E56B0905}"/>
              </a:ext>
            </a:extLst>
          </p:cNvPr>
          <p:cNvCxnSpPr>
            <a:cxnSpLocks/>
          </p:cNvCxnSpPr>
          <p:nvPr/>
        </p:nvCxnSpPr>
        <p:spPr>
          <a:xfrm flipH="1" flipV="1">
            <a:off x="6425323"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4" name="Straight Arrow Connector 73">
            <a:extLst>
              <a:ext uri="{FF2B5EF4-FFF2-40B4-BE49-F238E27FC236}">
                <a16:creationId xmlns:a16="http://schemas.microsoft.com/office/drawing/2014/main" id="{D03D2350-1702-45F9-8054-694175E88A52}"/>
              </a:ext>
            </a:extLst>
          </p:cNvPr>
          <p:cNvCxnSpPr>
            <a:cxnSpLocks/>
          </p:cNvCxnSpPr>
          <p:nvPr/>
        </p:nvCxnSpPr>
        <p:spPr>
          <a:xfrm flipH="1" flipV="1">
            <a:off x="7311386"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5" name="Straight Arrow Connector 74">
            <a:extLst>
              <a:ext uri="{FF2B5EF4-FFF2-40B4-BE49-F238E27FC236}">
                <a16:creationId xmlns:a16="http://schemas.microsoft.com/office/drawing/2014/main" id="{C46DCF0E-139B-467E-B198-FA8323E83E47}"/>
              </a:ext>
            </a:extLst>
          </p:cNvPr>
          <p:cNvCxnSpPr>
            <a:cxnSpLocks/>
          </p:cNvCxnSpPr>
          <p:nvPr/>
        </p:nvCxnSpPr>
        <p:spPr>
          <a:xfrm flipH="1" flipV="1">
            <a:off x="7093973"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6837231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par>
                                <p:cTn id="8" presetID="16" presetClass="entr" presetSubtype="42"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arn(outHorizontal)">
                                      <p:cBhvr>
                                        <p:cTn id="10" dur="500"/>
                                        <p:tgtEl>
                                          <p:spTgt spid="35"/>
                                        </p:tgtEl>
                                      </p:cBhvr>
                                    </p:animEffect>
                                  </p:childTnLst>
                                </p:cTn>
                              </p:par>
                              <p:par>
                                <p:cTn id="11" presetID="16" presetClass="entr" presetSubtype="42"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arn(outHorizontal)">
                                      <p:cBhvr>
                                        <p:cTn id="13" dur="500"/>
                                        <p:tgtEl>
                                          <p:spTgt spid="36"/>
                                        </p:tgtEl>
                                      </p:cBhvr>
                                    </p:animEffect>
                                  </p:childTnLst>
                                </p:cTn>
                              </p:par>
                              <p:par>
                                <p:cTn id="14" presetID="16" presetClass="entr" presetSubtype="42"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barn(outHorizontal)">
                                      <p:cBhvr>
                                        <p:cTn id="16" dur="500"/>
                                        <p:tgtEl>
                                          <p:spTgt spid="37"/>
                                        </p:tgtEl>
                                      </p:cBhvr>
                                    </p:animEffect>
                                  </p:childTnLst>
                                </p:cTn>
                              </p:par>
                              <p:par>
                                <p:cTn id="17" presetID="16" presetClass="entr" presetSubtype="42"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arn(outHorizontal)">
                                      <p:cBhvr>
                                        <p:cTn id="19" dur="500"/>
                                        <p:tgtEl>
                                          <p:spTgt spid="38"/>
                                        </p:tgtEl>
                                      </p:cBhvr>
                                    </p:animEffect>
                                  </p:childTnLst>
                                </p:cTn>
                              </p:par>
                              <p:par>
                                <p:cTn id="20" presetID="16" presetClass="entr" presetSubtype="42"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arn(outHorizontal)">
                                      <p:cBhvr>
                                        <p:cTn id="22" dur="500"/>
                                        <p:tgtEl>
                                          <p:spTgt spid="39"/>
                                        </p:tgtEl>
                                      </p:cBhvr>
                                    </p:animEffect>
                                  </p:childTnLst>
                                </p:cTn>
                              </p:par>
                              <p:par>
                                <p:cTn id="23" presetID="16" presetClass="entr" presetSubtype="42"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barn(outHorizontal)">
                                      <p:cBhvr>
                                        <p:cTn id="25" dur="500"/>
                                        <p:tgtEl>
                                          <p:spTgt spid="40"/>
                                        </p:tgtEl>
                                      </p:cBhvr>
                                    </p:animEffect>
                                  </p:childTnLst>
                                </p:cTn>
                              </p:par>
                              <p:par>
                                <p:cTn id="26" presetID="16" presetClass="entr" presetSubtype="42" fill="hold"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barn(outHorizontal)">
                                      <p:cBhvr>
                                        <p:cTn id="28" dur="500"/>
                                        <p:tgtEl>
                                          <p:spTgt spid="66"/>
                                        </p:tgtEl>
                                      </p:cBhvr>
                                    </p:animEffect>
                                  </p:childTnLst>
                                </p:cTn>
                              </p:par>
                              <p:par>
                                <p:cTn id="29" presetID="16" presetClass="entr" presetSubtype="42"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barn(outHorizontal)">
                                      <p:cBhvr>
                                        <p:cTn id="31" dur="500"/>
                                        <p:tgtEl>
                                          <p:spTgt spid="74"/>
                                        </p:tgtEl>
                                      </p:cBhvr>
                                    </p:animEffect>
                                  </p:childTnLst>
                                </p:cTn>
                              </p:par>
                              <p:par>
                                <p:cTn id="32" presetID="16" presetClass="entr" presetSubtype="42" fill="hold" nodeType="with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barn(outHorizontal)">
                                      <p:cBhvr>
                                        <p:cTn id="34" dur="500"/>
                                        <p:tgtEl>
                                          <p:spTgt spid="7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dissolv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2598153"/>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5793" y="3345007"/>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334500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2616781"/>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3737" y="3345007"/>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7954" y="259815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3345007"/>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5071" y="3345007"/>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3345007"/>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3114" y="2608971"/>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398489" y="2616781"/>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0002" y="3345007"/>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3345007"/>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4676" y="3345007"/>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20477" y="3345007"/>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1648" y="2598153"/>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2616781"/>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3111" y="2609767"/>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2616781"/>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2616781"/>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7696" y="2616781"/>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3220" y="2598153"/>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5085" y="2421189"/>
            <a:ext cx="1501416" cy="3208086"/>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5285" y="2421189"/>
            <a:ext cx="1501416" cy="3208085"/>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0318"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15" y="2420576"/>
            <a:ext cx="1501416"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6989" y="2416052"/>
            <a:ext cx="1501415" cy="322567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2407" y="2423382"/>
            <a:ext cx="1501415" cy="321816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6" name="Straight Arrow Connector 5">
            <a:extLst>
              <a:ext uri="{FF2B5EF4-FFF2-40B4-BE49-F238E27FC236}">
                <a16:creationId xmlns:a16="http://schemas.microsoft.com/office/drawing/2014/main" id="{CB9C8FC6-4A67-4B6B-9D93-A4FD2BAEB88D}"/>
              </a:ext>
            </a:extLst>
          </p:cNvPr>
          <p:cNvCxnSpPr>
            <a:cxnSpLocks/>
            <a:stCxn id="3" idx="0"/>
          </p:cNvCxnSpPr>
          <p:nvPr/>
        </p:nvCxnSpPr>
        <p:spPr>
          <a:xfrm flipH="1" flipV="1">
            <a:off x="1723113" y="1409701"/>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5" name="Straight Arrow Connector 34">
            <a:extLst>
              <a:ext uri="{FF2B5EF4-FFF2-40B4-BE49-F238E27FC236}">
                <a16:creationId xmlns:a16="http://schemas.microsoft.com/office/drawing/2014/main" id="{26985C4B-C7C0-44E0-A048-484EE481D5EF}"/>
              </a:ext>
            </a:extLst>
          </p:cNvPr>
          <p:cNvCxnSpPr>
            <a:cxnSpLocks/>
          </p:cNvCxnSpPr>
          <p:nvPr/>
        </p:nvCxnSpPr>
        <p:spPr>
          <a:xfrm flipH="1" flipV="1">
            <a:off x="6871983" y="1384239"/>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6" name="Straight Arrow Connector 35">
            <a:extLst>
              <a:ext uri="{FF2B5EF4-FFF2-40B4-BE49-F238E27FC236}">
                <a16:creationId xmlns:a16="http://schemas.microsoft.com/office/drawing/2014/main" id="{215FCDC8-A7F9-4513-8BB5-B90823F0275B}"/>
              </a:ext>
            </a:extLst>
          </p:cNvPr>
          <p:cNvCxnSpPr>
            <a:cxnSpLocks/>
          </p:cNvCxnSpPr>
          <p:nvPr/>
        </p:nvCxnSpPr>
        <p:spPr>
          <a:xfrm flipH="1" flipV="1">
            <a:off x="5140846" y="1411894"/>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7" name="Straight Arrow Connector 36">
            <a:extLst>
              <a:ext uri="{FF2B5EF4-FFF2-40B4-BE49-F238E27FC236}">
                <a16:creationId xmlns:a16="http://schemas.microsoft.com/office/drawing/2014/main" id="{5AD5661E-A6C3-4766-A256-016545B294D4}"/>
              </a:ext>
            </a:extLst>
          </p:cNvPr>
          <p:cNvCxnSpPr>
            <a:cxnSpLocks/>
          </p:cNvCxnSpPr>
          <p:nvPr/>
        </p:nvCxnSpPr>
        <p:spPr>
          <a:xfrm flipH="1" flipV="1">
            <a:off x="3433313" y="1404564"/>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9" name="Straight Arrow Connector 38">
            <a:extLst>
              <a:ext uri="{FF2B5EF4-FFF2-40B4-BE49-F238E27FC236}">
                <a16:creationId xmlns:a16="http://schemas.microsoft.com/office/drawing/2014/main" id="{427195BC-B189-42B9-A2C7-E2E2E3EFB277}"/>
              </a:ext>
            </a:extLst>
          </p:cNvPr>
          <p:cNvCxnSpPr>
            <a:cxnSpLocks/>
          </p:cNvCxnSpPr>
          <p:nvPr/>
        </p:nvCxnSpPr>
        <p:spPr>
          <a:xfrm flipH="1" flipV="1">
            <a:off x="10280434" y="1400483"/>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40" name="Straight Arrow Connector 39">
            <a:extLst>
              <a:ext uri="{FF2B5EF4-FFF2-40B4-BE49-F238E27FC236}">
                <a16:creationId xmlns:a16="http://schemas.microsoft.com/office/drawing/2014/main" id="{BFADC008-F9C3-4E44-9A9B-75CA387E4787}"/>
              </a:ext>
            </a:extLst>
          </p:cNvPr>
          <p:cNvCxnSpPr>
            <a:cxnSpLocks/>
          </p:cNvCxnSpPr>
          <p:nvPr/>
        </p:nvCxnSpPr>
        <p:spPr>
          <a:xfrm flipH="1" flipV="1">
            <a:off x="8598543" y="1363298"/>
            <a:ext cx="2680" cy="1011488"/>
          </a:xfrm>
          <a:prstGeom prst="straightConnector1">
            <a:avLst/>
          </a:prstGeom>
          <a:noFill/>
          <a:ln w="57150">
            <a:solidFill>
              <a:schemeClr val="accent2">
                <a:lumMod val="60000"/>
                <a:lumOff val="40000"/>
              </a:schemeClr>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929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0E6D6653-B6E0-4273-817E-FFE020CFDBCB}"/>
              </a:ext>
            </a:extLst>
          </p:cNvPr>
          <p:cNvSpPr/>
          <p:nvPr/>
        </p:nvSpPr>
        <p:spPr bwMode="auto">
          <a:xfrm>
            <a:off x="6015091" y="1359695"/>
            <a:ext cx="1713865" cy="2879828"/>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2" name="Rectangle: Rounded Corners 81">
            <a:extLst>
              <a:ext uri="{FF2B5EF4-FFF2-40B4-BE49-F238E27FC236}">
                <a16:creationId xmlns:a16="http://schemas.microsoft.com/office/drawing/2014/main" id="{2A295B37-5C61-4E5C-8B86-92A3EEF3C672}"/>
              </a:ext>
            </a:extLst>
          </p:cNvPr>
          <p:cNvSpPr/>
          <p:nvPr/>
        </p:nvSpPr>
        <p:spPr bwMode="auto">
          <a:xfrm>
            <a:off x="6111033" y="2411865"/>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15" y="2420576"/>
            <a:ext cx="1501416"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793362C2-2856-477E-AD3C-02FC14FC6C68}"/>
              </a:ext>
            </a:extLst>
          </p:cNvPr>
          <p:cNvSpPr/>
          <p:nvPr/>
        </p:nvSpPr>
        <p:spPr bwMode="auto">
          <a:xfrm>
            <a:off x="2058742" y="5041050"/>
            <a:ext cx="7935111" cy="553998"/>
          </a:xfrm>
          <a:prstGeom prst="round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2598153"/>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5793" y="3345007"/>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334500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2616781"/>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3737" y="3345007"/>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7954" y="259815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3345007"/>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5071" y="3345007"/>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3345007"/>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3114" y="2608971"/>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398489" y="2616781"/>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0002" y="3345007"/>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3345007"/>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4676" y="3345007"/>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20477" y="3345007"/>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1648" y="2598153"/>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2616781"/>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3111" y="2609767"/>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2616781"/>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2616781"/>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7696" y="2616781"/>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3220" y="2598153"/>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5085" y="2421189"/>
            <a:ext cx="1501416" cy="1700868"/>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5285" y="2421189"/>
            <a:ext cx="1501416" cy="170086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0318" y="2420576"/>
            <a:ext cx="1501416"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6989" y="2416052"/>
            <a:ext cx="1501415"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2407" y="2423382"/>
            <a:ext cx="1501415" cy="170621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Box 41">
            <a:extLst>
              <a:ext uri="{FF2B5EF4-FFF2-40B4-BE49-F238E27FC236}">
                <a16:creationId xmlns:a16="http://schemas.microsoft.com/office/drawing/2014/main" id="{D06D0DA6-C005-48D2-80EC-A5D4147D455B}"/>
              </a:ext>
            </a:extLst>
          </p:cNvPr>
          <p:cNvSpPr txBox="1"/>
          <p:nvPr/>
        </p:nvSpPr>
        <p:spPr>
          <a:xfrm>
            <a:off x="1115687" y="1975675"/>
            <a:ext cx="121484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Andrew</a:t>
            </a:r>
          </a:p>
        </p:txBody>
      </p:sp>
      <p:sp>
        <p:nvSpPr>
          <p:cNvPr id="43" name="TextBox 42">
            <a:extLst>
              <a:ext uri="{FF2B5EF4-FFF2-40B4-BE49-F238E27FC236}">
                <a16:creationId xmlns:a16="http://schemas.microsoft.com/office/drawing/2014/main" id="{13583A58-43F7-47E2-85B0-9F26CC277822}"/>
              </a:ext>
            </a:extLst>
          </p:cNvPr>
          <p:cNvSpPr txBox="1"/>
          <p:nvPr/>
        </p:nvSpPr>
        <p:spPr>
          <a:xfrm>
            <a:off x="9878406" y="2003617"/>
            <a:ext cx="806097"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Theo</a:t>
            </a:r>
          </a:p>
        </p:txBody>
      </p:sp>
      <p:sp>
        <p:nvSpPr>
          <p:cNvPr id="62" name="TextBox 61">
            <a:extLst>
              <a:ext uri="{FF2B5EF4-FFF2-40B4-BE49-F238E27FC236}">
                <a16:creationId xmlns:a16="http://schemas.microsoft.com/office/drawing/2014/main" id="{140BD5BD-4457-44C4-8530-1B50C426EC3E}"/>
              </a:ext>
            </a:extLst>
          </p:cNvPr>
          <p:cNvSpPr txBox="1"/>
          <p:nvPr/>
        </p:nvSpPr>
        <p:spPr>
          <a:xfrm>
            <a:off x="6460260" y="1975675"/>
            <a:ext cx="846611"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Mark</a:t>
            </a:r>
          </a:p>
        </p:txBody>
      </p:sp>
      <p:sp>
        <p:nvSpPr>
          <p:cNvPr id="63" name="TextBox 62">
            <a:extLst>
              <a:ext uri="{FF2B5EF4-FFF2-40B4-BE49-F238E27FC236}">
                <a16:creationId xmlns:a16="http://schemas.microsoft.com/office/drawing/2014/main" id="{AB359058-A492-42AE-A0C0-0274915E8F68}"/>
              </a:ext>
            </a:extLst>
          </p:cNvPr>
          <p:cNvSpPr txBox="1"/>
          <p:nvPr/>
        </p:nvSpPr>
        <p:spPr>
          <a:xfrm>
            <a:off x="4771727" y="1975675"/>
            <a:ext cx="73859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Tim</a:t>
            </a:r>
          </a:p>
        </p:txBody>
      </p:sp>
      <p:sp>
        <p:nvSpPr>
          <p:cNvPr id="76" name="TextBox 75">
            <a:extLst>
              <a:ext uri="{FF2B5EF4-FFF2-40B4-BE49-F238E27FC236}">
                <a16:creationId xmlns:a16="http://schemas.microsoft.com/office/drawing/2014/main" id="{BCEC1086-F22C-465F-B393-58BA162C383E}"/>
              </a:ext>
            </a:extLst>
          </p:cNvPr>
          <p:cNvSpPr txBox="1"/>
          <p:nvPr/>
        </p:nvSpPr>
        <p:spPr>
          <a:xfrm>
            <a:off x="2747921" y="1980974"/>
            <a:ext cx="1376144"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Deborah</a:t>
            </a:r>
          </a:p>
        </p:txBody>
      </p:sp>
      <p:sp>
        <p:nvSpPr>
          <p:cNvPr id="77" name="TextBox 76">
            <a:extLst>
              <a:ext uri="{FF2B5EF4-FFF2-40B4-BE49-F238E27FC236}">
                <a16:creationId xmlns:a16="http://schemas.microsoft.com/office/drawing/2014/main" id="{948D60F5-F072-4D0A-9358-0A543DBA15A1}"/>
              </a:ext>
            </a:extLst>
          </p:cNvPr>
          <p:cNvSpPr txBox="1"/>
          <p:nvPr/>
        </p:nvSpPr>
        <p:spPr>
          <a:xfrm>
            <a:off x="8283643" y="1975675"/>
            <a:ext cx="628106"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Luis</a:t>
            </a:r>
          </a:p>
        </p:txBody>
      </p:sp>
      <p:sp>
        <p:nvSpPr>
          <p:cNvPr id="78" name="TextBox 77">
            <a:extLst>
              <a:ext uri="{FF2B5EF4-FFF2-40B4-BE49-F238E27FC236}">
                <a16:creationId xmlns:a16="http://schemas.microsoft.com/office/drawing/2014/main" id="{0DAEC83A-7F0B-4AC8-9B0B-1090C836B689}"/>
              </a:ext>
            </a:extLst>
          </p:cNvPr>
          <p:cNvSpPr txBox="1"/>
          <p:nvPr/>
        </p:nvSpPr>
        <p:spPr>
          <a:xfrm>
            <a:off x="2138183" y="5107540"/>
            <a:ext cx="8238359" cy="430887"/>
          </a:xfrm>
          <a:prstGeom prst="rect">
            <a:avLst/>
          </a:prstGeom>
          <a:noFill/>
        </p:spPr>
        <p:txBody>
          <a:bodyPr wrap="square" lIns="0" tIns="0" rIns="0" bIns="0" rtlCol="0">
            <a:spAutoFit/>
          </a:bodyPr>
          <a:lstStyle/>
          <a:p>
            <a:pPr algn="ctr"/>
            <a:r>
              <a:rPr lang="en-US" sz="2800" dirty="0"/>
              <a:t>SELECT * FROM c WHERE </a:t>
            </a:r>
            <a:r>
              <a:rPr lang="en-US" sz="2800" dirty="0" err="1"/>
              <a:t>c.username</a:t>
            </a:r>
            <a:r>
              <a:rPr lang="en-US" sz="2800" dirty="0"/>
              <a:t> = 'Mark'</a:t>
            </a:r>
          </a:p>
        </p:txBody>
      </p:sp>
      <p:sp>
        <p:nvSpPr>
          <p:cNvPr id="79" name="Arc 78">
            <a:extLst>
              <a:ext uri="{FF2B5EF4-FFF2-40B4-BE49-F238E27FC236}">
                <a16:creationId xmlns:a16="http://schemas.microsoft.com/office/drawing/2014/main" id="{4947C5D5-FFC2-490A-98DF-3C39FA90492B}"/>
              </a:ext>
            </a:extLst>
          </p:cNvPr>
          <p:cNvSpPr/>
          <p:nvPr/>
        </p:nvSpPr>
        <p:spPr>
          <a:xfrm rot="10800000" flipH="1">
            <a:off x="5428900" y="4957338"/>
            <a:ext cx="2188431" cy="1162178"/>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0003816-D855-48A3-8F1C-00BAEA8BCE76}"/>
              </a:ext>
            </a:extLst>
          </p:cNvPr>
          <p:cNvCxnSpPr>
            <a:cxnSpLocks/>
          </p:cNvCxnSpPr>
          <p:nvPr/>
        </p:nvCxnSpPr>
        <p:spPr>
          <a:xfrm>
            <a:off x="6921573" y="5532047"/>
            <a:ext cx="1581150" cy="6380"/>
          </a:xfrm>
          <a:prstGeom prst="line">
            <a:avLst/>
          </a:prstGeom>
          <a:ln w="57150">
            <a:solidFill>
              <a:schemeClr val="accent1">
                <a:lumMod val="75000"/>
              </a:schemeClr>
            </a:solidFill>
            <a:headEnd type="none"/>
            <a:tailEnd type="none"/>
          </a:ln>
        </p:spPr>
        <p:style>
          <a:lnRef idx="1">
            <a:schemeClr val="accent2"/>
          </a:lnRef>
          <a:fillRef idx="0">
            <a:schemeClr val="accent2"/>
          </a:fillRef>
          <a:effectRef idx="0">
            <a:schemeClr val="accent2"/>
          </a:effectRef>
          <a:fontRef idx="minor">
            <a:schemeClr val="tx1"/>
          </a:fontRef>
        </p:style>
      </p:cxnSp>
      <p:sp>
        <p:nvSpPr>
          <p:cNvPr id="80" name="TextBox 79">
            <a:extLst>
              <a:ext uri="{FF2B5EF4-FFF2-40B4-BE49-F238E27FC236}">
                <a16:creationId xmlns:a16="http://schemas.microsoft.com/office/drawing/2014/main" id="{969F3793-419D-48FE-8D13-4A4ABF6B9A89}"/>
              </a:ext>
            </a:extLst>
          </p:cNvPr>
          <p:cNvSpPr txBox="1"/>
          <p:nvPr/>
        </p:nvSpPr>
        <p:spPr>
          <a:xfrm>
            <a:off x="4186701" y="5835418"/>
            <a:ext cx="3186020"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our partition key</a:t>
            </a:r>
          </a:p>
        </p:txBody>
      </p:sp>
      <p:cxnSp>
        <p:nvCxnSpPr>
          <p:cNvPr id="81" name="Straight Arrow Connector 80">
            <a:extLst>
              <a:ext uri="{FF2B5EF4-FFF2-40B4-BE49-F238E27FC236}">
                <a16:creationId xmlns:a16="http://schemas.microsoft.com/office/drawing/2014/main" id="{7DB9E483-7C18-48CB-829A-87730AD3E522}"/>
              </a:ext>
            </a:extLst>
          </p:cNvPr>
          <p:cNvCxnSpPr>
            <a:cxnSpLocks/>
            <a:endCxn id="71" idx="2"/>
          </p:cNvCxnSpPr>
          <p:nvPr/>
        </p:nvCxnSpPr>
        <p:spPr>
          <a:xfrm flipV="1">
            <a:off x="6866623" y="4130767"/>
            <a:ext cx="0" cy="931693"/>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pic>
        <p:nvPicPr>
          <p:cNvPr id="66" name="Picture 65" descr="A close up of a logo&#10;&#10;Description automatically generated">
            <a:extLst>
              <a:ext uri="{FF2B5EF4-FFF2-40B4-BE49-F238E27FC236}">
                <a16:creationId xmlns:a16="http://schemas.microsoft.com/office/drawing/2014/main" id="{F27B4572-ED3D-4D48-8E43-E58FB83A64EE}"/>
              </a:ext>
            </a:extLst>
          </p:cNvPr>
          <p:cNvPicPr>
            <a:picLocks noChangeAspect="1"/>
          </p:cNvPicPr>
          <p:nvPr/>
        </p:nvPicPr>
        <p:blipFill>
          <a:blip r:embed="rId4">
            <a:duotone>
              <a:schemeClr val="accent2">
                <a:shade val="45000"/>
                <a:satMod val="135000"/>
              </a:schemeClr>
              <a:prstClr val="white"/>
            </a:duotone>
          </a:blip>
          <a:stretch>
            <a:fillRect/>
          </a:stretch>
        </p:blipFill>
        <p:spPr>
          <a:xfrm>
            <a:off x="6022593" y="1349119"/>
            <a:ext cx="1706363" cy="626556"/>
          </a:xfrm>
          <a:prstGeom prst="rect">
            <a:avLst/>
          </a:prstGeom>
        </p:spPr>
      </p:pic>
      <p:pic>
        <p:nvPicPr>
          <p:cNvPr id="5" name="Picture 4" descr="A close up of a logo&#10;&#10;Description automatically generated">
            <a:extLst>
              <a:ext uri="{FF2B5EF4-FFF2-40B4-BE49-F238E27FC236}">
                <a16:creationId xmlns:a16="http://schemas.microsoft.com/office/drawing/2014/main" id="{14AD1347-F9B5-4E99-9CBF-13B709633A19}"/>
              </a:ext>
            </a:extLst>
          </p:cNvPr>
          <p:cNvPicPr>
            <a:picLocks noChangeAspect="1"/>
          </p:cNvPicPr>
          <p:nvPr/>
        </p:nvPicPr>
        <p:blipFill>
          <a:blip r:embed="rId5"/>
          <a:stretch>
            <a:fillRect/>
          </a:stretch>
        </p:blipFill>
        <p:spPr>
          <a:xfrm>
            <a:off x="2138183" y="5127095"/>
            <a:ext cx="381907" cy="381907"/>
          </a:xfrm>
          <a:prstGeom prst="rect">
            <a:avLst/>
          </a:prstGeom>
        </p:spPr>
      </p:pic>
      <p:sp>
        <p:nvSpPr>
          <p:cNvPr id="75" name="Rectangle: Rounded Corners 74">
            <a:extLst>
              <a:ext uri="{FF2B5EF4-FFF2-40B4-BE49-F238E27FC236}">
                <a16:creationId xmlns:a16="http://schemas.microsoft.com/office/drawing/2014/main" id="{55C21776-9A66-46C5-B829-5F38472D8CAB}"/>
              </a:ext>
            </a:extLst>
          </p:cNvPr>
          <p:cNvSpPr/>
          <p:nvPr/>
        </p:nvSpPr>
        <p:spPr bwMode="auto">
          <a:xfrm>
            <a:off x="2058742" y="5032339"/>
            <a:ext cx="7935111"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B10B4667-443C-4F5A-910D-226DDCF9865B}"/>
              </a:ext>
            </a:extLst>
          </p:cNvPr>
          <p:cNvCxnSpPr>
            <a:cxnSpLocks/>
          </p:cNvCxnSpPr>
          <p:nvPr/>
        </p:nvCxnSpPr>
        <p:spPr>
          <a:xfrm>
            <a:off x="2571188" y="5032339"/>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7385505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wipe(up)">
                                      <p:cBhvr>
                                        <p:cTn id="25" dur="500"/>
                                        <p:tgtEl>
                                          <p:spTgt spid="79"/>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80"/>
                                        </p:tgtEl>
                                        <p:attrNameLst>
                                          <p:attrName>style.visibility</p:attrName>
                                        </p:attrNameLst>
                                      </p:cBhvr>
                                      <p:to>
                                        <p:strVal val="visible"/>
                                      </p:to>
                                    </p:set>
                                    <p:animEffect transition="in" filter="fade">
                                      <p:cBhvr>
                                        <p:cTn id="29" dur="500"/>
                                        <p:tgtEl>
                                          <p:spTgt spid="8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79"/>
                                        </p:tgtEl>
                                      </p:cBhvr>
                                    </p:animEffect>
                                    <p:set>
                                      <p:cBhvr>
                                        <p:cTn id="37" dur="1" fill="hold">
                                          <p:stCondLst>
                                            <p:cond delay="499"/>
                                          </p:stCondLst>
                                        </p:cTn>
                                        <p:tgtEl>
                                          <p:spTgt spid="79"/>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80"/>
                                        </p:tgtEl>
                                      </p:cBhvr>
                                    </p:animEffect>
                                    <p:set>
                                      <p:cBhvr>
                                        <p:cTn id="40" dur="1" fill="hold">
                                          <p:stCondLst>
                                            <p:cond delay="499"/>
                                          </p:stCondLst>
                                        </p:cTn>
                                        <p:tgtEl>
                                          <p:spTgt spid="80"/>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wipe(down)">
                                      <p:cBhvr>
                                        <p:cTn id="47" dur="500"/>
                                        <p:tgtEl>
                                          <p:spTgt spid="81"/>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fade">
                                      <p:cBhvr>
                                        <p:cTn id="51" dur="500"/>
                                        <p:tgtEl>
                                          <p:spTgt spid="8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6"/>
                                        </p:tgtEl>
                                        <p:attrNameLst>
                                          <p:attrName>style.visibility</p:attrName>
                                        </p:attrNameLst>
                                      </p:cBhvr>
                                      <p:to>
                                        <p:strVal val="visible"/>
                                      </p:to>
                                    </p:set>
                                    <p:animEffect transition="in" filter="fade">
                                      <p:cBhvr>
                                        <p:cTn id="56" dur="500"/>
                                        <p:tgtEl>
                                          <p:spTgt spid="6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fade">
                                      <p:cBhvr>
                                        <p:cTn id="59"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82" grpId="0" animBg="1"/>
      <p:bldP spid="9" grpId="0" animBg="1"/>
      <p:bldP spid="78" grpId="0"/>
      <p:bldP spid="79" grpId="0" animBg="1"/>
      <p:bldP spid="79" grpId="1" animBg="1"/>
      <p:bldP spid="80" grpId="0"/>
      <p:bldP spid="80" grpId="1"/>
      <p:bldP spid="7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Rounded Corners 84">
            <a:extLst>
              <a:ext uri="{FF2B5EF4-FFF2-40B4-BE49-F238E27FC236}">
                <a16:creationId xmlns:a16="http://schemas.microsoft.com/office/drawing/2014/main" id="{3F4C0BB3-1792-45DF-BE17-1CA692E3AE08}"/>
              </a:ext>
            </a:extLst>
          </p:cNvPr>
          <p:cNvSpPr/>
          <p:nvPr/>
        </p:nvSpPr>
        <p:spPr bwMode="auto">
          <a:xfrm>
            <a:off x="6015091" y="1359695"/>
            <a:ext cx="1713865" cy="2879828"/>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3" name="Rectangle: Rounded Corners 92">
            <a:extLst>
              <a:ext uri="{FF2B5EF4-FFF2-40B4-BE49-F238E27FC236}">
                <a16:creationId xmlns:a16="http://schemas.microsoft.com/office/drawing/2014/main" id="{AD075C02-13DC-4637-B010-BE01DC4917D3}"/>
              </a:ext>
            </a:extLst>
          </p:cNvPr>
          <p:cNvSpPr/>
          <p:nvPr/>
        </p:nvSpPr>
        <p:spPr bwMode="auto">
          <a:xfrm>
            <a:off x="871883" y="1370271"/>
            <a:ext cx="1713865" cy="2879828"/>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5" name="Rectangle: Rounded Corners 94">
            <a:extLst>
              <a:ext uri="{FF2B5EF4-FFF2-40B4-BE49-F238E27FC236}">
                <a16:creationId xmlns:a16="http://schemas.microsoft.com/office/drawing/2014/main" id="{8A4636F7-97C1-4641-B17F-73F7C2A116A2}"/>
              </a:ext>
            </a:extLst>
          </p:cNvPr>
          <p:cNvSpPr/>
          <p:nvPr/>
        </p:nvSpPr>
        <p:spPr bwMode="auto">
          <a:xfrm>
            <a:off x="7728956" y="1359695"/>
            <a:ext cx="3436841" cy="2879828"/>
          </a:xfrm>
          <a:prstGeom prst="roundRect">
            <a:avLst>
              <a:gd name="adj" fmla="val 3793"/>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7" name="Rectangle: Rounded Corners 96">
            <a:extLst>
              <a:ext uri="{FF2B5EF4-FFF2-40B4-BE49-F238E27FC236}">
                <a16:creationId xmlns:a16="http://schemas.microsoft.com/office/drawing/2014/main" id="{FE9E5B14-8A44-4651-8ECE-F2944A39C9D1}"/>
              </a:ext>
            </a:extLst>
          </p:cNvPr>
          <p:cNvSpPr/>
          <p:nvPr/>
        </p:nvSpPr>
        <p:spPr bwMode="auto">
          <a:xfrm>
            <a:off x="2595036" y="1370271"/>
            <a:ext cx="3422675" cy="2879828"/>
          </a:xfrm>
          <a:prstGeom prst="roundRect">
            <a:avLst>
              <a:gd name="adj" fmla="val 4233"/>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7" name="Rectangle: Rounded Corners 86">
            <a:extLst>
              <a:ext uri="{FF2B5EF4-FFF2-40B4-BE49-F238E27FC236}">
                <a16:creationId xmlns:a16="http://schemas.microsoft.com/office/drawing/2014/main" id="{233DD748-43F6-4574-A26F-3EF3CA0312A1}"/>
              </a:ext>
            </a:extLst>
          </p:cNvPr>
          <p:cNvSpPr/>
          <p:nvPr/>
        </p:nvSpPr>
        <p:spPr bwMode="auto">
          <a:xfrm>
            <a:off x="7846462" y="2411864"/>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8" name="Rectangle: Rounded Corners 87">
            <a:extLst>
              <a:ext uri="{FF2B5EF4-FFF2-40B4-BE49-F238E27FC236}">
                <a16:creationId xmlns:a16="http://schemas.microsoft.com/office/drawing/2014/main" id="{C8DCE3CE-4E7C-4FC1-9A45-9CAD3CF9B98C}"/>
              </a:ext>
            </a:extLst>
          </p:cNvPr>
          <p:cNvSpPr/>
          <p:nvPr/>
        </p:nvSpPr>
        <p:spPr bwMode="auto">
          <a:xfrm>
            <a:off x="4396274" y="2411864"/>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DA3F58F0-319D-4407-8171-90A8FF8BFA1A}"/>
              </a:ext>
            </a:extLst>
          </p:cNvPr>
          <p:cNvSpPr/>
          <p:nvPr/>
        </p:nvSpPr>
        <p:spPr bwMode="auto">
          <a:xfrm>
            <a:off x="2692695" y="2411865"/>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0" name="Rectangle: Rounded Corners 89">
            <a:extLst>
              <a:ext uri="{FF2B5EF4-FFF2-40B4-BE49-F238E27FC236}">
                <a16:creationId xmlns:a16="http://schemas.microsoft.com/office/drawing/2014/main" id="{29BEE8BD-D134-4940-8A9C-A14CCB041C83}"/>
              </a:ext>
            </a:extLst>
          </p:cNvPr>
          <p:cNvSpPr/>
          <p:nvPr/>
        </p:nvSpPr>
        <p:spPr bwMode="auto">
          <a:xfrm>
            <a:off x="967098" y="2411865"/>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1" name="Rectangle: Rounded Corners 90">
            <a:extLst>
              <a:ext uri="{FF2B5EF4-FFF2-40B4-BE49-F238E27FC236}">
                <a16:creationId xmlns:a16="http://schemas.microsoft.com/office/drawing/2014/main" id="{0A10CB7F-DC7A-49B0-8DDC-8BB9D03B7779}"/>
              </a:ext>
            </a:extLst>
          </p:cNvPr>
          <p:cNvSpPr/>
          <p:nvPr/>
        </p:nvSpPr>
        <p:spPr bwMode="auto">
          <a:xfrm>
            <a:off x="9530746" y="2420576"/>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2" name="Rectangle: Rounded Corners 81">
            <a:extLst>
              <a:ext uri="{FF2B5EF4-FFF2-40B4-BE49-F238E27FC236}">
                <a16:creationId xmlns:a16="http://schemas.microsoft.com/office/drawing/2014/main" id="{2A295B37-5C61-4E5C-8B86-92A3EEF3C672}"/>
              </a:ext>
            </a:extLst>
          </p:cNvPr>
          <p:cNvSpPr/>
          <p:nvPr/>
        </p:nvSpPr>
        <p:spPr bwMode="auto">
          <a:xfrm>
            <a:off x="6111033" y="2411865"/>
            <a:ext cx="1501416" cy="1710191"/>
          </a:xfrm>
          <a:prstGeom prst="roundRect">
            <a:avLst>
              <a:gd name="adj" fmla="val 6628"/>
            </a:avLst>
          </a:prstGeom>
          <a:solidFill>
            <a:schemeClr val="accent1">
              <a:lumMod val="40000"/>
              <a:lumOff val="60000"/>
            </a:schemeClr>
          </a:solidFill>
          <a:ln w="57150">
            <a:no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15" y="2420576"/>
            <a:ext cx="1501416"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793362C2-2856-477E-AD3C-02FC14FC6C68}"/>
              </a:ext>
            </a:extLst>
          </p:cNvPr>
          <p:cNvSpPr/>
          <p:nvPr/>
        </p:nvSpPr>
        <p:spPr bwMode="auto">
          <a:xfrm>
            <a:off x="1638300" y="5041050"/>
            <a:ext cx="8759759" cy="553998"/>
          </a:xfrm>
          <a:prstGeom prst="round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5899" y="2598153"/>
            <a:ext cx="609894" cy="609894"/>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5793" y="3345007"/>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3345007"/>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2616781"/>
            <a:ext cx="609894" cy="609894"/>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3737" y="3345007"/>
            <a:ext cx="609894" cy="609894"/>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7954" y="2598153"/>
            <a:ext cx="609894" cy="609894"/>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7802" y="3345007"/>
            <a:ext cx="609894" cy="609894"/>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5071" y="3345007"/>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3345007"/>
            <a:ext cx="609894" cy="609894"/>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3114" y="2608971"/>
            <a:ext cx="609894" cy="609894"/>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398489" y="2616781"/>
            <a:ext cx="609894" cy="609894"/>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0002" y="3345007"/>
            <a:ext cx="609894" cy="609894"/>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3345007"/>
            <a:ext cx="609894" cy="609894"/>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4676" y="3345007"/>
            <a:ext cx="609894" cy="609894"/>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20477" y="3345007"/>
            <a:ext cx="609894" cy="609894"/>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1648" y="2598153"/>
            <a:ext cx="609894" cy="609894"/>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9362" y="2616781"/>
            <a:ext cx="609894" cy="609894"/>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3111" y="2609767"/>
            <a:ext cx="609894" cy="609894"/>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3959" y="2616781"/>
            <a:ext cx="609894" cy="609894"/>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468" y="2616781"/>
            <a:ext cx="609894" cy="609894"/>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7696" y="2616781"/>
            <a:ext cx="609894" cy="609894"/>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3220" y="2598153"/>
            <a:ext cx="609894" cy="609894"/>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5085" y="2421189"/>
            <a:ext cx="1501416" cy="1700868"/>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5285" y="2421189"/>
            <a:ext cx="1501416" cy="170086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0318" y="2420576"/>
            <a:ext cx="1501416"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6989" y="2416052"/>
            <a:ext cx="1501415" cy="171019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2407" y="2423382"/>
            <a:ext cx="1501415" cy="170621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Box 41">
            <a:extLst>
              <a:ext uri="{FF2B5EF4-FFF2-40B4-BE49-F238E27FC236}">
                <a16:creationId xmlns:a16="http://schemas.microsoft.com/office/drawing/2014/main" id="{D06D0DA6-C005-48D2-80EC-A5D4147D455B}"/>
              </a:ext>
            </a:extLst>
          </p:cNvPr>
          <p:cNvSpPr txBox="1"/>
          <p:nvPr/>
        </p:nvSpPr>
        <p:spPr>
          <a:xfrm>
            <a:off x="1115687" y="1975675"/>
            <a:ext cx="121484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Andrew</a:t>
            </a:r>
          </a:p>
        </p:txBody>
      </p:sp>
      <p:sp>
        <p:nvSpPr>
          <p:cNvPr id="43" name="TextBox 42">
            <a:extLst>
              <a:ext uri="{FF2B5EF4-FFF2-40B4-BE49-F238E27FC236}">
                <a16:creationId xmlns:a16="http://schemas.microsoft.com/office/drawing/2014/main" id="{13583A58-43F7-47E2-85B0-9F26CC277822}"/>
              </a:ext>
            </a:extLst>
          </p:cNvPr>
          <p:cNvSpPr txBox="1"/>
          <p:nvPr/>
        </p:nvSpPr>
        <p:spPr>
          <a:xfrm>
            <a:off x="9878406" y="2003617"/>
            <a:ext cx="806097"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Theo</a:t>
            </a:r>
          </a:p>
        </p:txBody>
      </p:sp>
      <p:sp>
        <p:nvSpPr>
          <p:cNvPr id="62" name="TextBox 61">
            <a:extLst>
              <a:ext uri="{FF2B5EF4-FFF2-40B4-BE49-F238E27FC236}">
                <a16:creationId xmlns:a16="http://schemas.microsoft.com/office/drawing/2014/main" id="{140BD5BD-4457-44C4-8530-1B50C426EC3E}"/>
              </a:ext>
            </a:extLst>
          </p:cNvPr>
          <p:cNvSpPr txBox="1"/>
          <p:nvPr/>
        </p:nvSpPr>
        <p:spPr>
          <a:xfrm>
            <a:off x="6460260" y="1975675"/>
            <a:ext cx="846611"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Mark</a:t>
            </a:r>
          </a:p>
        </p:txBody>
      </p:sp>
      <p:sp>
        <p:nvSpPr>
          <p:cNvPr id="63" name="TextBox 62">
            <a:extLst>
              <a:ext uri="{FF2B5EF4-FFF2-40B4-BE49-F238E27FC236}">
                <a16:creationId xmlns:a16="http://schemas.microsoft.com/office/drawing/2014/main" id="{AB359058-A492-42AE-A0C0-0274915E8F68}"/>
              </a:ext>
            </a:extLst>
          </p:cNvPr>
          <p:cNvSpPr txBox="1"/>
          <p:nvPr/>
        </p:nvSpPr>
        <p:spPr>
          <a:xfrm>
            <a:off x="4771727" y="1975675"/>
            <a:ext cx="738598"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Tim</a:t>
            </a:r>
          </a:p>
        </p:txBody>
      </p:sp>
      <p:sp>
        <p:nvSpPr>
          <p:cNvPr id="76" name="TextBox 75">
            <a:extLst>
              <a:ext uri="{FF2B5EF4-FFF2-40B4-BE49-F238E27FC236}">
                <a16:creationId xmlns:a16="http://schemas.microsoft.com/office/drawing/2014/main" id="{BCEC1086-F22C-465F-B393-58BA162C383E}"/>
              </a:ext>
            </a:extLst>
          </p:cNvPr>
          <p:cNvSpPr txBox="1"/>
          <p:nvPr/>
        </p:nvSpPr>
        <p:spPr>
          <a:xfrm>
            <a:off x="2747921" y="2003617"/>
            <a:ext cx="1376144"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Deborah</a:t>
            </a:r>
          </a:p>
        </p:txBody>
      </p:sp>
      <p:sp>
        <p:nvSpPr>
          <p:cNvPr id="77" name="TextBox 76">
            <a:extLst>
              <a:ext uri="{FF2B5EF4-FFF2-40B4-BE49-F238E27FC236}">
                <a16:creationId xmlns:a16="http://schemas.microsoft.com/office/drawing/2014/main" id="{948D60F5-F072-4D0A-9358-0A543DBA15A1}"/>
              </a:ext>
            </a:extLst>
          </p:cNvPr>
          <p:cNvSpPr txBox="1"/>
          <p:nvPr/>
        </p:nvSpPr>
        <p:spPr>
          <a:xfrm>
            <a:off x="8283643" y="1975675"/>
            <a:ext cx="628106" cy="369332"/>
          </a:xfrm>
          <a:prstGeom prst="rect">
            <a:avLst/>
          </a:prstGeom>
          <a:noFill/>
        </p:spPr>
        <p:txBody>
          <a:bodyPr wrap="square" lIns="0" tIns="0" rIns="0" bIns="0" rtlCol="0">
            <a:spAutoFit/>
          </a:bodyPr>
          <a:lstStyle/>
          <a:p>
            <a:pPr algn="ctr"/>
            <a:r>
              <a:rPr lang="en-US" sz="2400" dirty="0">
                <a:solidFill>
                  <a:schemeClr val="accent2">
                    <a:lumMod val="60000"/>
                    <a:lumOff val="40000"/>
                  </a:schemeClr>
                </a:solidFill>
              </a:rPr>
              <a:t>Luis</a:t>
            </a:r>
          </a:p>
        </p:txBody>
      </p:sp>
      <p:sp>
        <p:nvSpPr>
          <p:cNvPr id="78" name="TextBox 77">
            <a:extLst>
              <a:ext uri="{FF2B5EF4-FFF2-40B4-BE49-F238E27FC236}">
                <a16:creationId xmlns:a16="http://schemas.microsoft.com/office/drawing/2014/main" id="{0DAEC83A-7F0B-4AC8-9B0B-1090C836B689}"/>
              </a:ext>
            </a:extLst>
          </p:cNvPr>
          <p:cNvSpPr txBox="1"/>
          <p:nvPr/>
        </p:nvSpPr>
        <p:spPr>
          <a:xfrm>
            <a:off x="2159700" y="5107540"/>
            <a:ext cx="8238359" cy="430887"/>
          </a:xfrm>
          <a:prstGeom prst="rect">
            <a:avLst/>
          </a:prstGeom>
          <a:noFill/>
        </p:spPr>
        <p:txBody>
          <a:bodyPr wrap="square" lIns="0" tIns="0" rIns="0" bIns="0" rtlCol="0">
            <a:spAutoFit/>
          </a:bodyPr>
          <a:lstStyle/>
          <a:p>
            <a:pPr algn="ctr"/>
            <a:r>
              <a:rPr lang="en-US" sz="2800" dirty="0"/>
              <a:t>SELECT * FROM c WHERE </a:t>
            </a:r>
            <a:r>
              <a:rPr lang="en-US" sz="2800" dirty="0" err="1"/>
              <a:t>c.favoriteColor</a:t>
            </a:r>
            <a:r>
              <a:rPr lang="en-US" sz="2800" dirty="0"/>
              <a:t> = 'orange'</a:t>
            </a:r>
          </a:p>
        </p:txBody>
      </p:sp>
      <p:sp>
        <p:nvSpPr>
          <p:cNvPr id="79" name="Arc 78">
            <a:extLst>
              <a:ext uri="{FF2B5EF4-FFF2-40B4-BE49-F238E27FC236}">
                <a16:creationId xmlns:a16="http://schemas.microsoft.com/office/drawing/2014/main" id="{4947C5D5-FFC2-490A-98DF-3C39FA90492B}"/>
              </a:ext>
            </a:extLst>
          </p:cNvPr>
          <p:cNvSpPr/>
          <p:nvPr/>
        </p:nvSpPr>
        <p:spPr>
          <a:xfrm rot="10800000" flipH="1">
            <a:off x="5428900" y="4957338"/>
            <a:ext cx="2188431" cy="1162178"/>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0003816-D855-48A3-8F1C-00BAEA8BCE76}"/>
              </a:ext>
            </a:extLst>
          </p:cNvPr>
          <p:cNvCxnSpPr>
            <a:cxnSpLocks/>
          </p:cNvCxnSpPr>
          <p:nvPr/>
        </p:nvCxnSpPr>
        <p:spPr>
          <a:xfrm>
            <a:off x="6580505" y="5538427"/>
            <a:ext cx="2032000" cy="0"/>
          </a:xfrm>
          <a:prstGeom prst="line">
            <a:avLst/>
          </a:prstGeom>
          <a:ln w="57150">
            <a:solidFill>
              <a:schemeClr val="accent1">
                <a:lumMod val="75000"/>
              </a:schemeClr>
            </a:solidFill>
            <a:headEnd type="none"/>
            <a:tailEnd type="none"/>
          </a:ln>
        </p:spPr>
        <p:style>
          <a:lnRef idx="1">
            <a:schemeClr val="accent2"/>
          </a:lnRef>
          <a:fillRef idx="0">
            <a:schemeClr val="accent2"/>
          </a:fillRef>
          <a:effectRef idx="0">
            <a:schemeClr val="accent2"/>
          </a:effectRef>
          <a:fontRef idx="minor">
            <a:schemeClr val="tx1"/>
          </a:fontRef>
        </p:style>
      </p:cxnSp>
      <p:sp>
        <p:nvSpPr>
          <p:cNvPr id="80" name="TextBox 79">
            <a:extLst>
              <a:ext uri="{FF2B5EF4-FFF2-40B4-BE49-F238E27FC236}">
                <a16:creationId xmlns:a16="http://schemas.microsoft.com/office/drawing/2014/main" id="{969F3793-419D-48FE-8D13-4A4ABF6B9A89}"/>
              </a:ext>
            </a:extLst>
          </p:cNvPr>
          <p:cNvSpPr txBox="1"/>
          <p:nvPr/>
        </p:nvSpPr>
        <p:spPr>
          <a:xfrm>
            <a:off x="6259467" y="5873518"/>
            <a:ext cx="1113253"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a:t>
            </a:r>
          </a:p>
        </p:txBody>
      </p:sp>
      <p:cxnSp>
        <p:nvCxnSpPr>
          <p:cNvPr id="81" name="Straight Arrow Connector 80">
            <a:extLst>
              <a:ext uri="{FF2B5EF4-FFF2-40B4-BE49-F238E27FC236}">
                <a16:creationId xmlns:a16="http://schemas.microsoft.com/office/drawing/2014/main" id="{7DB9E483-7C18-48CB-829A-87730AD3E522}"/>
              </a:ext>
            </a:extLst>
          </p:cNvPr>
          <p:cNvCxnSpPr>
            <a:cxnSpLocks/>
            <a:endCxn id="71" idx="2"/>
          </p:cNvCxnSpPr>
          <p:nvPr/>
        </p:nvCxnSpPr>
        <p:spPr>
          <a:xfrm flipV="1">
            <a:off x="6866623" y="4130767"/>
            <a:ext cx="0" cy="931693"/>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66" name="Straight Arrow Connector 65">
            <a:extLst>
              <a:ext uri="{FF2B5EF4-FFF2-40B4-BE49-F238E27FC236}">
                <a16:creationId xmlns:a16="http://schemas.microsoft.com/office/drawing/2014/main" id="{DB6FDA93-ABB0-4D3B-9B45-A8A89B5E7CCC}"/>
              </a:ext>
            </a:extLst>
          </p:cNvPr>
          <p:cNvCxnSpPr>
            <a:cxnSpLocks/>
          </p:cNvCxnSpPr>
          <p:nvPr/>
        </p:nvCxnSpPr>
        <p:spPr>
          <a:xfrm flipV="1">
            <a:off x="8658027" y="4109357"/>
            <a:ext cx="0" cy="931693"/>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4" name="Straight Arrow Connector 73">
            <a:extLst>
              <a:ext uri="{FF2B5EF4-FFF2-40B4-BE49-F238E27FC236}">
                <a16:creationId xmlns:a16="http://schemas.microsoft.com/office/drawing/2014/main" id="{A8D3F7C5-22E4-434F-8368-A7F6515F6052}"/>
              </a:ext>
            </a:extLst>
          </p:cNvPr>
          <p:cNvCxnSpPr>
            <a:cxnSpLocks/>
          </p:cNvCxnSpPr>
          <p:nvPr/>
        </p:nvCxnSpPr>
        <p:spPr>
          <a:xfrm flipV="1">
            <a:off x="5097954" y="4122056"/>
            <a:ext cx="0" cy="931693"/>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5" name="Straight Arrow Connector 74">
            <a:extLst>
              <a:ext uri="{FF2B5EF4-FFF2-40B4-BE49-F238E27FC236}">
                <a16:creationId xmlns:a16="http://schemas.microsoft.com/office/drawing/2014/main" id="{8EACB700-972F-4B1B-B7C7-8F08253BE6FA}"/>
              </a:ext>
            </a:extLst>
          </p:cNvPr>
          <p:cNvCxnSpPr>
            <a:cxnSpLocks/>
          </p:cNvCxnSpPr>
          <p:nvPr/>
        </p:nvCxnSpPr>
        <p:spPr>
          <a:xfrm flipV="1">
            <a:off x="3497047" y="4122056"/>
            <a:ext cx="0" cy="931693"/>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83" name="Straight Arrow Connector 82">
            <a:extLst>
              <a:ext uri="{FF2B5EF4-FFF2-40B4-BE49-F238E27FC236}">
                <a16:creationId xmlns:a16="http://schemas.microsoft.com/office/drawing/2014/main" id="{A508D495-4F39-4FDE-85C1-2C1C6152245F}"/>
              </a:ext>
            </a:extLst>
          </p:cNvPr>
          <p:cNvCxnSpPr>
            <a:cxnSpLocks/>
          </p:cNvCxnSpPr>
          <p:nvPr/>
        </p:nvCxnSpPr>
        <p:spPr>
          <a:xfrm flipH="1" flipV="1">
            <a:off x="1905000" y="4129593"/>
            <a:ext cx="425535" cy="924157"/>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86" name="Straight Arrow Connector 85">
            <a:extLst>
              <a:ext uri="{FF2B5EF4-FFF2-40B4-BE49-F238E27FC236}">
                <a16:creationId xmlns:a16="http://schemas.microsoft.com/office/drawing/2014/main" id="{1A8DF640-D931-4C74-8C1C-9784FEDF13F4}"/>
              </a:ext>
            </a:extLst>
          </p:cNvPr>
          <p:cNvCxnSpPr>
            <a:cxnSpLocks/>
          </p:cNvCxnSpPr>
          <p:nvPr/>
        </p:nvCxnSpPr>
        <p:spPr>
          <a:xfrm flipV="1">
            <a:off x="9772650" y="4137128"/>
            <a:ext cx="349801" cy="97823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pic>
        <p:nvPicPr>
          <p:cNvPr id="84" name="Picture 83" descr="A close up of a logo&#10;&#10;Description automatically generated">
            <a:extLst>
              <a:ext uri="{FF2B5EF4-FFF2-40B4-BE49-F238E27FC236}">
                <a16:creationId xmlns:a16="http://schemas.microsoft.com/office/drawing/2014/main" id="{9C7978A8-104F-4BBF-BADE-A17FD2CFA1CE}"/>
              </a:ext>
            </a:extLst>
          </p:cNvPr>
          <p:cNvPicPr>
            <a:picLocks noChangeAspect="1"/>
          </p:cNvPicPr>
          <p:nvPr/>
        </p:nvPicPr>
        <p:blipFill>
          <a:blip r:embed="rId4">
            <a:duotone>
              <a:schemeClr val="accent2">
                <a:shade val="45000"/>
                <a:satMod val="135000"/>
              </a:schemeClr>
              <a:prstClr val="white"/>
            </a:duotone>
          </a:blip>
          <a:stretch>
            <a:fillRect/>
          </a:stretch>
        </p:blipFill>
        <p:spPr>
          <a:xfrm>
            <a:off x="6022593" y="1349119"/>
            <a:ext cx="1706363" cy="626556"/>
          </a:xfrm>
          <a:prstGeom prst="rect">
            <a:avLst/>
          </a:prstGeom>
        </p:spPr>
      </p:pic>
      <p:pic>
        <p:nvPicPr>
          <p:cNvPr id="92" name="Picture 91" descr="A close up of a logo&#10;&#10;Description automatically generated">
            <a:extLst>
              <a:ext uri="{FF2B5EF4-FFF2-40B4-BE49-F238E27FC236}">
                <a16:creationId xmlns:a16="http://schemas.microsoft.com/office/drawing/2014/main" id="{8A1EBCBB-8858-40D0-9CDF-1D749824A2F6}"/>
              </a:ext>
            </a:extLst>
          </p:cNvPr>
          <p:cNvPicPr>
            <a:picLocks noChangeAspect="1"/>
          </p:cNvPicPr>
          <p:nvPr/>
        </p:nvPicPr>
        <p:blipFill>
          <a:blip r:embed="rId4">
            <a:duotone>
              <a:schemeClr val="accent2">
                <a:shade val="45000"/>
                <a:satMod val="135000"/>
              </a:schemeClr>
              <a:prstClr val="white"/>
            </a:duotone>
          </a:blip>
          <a:stretch>
            <a:fillRect/>
          </a:stretch>
        </p:blipFill>
        <p:spPr>
          <a:xfrm>
            <a:off x="879385" y="1359695"/>
            <a:ext cx="1706363" cy="626556"/>
          </a:xfrm>
          <a:prstGeom prst="rect">
            <a:avLst/>
          </a:prstGeom>
        </p:spPr>
      </p:pic>
      <p:pic>
        <p:nvPicPr>
          <p:cNvPr id="94" name="Picture 93" descr="A close up of a logo&#10;&#10;Description automatically generated">
            <a:extLst>
              <a:ext uri="{FF2B5EF4-FFF2-40B4-BE49-F238E27FC236}">
                <a16:creationId xmlns:a16="http://schemas.microsoft.com/office/drawing/2014/main" id="{FBF040A3-107A-46D4-9CB1-B15082107EEA}"/>
              </a:ext>
            </a:extLst>
          </p:cNvPr>
          <p:cNvPicPr>
            <a:picLocks noChangeAspect="1"/>
          </p:cNvPicPr>
          <p:nvPr/>
        </p:nvPicPr>
        <p:blipFill>
          <a:blip r:embed="rId4">
            <a:duotone>
              <a:schemeClr val="accent2">
                <a:shade val="45000"/>
                <a:satMod val="135000"/>
              </a:schemeClr>
              <a:prstClr val="white"/>
            </a:duotone>
          </a:blip>
          <a:stretch>
            <a:fillRect/>
          </a:stretch>
        </p:blipFill>
        <p:spPr>
          <a:xfrm>
            <a:off x="8589639" y="1349119"/>
            <a:ext cx="1706363" cy="626556"/>
          </a:xfrm>
          <a:prstGeom prst="rect">
            <a:avLst/>
          </a:prstGeom>
        </p:spPr>
      </p:pic>
      <p:pic>
        <p:nvPicPr>
          <p:cNvPr id="96" name="Picture 95" descr="A close up of a logo&#10;&#10;Description automatically generated">
            <a:extLst>
              <a:ext uri="{FF2B5EF4-FFF2-40B4-BE49-F238E27FC236}">
                <a16:creationId xmlns:a16="http://schemas.microsoft.com/office/drawing/2014/main" id="{6A0DADA1-878B-470E-9CBD-44E40D89E516}"/>
              </a:ext>
            </a:extLst>
          </p:cNvPr>
          <p:cNvPicPr>
            <a:picLocks noChangeAspect="1"/>
          </p:cNvPicPr>
          <p:nvPr/>
        </p:nvPicPr>
        <p:blipFill>
          <a:blip r:embed="rId4">
            <a:duotone>
              <a:schemeClr val="accent2">
                <a:shade val="45000"/>
                <a:satMod val="135000"/>
              </a:schemeClr>
              <a:prstClr val="white"/>
            </a:duotone>
          </a:blip>
          <a:stretch>
            <a:fillRect/>
          </a:stretch>
        </p:blipFill>
        <p:spPr>
          <a:xfrm>
            <a:off x="3455719" y="1359695"/>
            <a:ext cx="1706363" cy="626556"/>
          </a:xfrm>
          <a:prstGeom prst="rect">
            <a:avLst/>
          </a:prstGeom>
        </p:spPr>
      </p:pic>
      <p:pic>
        <p:nvPicPr>
          <p:cNvPr id="98" name="Picture 97" descr="A close up of a logo&#10;&#10;Description automatically generated">
            <a:extLst>
              <a:ext uri="{FF2B5EF4-FFF2-40B4-BE49-F238E27FC236}">
                <a16:creationId xmlns:a16="http://schemas.microsoft.com/office/drawing/2014/main" id="{31C1CF59-3341-4412-8D20-04C617D10426}"/>
              </a:ext>
            </a:extLst>
          </p:cNvPr>
          <p:cNvPicPr>
            <a:picLocks noChangeAspect="1"/>
          </p:cNvPicPr>
          <p:nvPr/>
        </p:nvPicPr>
        <p:blipFill>
          <a:blip r:embed="rId5"/>
          <a:stretch>
            <a:fillRect/>
          </a:stretch>
        </p:blipFill>
        <p:spPr>
          <a:xfrm>
            <a:off x="1719083" y="5127095"/>
            <a:ext cx="381907" cy="381907"/>
          </a:xfrm>
          <a:prstGeom prst="rect">
            <a:avLst/>
          </a:prstGeom>
        </p:spPr>
      </p:pic>
      <p:sp>
        <p:nvSpPr>
          <p:cNvPr id="99" name="Rectangle: Rounded Corners 98">
            <a:extLst>
              <a:ext uri="{FF2B5EF4-FFF2-40B4-BE49-F238E27FC236}">
                <a16:creationId xmlns:a16="http://schemas.microsoft.com/office/drawing/2014/main" id="{451E4812-0661-4450-AC8D-C69FB6E9EE61}"/>
              </a:ext>
            </a:extLst>
          </p:cNvPr>
          <p:cNvSpPr/>
          <p:nvPr/>
        </p:nvSpPr>
        <p:spPr bwMode="auto">
          <a:xfrm>
            <a:off x="1638300" y="5032339"/>
            <a:ext cx="8759759"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00" name="Straight Connector 99">
            <a:extLst>
              <a:ext uri="{FF2B5EF4-FFF2-40B4-BE49-F238E27FC236}">
                <a16:creationId xmlns:a16="http://schemas.microsoft.com/office/drawing/2014/main" id="{CE7D7655-0730-49D8-A2DC-2F9ECA7C019D}"/>
              </a:ext>
            </a:extLst>
          </p:cNvPr>
          <p:cNvCxnSpPr>
            <a:cxnSpLocks/>
          </p:cNvCxnSpPr>
          <p:nvPr/>
        </p:nvCxnSpPr>
        <p:spPr>
          <a:xfrm>
            <a:off x="2167328" y="5032339"/>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91285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up)">
                                      <p:cBhvr>
                                        <p:cTn id="11" dur="500"/>
                                        <p:tgtEl>
                                          <p:spTgt spid="7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79"/>
                                        </p:tgtEl>
                                      </p:cBhvr>
                                    </p:animEffect>
                                    <p:set>
                                      <p:cBhvr>
                                        <p:cTn id="23" dur="1" fill="hold">
                                          <p:stCondLst>
                                            <p:cond delay="499"/>
                                          </p:stCondLst>
                                        </p:cTn>
                                        <p:tgtEl>
                                          <p:spTgt spid="79"/>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80"/>
                                        </p:tgtEl>
                                      </p:cBhvr>
                                    </p:animEffect>
                                    <p:set>
                                      <p:cBhvr>
                                        <p:cTn id="26" dur="1" fill="hold">
                                          <p:stCondLst>
                                            <p:cond delay="499"/>
                                          </p:stCondLst>
                                        </p:cTn>
                                        <p:tgtEl>
                                          <p:spTgt spid="80"/>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p:stCondLst>
                              <p:cond delay="500"/>
                            </p:stCondLst>
                            <p:childTnLst>
                              <p:par>
                                <p:cTn id="31" presetID="22" presetClass="entr" presetSubtype="4" fill="hold" nodeType="afterEffect">
                                  <p:stCondLst>
                                    <p:cond delay="0"/>
                                  </p:stCondLst>
                                  <p:childTnLst>
                                    <p:set>
                                      <p:cBhvr>
                                        <p:cTn id="32" dur="1" fill="hold">
                                          <p:stCondLst>
                                            <p:cond delay="0"/>
                                          </p:stCondLst>
                                        </p:cTn>
                                        <p:tgtEl>
                                          <p:spTgt spid="81"/>
                                        </p:tgtEl>
                                        <p:attrNameLst>
                                          <p:attrName>style.visibility</p:attrName>
                                        </p:attrNameLst>
                                      </p:cBhvr>
                                      <p:to>
                                        <p:strVal val="visible"/>
                                      </p:to>
                                    </p:set>
                                    <p:animEffect transition="in" filter="wipe(down)">
                                      <p:cBhvr>
                                        <p:cTn id="33" dur="500"/>
                                        <p:tgtEl>
                                          <p:spTgt spid="81"/>
                                        </p:tgtEl>
                                      </p:cBhvr>
                                    </p:animEffect>
                                  </p:childTnLst>
                                </p:cTn>
                              </p:par>
                              <p:par>
                                <p:cTn id="34" presetID="22" presetClass="entr" presetSubtype="4"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wipe(down)">
                                      <p:cBhvr>
                                        <p:cTn id="36" dur="500"/>
                                        <p:tgtEl>
                                          <p:spTgt spid="66"/>
                                        </p:tgtEl>
                                      </p:cBhvr>
                                    </p:animEffect>
                                  </p:childTnLst>
                                </p:cTn>
                              </p:par>
                              <p:par>
                                <p:cTn id="37" presetID="22" presetClass="entr" presetSubtype="4" fill="hold" nodeType="withEffect">
                                  <p:stCondLst>
                                    <p:cond delay="0"/>
                                  </p:stCondLst>
                                  <p:childTnLst>
                                    <p:set>
                                      <p:cBhvr>
                                        <p:cTn id="38" dur="1" fill="hold">
                                          <p:stCondLst>
                                            <p:cond delay="0"/>
                                          </p:stCondLst>
                                        </p:cTn>
                                        <p:tgtEl>
                                          <p:spTgt spid="74"/>
                                        </p:tgtEl>
                                        <p:attrNameLst>
                                          <p:attrName>style.visibility</p:attrName>
                                        </p:attrNameLst>
                                      </p:cBhvr>
                                      <p:to>
                                        <p:strVal val="visible"/>
                                      </p:to>
                                    </p:set>
                                    <p:animEffect transition="in" filter="wipe(down)">
                                      <p:cBhvr>
                                        <p:cTn id="39" dur="500"/>
                                        <p:tgtEl>
                                          <p:spTgt spid="74"/>
                                        </p:tgtEl>
                                      </p:cBhvr>
                                    </p:animEffect>
                                  </p:childTnLst>
                                </p:cTn>
                              </p:par>
                              <p:par>
                                <p:cTn id="40" presetID="22" presetClass="entr" presetSubtype="4" fill="hold" nodeType="with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down)">
                                      <p:cBhvr>
                                        <p:cTn id="42" dur="500"/>
                                        <p:tgtEl>
                                          <p:spTgt spid="75"/>
                                        </p:tgtEl>
                                      </p:cBhvr>
                                    </p:animEffect>
                                  </p:childTnLst>
                                </p:cTn>
                              </p:par>
                              <p:par>
                                <p:cTn id="43" presetID="22" presetClass="entr" presetSubtype="4" fill="hold" nodeType="with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wipe(down)">
                                      <p:cBhvr>
                                        <p:cTn id="45" dur="500"/>
                                        <p:tgtEl>
                                          <p:spTgt spid="83"/>
                                        </p:tgtEl>
                                      </p:cBhvr>
                                    </p:animEffect>
                                  </p:childTnLst>
                                </p:cTn>
                              </p:par>
                              <p:par>
                                <p:cTn id="46" presetID="22" presetClass="entr" presetSubtype="4" fill="hold" nodeType="withEffect">
                                  <p:stCondLst>
                                    <p:cond delay="0"/>
                                  </p:stCondLst>
                                  <p:childTnLst>
                                    <p:set>
                                      <p:cBhvr>
                                        <p:cTn id="47" dur="1" fill="hold">
                                          <p:stCondLst>
                                            <p:cond delay="0"/>
                                          </p:stCondLst>
                                        </p:cTn>
                                        <p:tgtEl>
                                          <p:spTgt spid="86"/>
                                        </p:tgtEl>
                                        <p:attrNameLst>
                                          <p:attrName>style.visibility</p:attrName>
                                        </p:attrNameLst>
                                      </p:cBhvr>
                                      <p:to>
                                        <p:strVal val="visible"/>
                                      </p:to>
                                    </p:set>
                                    <p:animEffect transition="in" filter="wipe(down)">
                                      <p:cBhvr>
                                        <p:cTn id="48" dur="500"/>
                                        <p:tgtEl>
                                          <p:spTgt spid="86"/>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90"/>
                                        </p:tgtEl>
                                        <p:attrNameLst>
                                          <p:attrName>style.visibility</p:attrName>
                                        </p:attrNameLst>
                                      </p:cBhvr>
                                      <p:to>
                                        <p:strVal val="visible"/>
                                      </p:to>
                                    </p:set>
                                    <p:animEffect transition="in" filter="fade">
                                      <p:cBhvr>
                                        <p:cTn id="52" dur="500"/>
                                        <p:tgtEl>
                                          <p:spTgt spid="9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animEffect transition="in" filter="fade">
                                      <p:cBhvr>
                                        <p:cTn id="55" dur="500"/>
                                        <p:tgtEl>
                                          <p:spTgt spid="8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8"/>
                                        </p:tgtEl>
                                        <p:attrNameLst>
                                          <p:attrName>style.visibility</p:attrName>
                                        </p:attrNameLst>
                                      </p:cBhvr>
                                      <p:to>
                                        <p:strVal val="visible"/>
                                      </p:to>
                                    </p:set>
                                    <p:animEffect transition="in" filter="fade">
                                      <p:cBhvr>
                                        <p:cTn id="58" dur="500"/>
                                        <p:tgtEl>
                                          <p:spTgt spid="8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animEffect transition="in" filter="fade">
                                      <p:cBhvr>
                                        <p:cTn id="61" dur="500"/>
                                        <p:tgtEl>
                                          <p:spTgt spid="8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7"/>
                                        </p:tgtEl>
                                        <p:attrNameLst>
                                          <p:attrName>style.visibility</p:attrName>
                                        </p:attrNameLst>
                                      </p:cBhvr>
                                      <p:to>
                                        <p:strVal val="visible"/>
                                      </p:to>
                                    </p:set>
                                    <p:animEffect transition="in" filter="fade">
                                      <p:cBhvr>
                                        <p:cTn id="64" dur="500"/>
                                        <p:tgtEl>
                                          <p:spTgt spid="8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1"/>
                                        </p:tgtEl>
                                        <p:attrNameLst>
                                          <p:attrName>style.visibility</p:attrName>
                                        </p:attrNameLst>
                                      </p:cBhvr>
                                      <p:to>
                                        <p:strVal val="visible"/>
                                      </p:to>
                                    </p:set>
                                    <p:animEffect transition="in" filter="fade">
                                      <p:cBhvr>
                                        <p:cTn id="67" dur="500"/>
                                        <p:tgtEl>
                                          <p:spTgt spid="9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fade">
                                      <p:cBhvr>
                                        <p:cTn id="72" dur="500"/>
                                        <p:tgtEl>
                                          <p:spTgt spid="8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5"/>
                                        </p:tgtEl>
                                        <p:attrNameLst>
                                          <p:attrName>style.visibility</p:attrName>
                                        </p:attrNameLst>
                                      </p:cBhvr>
                                      <p:to>
                                        <p:strVal val="visible"/>
                                      </p:to>
                                    </p:set>
                                    <p:animEffect transition="in" filter="fade">
                                      <p:cBhvr>
                                        <p:cTn id="75" dur="500"/>
                                        <p:tgtEl>
                                          <p:spTgt spid="85"/>
                                        </p:tgtEl>
                                      </p:cBhvr>
                                    </p:animEffect>
                                  </p:childTnLst>
                                </p:cTn>
                              </p:par>
                              <p:par>
                                <p:cTn id="76" presetID="10" presetClass="entr" presetSubtype="0" fill="hold" nodeType="withEffect">
                                  <p:stCondLst>
                                    <p:cond delay="0"/>
                                  </p:stCondLst>
                                  <p:childTnLst>
                                    <p:set>
                                      <p:cBhvr>
                                        <p:cTn id="77" dur="1" fill="hold">
                                          <p:stCondLst>
                                            <p:cond delay="0"/>
                                          </p:stCondLst>
                                        </p:cTn>
                                        <p:tgtEl>
                                          <p:spTgt spid="92"/>
                                        </p:tgtEl>
                                        <p:attrNameLst>
                                          <p:attrName>style.visibility</p:attrName>
                                        </p:attrNameLst>
                                      </p:cBhvr>
                                      <p:to>
                                        <p:strVal val="visible"/>
                                      </p:to>
                                    </p:set>
                                    <p:animEffect transition="in" filter="fade">
                                      <p:cBhvr>
                                        <p:cTn id="78" dur="500"/>
                                        <p:tgtEl>
                                          <p:spTgt spid="9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3"/>
                                        </p:tgtEl>
                                        <p:attrNameLst>
                                          <p:attrName>style.visibility</p:attrName>
                                        </p:attrNameLst>
                                      </p:cBhvr>
                                      <p:to>
                                        <p:strVal val="visible"/>
                                      </p:to>
                                    </p:set>
                                    <p:animEffect transition="in" filter="fade">
                                      <p:cBhvr>
                                        <p:cTn id="81" dur="500"/>
                                        <p:tgtEl>
                                          <p:spTgt spid="93"/>
                                        </p:tgtEl>
                                      </p:cBhvr>
                                    </p:animEffect>
                                  </p:childTnLst>
                                </p:cTn>
                              </p:par>
                              <p:par>
                                <p:cTn id="82" presetID="10" presetClass="entr" presetSubtype="0" fill="hold" nodeType="withEffect">
                                  <p:stCondLst>
                                    <p:cond delay="0"/>
                                  </p:stCondLst>
                                  <p:childTnLst>
                                    <p:set>
                                      <p:cBhvr>
                                        <p:cTn id="83" dur="1" fill="hold">
                                          <p:stCondLst>
                                            <p:cond delay="0"/>
                                          </p:stCondLst>
                                        </p:cTn>
                                        <p:tgtEl>
                                          <p:spTgt spid="94"/>
                                        </p:tgtEl>
                                        <p:attrNameLst>
                                          <p:attrName>style.visibility</p:attrName>
                                        </p:attrNameLst>
                                      </p:cBhvr>
                                      <p:to>
                                        <p:strVal val="visible"/>
                                      </p:to>
                                    </p:set>
                                    <p:animEffect transition="in" filter="fade">
                                      <p:cBhvr>
                                        <p:cTn id="84" dur="500"/>
                                        <p:tgtEl>
                                          <p:spTgt spid="9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fade">
                                      <p:cBhvr>
                                        <p:cTn id="87" dur="500"/>
                                        <p:tgtEl>
                                          <p:spTgt spid="95"/>
                                        </p:tgtEl>
                                      </p:cBhvr>
                                    </p:animEffect>
                                  </p:childTnLst>
                                </p:cTn>
                              </p:par>
                              <p:par>
                                <p:cTn id="88" presetID="10" presetClass="entr" presetSubtype="0" fill="hold" nodeType="withEffect">
                                  <p:stCondLst>
                                    <p:cond delay="0"/>
                                  </p:stCondLst>
                                  <p:childTnLst>
                                    <p:set>
                                      <p:cBhvr>
                                        <p:cTn id="89" dur="1" fill="hold">
                                          <p:stCondLst>
                                            <p:cond delay="0"/>
                                          </p:stCondLst>
                                        </p:cTn>
                                        <p:tgtEl>
                                          <p:spTgt spid="96"/>
                                        </p:tgtEl>
                                        <p:attrNameLst>
                                          <p:attrName>style.visibility</p:attrName>
                                        </p:attrNameLst>
                                      </p:cBhvr>
                                      <p:to>
                                        <p:strVal val="visible"/>
                                      </p:to>
                                    </p:set>
                                    <p:animEffect transition="in" filter="fade">
                                      <p:cBhvr>
                                        <p:cTn id="90" dur="500"/>
                                        <p:tgtEl>
                                          <p:spTgt spid="9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7"/>
                                        </p:tgtEl>
                                        <p:attrNameLst>
                                          <p:attrName>style.visibility</p:attrName>
                                        </p:attrNameLst>
                                      </p:cBhvr>
                                      <p:to>
                                        <p:strVal val="visible"/>
                                      </p:to>
                                    </p:set>
                                    <p:animEffect transition="in" filter="fade">
                                      <p:cBhvr>
                                        <p:cTn id="93"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93" grpId="0" animBg="1"/>
      <p:bldP spid="95" grpId="0" animBg="1"/>
      <p:bldP spid="97" grpId="0" animBg="1"/>
      <p:bldP spid="87" grpId="0" animBg="1"/>
      <p:bldP spid="88" grpId="0" animBg="1"/>
      <p:bldP spid="89" grpId="0" animBg="1"/>
      <p:bldP spid="90" grpId="0" animBg="1"/>
      <p:bldP spid="91" grpId="0" animBg="1"/>
      <p:bldP spid="82" grpId="0" animBg="1"/>
      <p:bldP spid="9" grpId="0" animBg="1"/>
      <p:bldP spid="79" grpId="0" animBg="1"/>
      <p:bldP spid="79" grpId="1" animBg="1"/>
      <p:bldP spid="80" grpId="0"/>
      <p:bldP spid="80"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lstStyle/>
          <a:p>
            <a:r>
              <a:rPr lang="en-US" dirty="0"/>
              <a:t>Choosing a partition key for customers</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7067320" y="1266373"/>
            <a:ext cx="3150221" cy="525176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firstName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lastName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emailAddress</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phoneNumber</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r>
              <a:rPr lang="en-US" sz="1800" dirty="0" err="1">
                <a:gradFill>
                  <a:gsLst>
                    <a:gs pos="0">
                      <a:srgbClr val="FFFFFF"/>
                    </a:gs>
                    <a:gs pos="100000">
                      <a:srgbClr val="FFFFFF"/>
                    </a:gs>
                  </a:gsLst>
                  <a:lin ang="5400000" scaled="0"/>
                </a:gradFill>
                <a:ea typeface="Segoe UI" pitchFamily="34" charset="0"/>
                <a:cs typeface="Segoe UI" pitchFamily="34" charset="0"/>
              </a:rPr>
              <a:t>creationDate</a:t>
            </a: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800" dirty="0">
                <a:gradFill>
                  <a:gsLst>
                    <a:gs pos="0">
                      <a:srgbClr val="FFFFFF"/>
                    </a:gs>
                    <a:gs pos="100000">
                      <a:srgbClr val="FFFFFF"/>
                    </a:gs>
                  </a:gsLst>
                  <a:lin ang="5400000" scaled="0"/>
                </a:gradFill>
                <a:ea typeface="Segoe UI" pitchFamily="34" charset="0"/>
                <a:cs typeface="Segoe UI" pitchFamily="34" charset="0"/>
              </a:rPr>
              <a:t>}</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1007" y="281043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5" name="Connector: Elbow 4">
            <a:extLst>
              <a:ext uri="{FF2B5EF4-FFF2-40B4-BE49-F238E27FC236}">
                <a16:creationId xmlns:a16="http://schemas.microsoft.com/office/drawing/2014/main" id="{D6F4F9CD-520B-4D3C-A28E-490AD9D2570D}"/>
              </a:ext>
            </a:extLst>
          </p:cNvPr>
          <p:cNvCxnSpPr>
            <a:cxnSpLocks/>
            <a:stCxn id="4" idx="4"/>
            <a:endCxn id="3" idx="1"/>
          </p:cNvCxnSpPr>
          <p:nvPr/>
        </p:nvCxnSpPr>
        <p:spPr>
          <a:xfrm>
            <a:off x="4053590" y="3429000"/>
            <a:ext cx="3013730" cy="46325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71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88263" y="457200"/>
            <a:ext cx="11018520" cy="553998"/>
          </a:xfrm>
        </p:spPr>
        <p:txBody>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1007" y="281043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7" name="Content Placeholder 2">
            <a:extLst>
              <a:ext uri="{FF2B5EF4-FFF2-40B4-BE49-F238E27FC236}">
                <a16:creationId xmlns:a16="http://schemas.microsoft.com/office/drawing/2014/main" id="{98805AE9-5D12-4299-BEA3-2E1858407F5F}"/>
              </a:ext>
            </a:extLst>
          </p:cNvPr>
          <p:cNvSpPr txBox="1">
            <a:spLocks/>
          </p:cNvSpPr>
          <p:nvPr/>
        </p:nvSpPr>
        <p:spPr>
          <a:xfrm>
            <a:off x="6096000" y="2939489"/>
            <a:ext cx="5211763" cy="110807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customer</a:t>
            </a:r>
          </a:p>
          <a:p>
            <a:r>
              <a:rPr lang="en-US" dirty="0"/>
              <a:t>Retrieve a customer</a:t>
            </a:r>
          </a:p>
        </p:txBody>
      </p:sp>
      <p:sp>
        <p:nvSpPr>
          <p:cNvPr id="5" name="Content Placeholder 2">
            <a:extLst>
              <a:ext uri="{FF2B5EF4-FFF2-40B4-BE49-F238E27FC236}">
                <a16:creationId xmlns:a16="http://schemas.microsoft.com/office/drawing/2014/main" id="{69AA697A-FD0D-494C-A18D-B99C414317C5}"/>
              </a:ext>
            </a:extLst>
          </p:cNvPr>
          <p:cNvSpPr txBox="1">
            <a:spLocks/>
          </p:cNvSpPr>
          <p:nvPr/>
        </p:nvSpPr>
        <p:spPr>
          <a:xfrm>
            <a:off x="9497957" y="3461292"/>
            <a:ext cx="1367277" cy="55399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(by id)</a:t>
            </a:r>
          </a:p>
        </p:txBody>
      </p:sp>
    </p:spTree>
    <p:extLst>
      <p:ext uri="{BB962C8B-B14F-4D97-AF65-F5344CB8AC3E}">
        <p14:creationId xmlns:p14="http://schemas.microsoft.com/office/powerpoint/2010/main" val="42156436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88263" y="457200"/>
            <a:ext cx="11018520" cy="553998"/>
          </a:xfrm>
        </p:spPr>
        <p:txBody>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1007" y="281043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id</a:t>
            </a:r>
          </a:p>
        </p:txBody>
      </p:sp>
      <p:sp>
        <p:nvSpPr>
          <p:cNvPr id="7" name="Content Placeholder 2">
            <a:extLst>
              <a:ext uri="{FF2B5EF4-FFF2-40B4-BE49-F238E27FC236}">
                <a16:creationId xmlns:a16="http://schemas.microsoft.com/office/drawing/2014/main" id="{98805AE9-5D12-4299-BEA3-2E1858407F5F}"/>
              </a:ext>
            </a:extLst>
          </p:cNvPr>
          <p:cNvSpPr txBox="1">
            <a:spLocks/>
          </p:cNvSpPr>
          <p:nvPr/>
        </p:nvSpPr>
        <p:spPr>
          <a:xfrm>
            <a:off x="6096000" y="2939489"/>
            <a:ext cx="5211763" cy="110807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customer</a:t>
            </a:r>
          </a:p>
          <a:p>
            <a:r>
              <a:rPr lang="en-US" dirty="0"/>
              <a:t>Retrieve a customer</a:t>
            </a:r>
          </a:p>
        </p:txBody>
      </p:sp>
      <p:sp>
        <p:nvSpPr>
          <p:cNvPr id="5" name="Content Placeholder 2">
            <a:extLst>
              <a:ext uri="{FF2B5EF4-FFF2-40B4-BE49-F238E27FC236}">
                <a16:creationId xmlns:a16="http://schemas.microsoft.com/office/drawing/2014/main" id="{9BAC3CC7-F0CA-4220-A298-31E0159144D3}"/>
              </a:ext>
            </a:extLst>
          </p:cNvPr>
          <p:cNvSpPr txBox="1">
            <a:spLocks/>
          </p:cNvSpPr>
          <p:nvPr/>
        </p:nvSpPr>
        <p:spPr>
          <a:xfrm>
            <a:off x="9497957" y="3461292"/>
            <a:ext cx="1367277" cy="55399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(by id)</a:t>
            </a:r>
          </a:p>
        </p:txBody>
      </p:sp>
    </p:spTree>
    <p:extLst>
      <p:ext uri="{BB962C8B-B14F-4D97-AF65-F5344CB8AC3E}">
        <p14:creationId xmlns:p14="http://schemas.microsoft.com/office/powerpoint/2010/main" val="247521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88263" y="457200"/>
            <a:ext cx="11018520" cy="553998"/>
          </a:xfrm>
        </p:spPr>
        <p:txBody>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1410011" y="281043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id</a:t>
            </a:r>
          </a:p>
        </p:txBody>
      </p:sp>
      <p:grpSp>
        <p:nvGrpSpPr>
          <p:cNvPr id="54" name="Group 53">
            <a:extLst>
              <a:ext uri="{FF2B5EF4-FFF2-40B4-BE49-F238E27FC236}">
                <a16:creationId xmlns:a16="http://schemas.microsoft.com/office/drawing/2014/main" id="{8F7340E9-CE6F-4ECD-8A7D-647F130EABDE}"/>
              </a:ext>
            </a:extLst>
          </p:cNvPr>
          <p:cNvGrpSpPr/>
          <p:nvPr/>
        </p:nvGrpSpPr>
        <p:grpSpPr>
          <a:xfrm>
            <a:off x="3627487" y="2674039"/>
            <a:ext cx="7991648" cy="2194032"/>
            <a:chOff x="3627487" y="2674039"/>
            <a:chExt cx="7991648" cy="2194032"/>
          </a:xfrm>
        </p:grpSpPr>
        <p:grpSp>
          <p:nvGrpSpPr>
            <p:cNvPr id="3" name="Group 2">
              <a:extLst>
                <a:ext uri="{FF2B5EF4-FFF2-40B4-BE49-F238E27FC236}">
                  <a16:creationId xmlns:a16="http://schemas.microsoft.com/office/drawing/2014/main" id="{EA984299-1184-428F-A979-2FF9CDDA3543}"/>
                </a:ext>
              </a:extLst>
            </p:cNvPr>
            <p:cNvGrpSpPr/>
            <p:nvPr/>
          </p:nvGrpSpPr>
          <p:grpSpPr>
            <a:xfrm>
              <a:off x="3627487" y="2675730"/>
              <a:ext cx="877838" cy="955209"/>
              <a:chOff x="6103987" y="2578566"/>
              <a:chExt cx="877838" cy="955209"/>
            </a:xfrm>
          </p:grpSpPr>
          <p:pic>
            <p:nvPicPr>
              <p:cNvPr id="6" name="Picture 5" descr="A close up of a logo&#10;&#10;Description automatically generated">
                <a:extLst>
                  <a:ext uri="{FF2B5EF4-FFF2-40B4-BE49-F238E27FC236}">
                    <a16:creationId xmlns:a16="http://schemas.microsoft.com/office/drawing/2014/main" id="{381775A0-2520-48E1-B586-6F6F4D17AA6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11" name="Rectangle: Rounded Corners 10">
                <a:extLst>
                  <a:ext uri="{FF2B5EF4-FFF2-40B4-BE49-F238E27FC236}">
                    <a16:creationId xmlns:a16="http://schemas.microsoft.com/office/drawing/2014/main" id="{6130DA12-1089-4AD4-9A44-D736B126B92B}"/>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12" name="Group 11">
              <a:extLst>
                <a:ext uri="{FF2B5EF4-FFF2-40B4-BE49-F238E27FC236}">
                  <a16:creationId xmlns:a16="http://schemas.microsoft.com/office/drawing/2014/main" id="{E87F7B52-1541-4F4C-9DB6-55E4AD8B10EA}"/>
                </a:ext>
              </a:extLst>
            </p:cNvPr>
            <p:cNvGrpSpPr/>
            <p:nvPr/>
          </p:nvGrpSpPr>
          <p:grpSpPr>
            <a:xfrm>
              <a:off x="5998757" y="2675728"/>
              <a:ext cx="877838" cy="955209"/>
              <a:chOff x="6103987" y="2578566"/>
              <a:chExt cx="877838" cy="955209"/>
            </a:xfrm>
          </p:grpSpPr>
          <p:pic>
            <p:nvPicPr>
              <p:cNvPr id="13" name="Picture 12" descr="A close up of a logo&#10;&#10;Description automatically generated">
                <a:extLst>
                  <a:ext uri="{FF2B5EF4-FFF2-40B4-BE49-F238E27FC236}">
                    <a16:creationId xmlns:a16="http://schemas.microsoft.com/office/drawing/2014/main" id="{A67730F5-F95F-4702-BF68-FB2F4A5022DB}"/>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14" name="Rectangle: Rounded Corners 13">
                <a:extLst>
                  <a:ext uri="{FF2B5EF4-FFF2-40B4-BE49-F238E27FC236}">
                    <a16:creationId xmlns:a16="http://schemas.microsoft.com/office/drawing/2014/main" id="{A8A27101-4FBD-46C3-B423-886A003B06EB}"/>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15" name="Group 14">
              <a:extLst>
                <a:ext uri="{FF2B5EF4-FFF2-40B4-BE49-F238E27FC236}">
                  <a16:creationId xmlns:a16="http://schemas.microsoft.com/office/drawing/2014/main" id="{14561A90-15B8-450A-AD04-09DF62CD8BE1}"/>
                </a:ext>
              </a:extLst>
            </p:cNvPr>
            <p:cNvGrpSpPr/>
            <p:nvPr/>
          </p:nvGrpSpPr>
          <p:grpSpPr>
            <a:xfrm>
              <a:off x="4813122" y="2675729"/>
              <a:ext cx="877838" cy="955209"/>
              <a:chOff x="6103987" y="2578566"/>
              <a:chExt cx="877838" cy="955209"/>
            </a:xfrm>
          </p:grpSpPr>
          <p:pic>
            <p:nvPicPr>
              <p:cNvPr id="16" name="Picture 15" descr="A close up of a logo&#10;&#10;Description automatically generated">
                <a:extLst>
                  <a:ext uri="{FF2B5EF4-FFF2-40B4-BE49-F238E27FC236}">
                    <a16:creationId xmlns:a16="http://schemas.microsoft.com/office/drawing/2014/main" id="{D7FCB79B-49A5-4565-86E4-86F660A836A5}"/>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17" name="Rectangle: Rounded Corners 16">
                <a:extLst>
                  <a:ext uri="{FF2B5EF4-FFF2-40B4-BE49-F238E27FC236}">
                    <a16:creationId xmlns:a16="http://schemas.microsoft.com/office/drawing/2014/main" id="{58FBDC81-AC1C-4C60-B3A7-B20B320B9378}"/>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21" name="Group 20">
              <a:extLst>
                <a:ext uri="{FF2B5EF4-FFF2-40B4-BE49-F238E27FC236}">
                  <a16:creationId xmlns:a16="http://schemas.microsoft.com/office/drawing/2014/main" id="{B1EE5D9A-77AB-4703-AC2A-98FFD81365CB}"/>
                </a:ext>
              </a:extLst>
            </p:cNvPr>
            <p:cNvGrpSpPr/>
            <p:nvPr/>
          </p:nvGrpSpPr>
          <p:grpSpPr>
            <a:xfrm>
              <a:off x="10741297" y="2674039"/>
              <a:ext cx="877838" cy="955209"/>
              <a:chOff x="6103987" y="2578566"/>
              <a:chExt cx="877838" cy="955209"/>
            </a:xfrm>
          </p:grpSpPr>
          <p:pic>
            <p:nvPicPr>
              <p:cNvPr id="22" name="Picture 21" descr="A close up of a logo&#10;&#10;Description automatically generated">
                <a:extLst>
                  <a:ext uri="{FF2B5EF4-FFF2-40B4-BE49-F238E27FC236}">
                    <a16:creationId xmlns:a16="http://schemas.microsoft.com/office/drawing/2014/main" id="{60F50705-8F1E-4B3A-82F4-B62B102B53D2}"/>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23" name="Rectangle: Rounded Corners 22">
                <a:extLst>
                  <a:ext uri="{FF2B5EF4-FFF2-40B4-BE49-F238E27FC236}">
                    <a16:creationId xmlns:a16="http://schemas.microsoft.com/office/drawing/2014/main" id="{B24F93FD-AD1E-4B88-869B-036D2D1A8C54}"/>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72B01CF7-C900-4232-A94F-5B462F78F1C4}"/>
                </a:ext>
              </a:extLst>
            </p:cNvPr>
            <p:cNvGrpSpPr/>
            <p:nvPr/>
          </p:nvGrpSpPr>
          <p:grpSpPr>
            <a:xfrm>
              <a:off x="9555662" y="2675953"/>
              <a:ext cx="877838" cy="955209"/>
              <a:chOff x="6103987" y="2578566"/>
              <a:chExt cx="877838" cy="955209"/>
            </a:xfrm>
          </p:grpSpPr>
          <p:pic>
            <p:nvPicPr>
              <p:cNvPr id="25" name="Picture 24" descr="A close up of a logo&#10;&#10;Description automatically generated">
                <a:extLst>
                  <a:ext uri="{FF2B5EF4-FFF2-40B4-BE49-F238E27FC236}">
                    <a16:creationId xmlns:a16="http://schemas.microsoft.com/office/drawing/2014/main" id="{C753BDB1-1C39-4A04-B69F-1FD8E9C4CF04}"/>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26" name="Rectangle: Rounded Corners 25">
                <a:extLst>
                  <a:ext uri="{FF2B5EF4-FFF2-40B4-BE49-F238E27FC236}">
                    <a16:creationId xmlns:a16="http://schemas.microsoft.com/office/drawing/2014/main" id="{AEDB31DF-9064-424A-8E56-7417886357BE}"/>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27" name="Group 26">
              <a:extLst>
                <a:ext uri="{FF2B5EF4-FFF2-40B4-BE49-F238E27FC236}">
                  <a16:creationId xmlns:a16="http://schemas.microsoft.com/office/drawing/2014/main" id="{434E1559-B027-4AE8-AB9B-689D59082171}"/>
                </a:ext>
              </a:extLst>
            </p:cNvPr>
            <p:cNvGrpSpPr/>
            <p:nvPr/>
          </p:nvGrpSpPr>
          <p:grpSpPr>
            <a:xfrm>
              <a:off x="8370027" y="2674039"/>
              <a:ext cx="877838" cy="955209"/>
              <a:chOff x="6103987" y="2578566"/>
              <a:chExt cx="877838" cy="955209"/>
            </a:xfrm>
          </p:grpSpPr>
          <p:pic>
            <p:nvPicPr>
              <p:cNvPr id="28" name="Picture 27" descr="A close up of a logo&#10;&#10;Description automatically generated">
                <a:extLst>
                  <a:ext uri="{FF2B5EF4-FFF2-40B4-BE49-F238E27FC236}">
                    <a16:creationId xmlns:a16="http://schemas.microsoft.com/office/drawing/2014/main" id="{0FF7B5E8-ED6F-4E15-8629-0A9862890CCB}"/>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29" name="Rectangle: Rounded Corners 28">
                <a:extLst>
                  <a:ext uri="{FF2B5EF4-FFF2-40B4-BE49-F238E27FC236}">
                    <a16:creationId xmlns:a16="http://schemas.microsoft.com/office/drawing/2014/main" id="{59FC93ED-C546-4893-8EB1-FD42FE902CC9}"/>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0" name="Group 29">
              <a:extLst>
                <a:ext uri="{FF2B5EF4-FFF2-40B4-BE49-F238E27FC236}">
                  <a16:creationId xmlns:a16="http://schemas.microsoft.com/office/drawing/2014/main" id="{688E51B0-C06A-4D1E-A06B-7328E28F9D47}"/>
                </a:ext>
              </a:extLst>
            </p:cNvPr>
            <p:cNvGrpSpPr/>
            <p:nvPr/>
          </p:nvGrpSpPr>
          <p:grpSpPr>
            <a:xfrm>
              <a:off x="7184392" y="2675727"/>
              <a:ext cx="877838" cy="955209"/>
              <a:chOff x="6103987" y="2578566"/>
              <a:chExt cx="877838" cy="955209"/>
            </a:xfrm>
          </p:grpSpPr>
          <p:pic>
            <p:nvPicPr>
              <p:cNvPr id="31" name="Picture 30" descr="A close up of a logo&#10;&#10;Description automatically generated">
                <a:extLst>
                  <a:ext uri="{FF2B5EF4-FFF2-40B4-BE49-F238E27FC236}">
                    <a16:creationId xmlns:a16="http://schemas.microsoft.com/office/drawing/2014/main" id="{C04A770F-0B85-4635-8983-38299D33F55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32" name="Rectangle: Rounded Corners 31">
                <a:extLst>
                  <a:ext uri="{FF2B5EF4-FFF2-40B4-BE49-F238E27FC236}">
                    <a16:creationId xmlns:a16="http://schemas.microsoft.com/office/drawing/2014/main" id="{58B25565-5622-4F7D-A130-63DFB88A31A3}"/>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3" name="Group 32">
              <a:extLst>
                <a:ext uri="{FF2B5EF4-FFF2-40B4-BE49-F238E27FC236}">
                  <a16:creationId xmlns:a16="http://schemas.microsoft.com/office/drawing/2014/main" id="{9CFDBBCE-7159-40B3-9302-E151FA309C98}"/>
                </a:ext>
              </a:extLst>
            </p:cNvPr>
            <p:cNvGrpSpPr/>
            <p:nvPr/>
          </p:nvGrpSpPr>
          <p:grpSpPr>
            <a:xfrm>
              <a:off x="3627487" y="3912639"/>
              <a:ext cx="877838" cy="955209"/>
              <a:chOff x="6103987" y="2578566"/>
              <a:chExt cx="877838" cy="955209"/>
            </a:xfrm>
          </p:grpSpPr>
          <p:pic>
            <p:nvPicPr>
              <p:cNvPr id="34" name="Picture 33" descr="A close up of a logo&#10;&#10;Description automatically generated">
                <a:extLst>
                  <a:ext uri="{FF2B5EF4-FFF2-40B4-BE49-F238E27FC236}">
                    <a16:creationId xmlns:a16="http://schemas.microsoft.com/office/drawing/2014/main" id="{649DAE91-D358-40CA-8DD1-3A267ED37EB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35" name="Rectangle: Rounded Corners 34">
                <a:extLst>
                  <a:ext uri="{FF2B5EF4-FFF2-40B4-BE49-F238E27FC236}">
                    <a16:creationId xmlns:a16="http://schemas.microsoft.com/office/drawing/2014/main" id="{88C92E65-A973-4E68-8B78-C8F6F2187CC5}"/>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6" name="Group 35">
              <a:extLst>
                <a:ext uri="{FF2B5EF4-FFF2-40B4-BE49-F238E27FC236}">
                  <a16:creationId xmlns:a16="http://schemas.microsoft.com/office/drawing/2014/main" id="{264DF916-2392-48C3-B3AA-DFA72E553D2B}"/>
                </a:ext>
              </a:extLst>
            </p:cNvPr>
            <p:cNvGrpSpPr/>
            <p:nvPr/>
          </p:nvGrpSpPr>
          <p:grpSpPr>
            <a:xfrm>
              <a:off x="5998757" y="3912637"/>
              <a:ext cx="877838" cy="955209"/>
              <a:chOff x="6103987" y="2578566"/>
              <a:chExt cx="877838" cy="955209"/>
            </a:xfrm>
          </p:grpSpPr>
          <p:pic>
            <p:nvPicPr>
              <p:cNvPr id="37" name="Picture 36" descr="A close up of a logo&#10;&#10;Description automatically generated">
                <a:extLst>
                  <a:ext uri="{FF2B5EF4-FFF2-40B4-BE49-F238E27FC236}">
                    <a16:creationId xmlns:a16="http://schemas.microsoft.com/office/drawing/2014/main" id="{5BE9E0AE-F07E-46EC-A22B-6916594A8EB8}"/>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38" name="Rectangle: Rounded Corners 37">
                <a:extLst>
                  <a:ext uri="{FF2B5EF4-FFF2-40B4-BE49-F238E27FC236}">
                    <a16:creationId xmlns:a16="http://schemas.microsoft.com/office/drawing/2014/main" id="{47FF0780-A96E-4EEF-B891-A5E2A41CCFBF}"/>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9" name="Group 38">
              <a:extLst>
                <a:ext uri="{FF2B5EF4-FFF2-40B4-BE49-F238E27FC236}">
                  <a16:creationId xmlns:a16="http://schemas.microsoft.com/office/drawing/2014/main" id="{BB530E76-970C-4E7E-A266-6C346776FC03}"/>
                </a:ext>
              </a:extLst>
            </p:cNvPr>
            <p:cNvGrpSpPr/>
            <p:nvPr/>
          </p:nvGrpSpPr>
          <p:grpSpPr>
            <a:xfrm>
              <a:off x="4813122" y="3912638"/>
              <a:ext cx="877838" cy="955209"/>
              <a:chOff x="6103987" y="2578566"/>
              <a:chExt cx="877838" cy="955209"/>
            </a:xfrm>
          </p:grpSpPr>
          <p:pic>
            <p:nvPicPr>
              <p:cNvPr id="40" name="Picture 39" descr="A close up of a logo&#10;&#10;Description automatically generated">
                <a:extLst>
                  <a:ext uri="{FF2B5EF4-FFF2-40B4-BE49-F238E27FC236}">
                    <a16:creationId xmlns:a16="http://schemas.microsoft.com/office/drawing/2014/main" id="{E41DB7D2-B9CC-4D19-B141-68E88A7C9AD8}"/>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41" name="Rectangle: Rounded Corners 40">
                <a:extLst>
                  <a:ext uri="{FF2B5EF4-FFF2-40B4-BE49-F238E27FC236}">
                    <a16:creationId xmlns:a16="http://schemas.microsoft.com/office/drawing/2014/main" id="{0C524AE4-084E-4B27-91F7-8ED72AE6B50B}"/>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2" name="Group 41">
              <a:extLst>
                <a:ext uri="{FF2B5EF4-FFF2-40B4-BE49-F238E27FC236}">
                  <a16:creationId xmlns:a16="http://schemas.microsoft.com/office/drawing/2014/main" id="{2D3D12F6-37BC-4E5B-8BC6-8C2839877001}"/>
                </a:ext>
              </a:extLst>
            </p:cNvPr>
            <p:cNvGrpSpPr/>
            <p:nvPr/>
          </p:nvGrpSpPr>
          <p:grpSpPr>
            <a:xfrm>
              <a:off x="10741297" y="3910948"/>
              <a:ext cx="877838" cy="955209"/>
              <a:chOff x="6103987" y="2578566"/>
              <a:chExt cx="877838" cy="955209"/>
            </a:xfrm>
          </p:grpSpPr>
          <p:pic>
            <p:nvPicPr>
              <p:cNvPr id="43" name="Picture 42" descr="A close up of a logo&#10;&#10;Description automatically generated">
                <a:extLst>
                  <a:ext uri="{FF2B5EF4-FFF2-40B4-BE49-F238E27FC236}">
                    <a16:creationId xmlns:a16="http://schemas.microsoft.com/office/drawing/2014/main" id="{288A1BE8-E3EE-470F-B8E5-D7A845554F55}"/>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44" name="Rectangle: Rounded Corners 43">
                <a:extLst>
                  <a:ext uri="{FF2B5EF4-FFF2-40B4-BE49-F238E27FC236}">
                    <a16:creationId xmlns:a16="http://schemas.microsoft.com/office/drawing/2014/main" id="{A4F270DB-3C75-4F62-963F-C04E9808268A}"/>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5" name="Group 44">
              <a:extLst>
                <a:ext uri="{FF2B5EF4-FFF2-40B4-BE49-F238E27FC236}">
                  <a16:creationId xmlns:a16="http://schemas.microsoft.com/office/drawing/2014/main" id="{6E1C2DB4-AE23-4786-8D75-DF3F5A062968}"/>
                </a:ext>
              </a:extLst>
            </p:cNvPr>
            <p:cNvGrpSpPr/>
            <p:nvPr/>
          </p:nvGrpSpPr>
          <p:grpSpPr>
            <a:xfrm>
              <a:off x="9555662" y="3912862"/>
              <a:ext cx="877838" cy="955209"/>
              <a:chOff x="6103987" y="2578566"/>
              <a:chExt cx="877838" cy="955209"/>
            </a:xfrm>
          </p:grpSpPr>
          <p:pic>
            <p:nvPicPr>
              <p:cNvPr id="46" name="Picture 45" descr="A close up of a logo&#10;&#10;Description automatically generated">
                <a:extLst>
                  <a:ext uri="{FF2B5EF4-FFF2-40B4-BE49-F238E27FC236}">
                    <a16:creationId xmlns:a16="http://schemas.microsoft.com/office/drawing/2014/main" id="{BEAEA023-F17B-42F0-B432-1C83A0D6C8DA}"/>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47" name="Rectangle: Rounded Corners 46">
                <a:extLst>
                  <a:ext uri="{FF2B5EF4-FFF2-40B4-BE49-F238E27FC236}">
                    <a16:creationId xmlns:a16="http://schemas.microsoft.com/office/drawing/2014/main" id="{1C206825-AB78-4681-B255-53685C4B54BB}"/>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8" name="Group 47">
              <a:extLst>
                <a:ext uri="{FF2B5EF4-FFF2-40B4-BE49-F238E27FC236}">
                  <a16:creationId xmlns:a16="http://schemas.microsoft.com/office/drawing/2014/main" id="{DBFF2E04-127D-48C9-8CA0-F8F3C28682CC}"/>
                </a:ext>
              </a:extLst>
            </p:cNvPr>
            <p:cNvGrpSpPr/>
            <p:nvPr/>
          </p:nvGrpSpPr>
          <p:grpSpPr>
            <a:xfrm>
              <a:off x="8370027" y="3910948"/>
              <a:ext cx="877838" cy="955209"/>
              <a:chOff x="6103987" y="2578566"/>
              <a:chExt cx="877838" cy="955209"/>
            </a:xfrm>
          </p:grpSpPr>
          <p:pic>
            <p:nvPicPr>
              <p:cNvPr id="49" name="Picture 48" descr="A close up of a logo&#10;&#10;Description automatically generated">
                <a:extLst>
                  <a:ext uri="{FF2B5EF4-FFF2-40B4-BE49-F238E27FC236}">
                    <a16:creationId xmlns:a16="http://schemas.microsoft.com/office/drawing/2014/main" id="{D4526CC1-79BB-4988-B98B-9B4082774FC2}"/>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50" name="Rectangle: Rounded Corners 49">
                <a:extLst>
                  <a:ext uri="{FF2B5EF4-FFF2-40B4-BE49-F238E27FC236}">
                    <a16:creationId xmlns:a16="http://schemas.microsoft.com/office/drawing/2014/main" id="{B07073F7-6205-4B38-833A-8C8C7B9CD4A8}"/>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51" name="Group 50">
              <a:extLst>
                <a:ext uri="{FF2B5EF4-FFF2-40B4-BE49-F238E27FC236}">
                  <a16:creationId xmlns:a16="http://schemas.microsoft.com/office/drawing/2014/main" id="{32768347-527B-4916-91ED-BDEC77212755}"/>
                </a:ext>
              </a:extLst>
            </p:cNvPr>
            <p:cNvGrpSpPr/>
            <p:nvPr/>
          </p:nvGrpSpPr>
          <p:grpSpPr>
            <a:xfrm>
              <a:off x="7184392" y="3912636"/>
              <a:ext cx="877838" cy="955209"/>
              <a:chOff x="6103987" y="2578566"/>
              <a:chExt cx="877838" cy="955209"/>
            </a:xfrm>
          </p:grpSpPr>
          <p:pic>
            <p:nvPicPr>
              <p:cNvPr id="52" name="Picture 51" descr="A close up of a logo&#10;&#10;Description automatically generated">
                <a:extLst>
                  <a:ext uri="{FF2B5EF4-FFF2-40B4-BE49-F238E27FC236}">
                    <a16:creationId xmlns:a16="http://schemas.microsoft.com/office/drawing/2014/main" id="{1DFEDE50-8BFA-469F-8403-1CD0A9F32EB9}"/>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p:spPr>
          </p:pic>
          <p:sp>
            <p:nvSpPr>
              <p:cNvPr id="53" name="Rectangle: Rounded Corners 52">
                <a:extLst>
                  <a:ext uri="{FF2B5EF4-FFF2-40B4-BE49-F238E27FC236}">
                    <a16:creationId xmlns:a16="http://schemas.microsoft.com/office/drawing/2014/main" id="{DB7063F3-7037-43EF-AB77-907E2F77E289}"/>
                  </a:ext>
                </a:extLst>
              </p:cNvPr>
              <p:cNvSpPr/>
              <p:nvPr/>
            </p:nvSpPr>
            <p:spPr bwMode="auto">
              <a:xfrm>
                <a:off x="6103987" y="2578566"/>
                <a:ext cx="877838" cy="955209"/>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2457021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 categories</a:t>
            </a:r>
          </a:p>
        </p:txBody>
      </p:sp>
      <p:pic>
        <p:nvPicPr>
          <p:cNvPr id="5" name="Picture 4" descr="A screenshot of a cell phone&#10;&#10;Description automatically generated">
            <a:extLst>
              <a:ext uri="{FF2B5EF4-FFF2-40B4-BE49-F238E27FC236}">
                <a16:creationId xmlns:a16="http://schemas.microsoft.com/office/drawing/2014/main" id="{F7E67659-6C1F-4D7B-8B9C-FB3411069D1E}"/>
              </a:ext>
            </a:extLst>
          </p:cNvPr>
          <p:cNvPicPr>
            <a:picLocks noChangeAspect="1"/>
          </p:cNvPicPr>
          <p:nvPr/>
        </p:nvPicPr>
        <p:blipFill>
          <a:blip r:embed="rId3"/>
          <a:stretch>
            <a:fillRect/>
          </a:stretch>
        </p:blipFill>
        <p:spPr>
          <a:xfrm>
            <a:off x="3246049" y="1011198"/>
            <a:ext cx="5699901" cy="5875124"/>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C8FE5856-7448-44E2-B766-D20412DAC2DF}"/>
              </a:ext>
            </a:extLst>
          </p:cNvPr>
          <p:cNvPicPr>
            <a:picLocks noChangeAspect="1"/>
          </p:cNvPicPr>
          <p:nvPr/>
        </p:nvPicPr>
        <p:blipFill>
          <a:blip r:embed="rId4"/>
          <a:stretch>
            <a:fillRect/>
          </a:stretch>
        </p:blipFill>
        <p:spPr>
          <a:xfrm>
            <a:off x="3873099" y="3456775"/>
            <a:ext cx="1074821" cy="680835"/>
          </a:xfrm>
          <a:prstGeom prst="rect">
            <a:avLst/>
          </a:prstGeom>
        </p:spPr>
      </p:pic>
    </p:spTree>
    <p:extLst>
      <p:ext uri="{BB962C8B-B14F-4D97-AF65-F5344CB8AC3E}">
        <p14:creationId xmlns:p14="http://schemas.microsoft.com/office/powerpoint/2010/main" val="9142774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categories</a:t>
            </a:r>
          </a:p>
        </p:txBody>
      </p:sp>
      <p:sp>
        <p:nvSpPr>
          <p:cNvPr id="6" name="Rectangle: Folded Corner 5">
            <a:extLst>
              <a:ext uri="{FF2B5EF4-FFF2-40B4-BE49-F238E27FC236}">
                <a16:creationId xmlns:a16="http://schemas.microsoft.com/office/drawing/2014/main" id="{7B96D8AA-A252-4E75-86E7-90D0623BB9E5}"/>
              </a:ext>
            </a:extLst>
          </p:cNvPr>
          <p:cNvSpPr/>
          <p:nvPr/>
        </p:nvSpPr>
        <p:spPr bwMode="auto">
          <a:xfrm>
            <a:off x="5302335" y="2331251"/>
            <a:ext cx="1587327" cy="119426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pic>
        <p:nvPicPr>
          <p:cNvPr id="5" name="Picture 4" descr="A screenshot of a cell phone&#10;&#10;Description automatically generated">
            <a:extLst>
              <a:ext uri="{FF2B5EF4-FFF2-40B4-BE49-F238E27FC236}">
                <a16:creationId xmlns:a16="http://schemas.microsoft.com/office/drawing/2014/main" id="{B81CE23E-BD9B-44D1-994F-1C2E9F216BD6}"/>
              </a:ext>
            </a:extLst>
          </p:cNvPr>
          <p:cNvPicPr>
            <a:picLocks noChangeAspect="1"/>
          </p:cNvPicPr>
          <p:nvPr/>
        </p:nvPicPr>
        <p:blipFill>
          <a:blip r:embed="rId3"/>
          <a:stretch>
            <a:fillRect/>
          </a:stretch>
        </p:blipFill>
        <p:spPr>
          <a:xfrm>
            <a:off x="5558587" y="1330807"/>
            <a:ext cx="1074821" cy="680835"/>
          </a:xfrm>
          <a:prstGeom prst="rect">
            <a:avLst/>
          </a:prstGeom>
        </p:spPr>
      </p:pic>
    </p:spTree>
    <p:extLst>
      <p:ext uri="{BB962C8B-B14F-4D97-AF65-F5344CB8AC3E}">
        <p14:creationId xmlns:p14="http://schemas.microsoft.com/office/powerpoint/2010/main" val="5722042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categories</a:t>
            </a:r>
          </a:p>
        </p:txBody>
      </p:sp>
      <p:sp>
        <p:nvSpPr>
          <p:cNvPr id="4" name="Rectangle: Folded Corner 3">
            <a:extLst>
              <a:ext uri="{FF2B5EF4-FFF2-40B4-BE49-F238E27FC236}">
                <a16:creationId xmlns:a16="http://schemas.microsoft.com/office/drawing/2014/main" id="{026D9104-9C4A-47B5-876E-1A255B6D75A1}"/>
              </a:ext>
            </a:extLst>
          </p:cNvPr>
          <p:cNvSpPr/>
          <p:nvPr/>
        </p:nvSpPr>
        <p:spPr bwMode="auto">
          <a:xfrm>
            <a:off x="7109620" y="2331251"/>
            <a:ext cx="1587327" cy="119426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1E566CB8-7738-4C49-830D-A34EF47AB9F3}"/>
              </a:ext>
            </a:extLst>
          </p:cNvPr>
          <p:cNvCxnSpPr>
            <a:cxnSpLocks/>
            <a:stCxn id="5" idx="4"/>
            <a:endCxn id="4" idx="1"/>
          </p:cNvCxnSpPr>
          <p:nvPr/>
        </p:nvCxnSpPr>
        <p:spPr>
          <a:xfrm>
            <a:off x="4806625" y="2810436"/>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5356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categories</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6" name="Content Placeholder 2">
            <a:extLst>
              <a:ext uri="{FF2B5EF4-FFF2-40B4-BE49-F238E27FC236}">
                <a16:creationId xmlns:a16="http://schemas.microsoft.com/office/drawing/2014/main" id="{4FC77569-0273-4B5D-89E5-9751DDBAFAE9}"/>
              </a:ext>
            </a:extLst>
          </p:cNvPr>
          <p:cNvSpPr txBox="1">
            <a:spLocks/>
          </p:cNvSpPr>
          <p:nvPr/>
        </p:nvSpPr>
        <p:spPr>
          <a:xfrm>
            <a:off x="6089161" y="2191871"/>
            <a:ext cx="5211763" cy="167386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product category</a:t>
            </a:r>
          </a:p>
          <a:p>
            <a:r>
              <a:rPr lang="en-US" dirty="0"/>
              <a:t>Edit a product category</a:t>
            </a:r>
          </a:p>
          <a:p>
            <a:r>
              <a:rPr lang="en-US" dirty="0"/>
              <a:t>List all product categories</a:t>
            </a:r>
          </a:p>
        </p:txBody>
      </p:sp>
      <p:grpSp>
        <p:nvGrpSpPr>
          <p:cNvPr id="59" name="Group 58">
            <a:extLst>
              <a:ext uri="{FF2B5EF4-FFF2-40B4-BE49-F238E27FC236}">
                <a16:creationId xmlns:a16="http://schemas.microsoft.com/office/drawing/2014/main" id="{A5CE79AD-2B61-474B-B6F5-5F29842BD592}"/>
              </a:ext>
            </a:extLst>
          </p:cNvPr>
          <p:cNvGrpSpPr/>
          <p:nvPr/>
        </p:nvGrpSpPr>
        <p:grpSpPr>
          <a:xfrm>
            <a:off x="2337508" y="5249731"/>
            <a:ext cx="7516984" cy="888551"/>
            <a:chOff x="2337508" y="5249731"/>
            <a:chExt cx="7516984" cy="888551"/>
          </a:xfrm>
        </p:grpSpPr>
        <p:pic>
          <p:nvPicPr>
            <p:cNvPr id="9" name="Picture 8" descr="A close up of a logo&#10;&#10;Description automatically generated">
              <a:extLst>
                <a:ext uri="{FF2B5EF4-FFF2-40B4-BE49-F238E27FC236}">
                  <a16:creationId xmlns:a16="http://schemas.microsoft.com/office/drawing/2014/main" id="{25BC2BB7-0940-4FB4-9FE6-FF24D9596DD1}"/>
                </a:ext>
              </a:extLst>
            </p:cNvPr>
            <p:cNvPicPr>
              <a:picLocks noChangeAspect="1"/>
            </p:cNvPicPr>
            <p:nvPr/>
          </p:nvPicPr>
          <p:blipFill>
            <a:blip r:embed="rId3">
              <a:duotone>
                <a:schemeClr val="accent2">
                  <a:shade val="45000"/>
                  <a:satMod val="135000"/>
                </a:schemeClr>
                <a:prstClr val="white"/>
              </a:duotone>
            </a:blip>
            <a:stretch>
              <a:fillRect/>
            </a:stretch>
          </p:blipFill>
          <p:spPr>
            <a:xfrm>
              <a:off x="3055943" y="5392488"/>
              <a:ext cx="609894" cy="609894"/>
            </a:xfrm>
            <a:prstGeom prst="rect">
              <a:avLst/>
            </a:prstGeom>
          </p:spPr>
        </p:pic>
        <p:pic>
          <p:nvPicPr>
            <p:cNvPr id="10" name="Picture 9" descr="A close up of a logo&#10;&#10;Description automatically generated">
              <a:extLst>
                <a:ext uri="{FF2B5EF4-FFF2-40B4-BE49-F238E27FC236}">
                  <a16:creationId xmlns:a16="http://schemas.microsoft.com/office/drawing/2014/main" id="{CCA21F80-5A6A-4181-89BB-A176698BAC74}"/>
                </a:ext>
              </a:extLst>
            </p:cNvPr>
            <p:cNvPicPr>
              <a:picLocks noChangeAspect="1"/>
            </p:cNvPicPr>
            <p:nvPr/>
          </p:nvPicPr>
          <p:blipFill>
            <a:blip r:embed="rId3">
              <a:duotone>
                <a:schemeClr val="accent2">
                  <a:shade val="45000"/>
                  <a:satMod val="135000"/>
                </a:schemeClr>
                <a:prstClr val="white"/>
              </a:duotone>
            </a:blip>
            <a:stretch>
              <a:fillRect/>
            </a:stretch>
          </p:blipFill>
          <p:spPr>
            <a:xfrm>
              <a:off x="2450152" y="5392488"/>
              <a:ext cx="609894" cy="609894"/>
            </a:xfrm>
            <a:prstGeom prst="rect">
              <a:avLst/>
            </a:prstGeom>
          </p:spPr>
        </p:pic>
        <p:sp>
          <p:nvSpPr>
            <p:cNvPr id="12" name="Rectangle: Rounded Corners 11">
              <a:extLst>
                <a:ext uri="{FF2B5EF4-FFF2-40B4-BE49-F238E27FC236}">
                  <a16:creationId xmlns:a16="http://schemas.microsoft.com/office/drawing/2014/main" id="{B70842C8-1B05-4D77-9C7F-867505571A9B}"/>
                </a:ext>
              </a:extLst>
            </p:cNvPr>
            <p:cNvSpPr/>
            <p:nvPr/>
          </p:nvSpPr>
          <p:spPr bwMode="auto">
            <a:xfrm>
              <a:off x="2337508" y="5249731"/>
              <a:ext cx="7516984" cy="888551"/>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4" name="Picture 13" descr="A close up of a logo&#10;&#10;Description automatically generated">
              <a:extLst>
                <a:ext uri="{FF2B5EF4-FFF2-40B4-BE49-F238E27FC236}">
                  <a16:creationId xmlns:a16="http://schemas.microsoft.com/office/drawing/2014/main" id="{D67411DB-81BD-42DE-90D7-CD408755ED3D}"/>
                </a:ext>
              </a:extLst>
            </p:cNvPr>
            <p:cNvPicPr>
              <a:picLocks noChangeAspect="1"/>
            </p:cNvPicPr>
            <p:nvPr/>
          </p:nvPicPr>
          <p:blipFill>
            <a:blip r:embed="rId3">
              <a:duotone>
                <a:schemeClr val="accent2">
                  <a:shade val="45000"/>
                  <a:satMod val="135000"/>
                </a:schemeClr>
                <a:prstClr val="white"/>
              </a:duotone>
            </a:blip>
            <a:stretch>
              <a:fillRect/>
            </a:stretch>
          </p:blipFill>
          <p:spPr>
            <a:xfrm>
              <a:off x="4271628" y="5392488"/>
              <a:ext cx="609894" cy="609894"/>
            </a:xfrm>
            <a:prstGeom prst="rect">
              <a:avLst/>
            </a:prstGeom>
          </p:spPr>
        </p:pic>
        <p:pic>
          <p:nvPicPr>
            <p:cNvPr id="15" name="Picture 14" descr="A close up of a logo&#10;&#10;Description automatically generated">
              <a:extLst>
                <a:ext uri="{FF2B5EF4-FFF2-40B4-BE49-F238E27FC236}">
                  <a16:creationId xmlns:a16="http://schemas.microsoft.com/office/drawing/2014/main" id="{79B68001-7265-4526-AC09-4CB8CD61DE31}"/>
                </a:ext>
              </a:extLst>
            </p:cNvPr>
            <p:cNvPicPr>
              <a:picLocks noChangeAspect="1"/>
            </p:cNvPicPr>
            <p:nvPr/>
          </p:nvPicPr>
          <p:blipFill>
            <a:blip r:embed="rId3">
              <a:duotone>
                <a:schemeClr val="accent2">
                  <a:shade val="45000"/>
                  <a:satMod val="135000"/>
                </a:schemeClr>
                <a:prstClr val="white"/>
              </a:duotone>
            </a:blip>
            <a:stretch>
              <a:fillRect/>
            </a:stretch>
          </p:blipFill>
          <p:spPr>
            <a:xfrm>
              <a:off x="3665837" y="5392488"/>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C584ECF8-C710-4CF4-97CA-E204F699AD34}"/>
                </a:ext>
              </a:extLst>
            </p:cNvPr>
            <p:cNvPicPr>
              <a:picLocks noChangeAspect="1"/>
            </p:cNvPicPr>
            <p:nvPr/>
          </p:nvPicPr>
          <p:blipFill>
            <a:blip r:embed="rId3">
              <a:duotone>
                <a:schemeClr val="accent2">
                  <a:shade val="45000"/>
                  <a:satMod val="135000"/>
                </a:schemeClr>
                <a:prstClr val="white"/>
              </a:duotone>
            </a:blip>
            <a:stretch>
              <a:fillRect/>
            </a:stretch>
          </p:blipFill>
          <p:spPr>
            <a:xfrm>
              <a:off x="5484631" y="5404102"/>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D265000E-E7E0-408E-B30B-373DF50D4402}"/>
                </a:ext>
              </a:extLst>
            </p:cNvPr>
            <p:cNvPicPr>
              <a:picLocks noChangeAspect="1"/>
            </p:cNvPicPr>
            <p:nvPr/>
          </p:nvPicPr>
          <p:blipFill>
            <a:blip r:embed="rId3">
              <a:duotone>
                <a:schemeClr val="accent2">
                  <a:shade val="45000"/>
                  <a:satMod val="135000"/>
                </a:schemeClr>
                <a:prstClr val="white"/>
              </a:duotone>
            </a:blip>
            <a:stretch>
              <a:fillRect/>
            </a:stretch>
          </p:blipFill>
          <p:spPr>
            <a:xfrm>
              <a:off x="4878840" y="5404102"/>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AC938937-69B7-40B1-964C-66B319FB6684}"/>
                </a:ext>
              </a:extLst>
            </p:cNvPr>
            <p:cNvPicPr>
              <a:picLocks noChangeAspect="1"/>
            </p:cNvPicPr>
            <p:nvPr/>
          </p:nvPicPr>
          <p:blipFill>
            <a:blip r:embed="rId3">
              <a:duotone>
                <a:schemeClr val="accent2">
                  <a:shade val="45000"/>
                  <a:satMod val="135000"/>
                </a:schemeClr>
                <a:prstClr val="white"/>
              </a:duotone>
            </a:blip>
            <a:stretch>
              <a:fillRect/>
            </a:stretch>
          </p:blipFill>
          <p:spPr>
            <a:xfrm>
              <a:off x="6694952" y="5415716"/>
              <a:ext cx="609894" cy="609894"/>
            </a:xfrm>
            <a:prstGeom prst="rect">
              <a:avLst/>
            </a:prstGeom>
          </p:spPr>
        </p:pic>
        <p:pic>
          <p:nvPicPr>
            <p:cNvPr id="23" name="Picture 22" descr="A close up of a logo&#10;&#10;Description automatically generated">
              <a:extLst>
                <a:ext uri="{FF2B5EF4-FFF2-40B4-BE49-F238E27FC236}">
                  <a16:creationId xmlns:a16="http://schemas.microsoft.com/office/drawing/2014/main" id="{4A2D33F5-9A47-4AEF-9647-000ABEA95DE9}"/>
                </a:ext>
              </a:extLst>
            </p:cNvPr>
            <p:cNvPicPr>
              <a:picLocks noChangeAspect="1"/>
            </p:cNvPicPr>
            <p:nvPr/>
          </p:nvPicPr>
          <p:blipFill>
            <a:blip r:embed="rId3">
              <a:duotone>
                <a:schemeClr val="accent2">
                  <a:shade val="45000"/>
                  <a:satMod val="135000"/>
                </a:schemeClr>
                <a:prstClr val="white"/>
              </a:duotone>
            </a:blip>
            <a:stretch>
              <a:fillRect/>
            </a:stretch>
          </p:blipFill>
          <p:spPr>
            <a:xfrm>
              <a:off x="6089161" y="5415716"/>
              <a:ext cx="609894" cy="609894"/>
            </a:xfrm>
            <a:prstGeom prst="rect">
              <a:avLst/>
            </a:prstGeom>
          </p:spPr>
        </p:pic>
        <p:pic>
          <p:nvPicPr>
            <p:cNvPr id="26" name="Picture 25" descr="A close up of a logo&#10;&#10;Description automatically generated">
              <a:extLst>
                <a:ext uri="{FF2B5EF4-FFF2-40B4-BE49-F238E27FC236}">
                  <a16:creationId xmlns:a16="http://schemas.microsoft.com/office/drawing/2014/main" id="{BDE04C02-9ED2-41F7-986F-306D1DD2F088}"/>
                </a:ext>
              </a:extLst>
            </p:cNvPr>
            <p:cNvPicPr>
              <a:picLocks noChangeAspect="1"/>
            </p:cNvPicPr>
            <p:nvPr/>
          </p:nvPicPr>
          <p:blipFill>
            <a:blip r:embed="rId3">
              <a:duotone>
                <a:schemeClr val="accent2">
                  <a:shade val="45000"/>
                  <a:satMod val="135000"/>
                </a:schemeClr>
                <a:prstClr val="white"/>
              </a:duotone>
            </a:blip>
            <a:stretch>
              <a:fillRect/>
            </a:stretch>
          </p:blipFill>
          <p:spPr>
            <a:xfrm>
              <a:off x="7912058" y="5415716"/>
              <a:ext cx="609894" cy="609894"/>
            </a:xfrm>
            <a:prstGeom prst="rect">
              <a:avLst/>
            </a:prstGeom>
          </p:spPr>
        </p:pic>
        <p:pic>
          <p:nvPicPr>
            <p:cNvPr id="27" name="Picture 26" descr="A close up of a logo&#10;&#10;Description automatically generated">
              <a:extLst>
                <a:ext uri="{FF2B5EF4-FFF2-40B4-BE49-F238E27FC236}">
                  <a16:creationId xmlns:a16="http://schemas.microsoft.com/office/drawing/2014/main" id="{5F67AEE9-E3E6-493B-8C4D-3FA800FBB2A8}"/>
                </a:ext>
              </a:extLst>
            </p:cNvPr>
            <p:cNvPicPr>
              <a:picLocks noChangeAspect="1"/>
            </p:cNvPicPr>
            <p:nvPr/>
          </p:nvPicPr>
          <p:blipFill>
            <a:blip r:embed="rId3">
              <a:duotone>
                <a:schemeClr val="accent2">
                  <a:shade val="45000"/>
                  <a:satMod val="135000"/>
                </a:schemeClr>
                <a:prstClr val="white"/>
              </a:duotone>
            </a:blip>
            <a:stretch>
              <a:fillRect/>
            </a:stretch>
          </p:blipFill>
          <p:spPr>
            <a:xfrm>
              <a:off x="7306267" y="5415716"/>
              <a:ext cx="609894" cy="609894"/>
            </a:xfrm>
            <a:prstGeom prst="rect">
              <a:avLst/>
            </a:prstGeom>
          </p:spPr>
        </p:pic>
        <p:pic>
          <p:nvPicPr>
            <p:cNvPr id="30" name="Picture 29" descr="A close up of a logo&#10;&#10;Description automatically generated">
              <a:extLst>
                <a:ext uri="{FF2B5EF4-FFF2-40B4-BE49-F238E27FC236}">
                  <a16:creationId xmlns:a16="http://schemas.microsoft.com/office/drawing/2014/main" id="{043F6F8E-BCD7-4F6D-A575-732202CDE57F}"/>
                </a:ext>
              </a:extLst>
            </p:cNvPr>
            <p:cNvPicPr>
              <a:picLocks noChangeAspect="1"/>
            </p:cNvPicPr>
            <p:nvPr/>
          </p:nvPicPr>
          <p:blipFill>
            <a:blip r:embed="rId3">
              <a:duotone>
                <a:schemeClr val="accent2">
                  <a:shade val="45000"/>
                  <a:satMod val="135000"/>
                </a:schemeClr>
                <a:prstClr val="white"/>
              </a:duotone>
            </a:blip>
            <a:stretch>
              <a:fillRect/>
            </a:stretch>
          </p:blipFill>
          <p:spPr>
            <a:xfrm>
              <a:off x="9125061" y="5415716"/>
              <a:ext cx="609894" cy="609894"/>
            </a:xfrm>
            <a:prstGeom prst="rect">
              <a:avLst/>
            </a:prstGeom>
          </p:spPr>
        </p:pic>
        <p:pic>
          <p:nvPicPr>
            <p:cNvPr id="31" name="Picture 30" descr="A close up of a logo&#10;&#10;Description automatically generated">
              <a:extLst>
                <a:ext uri="{FF2B5EF4-FFF2-40B4-BE49-F238E27FC236}">
                  <a16:creationId xmlns:a16="http://schemas.microsoft.com/office/drawing/2014/main" id="{CD8B5ECF-8643-408C-984D-ADA70A8E942F}"/>
                </a:ext>
              </a:extLst>
            </p:cNvPr>
            <p:cNvPicPr>
              <a:picLocks noChangeAspect="1"/>
            </p:cNvPicPr>
            <p:nvPr/>
          </p:nvPicPr>
          <p:blipFill>
            <a:blip r:embed="rId3">
              <a:duotone>
                <a:schemeClr val="accent2">
                  <a:shade val="45000"/>
                  <a:satMod val="135000"/>
                </a:schemeClr>
                <a:prstClr val="white"/>
              </a:duotone>
            </a:blip>
            <a:stretch>
              <a:fillRect/>
            </a:stretch>
          </p:blipFill>
          <p:spPr>
            <a:xfrm>
              <a:off x="8519270" y="5415716"/>
              <a:ext cx="609894" cy="609894"/>
            </a:xfrm>
            <a:prstGeom prst="rect">
              <a:avLst/>
            </a:prstGeom>
          </p:spPr>
        </p:pic>
      </p:grpSp>
      <p:sp>
        <p:nvSpPr>
          <p:cNvPr id="33" name="TextBox 32">
            <a:extLst>
              <a:ext uri="{FF2B5EF4-FFF2-40B4-BE49-F238E27FC236}">
                <a16:creationId xmlns:a16="http://schemas.microsoft.com/office/drawing/2014/main" id="{456CD86D-4528-43F1-827B-C379B80DD7EA}"/>
              </a:ext>
            </a:extLst>
          </p:cNvPr>
          <p:cNvSpPr txBox="1"/>
          <p:nvPr/>
        </p:nvSpPr>
        <p:spPr>
          <a:xfrm>
            <a:off x="4806625" y="4405796"/>
            <a:ext cx="3090388" cy="430887"/>
          </a:xfrm>
          <a:prstGeom prst="rect">
            <a:avLst/>
          </a:prstGeom>
          <a:noFill/>
        </p:spPr>
        <p:txBody>
          <a:bodyPr wrap="square" lIns="0" tIns="0" rIns="0" bIns="0" rtlCol="0">
            <a:spAutoFit/>
          </a:bodyPr>
          <a:lstStyle/>
          <a:p>
            <a:pPr algn="ctr"/>
            <a:r>
              <a:rPr lang="en-US" sz="2800" dirty="0"/>
              <a:t>SELECT * FROM c</a:t>
            </a:r>
          </a:p>
        </p:txBody>
      </p:sp>
      <p:cxnSp>
        <p:nvCxnSpPr>
          <p:cNvPr id="7" name="Connector: Curved 6">
            <a:extLst>
              <a:ext uri="{FF2B5EF4-FFF2-40B4-BE49-F238E27FC236}">
                <a16:creationId xmlns:a16="http://schemas.microsoft.com/office/drawing/2014/main" id="{E7E5B98E-3EEA-4E22-B2CE-95FD7DB68FD6}"/>
              </a:ext>
            </a:extLst>
          </p:cNvPr>
          <p:cNvCxnSpPr>
            <a:cxnSpLocks/>
            <a:stCxn id="52" idx="3"/>
          </p:cNvCxnSpPr>
          <p:nvPr/>
        </p:nvCxnSpPr>
        <p:spPr>
          <a:xfrm flipV="1">
            <a:off x="7897013" y="3724813"/>
            <a:ext cx="567128" cy="896072"/>
          </a:xfrm>
          <a:prstGeom prst="curvedConnector2">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51" name="Picture 50" descr="A close up of a logo&#10;&#10;Description automatically generated">
            <a:extLst>
              <a:ext uri="{FF2B5EF4-FFF2-40B4-BE49-F238E27FC236}">
                <a16:creationId xmlns:a16="http://schemas.microsoft.com/office/drawing/2014/main" id="{9DE9FFE4-16B6-4484-B114-DB5F7E131524}"/>
              </a:ext>
            </a:extLst>
          </p:cNvPr>
          <p:cNvPicPr>
            <a:picLocks noChangeAspect="1"/>
          </p:cNvPicPr>
          <p:nvPr/>
        </p:nvPicPr>
        <p:blipFill>
          <a:blip r:embed="rId4"/>
          <a:stretch>
            <a:fillRect/>
          </a:stretch>
        </p:blipFill>
        <p:spPr>
          <a:xfrm>
            <a:off x="4405339" y="4438642"/>
            <a:ext cx="381907" cy="381907"/>
          </a:xfrm>
          <a:prstGeom prst="rect">
            <a:avLst/>
          </a:prstGeom>
        </p:spPr>
      </p:pic>
      <p:sp>
        <p:nvSpPr>
          <p:cNvPr id="52" name="Rectangle: Rounded Corners 51">
            <a:extLst>
              <a:ext uri="{FF2B5EF4-FFF2-40B4-BE49-F238E27FC236}">
                <a16:creationId xmlns:a16="http://schemas.microsoft.com/office/drawing/2014/main" id="{74C8EEF9-DD7C-469E-9E29-2C0BCB99E2B4}"/>
              </a:ext>
            </a:extLst>
          </p:cNvPr>
          <p:cNvSpPr/>
          <p:nvPr/>
        </p:nvSpPr>
        <p:spPr bwMode="auto">
          <a:xfrm>
            <a:off x="4309316" y="4343886"/>
            <a:ext cx="3587697"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53" name="Straight Connector 52">
            <a:extLst>
              <a:ext uri="{FF2B5EF4-FFF2-40B4-BE49-F238E27FC236}">
                <a16:creationId xmlns:a16="http://schemas.microsoft.com/office/drawing/2014/main" id="{E3702F52-1F92-4BA2-BE30-5E440D6F58AE}"/>
              </a:ext>
            </a:extLst>
          </p:cNvPr>
          <p:cNvCxnSpPr>
            <a:cxnSpLocks/>
          </p:cNvCxnSpPr>
          <p:nvPr/>
        </p:nvCxnSpPr>
        <p:spPr>
          <a:xfrm>
            <a:off x="4876444" y="4343886"/>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61219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par>
                                <p:cTn id="12" presetID="10" presetClass="entr" presetSubtype="0" fill="hold"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par>
                                <p:cTn id="18" presetID="10"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wipe(left)">
                                      <p:cBhvr>
                                        <p:cTn id="2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categories</a:t>
            </a:r>
          </a:p>
        </p:txBody>
      </p:sp>
      <p:sp>
        <p:nvSpPr>
          <p:cNvPr id="4" name="Rectangle: Folded Corner 3">
            <a:extLst>
              <a:ext uri="{FF2B5EF4-FFF2-40B4-BE49-F238E27FC236}">
                <a16:creationId xmlns:a16="http://schemas.microsoft.com/office/drawing/2014/main" id="{026D9104-9C4A-47B5-876E-1A255B6D75A1}"/>
              </a:ext>
            </a:extLst>
          </p:cNvPr>
          <p:cNvSpPr/>
          <p:nvPr/>
        </p:nvSpPr>
        <p:spPr bwMode="auto">
          <a:xfrm>
            <a:off x="7109620" y="2331251"/>
            <a:ext cx="1894531" cy="133710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"category"</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type</a:t>
            </a:r>
          </a:p>
        </p:txBody>
      </p:sp>
      <p:cxnSp>
        <p:nvCxnSpPr>
          <p:cNvPr id="7" name="Connector: Elbow 6">
            <a:extLst>
              <a:ext uri="{FF2B5EF4-FFF2-40B4-BE49-F238E27FC236}">
                <a16:creationId xmlns:a16="http://schemas.microsoft.com/office/drawing/2014/main" id="{1E566CB8-7738-4C49-830D-A34EF47AB9F3}"/>
              </a:ext>
            </a:extLst>
          </p:cNvPr>
          <p:cNvCxnSpPr>
            <a:cxnSpLocks/>
            <a:stCxn id="5" idx="4"/>
            <a:endCxn id="4" idx="1"/>
          </p:cNvCxnSpPr>
          <p:nvPr/>
        </p:nvCxnSpPr>
        <p:spPr>
          <a:xfrm>
            <a:off x="4806625" y="2810436"/>
            <a:ext cx="2302995" cy="18936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2AE75CF-8753-4871-BB58-C82F5A75070C}"/>
              </a:ext>
            </a:extLst>
          </p:cNvPr>
          <p:cNvSpPr/>
          <p:nvPr/>
        </p:nvSpPr>
        <p:spPr bwMode="auto">
          <a:xfrm>
            <a:off x="7109620" y="3126247"/>
            <a:ext cx="1894531" cy="234173"/>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2122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 tags</a:t>
            </a:r>
          </a:p>
        </p:txBody>
      </p:sp>
      <p:pic>
        <p:nvPicPr>
          <p:cNvPr id="4" name="Picture 3" descr="A screenshot of a cell phone&#10;&#10;Description automatically generated">
            <a:extLst>
              <a:ext uri="{FF2B5EF4-FFF2-40B4-BE49-F238E27FC236}">
                <a16:creationId xmlns:a16="http://schemas.microsoft.com/office/drawing/2014/main" id="{61231E84-DAE9-4656-A579-30247616E76A}"/>
              </a:ext>
            </a:extLst>
          </p:cNvPr>
          <p:cNvPicPr>
            <a:picLocks noChangeAspect="1"/>
          </p:cNvPicPr>
          <p:nvPr/>
        </p:nvPicPr>
        <p:blipFill>
          <a:blip r:embed="rId3"/>
          <a:stretch>
            <a:fillRect/>
          </a:stretch>
        </p:blipFill>
        <p:spPr>
          <a:xfrm>
            <a:off x="3235289" y="1011198"/>
            <a:ext cx="5672424" cy="5846802"/>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8AC1DE05-9224-4704-B128-2191EDD0C1F0}"/>
              </a:ext>
            </a:extLst>
          </p:cNvPr>
          <p:cNvPicPr>
            <a:picLocks noChangeAspect="1"/>
          </p:cNvPicPr>
          <p:nvPr/>
        </p:nvPicPr>
        <p:blipFill>
          <a:blip r:embed="rId4"/>
          <a:stretch>
            <a:fillRect/>
          </a:stretch>
        </p:blipFill>
        <p:spPr>
          <a:xfrm>
            <a:off x="7292180" y="3429000"/>
            <a:ext cx="1108132" cy="701936"/>
          </a:xfrm>
          <a:prstGeom prst="rect">
            <a:avLst/>
          </a:prstGeom>
        </p:spPr>
      </p:pic>
    </p:spTree>
    <p:extLst>
      <p:ext uri="{BB962C8B-B14F-4D97-AF65-F5344CB8AC3E}">
        <p14:creationId xmlns:p14="http://schemas.microsoft.com/office/powerpoint/2010/main" val="47446363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tags</a:t>
            </a:r>
          </a:p>
        </p:txBody>
      </p:sp>
      <p:pic>
        <p:nvPicPr>
          <p:cNvPr id="8" name="Picture 7" descr="A screenshot of a cell phone&#10;&#10;Description automatically generated">
            <a:extLst>
              <a:ext uri="{FF2B5EF4-FFF2-40B4-BE49-F238E27FC236}">
                <a16:creationId xmlns:a16="http://schemas.microsoft.com/office/drawing/2014/main" id="{8AC1DE05-9224-4704-B128-2191EDD0C1F0}"/>
              </a:ext>
            </a:extLst>
          </p:cNvPr>
          <p:cNvPicPr>
            <a:picLocks noChangeAspect="1"/>
          </p:cNvPicPr>
          <p:nvPr/>
        </p:nvPicPr>
        <p:blipFill>
          <a:blip r:embed="rId3"/>
          <a:stretch>
            <a:fillRect/>
          </a:stretch>
        </p:blipFill>
        <p:spPr>
          <a:xfrm>
            <a:off x="5541934" y="1385047"/>
            <a:ext cx="1108132" cy="701936"/>
          </a:xfrm>
          <a:prstGeom prst="rect">
            <a:avLst/>
          </a:prstGeom>
        </p:spPr>
      </p:pic>
      <p:sp>
        <p:nvSpPr>
          <p:cNvPr id="5" name="Rectangle: Folded Corner 4">
            <a:extLst>
              <a:ext uri="{FF2B5EF4-FFF2-40B4-BE49-F238E27FC236}">
                <a16:creationId xmlns:a16="http://schemas.microsoft.com/office/drawing/2014/main" id="{C7341CDA-F72C-407E-B6CD-F39527DBD561}"/>
              </a:ext>
            </a:extLst>
          </p:cNvPr>
          <p:cNvSpPr/>
          <p:nvPr/>
        </p:nvSpPr>
        <p:spPr bwMode="auto">
          <a:xfrm>
            <a:off x="5302335" y="2331251"/>
            <a:ext cx="1587327" cy="119426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10955655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tags</a:t>
            </a:r>
          </a:p>
        </p:txBody>
      </p:sp>
      <p:sp>
        <p:nvSpPr>
          <p:cNvPr id="5" name="Rectangle: Folded Corner 4">
            <a:extLst>
              <a:ext uri="{FF2B5EF4-FFF2-40B4-BE49-F238E27FC236}">
                <a16:creationId xmlns:a16="http://schemas.microsoft.com/office/drawing/2014/main" id="{C7341CDA-F72C-407E-B6CD-F39527DBD561}"/>
              </a:ext>
            </a:extLst>
          </p:cNvPr>
          <p:cNvSpPr/>
          <p:nvPr/>
        </p:nvSpPr>
        <p:spPr bwMode="auto">
          <a:xfrm>
            <a:off x="7109618" y="2331251"/>
            <a:ext cx="1587327" cy="119426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6625" y="2810436"/>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684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8" name="Content Placeholder 2">
            <a:extLst>
              <a:ext uri="{FF2B5EF4-FFF2-40B4-BE49-F238E27FC236}">
                <a16:creationId xmlns:a16="http://schemas.microsoft.com/office/drawing/2014/main" id="{455424B4-CE85-4B0D-AA54-0F1B4869DEAE}"/>
              </a:ext>
            </a:extLst>
          </p:cNvPr>
          <p:cNvSpPr txBox="1">
            <a:spLocks/>
          </p:cNvSpPr>
          <p:nvPr/>
        </p:nvSpPr>
        <p:spPr>
          <a:xfrm>
            <a:off x="6096000" y="2191871"/>
            <a:ext cx="5211763" cy="170613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product tag</a:t>
            </a:r>
          </a:p>
          <a:p>
            <a:r>
              <a:rPr lang="en-US" dirty="0"/>
              <a:t>Edit a product tag</a:t>
            </a:r>
          </a:p>
          <a:p>
            <a:r>
              <a:rPr lang="en-US" dirty="0"/>
              <a:t>List all product tags</a:t>
            </a:r>
          </a:p>
        </p:txBody>
      </p:sp>
    </p:spTree>
    <p:extLst>
      <p:ext uri="{BB962C8B-B14F-4D97-AF65-F5344CB8AC3E}">
        <p14:creationId xmlns:p14="http://schemas.microsoft.com/office/powerpoint/2010/main" val="275924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tags</a:t>
            </a:r>
          </a:p>
        </p:txBody>
      </p:sp>
      <p:sp>
        <p:nvSpPr>
          <p:cNvPr id="5" name="Rectangle: Folded Corner 4">
            <a:extLst>
              <a:ext uri="{FF2B5EF4-FFF2-40B4-BE49-F238E27FC236}">
                <a16:creationId xmlns:a16="http://schemas.microsoft.com/office/drawing/2014/main" id="{C7341CDA-F72C-407E-B6CD-F39527DBD561}"/>
              </a:ext>
            </a:extLst>
          </p:cNvPr>
          <p:cNvSpPr/>
          <p:nvPr/>
        </p:nvSpPr>
        <p:spPr bwMode="auto">
          <a:xfrm>
            <a:off x="7109622" y="2331251"/>
            <a:ext cx="1587327" cy="138013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"tag"</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6" name="Cylinder 5">
            <a:extLst>
              <a:ext uri="{FF2B5EF4-FFF2-40B4-BE49-F238E27FC236}">
                <a16:creationId xmlns:a16="http://schemas.microsoft.com/office/drawing/2014/main" id="{A80E8774-F5D6-4881-98DF-EDEA8373AFE7}"/>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type</a:t>
            </a:r>
          </a:p>
        </p:txBody>
      </p:sp>
      <p:cxnSp>
        <p:nvCxnSpPr>
          <p:cNvPr id="7" name="Connector: Elbow 6">
            <a:extLst>
              <a:ext uri="{FF2B5EF4-FFF2-40B4-BE49-F238E27FC236}">
                <a16:creationId xmlns:a16="http://schemas.microsoft.com/office/drawing/2014/main" id="{3ECD0793-B4FE-4B92-A4C4-74C1627B7E96}"/>
              </a:ext>
            </a:extLst>
          </p:cNvPr>
          <p:cNvCxnSpPr>
            <a:cxnSpLocks/>
            <a:stCxn id="6" idx="4"/>
            <a:endCxn id="5" idx="1"/>
          </p:cNvCxnSpPr>
          <p:nvPr/>
        </p:nvCxnSpPr>
        <p:spPr>
          <a:xfrm>
            <a:off x="4806625" y="2810436"/>
            <a:ext cx="2302997" cy="21088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86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products</a:t>
            </a:r>
          </a:p>
        </p:txBody>
      </p:sp>
      <p:pic>
        <p:nvPicPr>
          <p:cNvPr id="5" name="Picture 4" descr="A screenshot of a cell phone&#10;&#10;Description automatically generated">
            <a:extLst>
              <a:ext uri="{FF2B5EF4-FFF2-40B4-BE49-F238E27FC236}">
                <a16:creationId xmlns:a16="http://schemas.microsoft.com/office/drawing/2014/main" id="{0FBB86D8-DDAE-418D-A262-6E31AE93D5BF}"/>
              </a:ext>
            </a:extLst>
          </p:cNvPr>
          <p:cNvPicPr>
            <a:picLocks noChangeAspect="1"/>
          </p:cNvPicPr>
          <p:nvPr/>
        </p:nvPicPr>
        <p:blipFill>
          <a:blip r:embed="rId2"/>
          <a:stretch>
            <a:fillRect/>
          </a:stretch>
        </p:blipFill>
        <p:spPr>
          <a:xfrm>
            <a:off x="3235289" y="1011198"/>
            <a:ext cx="5672424" cy="5846802"/>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3"/>
          <a:stretch>
            <a:fillRect/>
          </a:stretch>
        </p:blipFill>
        <p:spPr>
          <a:xfrm>
            <a:off x="5608514" y="3429000"/>
            <a:ext cx="1077919" cy="1519518"/>
          </a:xfrm>
          <a:prstGeom prst="rect">
            <a:avLst/>
          </a:prstGeom>
        </p:spPr>
      </p:pic>
    </p:spTree>
    <p:extLst>
      <p:ext uri="{BB962C8B-B14F-4D97-AF65-F5344CB8AC3E}">
        <p14:creationId xmlns:p14="http://schemas.microsoft.com/office/powerpoint/2010/main" val="103507807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od, flower, bird&#10;&#10;Description automatically generated">
            <a:extLst>
              <a:ext uri="{FF2B5EF4-FFF2-40B4-BE49-F238E27FC236}">
                <a16:creationId xmlns:a16="http://schemas.microsoft.com/office/drawing/2014/main" id="{47069872-9BFD-4093-91BB-94645DFE94C0}"/>
              </a:ext>
            </a:extLst>
          </p:cNvPr>
          <p:cNvPicPr>
            <a:picLocks noChangeAspect="1"/>
          </p:cNvPicPr>
          <p:nvPr/>
        </p:nvPicPr>
        <p:blipFill>
          <a:blip r:embed="rId3"/>
          <a:stretch>
            <a:fillRect/>
          </a:stretch>
        </p:blipFill>
        <p:spPr>
          <a:xfrm>
            <a:off x="6591927" y="1011198"/>
            <a:ext cx="2501137" cy="1831392"/>
          </a:xfrm>
          <a:prstGeom prst="rect">
            <a:avLst/>
          </a:prstGeom>
        </p:spPr>
      </p:pic>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4"/>
          <a:stretch>
            <a:fillRect/>
          </a:stretch>
        </p:blipFill>
        <p:spPr>
          <a:xfrm>
            <a:off x="5557040" y="1234441"/>
            <a:ext cx="1077919" cy="1519518"/>
          </a:xfrm>
          <a:prstGeom prst="rect">
            <a:avLst/>
          </a:prstGeom>
        </p:spPr>
      </p:pic>
      <p:sp>
        <p:nvSpPr>
          <p:cNvPr id="8" name="Rectangle: Folded Corner 7">
            <a:extLst>
              <a:ext uri="{FF2B5EF4-FFF2-40B4-BE49-F238E27FC236}">
                <a16:creationId xmlns:a16="http://schemas.microsoft.com/office/drawing/2014/main" id="{FA34C632-CCC9-4E68-9C56-B2A1593A9322}"/>
              </a:ext>
            </a:extLst>
          </p:cNvPr>
          <p:cNvSpPr/>
          <p:nvPr/>
        </p:nvSpPr>
        <p:spPr bwMode="auto">
          <a:xfrm>
            <a:off x="5063865" y="2977203"/>
            <a:ext cx="2064269" cy="1975798"/>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12312072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od, flower, bird&#10;&#10;Description automatically generated">
            <a:extLst>
              <a:ext uri="{FF2B5EF4-FFF2-40B4-BE49-F238E27FC236}">
                <a16:creationId xmlns:a16="http://schemas.microsoft.com/office/drawing/2014/main" id="{47069872-9BFD-4093-91BB-94645DFE94C0}"/>
              </a:ext>
            </a:extLst>
          </p:cNvPr>
          <p:cNvPicPr>
            <a:picLocks noChangeAspect="1"/>
          </p:cNvPicPr>
          <p:nvPr/>
        </p:nvPicPr>
        <p:blipFill>
          <a:blip r:embed="rId3"/>
          <a:stretch>
            <a:fillRect/>
          </a:stretch>
        </p:blipFill>
        <p:spPr>
          <a:xfrm>
            <a:off x="6591927" y="1011198"/>
            <a:ext cx="2501137" cy="1831392"/>
          </a:xfrm>
          <a:prstGeom prst="rect">
            <a:avLst/>
          </a:prstGeom>
        </p:spPr>
      </p:pic>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4"/>
          <a:stretch>
            <a:fillRect/>
          </a:stretch>
        </p:blipFill>
        <p:spPr>
          <a:xfrm>
            <a:off x="5557040" y="1234441"/>
            <a:ext cx="1077919" cy="1519518"/>
          </a:xfrm>
          <a:prstGeom prst="rect">
            <a:avLst/>
          </a:prstGeom>
        </p:spPr>
      </p:pic>
      <p:sp>
        <p:nvSpPr>
          <p:cNvPr id="6" name="Rectangle: Folded Corner 5">
            <a:extLst>
              <a:ext uri="{FF2B5EF4-FFF2-40B4-BE49-F238E27FC236}">
                <a16:creationId xmlns:a16="http://schemas.microsoft.com/office/drawing/2014/main" id="{71843380-7315-4FCE-B9A2-A5B2A90DFF27}"/>
              </a:ext>
            </a:extLst>
          </p:cNvPr>
          <p:cNvSpPr/>
          <p:nvPr/>
        </p:nvSpPr>
        <p:spPr bwMode="auto">
          <a:xfrm>
            <a:off x="5063865" y="2977202"/>
            <a:ext cx="2064269" cy="277813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tagIds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8" name="Rectangle 7">
            <a:extLst>
              <a:ext uri="{FF2B5EF4-FFF2-40B4-BE49-F238E27FC236}">
                <a16:creationId xmlns:a16="http://schemas.microsoft.com/office/drawing/2014/main" id="{92C27644-849E-4D1C-BE33-4725B8ADCF6C}"/>
              </a:ext>
            </a:extLst>
          </p:cNvPr>
          <p:cNvSpPr/>
          <p:nvPr/>
        </p:nvSpPr>
        <p:spPr bwMode="auto">
          <a:xfrm>
            <a:off x="5063865" y="4636685"/>
            <a:ext cx="2064269" cy="849716"/>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37273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7109623" y="1632250"/>
            <a:ext cx="1980590" cy="277813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tagIds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4806625" y="2810436"/>
            <a:ext cx="2302997" cy="21088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9908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7" name="Content Placeholder 3">
            <a:extLst>
              <a:ext uri="{FF2B5EF4-FFF2-40B4-BE49-F238E27FC236}">
                <a16:creationId xmlns:a16="http://schemas.microsoft.com/office/drawing/2014/main" id="{F54D6E4C-7373-4ABB-BDBC-2F42D1150314}"/>
              </a:ext>
            </a:extLst>
          </p:cNvPr>
          <p:cNvSpPr txBox="1">
            <a:spLocks/>
          </p:cNvSpPr>
          <p:nvPr/>
        </p:nvSpPr>
        <p:spPr>
          <a:xfrm>
            <a:off x="6089113" y="1666767"/>
            <a:ext cx="5695949" cy="207189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product</a:t>
            </a:r>
          </a:p>
          <a:p>
            <a:r>
              <a:rPr lang="en-US" dirty="0"/>
              <a:t>Edit a product</a:t>
            </a:r>
          </a:p>
          <a:p>
            <a:r>
              <a:rPr lang="en-US" dirty="0"/>
              <a:t>List all products from a category</a:t>
            </a:r>
            <a:br>
              <a:rPr lang="en-US" dirty="0"/>
            </a:br>
            <a:r>
              <a:rPr lang="en-US" dirty="0"/>
              <a:t>(with name of category and tags)</a:t>
            </a:r>
          </a:p>
        </p:txBody>
      </p:sp>
      <p:grpSp>
        <p:nvGrpSpPr>
          <p:cNvPr id="4" name="Group 3">
            <a:extLst>
              <a:ext uri="{FF2B5EF4-FFF2-40B4-BE49-F238E27FC236}">
                <a16:creationId xmlns:a16="http://schemas.microsoft.com/office/drawing/2014/main" id="{D669744A-E958-43F2-8367-96EB393A2DC6}"/>
              </a:ext>
            </a:extLst>
          </p:cNvPr>
          <p:cNvGrpSpPr/>
          <p:nvPr/>
        </p:nvGrpSpPr>
        <p:grpSpPr>
          <a:xfrm>
            <a:off x="1787319" y="5197757"/>
            <a:ext cx="8617362" cy="925530"/>
            <a:chOff x="1787319" y="5197757"/>
            <a:chExt cx="8617362" cy="925530"/>
          </a:xfrm>
        </p:grpSpPr>
        <p:pic>
          <p:nvPicPr>
            <p:cNvPr id="12" name="Picture 11" descr="A close up of a logo&#10;&#10;Description automatically generated">
              <a:extLst>
                <a:ext uri="{FF2B5EF4-FFF2-40B4-BE49-F238E27FC236}">
                  <a16:creationId xmlns:a16="http://schemas.microsoft.com/office/drawing/2014/main" id="{B973C7F4-AAAD-464A-94CE-2674DF12926C}"/>
                </a:ext>
              </a:extLst>
            </p:cNvPr>
            <p:cNvPicPr>
              <a:picLocks noChangeAspect="1"/>
            </p:cNvPicPr>
            <p:nvPr/>
          </p:nvPicPr>
          <p:blipFill>
            <a:blip r:embed="rId3">
              <a:duotone>
                <a:schemeClr val="accent2">
                  <a:shade val="45000"/>
                  <a:satMod val="135000"/>
                </a:schemeClr>
                <a:prstClr val="white"/>
              </a:duotone>
            </a:blip>
            <a:stretch>
              <a:fillRect/>
            </a:stretch>
          </p:blipFill>
          <p:spPr>
            <a:xfrm>
              <a:off x="2505754" y="5377492"/>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4D16A385-0BED-47BC-B411-C94D4E20C4CB}"/>
                </a:ext>
              </a:extLst>
            </p:cNvPr>
            <p:cNvPicPr>
              <a:picLocks noChangeAspect="1"/>
            </p:cNvPicPr>
            <p:nvPr/>
          </p:nvPicPr>
          <p:blipFill>
            <a:blip r:embed="rId3">
              <a:duotone>
                <a:schemeClr val="accent2">
                  <a:shade val="45000"/>
                  <a:satMod val="135000"/>
                </a:schemeClr>
                <a:prstClr val="white"/>
              </a:duotone>
            </a:blip>
            <a:stretch>
              <a:fillRect/>
            </a:stretch>
          </p:blipFill>
          <p:spPr>
            <a:xfrm>
              <a:off x="1899963" y="5377492"/>
              <a:ext cx="609894" cy="609894"/>
            </a:xfrm>
            <a:prstGeom prst="rect">
              <a:avLst/>
            </a:prstGeom>
          </p:spPr>
        </p:pic>
        <p:sp>
          <p:nvSpPr>
            <p:cNvPr id="15" name="Rectangle: Rounded Corners 14">
              <a:extLst>
                <a:ext uri="{FF2B5EF4-FFF2-40B4-BE49-F238E27FC236}">
                  <a16:creationId xmlns:a16="http://schemas.microsoft.com/office/drawing/2014/main" id="{F811626A-FCCE-4843-80D2-022F35B16A0C}"/>
                </a:ext>
              </a:extLst>
            </p:cNvPr>
            <p:cNvSpPr/>
            <p:nvPr/>
          </p:nvSpPr>
          <p:spPr bwMode="auto">
            <a:xfrm>
              <a:off x="1787319"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close up of a logo&#10;&#10;Description automatically generated">
              <a:extLst>
                <a:ext uri="{FF2B5EF4-FFF2-40B4-BE49-F238E27FC236}">
                  <a16:creationId xmlns:a16="http://schemas.microsoft.com/office/drawing/2014/main" id="{18FF2B07-317A-42CA-9E92-C9BF61AF8144}"/>
                </a:ext>
              </a:extLst>
            </p:cNvPr>
            <p:cNvPicPr>
              <a:picLocks noChangeAspect="1"/>
            </p:cNvPicPr>
            <p:nvPr/>
          </p:nvPicPr>
          <p:blipFill>
            <a:blip r:embed="rId3">
              <a:duotone>
                <a:schemeClr val="accent2">
                  <a:shade val="45000"/>
                  <a:satMod val="135000"/>
                </a:schemeClr>
                <a:prstClr val="white"/>
              </a:duotone>
            </a:blip>
            <a:stretch>
              <a:fillRect/>
            </a:stretch>
          </p:blipFill>
          <p:spPr>
            <a:xfrm>
              <a:off x="3721439" y="5377492"/>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8090B429-9C88-4BA3-A7F5-1C58EF084F91}"/>
                </a:ext>
              </a:extLst>
            </p:cNvPr>
            <p:cNvPicPr>
              <a:picLocks noChangeAspect="1"/>
            </p:cNvPicPr>
            <p:nvPr/>
          </p:nvPicPr>
          <p:blipFill>
            <a:blip r:embed="rId3">
              <a:duotone>
                <a:schemeClr val="accent2">
                  <a:shade val="45000"/>
                  <a:satMod val="135000"/>
                </a:schemeClr>
                <a:prstClr val="white"/>
              </a:duotone>
            </a:blip>
            <a:stretch>
              <a:fillRect/>
            </a:stretch>
          </p:blipFill>
          <p:spPr>
            <a:xfrm>
              <a:off x="3115648" y="5377492"/>
              <a:ext cx="609894" cy="609894"/>
            </a:xfrm>
            <a:prstGeom prst="rect">
              <a:avLst/>
            </a:prstGeom>
          </p:spPr>
        </p:pic>
        <p:pic>
          <p:nvPicPr>
            <p:cNvPr id="37" name="Picture 36" descr="A close up of a logo&#10;&#10;Description automatically generated">
              <a:extLst>
                <a:ext uri="{FF2B5EF4-FFF2-40B4-BE49-F238E27FC236}">
                  <a16:creationId xmlns:a16="http://schemas.microsoft.com/office/drawing/2014/main" id="{BC8124C5-A4A3-4AC9-9341-F14EE4EF5522}"/>
                </a:ext>
              </a:extLst>
            </p:cNvPr>
            <p:cNvPicPr>
              <a:picLocks noChangeAspect="1"/>
            </p:cNvPicPr>
            <p:nvPr/>
          </p:nvPicPr>
          <p:blipFill>
            <a:blip r:embed="rId3">
              <a:duotone>
                <a:schemeClr val="accent2">
                  <a:shade val="45000"/>
                  <a:satMod val="135000"/>
                </a:schemeClr>
                <a:prstClr val="white"/>
              </a:duotone>
            </a:blip>
            <a:stretch>
              <a:fillRect/>
            </a:stretch>
          </p:blipFill>
          <p:spPr>
            <a:xfrm>
              <a:off x="5487415" y="5377492"/>
              <a:ext cx="609894" cy="609894"/>
            </a:xfrm>
            <a:prstGeom prst="rect">
              <a:avLst/>
            </a:prstGeom>
          </p:spPr>
        </p:pic>
        <p:pic>
          <p:nvPicPr>
            <p:cNvPr id="38" name="Picture 37" descr="A close up of a logo&#10;&#10;Description automatically generated">
              <a:extLst>
                <a:ext uri="{FF2B5EF4-FFF2-40B4-BE49-F238E27FC236}">
                  <a16:creationId xmlns:a16="http://schemas.microsoft.com/office/drawing/2014/main" id="{7AB15579-8F42-4B7C-A382-BAFA74B33E2C}"/>
                </a:ext>
              </a:extLst>
            </p:cNvPr>
            <p:cNvPicPr>
              <a:picLocks noChangeAspect="1"/>
            </p:cNvPicPr>
            <p:nvPr/>
          </p:nvPicPr>
          <p:blipFill>
            <a:blip r:embed="rId3">
              <a:duotone>
                <a:schemeClr val="accent2">
                  <a:shade val="45000"/>
                  <a:satMod val="135000"/>
                </a:schemeClr>
                <a:prstClr val="white"/>
              </a:duotone>
            </a:blip>
            <a:stretch>
              <a:fillRect/>
            </a:stretch>
          </p:blipFill>
          <p:spPr>
            <a:xfrm>
              <a:off x="4881624" y="5377492"/>
              <a:ext cx="609894" cy="609894"/>
            </a:xfrm>
            <a:prstGeom prst="rect">
              <a:avLst/>
            </a:prstGeom>
          </p:spPr>
        </p:pic>
        <p:sp>
          <p:nvSpPr>
            <p:cNvPr id="40" name="Rectangle: Rounded Corners 39">
              <a:extLst>
                <a:ext uri="{FF2B5EF4-FFF2-40B4-BE49-F238E27FC236}">
                  <a16:creationId xmlns:a16="http://schemas.microsoft.com/office/drawing/2014/main" id="{254C5105-DA8B-4257-91AB-3988C742D2F1}"/>
                </a:ext>
              </a:extLst>
            </p:cNvPr>
            <p:cNvSpPr/>
            <p:nvPr/>
          </p:nvSpPr>
          <p:spPr bwMode="auto">
            <a:xfrm>
              <a:off x="4768980"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2" name="Picture 41" descr="A close up of a logo&#10;&#10;Description automatically generated">
              <a:extLst>
                <a:ext uri="{FF2B5EF4-FFF2-40B4-BE49-F238E27FC236}">
                  <a16:creationId xmlns:a16="http://schemas.microsoft.com/office/drawing/2014/main" id="{61D4A780-66F5-4BB5-8A2C-24532933AA0F}"/>
                </a:ext>
              </a:extLst>
            </p:cNvPr>
            <p:cNvPicPr>
              <a:picLocks noChangeAspect="1"/>
            </p:cNvPicPr>
            <p:nvPr/>
          </p:nvPicPr>
          <p:blipFill>
            <a:blip r:embed="rId3">
              <a:duotone>
                <a:schemeClr val="accent2">
                  <a:shade val="45000"/>
                  <a:satMod val="135000"/>
                </a:schemeClr>
                <a:prstClr val="white"/>
              </a:duotone>
            </a:blip>
            <a:stretch>
              <a:fillRect/>
            </a:stretch>
          </p:blipFill>
          <p:spPr>
            <a:xfrm>
              <a:off x="6703100" y="5377492"/>
              <a:ext cx="609894" cy="609894"/>
            </a:xfrm>
            <a:prstGeom prst="rect">
              <a:avLst/>
            </a:prstGeom>
          </p:spPr>
        </p:pic>
        <p:pic>
          <p:nvPicPr>
            <p:cNvPr id="43" name="Picture 42" descr="A close up of a logo&#10;&#10;Description automatically generated">
              <a:extLst>
                <a:ext uri="{FF2B5EF4-FFF2-40B4-BE49-F238E27FC236}">
                  <a16:creationId xmlns:a16="http://schemas.microsoft.com/office/drawing/2014/main" id="{0F5F1691-5297-4E18-B315-7B8ADD655B12}"/>
                </a:ext>
              </a:extLst>
            </p:cNvPr>
            <p:cNvPicPr>
              <a:picLocks noChangeAspect="1"/>
            </p:cNvPicPr>
            <p:nvPr/>
          </p:nvPicPr>
          <p:blipFill>
            <a:blip r:embed="rId3">
              <a:duotone>
                <a:schemeClr val="accent2">
                  <a:shade val="45000"/>
                  <a:satMod val="135000"/>
                </a:schemeClr>
                <a:prstClr val="white"/>
              </a:duotone>
            </a:blip>
            <a:stretch>
              <a:fillRect/>
            </a:stretch>
          </p:blipFill>
          <p:spPr>
            <a:xfrm>
              <a:off x="6097309" y="5377492"/>
              <a:ext cx="609894" cy="609894"/>
            </a:xfrm>
            <a:prstGeom prst="rect">
              <a:avLst/>
            </a:prstGeom>
          </p:spPr>
        </p:pic>
        <p:pic>
          <p:nvPicPr>
            <p:cNvPr id="46" name="Picture 45" descr="A close up of a logo&#10;&#10;Description automatically generated">
              <a:extLst>
                <a:ext uri="{FF2B5EF4-FFF2-40B4-BE49-F238E27FC236}">
                  <a16:creationId xmlns:a16="http://schemas.microsoft.com/office/drawing/2014/main" id="{D0D58D91-B856-41F2-9E4C-2C501289E943}"/>
                </a:ext>
              </a:extLst>
            </p:cNvPr>
            <p:cNvPicPr>
              <a:picLocks noChangeAspect="1"/>
            </p:cNvPicPr>
            <p:nvPr/>
          </p:nvPicPr>
          <p:blipFill>
            <a:blip r:embed="rId3">
              <a:duotone>
                <a:schemeClr val="accent2">
                  <a:shade val="45000"/>
                  <a:satMod val="135000"/>
                </a:schemeClr>
                <a:prstClr val="white"/>
              </a:duotone>
            </a:blip>
            <a:stretch>
              <a:fillRect/>
            </a:stretch>
          </p:blipFill>
          <p:spPr>
            <a:xfrm>
              <a:off x="8469076" y="5377492"/>
              <a:ext cx="609894" cy="609894"/>
            </a:xfrm>
            <a:prstGeom prst="rect">
              <a:avLst/>
            </a:prstGeom>
          </p:spPr>
        </p:pic>
        <p:pic>
          <p:nvPicPr>
            <p:cNvPr id="47" name="Picture 46" descr="A close up of a logo&#10;&#10;Description automatically generated">
              <a:extLst>
                <a:ext uri="{FF2B5EF4-FFF2-40B4-BE49-F238E27FC236}">
                  <a16:creationId xmlns:a16="http://schemas.microsoft.com/office/drawing/2014/main" id="{29F4556F-A6A7-4D58-A4E4-B9315F3C3156}"/>
                </a:ext>
              </a:extLst>
            </p:cNvPr>
            <p:cNvPicPr>
              <a:picLocks noChangeAspect="1"/>
            </p:cNvPicPr>
            <p:nvPr/>
          </p:nvPicPr>
          <p:blipFill>
            <a:blip r:embed="rId3">
              <a:duotone>
                <a:schemeClr val="accent2">
                  <a:shade val="45000"/>
                  <a:satMod val="135000"/>
                </a:schemeClr>
                <a:prstClr val="white"/>
              </a:duotone>
            </a:blip>
            <a:stretch>
              <a:fillRect/>
            </a:stretch>
          </p:blipFill>
          <p:spPr>
            <a:xfrm>
              <a:off x="7863285" y="5377492"/>
              <a:ext cx="609894" cy="609894"/>
            </a:xfrm>
            <a:prstGeom prst="rect">
              <a:avLst/>
            </a:prstGeom>
          </p:spPr>
        </p:pic>
        <p:sp>
          <p:nvSpPr>
            <p:cNvPr id="49" name="Rectangle: Rounded Corners 48">
              <a:extLst>
                <a:ext uri="{FF2B5EF4-FFF2-40B4-BE49-F238E27FC236}">
                  <a16:creationId xmlns:a16="http://schemas.microsoft.com/office/drawing/2014/main" id="{B31F1296-E026-493A-85A0-06A720173EF5}"/>
                </a:ext>
              </a:extLst>
            </p:cNvPr>
            <p:cNvSpPr/>
            <p:nvPr/>
          </p:nvSpPr>
          <p:spPr bwMode="auto">
            <a:xfrm>
              <a:off x="7750641"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descr="A close up of a logo&#10;&#10;Description automatically generated">
              <a:extLst>
                <a:ext uri="{FF2B5EF4-FFF2-40B4-BE49-F238E27FC236}">
                  <a16:creationId xmlns:a16="http://schemas.microsoft.com/office/drawing/2014/main" id="{A362DFF0-CF96-46BA-B72F-F94E7F62F116}"/>
                </a:ext>
              </a:extLst>
            </p:cNvPr>
            <p:cNvPicPr>
              <a:picLocks noChangeAspect="1"/>
            </p:cNvPicPr>
            <p:nvPr/>
          </p:nvPicPr>
          <p:blipFill>
            <a:blip r:embed="rId3">
              <a:duotone>
                <a:schemeClr val="accent2">
                  <a:shade val="45000"/>
                  <a:satMod val="135000"/>
                </a:schemeClr>
                <a:prstClr val="white"/>
              </a:duotone>
            </a:blip>
            <a:stretch>
              <a:fillRect/>
            </a:stretch>
          </p:blipFill>
          <p:spPr>
            <a:xfrm>
              <a:off x="9684761" y="5377492"/>
              <a:ext cx="609894" cy="609894"/>
            </a:xfrm>
            <a:prstGeom prst="rect">
              <a:avLst/>
            </a:prstGeom>
          </p:spPr>
        </p:pic>
        <p:pic>
          <p:nvPicPr>
            <p:cNvPr id="52" name="Picture 51" descr="A close up of a logo&#10;&#10;Description automatically generated">
              <a:extLst>
                <a:ext uri="{FF2B5EF4-FFF2-40B4-BE49-F238E27FC236}">
                  <a16:creationId xmlns:a16="http://schemas.microsoft.com/office/drawing/2014/main" id="{05DC5352-F96C-4FFB-BAA0-F9630DF2C664}"/>
                </a:ext>
              </a:extLst>
            </p:cNvPr>
            <p:cNvPicPr>
              <a:picLocks noChangeAspect="1"/>
            </p:cNvPicPr>
            <p:nvPr/>
          </p:nvPicPr>
          <p:blipFill>
            <a:blip r:embed="rId3">
              <a:duotone>
                <a:schemeClr val="accent2">
                  <a:shade val="45000"/>
                  <a:satMod val="135000"/>
                </a:schemeClr>
                <a:prstClr val="white"/>
              </a:duotone>
            </a:blip>
            <a:stretch>
              <a:fillRect/>
            </a:stretch>
          </p:blipFill>
          <p:spPr>
            <a:xfrm>
              <a:off x="9078970" y="5377492"/>
              <a:ext cx="609894" cy="609894"/>
            </a:xfrm>
            <a:prstGeom prst="rect">
              <a:avLst/>
            </a:prstGeom>
          </p:spPr>
        </p:pic>
      </p:grpSp>
      <p:sp>
        <p:nvSpPr>
          <p:cNvPr id="54" name="TextBox 53">
            <a:extLst>
              <a:ext uri="{FF2B5EF4-FFF2-40B4-BE49-F238E27FC236}">
                <a16:creationId xmlns:a16="http://schemas.microsoft.com/office/drawing/2014/main" id="{82080247-E07C-4C18-9E37-0D4773C19665}"/>
              </a:ext>
            </a:extLst>
          </p:cNvPr>
          <p:cNvSpPr txBox="1"/>
          <p:nvPr/>
        </p:nvSpPr>
        <p:spPr>
          <a:xfrm>
            <a:off x="2200807"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CategoryA</a:t>
            </a:r>
            <a:endParaRPr lang="en-US" sz="2400" dirty="0">
              <a:solidFill>
                <a:schemeClr val="accent2">
                  <a:lumMod val="60000"/>
                  <a:lumOff val="40000"/>
                </a:schemeClr>
              </a:solidFill>
            </a:endParaRPr>
          </a:p>
        </p:txBody>
      </p:sp>
      <p:sp>
        <p:nvSpPr>
          <p:cNvPr id="55" name="TextBox 54">
            <a:extLst>
              <a:ext uri="{FF2B5EF4-FFF2-40B4-BE49-F238E27FC236}">
                <a16:creationId xmlns:a16="http://schemas.microsoft.com/office/drawing/2014/main" id="{CD210474-A997-4E14-A270-121E10F95B10}"/>
              </a:ext>
            </a:extLst>
          </p:cNvPr>
          <p:cNvSpPr txBox="1"/>
          <p:nvPr/>
        </p:nvSpPr>
        <p:spPr>
          <a:xfrm>
            <a:off x="8161447"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CategoryC</a:t>
            </a:r>
            <a:endParaRPr lang="en-US" sz="2400" dirty="0">
              <a:solidFill>
                <a:schemeClr val="accent2">
                  <a:lumMod val="60000"/>
                  <a:lumOff val="40000"/>
                </a:schemeClr>
              </a:solidFill>
            </a:endParaRPr>
          </a:p>
        </p:txBody>
      </p:sp>
      <p:sp>
        <p:nvSpPr>
          <p:cNvPr id="56" name="TextBox 55">
            <a:extLst>
              <a:ext uri="{FF2B5EF4-FFF2-40B4-BE49-F238E27FC236}">
                <a16:creationId xmlns:a16="http://schemas.microsoft.com/office/drawing/2014/main" id="{5EFDC8F6-F3B8-44BD-8D99-3702C4787329}"/>
              </a:ext>
            </a:extLst>
          </p:cNvPr>
          <p:cNvSpPr txBox="1"/>
          <p:nvPr/>
        </p:nvSpPr>
        <p:spPr>
          <a:xfrm>
            <a:off x="5182468"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CategoryB</a:t>
            </a:r>
            <a:endParaRPr lang="en-US" sz="2400" dirty="0">
              <a:solidFill>
                <a:schemeClr val="accent2">
                  <a:lumMod val="60000"/>
                  <a:lumOff val="40000"/>
                </a:schemeClr>
              </a:solidFill>
            </a:endParaRPr>
          </a:p>
        </p:txBody>
      </p:sp>
      <p:sp>
        <p:nvSpPr>
          <p:cNvPr id="57" name="TextBox 56">
            <a:extLst>
              <a:ext uri="{FF2B5EF4-FFF2-40B4-BE49-F238E27FC236}">
                <a16:creationId xmlns:a16="http://schemas.microsoft.com/office/drawing/2014/main" id="{27069435-FC20-4477-847D-C5DFA8D37B1B}"/>
              </a:ext>
            </a:extLst>
          </p:cNvPr>
          <p:cNvSpPr txBox="1"/>
          <p:nvPr/>
        </p:nvSpPr>
        <p:spPr>
          <a:xfrm>
            <a:off x="2200807" y="4394229"/>
            <a:ext cx="8473008" cy="430887"/>
          </a:xfrm>
          <a:prstGeom prst="rect">
            <a:avLst/>
          </a:prstGeom>
          <a:noFill/>
        </p:spPr>
        <p:txBody>
          <a:bodyPr wrap="square" lIns="0" tIns="0" rIns="0" bIns="0" rtlCol="0">
            <a:spAutoFit/>
          </a:bodyPr>
          <a:lstStyle/>
          <a:p>
            <a:pPr algn="ctr"/>
            <a:r>
              <a:rPr lang="en-US" sz="2800" dirty="0"/>
              <a:t>SELECT * FROM c WHERE </a:t>
            </a:r>
            <a:r>
              <a:rPr lang="en-US" sz="2800" dirty="0" err="1"/>
              <a:t>c.categoryId</a:t>
            </a:r>
            <a:r>
              <a:rPr lang="en-US" sz="2800" dirty="0"/>
              <a:t> = '</a:t>
            </a:r>
            <a:r>
              <a:rPr lang="en-US" sz="2800" dirty="0" err="1"/>
              <a:t>CategoryA</a:t>
            </a:r>
            <a:r>
              <a:rPr lang="en-US" sz="2800" dirty="0"/>
              <a:t>'</a:t>
            </a:r>
          </a:p>
        </p:txBody>
      </p:sp>
      <p:cxnSp>
        <p:nvCxnSpPr>
          <p:cNvPr id="58" name="Connector: Curved 57">
            <a:extLst>
              <a:ext uri="{FF2B5EF4-FFF2-40B4-BE49-F238E27FC236}">
                <a16:creationId xmlns:a16="http://schemas.microsoft.com/office/drawing/2014/main" id="{6D991C54-6194-495B-BBAD-9D610DFE97C9}"/>
              </a:ext>
            </a:extLst>
          </p:cNvPr>
          <p:cNvCxnSpPr>
            <a:cxnSpLocks/>
          </p:cNvCxnSpPr>
          <p:nvPr/>
        </p:nvCxnSpPr>
        <p:spPr>
          <a:xfrm rot="5400000" flipH="1" flipV="1">
            <a:off x="8386993" y="3733088"/>
            <a:ext cx="727722" cy="462447"/>
          </a:xfrm>
          <a:prstGeom prst="curvedConnector3">
            <a:avLst>
              <a:gd name="adj1" fmla="val 5000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59" name="Picture 58" descr="A close up of a logo&#10;&#10;Description automatically generated">
            <a:extLst>
              <a:ext uri="{FF2B5EF4-FFF2-40B4-BE49-F238E27FC236}">
                <a16:creationId xmlns:a16="http://schemas.microsoft.com/office/drawing/2014/main" id="{1C5E0199-C787-43EA-96C9-949DFEBB4F66}"/>
              </a:ext>
            </a:extLst>
          </p:cNvPr>
          <p:cNvPicPr>
            <a:picLocks noChangeAspect="1"/>
          </p:cNvPicPr>
          <p:nvPr/>
        </p:nvPicPr>
        <p:blipFill>
          <a:blip r:embed="rId4"/>
          <a:stretch>
            <a:fillRect/>
          </a:stretch>
        </p:blipFill>
        <p:spPr>
          <a:xfrm>
            <a:off x="1760428" y="4427430"/>
            <a:ext cx="381907" cy="381907"/>
          </a:xfrm>
          <a:prstGeom prst="rect">
            <a:avLst/>
          </a:prstGeom>
        </p:spPr>
      </p:pic>
      <p:sp>
        <p:nvSpPr>
          <p:cNvPr id="60" name="Rectangle: Rounded Corners 59">
            <a:extLst>
              <a:ext uri="{FF2B5EF4-FFF2-40B4-BE49-F238E27FC236}">
                <a16:creationId xmlns:a16="http://schemas.microsoft.com/office/drawing/2014/main" id="{BF791D7E-E8DB-47D7-93E5-651C6722C1DB}"/>
              </a:ext>
            </a:extLst>
          </p:cNvPr>
          <p:cNvSpPr/>
          <p:nvPr/>
        </p:nvSpPr>
        <p:spPr bwMode="auto">
          <a:xfrm>
            <a:off x="1645983" y="4332674"/>
            <a:ext cx="8995558"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61" name="Straight Connector 60">
            <a:extLst>
              <a:ext uri="{FF2B5EF4-FFF2-40B4-BE49-F238E27FC236}">
                <a16:creationId xmlns:a16="http://schemas.microsoft.com/office/drawing/2014/main" id="{22BF1C38-7FFA-4F3A-A6BB-52FD255680B7}"/>
              </a:ext>
            </a:extLst>
          </p:cNvPr>
          <p:cNvCxnSpPr>
            <a:cxnSpLocks/>
          </p:cNvCxnSpPr>
          <p:nvPr/>
        </p:nvCxnSpPr>
        <p:spPr>
          <a:xfrm>
            <a:off x="2231533" y="4332674"/>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027469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500"/>
                                        <p:tgtEl>
                                          <p:spTgt spid="5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500"/>
                                        <p:tgtEl>
                                          <p:spTgt spid="57"/>
                                        </p:tgtEl>
                                      </p:cBhvr>
                                    </p:animEffect>
                                  </p:childTnLst>
                                </p:cTn>
                              </p:par>
                              <p:par>
                                <p:cTn id="12" presetID="10" presetClass="entr" presetSubtype="0"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fade">
                                      <p:cBhvr>
                                        <p:cTn id="14" dur="500"/>
                                        <p:tgtEl>
                                          <p:spTgt spid="5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500"/>
                                        <p:tgtEl>
                                          <p:spTgt spid="60"/>
                                        </p:tgtEl>
                                      </p:cBhvr>
                                    </p:animEffect>
                                  </p:childTnLst>
                                </p:cTn>
                              </p:par>
                              <p:par>
                                <p:cTn id="18" presetID="10" presetClass="entr" presetSubtype="0" fill="hold" nodeType="with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fade">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6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7109622" y="1632250"/>
            <a:ext cx="2012863" cy="277813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tagIds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categoryId</a:t>
            </a:r>
            <a:endParaRPr lang="en-US" sz="2000" dirty="0">
              <a:solidFill>
                <a:schemeClr val="accent1">
                  <a:lumMod val="50000"/>
                </a:schemeClr>
              </a:solidFill>
              <a:ea typeface="Segoe UI" pitchFamily="34" charset="0"/>
              <a:cs typeface="Segoe UI" pitchFamily="34" charset="0"/>
            </a:endParaRP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4806625" y="2810436"/>
            <a:ext cx="2302997" cy="21088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D5F3CA40-968C-4E8C-9716-2F0A12CECA30}"/>
              </a:ext>
            </a:extLst>
          </p:cNvPr>
          <p:cNvSpPr/>
          <p:nvPr/>
        </p:nvSpPr>
        <p:spPr>
          <a:xfrm rot="5713043">
            <a:off x="8296410" y="828540"/>
            <a:ext cx="1793977" cy="1324794"/>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913704DE-1A98-4071-B508-575F8A0CB925}"/>
              </a:ext>
            </a:extLst>
          </p:cNvPr>
          <p:cNvSpPr txBox="1"/>
          <p:nvPr/>
        </p:nvSpPr>
        <p:spPr>
          <a:xfrm>
            <a:off x="9264310" y="1632250"/>
            <a:ext cx="2590617"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category name?</a:t>
            </a:r>
          </a:p>
        </p:txBody>
      </p:sp>
      <p:sp>
        <p:nvSpPr>
          <p:cNvPr id="11" name="TextBox 10">
            <a:extLst>
              <a:ext uri="{FF2B5EF4-FFF2-40B4-BE49-F238E27FC236}">
                <a16:creationId xmlns:a16="http://schemas.microsoft.com/office/drawing/2014/main" id="{23520AAF-7B60-4DEB-9527-160E1AA7F41F}"/>
              </a:ext>
            </a:extLst>
          </p:cNvPr>
          <p:cNvSpPr txBox="1"/>
          <p:nvPr/>
        </p:nvSpPr>
        <p:spPr>
          <a:xfrm>
            <a:off x="9288208" y="3816053"/>
            <a:ext cx="2012863"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tag names?</a:t>
            </a:r>
          </a:p>
        </p:txBody>
      </p:sp>
      <p:sp>
        <p:nvSpPr>
          <p:cNvPr id="14" name="Arc 13">
            <a:extLst>
              <a:ext uri="{FF2B5EF4-FFF2-40B4-BE49-F238E27FC236}">
                <a16:creationId xmlns:a16="http://schemas.microsoft.com/office/drawing/2014/main" id="{F1B4E5BE-E7D0-4AE6-A326-E8BA2EB13F62}"/>
              </a:ext>
            </a:extLst>
          </p:cNvPr>
          <p:cNvSpPr/>
          <p:nvPr/>
        </p:nvSpPr>
        <p:spPr>
          <a:xfrm rot="15883267" flipV="1">
            <a:off x="8308358" y="3678961"/>
            <a:ext cx="1793977" cy="1297243"/>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0167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c 31">
            <a:extLst>
              <a:ext uri="{FF2B5EF4-FFF2-40B4-BE49-F238E27FC236}">
                <a16:creationId xmlns:a16="http://schemas.microsoft.com/office/drawing/2014/main" id="{9A6562A0-7B07-4C1C-951E-926026DFF07B}"/>
              </a:ext>
            </a:extLst>
          </p:cNvPr>
          <p:cNvSpPr/>
          <p:nvPr/>
        </p:nvSpPr>
        <p:spPr>
          <a:xfrm>
            <a:off x="6265569" y="2891398"/>
            <a:ext cx="1442995" cy="4591780"/>
          </a:xfrm>
          <a:prstGeom prst="arc">
            <a:avLst>
              <a:gd name="adj1" fmla="val 16219269"/>
              <a:gd name="adj2" fmla="val 0"/>
            </a:avLst>
          </a:prstGeom>
          <a:ln w="63500">
            <a:headEnd type="none" w="lg" len="med"/>
            <a:tailEnd type="triangle" w="lg"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30418646-28A7-40EB-88BA-695ADD764B2F}"/>
              </a:ext>
            </a:extLst>
          </p:cNvPr>
          <p:cNvSpPr/>
          <p:nvPr/>
        </p:nvSpPr>
        <p:spPr bwMode="auto">
          <a:xfrm>
            <a:off x="2667959" y="3571260"/>
            <a:ext cx="8638216" cy="553998"/>
          </a:xfrm>
          <a:prstGeom prst="roundRect">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 how to return category and tag names?</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1062964" y="155717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p:txBody>
      </p:sp>
      <p:sp>
        <p:nvSpPr>
          <p:cNvPr id="7" name="TextBox 6">
            <a:extLst>
              <a:ext uri="{FF2B5EF4-FFF2-40B4-BE49-F238E27FC236}">
                <a16:creationId xmlns:a16="http://schemas.microsoft.com/office/drawing/2014/main" id="{3D0CDE68-CCA9-4E79-8EA8-5F12C698D033}"/>
              </a:ext>
            </a:extLst>
          </p:cNvPr>
          <p:cNvSpPr txBox="1"/>
          <p:nvPr/>
        </p:nvSpPr>
        <p:spPr>
          <a:xfrm>
            <a:off x="3222783" y="1973759"/>
            <a:ext cx="8473008" cy="430887"/>
          </a:xfrm>
          <a:prstGeom prst="rect">
            <a:avLst/>
          </a:prstGeom>
          <a:noFill/>
        </p:spPr>
        <p:txBody>
          <a:bodyPr wrap="square" lIns="0" tIns="0" rIns="0" bIns="0" rtlCol="0">
            <a:spAutoFit/>
          </a:bodyPr>
          <a:lstStyle/>
          <a:p>
            <a:pPr algn="ctr"/>
            <a:r>
              <a:rPr lang="en-US" sz="2800" dirty="0"/>
              <a:t>SELECT * FROM c WHERE </a:t>
            </a:r>
            <a:r>
              <a:rPr lang="en-US" sz="2800" dirty="0" err="1"/>
              <a:t>c.categoryId</a:t>
            </a:r>
            <a:r>
              <a:rPr lang="en-US" sz="2800" dirty="0"/>
              <a:t> = '</a:t>
            </a:r>
            <a:r>
              <a:rPr lang="en-US" sz="2800" dirty="0" err="1"/>
              <a:t>CategoryA</a:t>
            </a:r>
            <a:r>
              <a:rPr lang="en-US" sz="2800" dirty="0"/>
              <a:t>'</a:t>
            </a:r>
          </a:p>
        </p:txBody>
      </p:sp>
      <p:pic>
        <p:nvPicPr>
          <p:cNvPr id="8" name="Picture 7" descr="A close up of a logo&#10;&#10;Description automatically generated">
            <a:extLst>
              <a:ext uri="{FF2B5EF4-FFF2-40B4-BE49-F238E27FC236}">
                <a16:creationId xmlns:a16="http://schemas.microsoft.com/office/drawing/2014/main" id="{85A5F721-3B74-40E3-97BD-5A3C5FC0F4CB}"/>
              </a:ext>
            </a:extLst>
          </p:cNvPr>
          <p:cNvPicPr>
            <a:picLocks noChangeAspect="1"/>
          </p:cNvPicPr>
          <p:nvPr/>
        </p:nvPicPr>
        <p:blipFill>
          <a:blip r:embed="rId3"/>
          <a:stretch>
            <a:fillRect/>
          </a:stretch>
        </p:blipFill>
        <p:spPr>
          <a:xfrm>
            <a:off x="2782404" y="2006960"/>
            <a:ext cx="381907" cy="381907"/>
          </a:xfrm>
          <a:prstGeom prst="rect">
            <a:avLst/>
          </a:prstGeom>
        </p:spPr>
      </p:pic>
      <p:sp>
        <p:nvSpPr>
          <p:cNvPr id="11" name="Rectangle: Rounded Corners 10">
            <a:extLst>
              <a:ext uri="{FF2B5EF4-FFF2-40B4-BE49-F238E27FC236}">
                <a16:creationId xmlns:a16="http://schemas.microsoft.com/office/drawing/2014/main" id="{B9E00416-98AF-4970-9CDF-37AF29E07D06}"/>
              </a:ext>
            </a:extLst>
          </p:cNvPr>
          <p:cNvSpPr/>
          <p:nvPr/>
        </p:nvSpPr>
        <p:spPr bwMode="auto">
          <a:xfrm>
            <a:off x="2667959" y="1912204"/>
            <a:ext cx="8995558"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7ECC0821-1FB1-4B84-913F-8FDCFCFABC82}"/>
              </a:ext>
            </a:extLst>
          </p:cNvPr>
          <p:cNvCxnSpPr>
            <a:cxnSpLocks/>
          </p:cNvCxnSpPr>
          <p:nvPr/>
        </p:nvCxnSpPr>
        <p:spPr>
          <a:xfrm>
            <a:off x="3253509" y="1912204"/>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3" name="Cylinder 12">
            <a:extLst>
              <a:ext uri="{FF2B5EF4-FFF2-40B4-BE49-F238E27FC236}">
                <a16:creationId xmlns:a16="http://schemas.microsoft.com/office/drawing/2014/main" id="{6586EC8F-8723-4171-99C6-CE2F12CA1293}"/>
              </a:ext>
            </a:extLst>
          </p:cNvPr>
          <p:cNvSpPr/>
          <p:nvPr/>
        </p:nvSpPr>
        <p:spPr bwMode="auto">
          <a:xfrm>
            <a:off x="1062964" y="3216226"/>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D2BC5E00-8977-48E4-9059-4B0EBCE9B53E}"/>
              </a:ext>
            </a:extLst>
          </p:cNvPr>
          <p:cNvSpPr txBox="1"/>
          <p:nvPr/>
        </p:nvSpPr>
        <p:spPr>
          <a:xfrm>
            <a:off x="3275340" y="3632815"/>
            <a:ext cx="7954631" cy="430887"/>
          </a:xfrm>
          <a:prstGeom prst="rect">
            <a:avLst/>
          </a:prstGeom>
          <a:noFill/>
        </p:spPr>
        <p:txBody>
          <a:bodyPr wrap="square" lIns="0" tIns="0" rIns="0" bIns="0" rtlCol="0">
            <a:spAutoFit/>
          </a:bodyPr>
          <a:lstStyle/>
          <a:p>
            <a:pPr algn="ctr"/>
            <a:r>
              <a:rPr lang="en-US" sz="2800" dirty="0"/>
              <a:t>SELECT c.name FROM c WHERE c.id = '</a:t>
            </a:r>
            <a:r>
              <a:rPr lang="en-US" sz="2800" dirty="0" err="1"/>
              <a:t>CategoryA</a:t>
            </a:r>
            <a:r>
              <a:rPr lang="en-US" sz="2800" dirty="0"/>
              <a:t>'</a:t>
            </a:r>
          </a:p>
        </p:txBody>
      </p:sp>
      <p:pic>
        <p:nvPicPr>
          <p:cNvPr id="15" name="Picture 14" descr="A close up of a logo&#10;&#10;Description automatically generated">
            <a:extLst>
              <a:ext uri="{FF2B5EF4-FFF2-40B4-BE49-F238E27FC236}">
                <a16:creationId xmlns:a16="http://schemas.microsoft.com/office/drawing/2014/main" id="{98B0FA1F-FE78-46FD-B543-4B5B648253D3}"/>
              </a:ext>
            </a:extLst>
          </p:cNvPr>
          <p:cNvPicPr>
            <a:picLocks noChangeAspect="1"/>
          </p:cNvPicPr>
          <p:nvPr/>
        </p:nvPicPr>
        <p:blipFill>
          <a:blip r:embed="rId3"/>
          <a:stretch>
            <a:fillRect/>
          </a:stretch>
        </p:blipFill>
        <p:spPr>
          <a:xfrm>
            <a:off x="2782404" y="3666016"/>
            <a:ext cx="381907" cy="381907"/>
          </a:xfrm>
          <a:prstGeom prst="rect">
            <a:avLst/>
          </a:prstGeom>
        </p:spPr>
      </p:pic>
      <p:cxnSp>
        <p:nvCxnSpPr>
          <p:cNvPr id="17" name="Straight Connector 16">
            <a:extLst>
              <a:ext uri="{FF2B5EF4-FFF2-40B4-BE49-F238E27FC236}">
                <a16:creationId xmlns:a16="http://schemas.microsoft.com/office/drawing/2014/main" id="{437929EB-8E87-4FCB-BA4D-22F021A061C0}"/>
              </a:ext>
            </a:extLst>
          </p:cNvPr>
          <p:cNvCxnSpPr>
            <a:cxnSpLocks/>
          </p:cNvCxnSpPr>
          <p:nvPr/>
        </p:nvCxnSpPr>
        <p:spPr>
          <a:xfrm>
            <a:off x="3253509" y="3571260"/>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3" name="Cylinder 22">
            <a:extLst>
              <a:ext uri="{FF2B5EF4-FFF2-40B4-BE49-F238E27FC236}">
                <a16:creationId xmlns:a16="http://schemas.microsoft.com/office/drawing/2014/main" id="{D1F97B99-76E0-4923-8345-C1596D3858FF}"/>
              </a:ext>
            </a:extLst>
          </p:cNvPr>
          <p:cNvSpPr/>
          <p:nvPr/>
        </p:nvSpPr>
        <p:spPr bwMode="auto">
          <a:xfrm>
            <a:off x="1062964" y="4875282"/>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p:txBody>
      </p:sp>
      <p:sp>
        <p:nvSpPr>
          <p:cNvPr id="24" name="TextBox 23">
            <a:extLst>
              <a:ext uri="{FF2B5EF4-FFF2-40B4-BE49-F238E27FC236}">
                <a16:creationId xmlns:a16="http://schemas.microsoft.com/office/drawing/2014/main" id="{F2364D58-5F7A-45C7-AD2E-7D8A452E4CB6}"/>
              </a:ext>
            </a:extLst>
          </p:cNvPr>
          <p:cNvSpPr txBox="1"/>
          <p:nvPr/>
        </p:nvSpPr>
        <p:spPr>
          <a:xfrm>
            <a:off x="3351874" y="5248843"/>
            <a:ext cx="8473008" cy="861774"/>
          </a:xfrm>
          <a:prstGeom prst="rect">
            <a:avLst/>
          </a:prstGeom>
          <a:noFill/>
        </p:spPr>
        <p:txBody>
          <a:bodyPr wrap="square" lIns="0" tIns="0" rIns="0" bIns="0" rtlCol="0">
            <a:spAutoFit/>
          </a:bodyPr>
          <a:lstStyle/>
          <a:p>
            <a:r>
              <a:rPr lang="en-US" sz="2800" dirty="0"/>
              <a:t>SELECT * FROM c</a:t>
            </a:r>
          </a:p>
          <a:p>
            <a:r>
              <a:rPr lang="en-US" sz="2800" dirty="0"/>
              <a:t>WHERE c.id IN ('&lt;tagId1&gt;', '&lt;tagId2&gt;', '&lt;tagId3&gt;')</a:t>
            </a:r>
          </a:p>
        </p:txBody>
      </p:sp>
      <p:pic>
        <p:nvPicPr>
          <p:cNvPr id="25" name="Picture 24" descr="A close up of a logo&#10;&#10;Description automatically generated">
            <a:extLst>
              <a:ext uri="{FF2B5EF4-FFF2-40B4-BE49-F238E27FC236}">
                <a16:creationId xmlns:a16="http://schemas.microsoft.com/office/drawing/2014/main" id="{76643C12-0D2D-4C5F-869E-536BBB616876}"/>
              </a:ext>
            </a:extLst>
          </p:cNvPr>
          <p:cNvPicPr>
            <a:picLocks noChangeAspect="1"/>
          </p:cNvPicPr>
          <p:nvPr/>
        </p:nvPicPr>
        <p:blipFill>
          <a:blip r:embed="rId3"/>
          <a:stretch>
            <a:fillRect/>
          </a:stretch>
        </p:blipFill>
        <p:spPr>
          <a:xfrm>
            <a:off x="2782404" y="5529472"/>
            <a:ext cx="381907" cy="381907"/>
          </a:xfrm>
          <a:prstGeom prst="rect">
            <a:avLst/>
          </a:prstGeom>
        </p:spPr>
      </p:pic>
      <p:sp>
        <p:nvSpPr>
          <p:cNvPr id="26" name="Rectangle: Rounded Corners 25">
            <a:extLst>
              <a:ext uri="{FF2B5EF4-FFF2-40B4-BE49-F238E27FC236}">
                <a16:creationId xmlns:a16="http://schemas.microsoft.com/office/drawing/2014/main" id="{65FD7D38-36F9-484A-A8B6-B0B1E5A208F6}"/>
              </a:ext>
            </a:extLst>
          </p:cNvPr>
          <p:cNvSpPr/>
          <p:nvPr/>
        </p:nvSpPr>
        <p:spPr bwMode="auto">
          <a:xfrm>
            <a:off x="2667959" y="5187288"/>
            <a:ext cx="8995558" cy="1030632"/>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C61B0C28-587A-45D5-A607-F80317FEBA81}"/>
              </a:ext>
            </a:extLst>
          </p:cNvPr>
          <p:cNvCxnSpPr>
            <a:cxnSpLocks/>
          </p:cNvCxnSpPr>
          <p:nvPr/>
        </p:nvCxnSpPr>
        <p:spPr>
          <a:xfrm>
            <a:off x="3253509" y="5187288"/>
            <a:ext cx="0" cy="1030632"/>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30" name="Group 29">
            <a:extLst>
              <a:ext uri="{FF2B5EF4-FFF2-40B4-BE49-F238E27FC236}">
                <a16:creationId xmlns:a16="http://schemas.microsoft.com/office/drawing/2014/main" id="{176CBA42-4420-4556-9045-AFC722A90ED0}"/>
              </a:ext>
            </a:extLst>
          </p:cNvPr>
          <p:cNvGrpSpPr/>
          <p:nvPr/>
        </p:nvGrpSpPr>
        <p:grpSpPr>
          <a:xfrm>
            <a:off x="6656529" y="2419417"/>
            <a:ext cx="630092" cy="630092"/>
            <a:chOff x="7863840" y="504721"/>
            <a:chExt cx="849854" cy="849854"/>
          </a:xfrm>
        </p:grpSpPr>
        <p:sp>
          <p:nvSpPr>
            <p:cNvPr id="29" name="Oval 28">
              <a:extLst>
                <a:ext uri="{FF2B5EF4-FFF2-40B4-BE49-F238E27FC236}">
                  <a16:creationId xmlns:a16="http://schemas.microsoft.com/office/drawing/2014/main" id="{D56E1185-1F02-47E8-BA5E-C7486561963E}"/>
                </a:ext>
              </a:extLst>
            </p:cNvPr>
            <p:cNvSpPr/>
            <p:nvPr/>
          </p:nvSpPr>
          <p:spPr bwMode="auto">
            <a:xfrm>
              <a:off x="7863840" y="504721"/>
              <a:ext cx="849854" cy="849854"/>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8" name="Picture 27" descr="A close up of a logo&#10;&#10;Description automatically generated">
              <a:extLst>
                <a:ext uri="{FF2B5EF4-FFF2-40B4-BE49-F238E27FC236}">
                  <a16:creationId xmlns:a16="http://schemas.microsoft.com/office/drawing/2014/main" id="{4D24CC3D-F545-439B-9D5E-A09B601181BD}"/>
                </a:ext>
              </a:extLst>
            </p:cNvPr>
            <p:cNvPicPr>
              <a:picLocks noChangeAspect="1"/>
            </p:cNvPicPr>
            <p:nvPr/>
          </p:nvPicPr>
          <p:blipFill>
            <a:blip r:embed="rId4"/>
            <a:stretch>
              <a:fillRect/>
            </a:stretch>
          </p:blipFill>
          <p:spPr>
            <a:xfrm>
              <a:off x="7910015" y="558555"/>
              <a:ext cx="752742" cy="752742"/>
            </a:xfrm>
            <a:prstGeom prst="rect">
              <a:avLst/>
            </a:prstGeom>
          </p:spPr>
        </p:pic>
      </p:grpSp>
      <p:sp>
        <p:nvSpPr>
          <p:cNvPr id="33" name="Rectangle: Rounded Corners 32">
            <a:extLst>
              <a:ext uri="{FF2B5EF4-FFF2-40B4-BE49-F238E27FC236}">
                <a16:creationId xmlns:a16="http://schemas.microsoft.com/office/drawing/2014/main" id="{D5ACDC96-C5A4-4E2D-ADA2-9F9669A16310}"/>
              </a:ext>
            </a:extLst>
          </p:cNvPr>
          <p:cNvSpPr/>
          <p:nvPr/>
        </p:nvSpPr>
        <p:spPr bwMode="auto">
          <a:xfrm rot="20441785">
            <a:off x="3356765" y="3230072"/>
            <a:ext cx="6024243" cy="1197482"/>
          </a:xfrm>
          <a:prstGeom prst="roundRect">
            <a:avLst/>
          </a:prstGeom>
          <a:solidFill>
            <a:schemeClr val="accent3"/>
          </a:solidFill>
          <a:ln>
            <a:no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4000" dirty="0">
                <a:gradFill>
                  <a:gsLst>
                    <a:gs pos="0">
                      <a:srgbClr val="FFFFFF"/>
                    </a:gs>
                    <a:gs pos="100000">
                      <a:srgbClr val="FFFFFF"/>
                    </a:gs>
                  </a:gsLst>
                  <a:lin ang="5400000" scaled="0"/>
                </a:gradFill>
                <a:ea typeface="Segoe UI" pitchFamily="34" charset="0"/>
                <a:cs typeface="Segoe UI" pitchFamily="34" charset="0"/>
              </a:rPr>
              <a:t>WHERE ARE MY JOINS?</a:t>
            </a:r>
          </a:p>
        </p:txBody>
      </p:sp>
    </p:spTree>
    <p:extLst>
      <p:ext uri="{BB962C8B-B14F-4D97-AF65-F5344CB8AC3E}">
        <p14:creationId xmlns:p14="http://schemas.microsoft.com/office/powerpoint/2010/main" val="237939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up)">
                                      <p:cBhvr>
                                        <p:cTn id="28" dur="500"/>
                                        <p:tgtEl>
                                          <p:spTgt spid="32"/>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Effect transition="in" filter="fade">
                                      <p:cBhvr>
                                        <p:cTn id="5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6" grpId="0" animBg="1"/>
      <p:bldP spid="13" grpId="0" animBg="1"/>
      <p:bldP spid="14" grpId="0"/>
      <p:bldP spid="23" grpId="0" animBg="1"/>
      <p:bldP spid="24" grpId="0"/>
      <p:bldP spid="26" grpId="0" animBg="1"/>
      <p:bldP spid="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Introducing denormalization</a:t>
            </a:r>
          </a:p>
        </p:txBody>
      </p:sp>
      <p:sp>
        <p:nvSpPr>
          <p:cNvPr id="35" name="Content Placeholder 2">
            <a:extLst>
              <a:ext uri="{FF2B5EF4-FFF2-40B4-BE49-F238E27FC236}">
                <a16:creationId xmlns:a16="http://schemas.microsoft.com/office/drawing/2014/main" id="{6FFF9C1F-0643-469A-8A89-ADF637C48124}"/>
              </a:ext>
            </a:extLst>
          </p:cNvPr>
          <p:cNvSpPr txBox="1">
            <a:spLocks/>
          </p:cNvSpPr>
          <p:nvPr/>
        </p:nvSpPr>
        <p:spPr>
          <a:xfrm>
            <a:off x="584200" y="1435100"/>
            <a:ext cx="11018838" cy="148907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When working with non-relational databases, we </a:t>
            </a:r>
            <a:r>
              <a:rPr lang="en-US" b="1" dirty="0"/>
              <a:t>optimize our data models</a:t>
            </a:r>
            <a:r>
              <a:rPr lang="en-US" dirty="0"/>
              <a:t> to make sure that all the required data is </a:t>
            </a:r>
            <a:r>
              <a:rPr lang="en-US" b="1" dirty="0"/>
              <a:t>ready to be served</a:t>
            </a:r>
            <a:r>
              <a:rPr lang="en-US" dirty="0"/>
              <a:t> by the queries</a:t>
            </a:r>
            <a:endParaRPr lang="en-US" b="1" dirty="0"/>
          </a:p>
        </p:txBody>
      </p:sp>
    </p:spTree>
    <p:extLst>
      <p:ext uri="{BB962C8B-B14F-4D97-AF65-F5344CB8AC3E}">
        <p14:creationId xmlns:p14="http://schemas.microsoft.com/office/powerpoint/2010/main" val="301340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 </a:t>
            </a:r>
            <a:r>
              <a:rPr lang="en-US" dirty="0" err="1"/>
              <a:t>denormalizing</a:t>
            </a:r>
            <a:r>
              <a:rPr lang="en-US" dirty="0"/>
              <a:t> category and tag names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7109622" y="1632250"/>
            <a:ext cx="2478878" cy="43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categoryName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"tags":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categoryId</a:t>
            </a:r>
            <a:endParaRPr lang="en-US" sz="2000" dirty="0">
              <a:solidFill>
                <a:schemeClr val="accent1">
                  <a:lumMod val="50000"/>
                </a:schemeClr>
              </a:solidFill>
              <a:ea typeface="Segoe UI" pitchFamily="34" charset="0"/>
              <a:cs typeface="Segoe UI" pitchFamily="34" charset="0"/>
            </a:endParaRP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4806625" y="2810436"/>
            <a:ext cx="2302997" cy="21088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40350D7-7540-4764-81C6-275D2A640C31}"/>
              </a:ext>
            </a:extLst>
          </p:cNvPr>
          <p:cNvSpPr/>
          <p:nvPr/>
        </p:nvSpPr>
        <p:spPr bwMode="auto">
          <a:xfrm>
            <a:off x="7109622" y="3505200"/>
            <a:ext cx="2478878" cy="2133600"/>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CC0551D7-405D-4C60-B771-7C52A7F06720}"/>
              </a:ext>
            </a:extLst>
          </p:cNvPr>
          <p:cNvSpPr/>
          <p:nvPr/>
        </p:nvSpPr>
        <p:spPr bwMode="auto">
          <a:xfrm>
            <a:off x="7109622" y="2438944"/>
            <a:ext cx="2478878" cy="2108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5944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3"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6D08-3581-46E5-A5D9-027CD0A0A45E}"/>
              </a:ext>
            </a:extLst>
          </p:cNvPr>
          <p:cNvSpPr>
            <a:spLocks noGrp="1"/>
          </p:cNvSpPr>
          <p:nvPr>
            <p:ph type="title"/>
          </p:nvPr>
        </p:nvSpPr>
        <p:spPr/>
        <p:txBody>
          <a:bodyPr/>
          <a:lstStyle/>
          <a:p>
            <a:r>
              <a:rPr lang="en-US" dirty="0"/>
              <a:t>Products: keeping everything in sync</a:t>
            </a:r>
          </a:p>
        </p:txBody>
      </p:sp>
      <p:sp>
        <p:nvSpPr>
          <p:cNvPr id="3" name="Cylinder 2">
            <a:extLst>
              <a:ext uri="{FF2B5EF4-FFF2-40B4-BE49-F238E27FC236}">
                <a16:creationId xmlns:a16="http://schemas.microsoft.com/office/drawing/2014/main" id="{C283B39D-AA34-48C8-85E7-C80293B8EF29}"/>
              </a:ext>
            </a:extLst>
          </p:cNvPr>
          <p:cNvSpPr/>
          <p:nvPr/>
        </p:nvSpPr>
        <p:spPr bwMode="auto">
          <a:xfrm>
            <a:off x="2806626" y="1562548"/>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p:txBody>
      </p:sp>
      <p:sp>
        <p:nvSpPr>
          <p:cNvPr id="4" name="Rectangle: Folded Corner 3">
            <a:extLst>
              <a:ext uri="{FF2B5EF4-FFF2-40B4-BE49-F238E27FC236}">
                <a16:creationId xmlns:a16="http://schemas.microsoft.com/office/drawing/2014/main" id="{FF82D488-4191-47A1-B75F-42E5A9C957E6}"/>
              </a:ext>
            </a:extLst>
          </p:cNvPr>
          <p:cNvSpPr/>
          <p:nvPr/>
        </p:nvSpPr>
        <p:spPr bwMode="auto">
          <a:xfrm>
            <a:off x="4444710" y="1862529"/>
            <a:ext cx="2329021"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ProductCategory</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5" name="Connector: Elbow 4">
            <a:extLst>
              <a:ext uri="{FF2B5EF4-FFF2-40B4-BE49-F238E27FC236}">
                <a16:creationId xmlns:a16="http://schemas.microsoft.com/office/drawing/2014/main" id="{385AF069-9594-45FF-814C-168E8878B972}"/>
              </a:ext>
            </a:extLst>
          </p:cNvPr>
          <p:cNvCxnSpPr>
            <a:cxnSpLocks/>
            <a:stCxn id="3" idx="4"/>
            <a:endCxn id="4" idx="1"/>
          </p:cNvCxnSpPr>
          <p:nvPr/>
        </p:nvCxnSpPr>
        <p:spPr>
          <a:xfrm flipV="1">
            <a:off x="3979209" y="2181112"/>
            <a:ext cx="465501"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Cylinder 5">
            <a:extLst>
              <a:ext uri="{FF2B5EF4-FFF2-40B4-BE49-F238E27FC236}">
                <a16:creationId xmlns:a16="http://schemas.microsoft.com/office/drawing/2014/main" id="{F15CD217-F318-4A33-A630-317E35475EE6}"/>
              </a:ext>
            </a:extLst>
          </p:cNvPr>
          <p:cNvSpPr/>
          <p:nvPr/>
        </p:nvSpPr>
        <p:spPr bwMode="auto">
          <a:xfrm>
            <a:off x="2806626" y="4243219"/>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p:txBody>
      </p:sp>
      <p:sp>
        <p:nvSpPr>
          <p:cNvPr id="7" name="Rectangle: Folded Corner 6">
            <a:extLst>
              <a:ext uri="{FF2B5EF4-FFF2-40B4-BE49-F238E27FC236}">
                <a16:creationId xmlns:a16="http://schemas.microsoft.com/office/drawing/2014/main" id="{438A4E91-5858-462A-812D-498E3AD2633B}"/>
              </a:ext>
            </a:extLst>
          </p:cNvPr>
          <p:cNvSpPr/>
          <p:nvPr/>
        </p:nvSpPr>
        <p:spPr bwMode="auto">
          <a:xfrm>
            <a:off x="4444711" y="4543200"/>
            <a:ext cx="1643782"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ProductTag</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8" name="Connector: Elbow 7">
            <a:extLst>
              <a:ext uri="{FF2B5EF4-FFF2-40B4-BE49-F238E27FC236}">
                <a16:creationId xmlns:a16="http://schemas.microsoft.com/office/drawing/2014/main" id="{B4D35260-C193-4C40-8BB9-3C9E3D6B0009}"/>
              </a:ext>
            </a:extLst>
          </p:cNvPr>
          <p:cNvCxnSpPr>
            <a:cxnSpLocks/>
            <a:stCxn id="6" idx="4"/>
            <a:endCxn id="7" idx="1"/>
          </p:cNvCxnSpPr>
          <p:nvPr/>
        </p:nvCxnSpPr>
        <p:spPr>
          <a:xfrm flipV="1">
            <a:off x="3979209" y="4861783"/>
            <a:ext cx="465502"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Cylinder 8">
            <a:extLst>
              <a:ext uri="{FF2B5EF4-FFF2-40B4-BE49-F238E27FC236}">
                <a16:creationId xmlns:a16="http://schemas.microsoft.com/office/drawing/2014/main" id="{49A46178-24DE-4EC4-A805-A831E0CF152D}"/>
              </a:ext>
            </a:extLst>
          </p:cNvPr>
          <p:cNvSpPr/>
          <p:nvPr/>
        </p:nvSpPr>
        <p:spPr bwMode="auto">
          <a:xfrm>
            <a:off x="7377056" y="2799677"/>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p:txBody>
      </p:sp>
      <p:sp>
        <p:nvSpPr>
          <p:cNvPr id="10" name="Rectangle: Folded Corner 9">
            <a:extLst>
              <a:ext uri="{FF2B5EF4-FFF2-40B4-BE49-F238E27FC236}">
                <a16:creationId xmlns:a16="http://schemas.microsoft.com/office/drawing/2014/main" id="{77B4E7CA-D360-4197-99DE-B172223CCB7D}"/>
              </a:ext>
            </a:extLst>
          </p:cNvPr>
          <p:cNvSpPr/>
          <p:nvPr/>
        </p:nvSpPr>
        <p:spPr bwMode="auto">
          <a:xfrm>
            <a:off x="9015141" y="3099658"/>
            <a:ext cx="1291357"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Product</a:t>
            </a:r>
          </a:p>
        </p:txBody>
      </p:sp>
      <p:cxnSp>
        <p:nvCxnSpPr>
          <p:cNvPr id="11" name="Connector: Elbow 10">
            <a:extLst>
              <a:ext uri="{FF2B5EF4-FFF2-40B4-BE49-F238E27FC236}">
                <a16:creationId xmlns:a16="http://schemas.microsoft.com/office/drawing/2014/main" id="{9DCB29DA-5C0C-4D3E-873A-89F2DE6A357B}"/>
              </a:ext>
            </a:extLst>
          </p:cNvPr>
          <p:cNvCxnSpPr>
            <a:cxnSpLocks/>
            <a:stCxn id="9" idx="4"/>
            <a:endCxn id="10" idx="1"/>
          </p:cNvCxnSpPr>
          <p:nvPr/>
        </p:nvCxnSpPr>
        <p:spPr>
          <a:xfrm flipV="1">
            <a:off x="8549639" y="3418241"/>
            <a:ext cx="465502"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C277427-FF2F-4736-AB4C-F070F1BDF71A}"/>
              </a:ext>
            </a:extLst>
          </p:cNvPr>
          <p:cNvCxnSpPr>
            <a:cxnSpLocks/>
            <a:stCxn id="3" idx="4"/>
            <a:endCxn id="9" idx="2"/>
          </p:cNvCxnSpPr>
          <p:nvPr/>
        </p:nvCxnSpPr>
        <p:spPr>
          <a:xfrm>
            <a:off x="3979209" y="2181113"/>
            <a:ext cx="3397847" cy="1237129"/>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D5DE61-CD45-454C-B814-771695B0F950}"/>
              </a:ext>
            </a:extLst>
          </p:cNvPr>
          <p:cNvCxnSpPr>
            <a:cxnSpLocks/>
            <a:stCxn id="6" idx="4"/>
            <a:endCxn id="9" idx="2"/>
          </p:cNvCxnSpPr>
          <p:nvPr/>
        </p:nvCxnSpPr>
        <p:spPr>
          <a:xfrm flipV="1">
            <a:off x="3979209" y="3418242"/>
            <a:ext cx="3397847" cy="1443542"/>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D30DC1-FCC0-4E62-BAF3-908AC781D5F6}"/>
              </a:ext>
            </a:extLst>
          </p:cNvPr>
          <p:cNvCxnSpPr>
            <a:cxnSpLocks/>
            <a:endCxn id="3" idx="2"/>
          </p:cNvCxnSpPr>
          <p:nvPr/>
        </p:nvCxnSpPr>
        <p:spPr>
          <a:xfrm>
            <a:off x="1650188" y="2181112"/>
            <a:ext cx="1156438" cy="1"/>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3564307-B24C-4134-9ACB-9D0A87F565B5}"/>
              </a:ext>
            </a:extLst>
          </p:cNvPr>
          <p:cNvCxnSpPr>
            <a:cxnSpLocks/>
            <a:endCxn id="6" idx="2"/>
          </p:cNvCxnSpPr>
          <p:nvPr/>
        </p:nvCxnSpPr>
        <p:spPr>
          <a:xfrm>
            <a:off x="1650188" y="4861782"/>
            <a:ext cx="1156438" cy="2"/>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6013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par>
                                <p:cTn id="27" presetID="22" presetClass="entr" presetSubtype="8"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4" presetID="22" presetClass="entr" presetSubtype="8"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6384-5272-44C6-885A-36E76DEF2823}"/>
              </a:ext>
            </a:extLst>
          </p:cNvPr>
          <p:cNvSpPr>
            <a:spLocks noGrp="1"/>
          </p:cNvSpPr>
          <p:nvPr>
            <p:ph type="title"/>
          </p:nvPr>
        </p:nvSpPr>
        <p:spPr/>
        <p:txBody>
          <a:bodyPr/>
          <a:lstStyle/>
          <a:p>
            <a:r>
              <a:rPr lang="en-US" dirty="0"/>
              <a:t>Cosmos DB's change feed</a:t>
            </a:r>
          </a:p>
        </p:txBody>
      </p:sp>
      <p:pic>
        <p:nvPicPr>
          <p:cNvPr id="7" name="Picture 6">
            <a:extLst>
              <a:ext uri="{FF2B5EF4-FFF2-40B4-BE49-F238E27FC236}">
                <a16:creationId xmlns:a16="http://schemas.microsoft.com/office/drawing/2014/main" id="{C70A94B2-092E-437A-82B0-FEB32B201370}"/>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8100000">
            <a:off x="5704264" y="2642522"/>
            <a:ext cx="783471" cy="783471"/>
          </a:xfrm>
          <a:prstGeom prst="rect">
            <a:avLst/>
          </a:prstGeom>
        </p:spPr>
      </p:pic>
      <p:pic>
        <p:nvPicPr>
          <p:cNvPr id="10" name="Picture 9" descr="A close up of a logo&#10;&#10;Description automatically generated">
            <a:extLst>
              <a:ext uri="{FF2B5EF4-FFF2-40B4-BE49-F238E27FC236}">
                <a16:creationId xmlns:a16="http://schemas.microsoft.com/office/drawing/2014/main" id="{48B34023-8F25-4A78-B7FF-4C034FB1991B}"/>
              </a:ext>
            </a:extLst>
          </p:cNvPr>
          <p:cNvPicPr>
            <a:picLocks noChangeAspect="1"/>
          </p:cNvPicPr>
          <p:nvPr/>
        </p:nvPicPr>
        <p:blipFill>
          <a:blip r:embed="rId5"/>
          <a:stretch>
            <a:fillRect/>
          </a:stretch>
        </p:blipFill>
        <p:spPr>
          <a:xfrm>
            <a:off x="5823877" y="3360731"/>
            <a:ext cx="544243" cy="544243"/>
          </a:xfrm>
          <a:prstGeom prst="rect">
            <a:avLst/>
          </a:prstGeom>
        </p:spPr>
      </p:pic>
      <p:sp>
        <p:nvSpPr>
          <p:cNvPr id="11" name="Content Placeholder 2">
            <a:extLst>
              <a:ext uri="{FF2B5EF4-FFF2-40B4-BE49-F238E27FC236}">
                <a16:creationId xmlns:a16="http://schemas.microsoft.com/office/drawing/2014/main" id="{E8F4791E-50D0-4FFA-A807-4F2CD3DEA112}"/>
              </a:ext>
            </a:extLst>
          </p:cNvPr>
          <p:cNvSpPr txBox="1">
            <a:spLocks/>
          </p:cNvSpPr>
          <p:nvPr/>
        </p:nvSpPr>
        <p:spPr>
          <a:xfrm>
            <a:off x="588263" y="4966498"/>
            <a:ext cx="10652919" cy="157402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The change feed is an API exposed by Cosmos DB containers</a:t>
            </a:r>
          </a:p>
          <a:p>
            <a:r>
              <a:rPr lang="en-US" dirty="0"/>
              <a:t>It streams any change happening in a container (document creation or update)</a:t>
            </a:r>
          </a:p>
        </p:txBody>
      </p:sp>
      <p:sp>
        <p:nvSpPr>
          <p:cNvPr id="13" name="Cylinder 12">
            <a:extLst>
              <a:ext uri="{FF2B5EF4-FFF2-40B4-BE49-F238E27FC236}">
                <a16:creationId xmlns:a16="http://schemas.microsoft.com/office/drawing/2014/main" id="{B6F0CEB6-E36A-4373-AF17-778287FC61F8}"/>
              </a:ext>
            </a:extLst>
          </p:cNvPr>
          <p:cNvSpPr/>
          <p:nvPr/>
        </p:nvSpPr>
        <p:spPr bwMode="auto">
          <a:xfrm>
            <a:off x="5491060" y="1454157"/>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accent1">
                  <a:lumMod val="50000"/>
                </a:schemeClr>
              </a:solidFill>
              <a:ea typeface="Segoe UI" pitchFamily="34" charset="0"/>
              <a:cs typeface="Segoe UI" pitchFamily="34" charset="0"/>
            </a:endParaRPr>
          </a:p>
        </p:txBody>
      </p:sp>
    </p:spTree>
    <p:extLst>
      <p:ext uri="{BB962C8B-B14F-4D97-AF65-F5344CB8AC3E}">
        <p14:creationId xmlns:p14="http://schemas.microsoft.com/office/powerpoint/2010/main" val="454342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mph" presetSubtype="0" repeatCount="6000" fill="remove" nodeType="clickEffect">
                                  <p:stCondLst>
                                    <p:cond delay="0"/>
                                  </p:stCondLst>
                                  <p:childTnLst>
                                    <p:animEffect transition="out" filter="fade">
                                      <p:cBhvr>
                                        <p:cTn id="14" dur="500" tmFilter="0, 0; .2, .5; .8, .5; 1, 0"/>
                                        <p:tgtEl>
                                          <p:spTgt spid="7"/>
                                        </p:tgtEl>
                                      </p:cBhvr>
                                    </p:animEffect>
                                    <p:animScale>
                                      <p:cBhvr>
                                        <p:cTn id="15" dur="250" autoRev="1" fill="hold"/>
                                        <p:tgtEl>
                                          <p:spTgt spid="7"/>
                                        </p:tgtEl>
                                      </p:cBhvr>
                                      <p:by x="105000" y="105000"/>
                                    </p:animScale>
                                  </p:childTnLst>
                                </p:cTn>
                              </p:par>
                              <p:par>
                                <p:cTn id="16" presetID="47" presetClass="entr" presetSubtype="0" repeatCount="300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6D08-3581-46E5-A5D9-027CD0A0A45E}"/>
              </a:ext>
            </a:extLst>
          </p:cNvPr>
          <p:cNvSpPr>
            <a:spLocks noGrp="1"/>
          </p:cNvSpPr>
          <p:nvPr>
            <p:ph type="title"/>
          </p:nvPr>
        </p:nvSpPr>
        <p:spPr>
          <a:xfrm>
            <a:off x="588263" y="457200"/>
            <a:ext cx="11018520" cy="553998"/>
          </a:xfrm>
        </p:spPr>
        <p:txBody>
          <a:bodyPr/>
          <a:lstStyle/>
          <a:p>
            <a:r>
              <a:rPr lang="en-US" dirty="0"/>
              <a:t>Products: keeping everything in sync</a:t>
            </a:r>
          </a:p>
        </p:txBody>
      </p:sp>
      <p:cxnSp>
        <p:nvCxnSpPr>
          <p:cNvPr id="18" name="Straight Arrow Connector 17">
            <a:extLst>
              <a:ext uri="{FF2B5EF4-FFF2-40B4-BE49-F238E27FC236}">
                <a16:creationId xmlns:a16="http://schemas.microsoft.com/office/drawing/2014/main" id="{8341AC66-9424-4074-B39D-627CFCE779BA}"/>
              </a:ext>
            </a:extLst>
          </p:cNvPr>
          <p:cNvCxnSpPr>
            <a:cxnSpLocks/>
          </p:cNvCxnSpPr>
          <p:nvPr/>
        </p:nvCxnSpPr>
        <p:spPr>
          <a:xfrm>
            <a:off x="5003710" y="2554125"/>
            <a:ext cx="2130820" cy="775815"/>
          </a:xfrm>
          <a:prstGeom prst="straightConnector1">
            <a:avLst/>
          </a:prstGeom>
          <a:ln w="50800">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E73230-E64C-46FB-B634-F02321C6B3E7}"/>
              </a:ext>
            </a:extLst>
          </p:cNvPr>
          <p:cNvCxnSpPr>
            <a:cxnSpLocks/>
          </p:cNvCxnSpPr>
          <p:nvPr/>
        </p:nvCxnSpPr>
        <p:spPr>
          <a:xfrm flipV="1">
            <a:off x="5003710" y="3528060"/>
            <a:ext cx="2114854" cy="898476"/>
          </a:xfrm>
          <a:prstGeom prst="straightConnector1">
            <a:avLst/>
          </a:prstGeom>
          <a:ln w="50800">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5F58A9-98DA-47B6-AE79-5062E885AEFB}"/>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3858956">
            <a:off x="4241781" y="2040918"/>
            <a:ext cx="783471" cy="783471"/>
          </a:xfrm>
          <a:prstGeom prst="rect">
            <a:avLst/>
          </a:prstGeom>
        </p:spPr>
      </p:pic>
      <p:pic>
        <p:nvPicPr>
          <p:cNvPr id="16" name="Picture 15">
            <a:extLst>
              <a:ext uri="{FF2B5EF4-FFF2-40B4-BE49-F238E27FC236}">
                <a16:creationId xmlns:a16="http://schemas.microsoft.com/office/drawing/2014/main" id="{6338BD3F-2E63-42A0-838E-361FC265A66D}"/>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04177">
            <a:off x="4226543" y="4181989"/>
            <a:ext cx="783471" cy="783471"/>
          </a:xfrm>
          <a:prstGeom prst="rect">
            <a:avLst/>
          </a:prstGeom>
        </p:spPr>
      </p:pic>
      <p:grpSp>
        <p:nvGrpSpPr>
          <p:cNvPr id="25" name="Group 24">
            <a:extLst>
              <a:ext uri="{FF2B5EF4-FFF2-40B4-BE49-F238E27FC236}">
                <a16:creationId xmlns:a16="http://schemas.microsoft.com/office/drawing/2014/main" id="{4BC88A3A-0823-4550-8FA4-6FC6267B9F2D}"/>
              </a:ext>
            </a:extLst>
          </p:cNvPr>
          <p:cNvGrpSpPr/>
          <p:nvPr/>
        </p:nvGrpSpPr>
        <p:grpSpPr>
          <a:xfrm>
            <a:off x="5182161" y="3762256"/>
            <a:ext cx="839462" cy="839462"/>
            <a:chOff x="5664200" y="4524673"/>
            <a:chExt cx="955675" cy="955675"/>
          </a:xfrm>
        </p:grpSpPr>
        <p:sp>
          <p:nvSpPr>
            <p:cNvPr id="24" name="Oval 23">
              <a:extLst>
                <a:ext uri="{FF2B5EF4-FFF2-40B4-BE49-F238E27FC236}">
                  <a16:creationId xmlns:a16="http://schemas.microsoft.com/office/drawing/2014/main" id="{8DA2DEAC-7EB6-4F43-95DE-0F6E29D53F20}"/>
                </a:ext>
              </a:extLst>
            </p:cNvPr>
            <p:cNvSpPr/>
            <p:nvPr/>
          </p:nvSpPr>
          <p:spPr bwMode="auto">
            <a:xfrm>
              <a:off x="5664200" y="4524673"/>
              <a:ext cx="955675" cy="955675"/>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 name="Picture 16" descr="A close up of a sign&#10;&#10;Description automatically generated">
              <a:extLst>
                <a:ext uri="{FF2B5EF4-FFF2-40B4-BE49-F238E27FC236}">
                  <a16:creationId xmlns:a16="http://schemas.microsoft.com/office/drawing/2014/main" id="{1C7E2258-51B2-4D56-9026-3CFCB2D4A00E}"/>
                </a:ext>
              </a:extLst>
            </p:cNvPr>
            <p:cNvPicPr>
              <a:picLocks noChangeAspect="1"/>
            </p:cNvPicPr>
            <p:nvPr/>
          </p:nvPicPr>
          <p:blipFill rotWithShape="1">
            <a:blip r:embed="rId5"/>
            <a:srcRect l="3" t="26585" r="59198" b="25416"/>
            <a:stretch/>
          </p:blipFill>
          <p:spPr>
            <a:xfrm>
              <a:off x="5732036" y="4640745"/>
              <a:ext cx="820001" cy="723530"/>
            </a:xfrm>
            <a:prstGeom prst="rect">
              <a:avLst/>
            </a:prstGeom>
            <a:noFill/>
          </p:spPr>
        </p:pic>
      </p:grpSp>
      <p:grpSp>
        <p:nvGrpSpPr>
          <p:cNvPr id="26" name="Group 25">
            <a:extLst>
              <a:ext uri="{FF2B5EF4-FFF2-40B4-BE49-F238E27FC236}">
                <a16:creationId xmlns:a16="http://schemas.microsoft.com/office/drawing/2014/main" id="{425CF9A5-2E9F-4B3D-AC93-B794205D1ABB}"/>
              </a:ext>
            </a:extLst>
          </p:cNvPr>
          <p:cNvGrpSpPr/>
          <p:nvPr/>
        </p:nvGrpSpPr>
        <p:grpSpPr>
          <a:xfrm>
            <a:off x="5182161" y="2351511"/>
            <a:ext cx="839462" cy="839462"/>
            <a:chOff x="5664200" y="4524673"/>
            <a:chExt cx="955675" cy="955675"/>
          </a:xfrm>
        </p:grpSpPr>
        <p:sp>
          <p:nvSpPr>
            <p:cNvPr id="27" name="Oval 26">
              <a:extLst>
                <a:ext uri="{FF2B5EF4-FFF2-40B4-BE49-F238E27FC236}">
                  <a16:creationId xmlns:a16="http://schemas.microsoft.com/office/drawing/2014/main" id="{E400B462-B4F9-40EB-BE7F-8CAD11D6E2A7}"/>
                </a:ext>
              </a:extLst>
            </p:cNvPr>
            <p:cNvSpPr/>
            <p:nvPr/>
          </p:nvSpPr>
          <p:spPr bwMode="auto">
            <a:xfrm>
              <a:off x="5664200" y="4524673"/>
              <a:ext cx="955675" cy="955675"/>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8" name="Picture 27" descr="A close up of a sign&#10;&#10;Description automatically generated">
              <a:extLst>
                <a:ext uri="{FF2B5EF4-FFF2-40B4-BE49-F238E27FC236}">
                  <a16:creationId xmlns:a16="http://schemas.microsoft.com/office/drawing/2014/main" id="{803A3A9B-A825-453C-8D4F-E57271D12801}"/>
                </a:ext>
              </a:extLst>
            </p:cNvPr>
            <p:cNvPicPr>
              <a:picLocks noChangeAspect="1"/>
            </p:cNvPicPr>
            <p:nvPr/>
          </p:nvPicPr>
          <p:blipFill rotWithShape="1">
            <a:blip r:embed="rId5"/>
            <a:srcRect l="3" t="26585" r="59198" b="25416"/>
            <a:stretch/>
          </p:blipFill>
          <p:spPr>
            <a:xfrm>
              <a:off x="5732036" y="4640745"/>
              <a:ext cx="820001" cy="723530"/>
            </a:xfrm>
            <a:prstGeom prst="rect">
              <a:avLst/>
            </a:prstGeom>
            <a:noFill/>
          </p:spPr>
        </p:pic>
      </p:grpSp>
      <p:sp>
        <p:nvSpPr>
          <p:cNvPr id="20" name="Cylinder 19">
            <a:extLst>
              <a:ext uri="{FF2B5EF4-FFF2-40B4-BE49-F238E27FC236}">
                <a16:creationId xmlns:a16="http://schemas.microsoft.com/office/drawing/2014/main" id="{497D1CD1-C0BC-43CD-8D12-0D0AB87F2705}"/>
              </a:ext>
            </a:extLst>
          </p:cNvPr>
          <p:cNvSpPr/>
          <p:nvPr/>
        </p:nvSpPr>
        <p:spPr bwMode="auto">
          <a:xfrm>
            <a:off x="2806626" y="1562548"/>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p:txBody>
      </p:sp>
      <p:sp>
        <p:nvSpPr>
          <p:cNvPr id="21" name="Cylinder 20">
            <a:extLst>
              <a:ext uri="{FF2B5EF4-FFF2-40B4-BE49-F238E27FC236}">
                <a16:creationId xmlns:a16="http://schemas.microsoft.com/office/drawing/2014/main" id="{E30220E3-3482-4D41-A30B-4FA6D82E015D}"/>
              </a:ext>
            </a:extLst>
          </p:cNvPr>
          <p:cNvSpPr/>
          <p:nvPr/>
        </p:nvSpPr>
        <p:spPr bwMode="auto">
          <a:xfrm>
            <a:off x="2806626" y="4243219"/>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p:txBody>
      </p:sp>
      <p:sp>
        <p:nvSpPr>
          <p:cNvPr id="22" name="Cylinder 21">
            <a:extLst>
              <a:ext uri="{FF2B5EF4-FFF2-40B4-BE49-F238E27FC236}">
                <a16:creationId xmlns:a16="http://schemas.microsoft.com/office/drawing/2014/main" id="{0F3D9CFB-9DCF-452D-85FE-45EC27ED0619}"/>
              </a:ext>
            </a:extLst>
          </p:cNvPr>
          <p:cNvSpPr/>
          <p:nvPr/>
        </p:nvSpPr>
        <p:spPr bwMode="auto">
          <a:xfrm>
            <a:off x="7377056" y="2799677"/>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448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p:txBody>
      </p:sp>
    </p:spTree>
    <p:extLst>
      <p:ext uri="{BB962C8B-B14F-4D97-AF65-F5344CB8AC3E}">
        <p14:creationId xmlns:p14="http://schemas.microsoft.com/office/powerpoint/2010/main" val="3413457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sales orders</a:t>
            </a:r>
          </a:p>
        </p:txBody>
      </p:sp>
      <p:pic>
        <p:nvPicPr>
          <p:cNvPr id="4" name="Picture 3" descr="A screenshot of a cell phone&#10;&#10;Description automatically generated">
            <a:extLst>
              <a:ext uri="{FF2B5EF4-FFF2-40B4-BE49-F238E27FC236}">
                <a16:creationId xmlns:a16="http://schemas.microsoft.com/office/drawing/2014/main" id="{169D6524-86F8-471C-8295-86D2900BF4EC}"/>
              </a:ext>
            </a:extLst>
          </p:cNvPr>
          <p:cNvPicPr>
            <a:picLocks noChangeAspect="1"/>
          </p:cNvPicPr>
          <p:nvPr/>
        </p:nvPicPr>
        <p:blipFill>
          <a:blip r:embed="rId2"/>
          <a:stretch>
            <a:fillRect/>
          </a:stretch>
        </p:blipFill>
        <p:spPr>
          <a:xfrm>
            <a:off x="3235289" y="1011197"/>
            <a:ext cx="5672422" cy="5846801"/>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3"/>
          <a:stretch>
            <a:fillRect/>
          </a:stretch>
        </p:blipFill>
        <p:spPr>
          <a:xfrm>
            <a:off x="3739402" y="5084803"/>
            <a:ext cx="3100431" cy="1524000"/>
          </a:xfrm>
          <a:prstGeom prst="rect">
            <a:avLst/>
          </a:prstGeom>
        </p:spPr>
      </p:pic>
    </p:spTree>
    <p:extLst>
      <p:ext uri="{BB962C8B-B14F-4D97-AF65-F5344CB8AC3E}">
        <p14:creationId xmlns:p14="http://schemas.microsoft.com/office/powerpoint/2010/main" val="28858600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3"/>
          <a:stretch>
            <a:fillRect/>
          </a:stretch>
        </p:blipFill>
        <p:spPr>
          <a:xfrm>
            <a:off x="4545784" y="1265278"/>
            <a:ext cx="3100431" cy="1524000"/>
          </a:xfrm>
          <a:prstGeom prst="rect">
            <a:avLst/>
          </a:prstGeom>
        </p:spPr>
      </p:pic>
      <p:sp>
        <p:nvSpPr>
          <p:cNvPr id="5" name="Rectangle: Folded Corner 4">
            <a:extLst>
              <a:ext uri="{FF2B5EF4-FFF2-40B4-BE49-F238E27FC236}">
                <a16:creationId xmlns:a16="http://schemas.microsoft.com/office/drawing/2014/main" id="{94F3827B-65FC-4C5B-B71D-006A6EE01E46}"/>
              </a:ext>
            </a:extLst>
          </p:cNvPr>
          <p:cNvSpPr/>
          <p:nvPr/>
        </p:nvSpPr>
        <p:spPr bwMode="auto">
          <a:xfrm>
            <a:off x="6347623" y="3043359"/>
            <a:ext cx="1980590" cy="220491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salesOrderId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6" name="Rectangle: Folded Corner 5">
            <a:extLst>
              <a:ext uri="{FF2B5EF4-FFF2-40B4-BE49-F238E27FC236}">
                <a16:creationId xmlns:a16="http://schemas.microsoft.com/office/drawing/2014/main" id="{8908C8C3-81FA-4A01-B25C-599E77602480}"/>
              </a:ext>
            </a:extLst>
          </p:cNvPr>
          <p:cNvSpPr/>
          <p:nvPr/>
        </p:nvSpPr>
        <p:spPr bwMode="auto">
          <a:xfrm>
            <a:off x="3937798" y="3043358"/>
            <a:ext cx="1980590" cy="117621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30526003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3"/>
          <a:stretch>
            <a:fillRect/>
          </a:stretch>
        </p:blipFill>
        <p:spPr>
          <a:xfrm>
            <a:off x="4545784" y="1265278"/>
            <a:ext cx="3100431" cy="1524000"/>
          </a:xfrm>
          <a:prstGeom prst="rect">
            <a:avLst/>
          </a:prstGeom>
        </p:spPr>
      </p:pic>
      <p:sp>
        <p:nvSpPr>
          <p:cNvPr id="9" name="Rectangle: Folded Corner 8">
            <a:extLst>
              <a:ext uri="{FF2B5EF4-FFF2-40B4-BE49-F238E27FC236}">
                <a16:creationId xmlns:a16="http://schemas.microsoft.com/office/drawing/2014/main" id="{BD72FB0B-6FDD-4BDE-9C83-955A6E5DB5CE}"/>
              </a:ext>
            </a:extLst>
          </p:cNvPr>
          <p:cNvSpPr/>
          <p:nvPr/>
        </p:nvSpPr>
        <p:spPr bwMode="auto">
          <a:xfrm>
            <a:off x="5105704" y="3043358"/>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5" name="Rectangle 4">
            <a:extLst>
              <a:ext uri="{FF2B5EF4-FFF2-40B4-BE49-F238E27FC236}">
                <a16:creationId xmlns:a16="http://schemas.microsoft.com/office/drawing/2014/main" id="{63B9D855-495D-4D45-9D7B-6B9407A09AA8}"/>
              </a:ext>
            </a:extLst>
          </p:cNvPr>
          <p:cNvSpPr/>
          <p:nvPr/>
        </p:nvSpPr>
        <p:spPr bwMode="auto">
          <a:xfrm>
            <a:off x="5105704" y="3831456"/>
            <a:ext cx="1980590" cy="151016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0011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6625" y="2810436"/>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592565"/>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4046906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25" y="2616201"/>
            <a:ext cx="5347041" cy="252730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sales order</a:t>
            </a:r>
          </a:p>
          <a:p>
            <a:r>
              <a:rPr lang="en-US" dirty="0"/>
              <a:t>List all sales order for a customer</a:t>
            </a:r>
          </a:p>
          <a:p>
            <a:r>
              <a:rPr lang="en-US" dirty="0"/>
              <a:t>List customers by descending number of sales orders</a:t>
            </a:r>
          </a:p>
        </p:txBody>
      </p:sp>
    </p:spTree>
    <p:extLst>
      <p:ext uri="{BB962C8B-B14F-4D97-AF65-F5344CB8AC3E}">
        <p14:creationId xmlns:p14="http://schemas.microsoft.com/office/powerpoint/2010/main" val="342730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25" y="2616201"/>
            <a:ext cx="5347041" cy="149859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sales order</a:t>
            </a:r>
          </a:p>
          <a:p>
            <a:r>
              <a:rPr lang="en-US" dirty="0"/>
              <a:t>List all sales order for a customer</a:t>
            </a:r>
          </a:p>
        </p:txBody>
      </p:sp>
      <p:grpSp>
        <p:nvGrpSpPr>
          <p:cNvPr id="5" name="Group 4">
            <a:extLst>
              <a:ext uri="{FF2B5EF4-FFF2-40B4-BE49-F238E27FC236}">
                <a16:creationId xmlns:a16="http://schemas.microsoft.com/office/drawing/2014/main" id="{90C3276C-FCDD-402A-891B-077934867F44}"/>
              </a:ext>
            </a:extLst>
          </p:cNvPr>
          <p:cNvGrpSpPr/>
          <p:nvPr/>
        </p:nvGrpSpPr>
        <p:grpSpPr>
          <a:xfrm>
            <a:off x="1787319" y="5197757"/>
            <a:ext cx="8617362" cy="925530"/>
            <a:chOff x="1787319" y="5197757"/>
            <a:chExt cx="8617362" cy="925530"/>
          </a:xfrm>
        </p:grpSpPr>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2505754" y="5377492"/>
              <a:ext cx="609894" cy="609894"/>
            </a:xfrm>
            <a:prstGeom prst="rect">
              <a:avLst/>
            </a:prstGeom>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1899963" y="5377492"/>
              <a:ext cx="609894" cy="609894"/>
            </a:xfrm>
            <a:prstGeom prst="rect">
              <a:avLst/>
            </a:prstGeom>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1787319"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3721439" y="5377492"/>
              <a:ext cx="609894" cy="609894"/>
            </a:xfrm>
            <a:prstGeom prst="rect">
              <a:avLst/>
            </a:prstGeom>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3115648" y="5377492"/>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5487415" y="5377492"/>
              <a:ext cx="609894" cy="609894"/>
            </a:xfrm>
            <a:prstGeom prst="rect">
              <a:avLst/>
            </a:prstGeom>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4881624" y="5377492"/>
              <a:ext cx="609894" cy="609894"/>
            </a:xfrm>
            <a:prstGeom prst="rect">
              <a:avLst/>
            </a:prstGeom>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4768980"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6703100" y="5377492"/>
              <a:ext cx="609894" cy="609894"/>
            </a:xfrm>
            <a:prstGeom prst="rect">
              <a:avLst/>
            </a:prstGeom>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6097309" y="5377492"/>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8469076" y="5377492"/>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7863285" y="5377492"/>
              <a:ext cx="609894" cy="609894"/>
            </a:xfrm>
            <a:prstGeom prst="rect">
              <a:avLst/>
            </a:prstGeom>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7750641" y="5197757"/>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9684761" y="5377492"/>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9078970" y="5377492"/>
              <a:ext cx="609894" cy="609894"/>
            </a:xfrm>
            <a:prstGeom prst="rect">
              <a:avLst/>
            </a:prstGeom>
          </p:spPr>
        </p:pic>
      </p:grpSp>
      <p:sp>
        <p:nvSpPr>
          <p:cNvPr id="23" name="TextBox 22">
            <a:extLst>
              <a:ext uri="{FF2B5EF4-FFF2-40B4-BE49-F238E27FC236}">
                <a16:creationId xmlns:a16="http://schemas.microsoft.com/office/drawing/2014/main" id="{ECB98AE5-5F8E-4429-8F21-0143D25FE2B2}"/>
              </a:ext>
            </a:extLst>
          </p:cNvPr>
          <p:cNvSpPr txBox="1"/>
          <p:nvPr/>
        </p:nvSpPr>
        <p:spPr>
          <a:xfrm>
            <a:off x="2200807"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CustomerA</a:t>
            </a:r>
            <a:endParaRPr lang="en-US" sz="2400" dirty="0">
              <a:solidFill>
                <a:schemeClr val="accent2">
                  <a:lumMod val="60000"/>
                  <a:lumOff val="40000"/>
                </a:schemeClr>
              </a:solidFill>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8161447"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CustomerC</a:t>
            </a:r>
            <a:endParaRPr lang="en-US" sz="2400" dirty="0">
              <a:solidFill>
                <a:schemeClr val="accent2">
                  <a:lumMod val="60000"/>
                  <a:lumOff val="40000"/>
                </a:schemeClr>
              </a:solidFill>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5182468" y="6216134"/>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CustomerB</a:t>
            </a:r>
            <a:endParaRPr lang="en-US" sz="2400" dirty="0">
              <a:solidFill>
                <a:schemeClr val="accent2">
                  <a:lumMod val="60000"/>
                  <a:lumOff val="40000"/>
                </a:schemeClr>
              </a:solidFill>
            </a:endParaRPr>
          </a:p>
        </p:txBody>
      </p:sp>
      <p:sp>
        <p:nvSpPr>
          <p:cNvPr id="26" name="TextBox 25">
            <a:extLst>
              <a:ext uri="{FF2B5EF4-FFF2-40B4-BE49-F238E27FC236}">
                <a16:creationId xmlns:a16="http://schemas.microsoft.com/office/drawing/2014/main" id="{92DC5F8F-95BF-4326-ABC5-854AEF1116E0}"/>
              </a:ext>
            </a:extLst>
          </p:cNvPr>
          <p:cNvSpPr txBox="1"/>
          <p:nvPr/>
        </p:nvSpPr>
        <p:spPr>
          <a:xfrm>
            <a:off x="2248432" y="4394229"/>
            <a:ext cx="8473008" cy="430887"/>
          </a:xfrm>
          <a:prstGeom prst="rect">
            <a:avLst/>
          </a:prstGeom>
          <a:noFill/>
        </p:spPr>
        <p:txBody>
          <a:bodyPr wrap="square" lIns="0" tIns="0" rIns="0" bIns="0" rtlCol="0">
            <a:spAutoFit/>
          </a:bodyPr>
          <a:lstStyle/>
          <a:p>
            <a:pPr algn="ctr"/>
            <a:r>
              <a:rPr lang="en-US" sz="2800" dirty="0"/>
              <a:t>SELECT * FROM c WHERE </a:t>
            </a:r>
            <a:r>
              <a:rPr lang="en-US" sz="2800" dirty="0" err="1"/>
              <a:t>c.customerId</a:t>
            </a:r>
            <a:r>
              <a:rPr lang="en-US" sz="2800" dirty="0"/>
              <a:t> = '</a:t>
            </a:r>
            <a:r>
              <a:rPr lang="en-US" sz="2800" dirty="0" err="1"/>
              <a:t>CustomerA</a:t>
            </a:r>
            <a:r>
              <a:rPr lang="en-US" sz="2800" dirty="0"/>
              <a:t>'</a:t>
            </a:r>
          </a:p>
        </p:txBody>
      </p:sp>
      <p:cxnSp>
        <p:nvCxnSpPr>
          <p:cNvPr id="27" name="Connector: Curved 26">
            <a:extLst>
              <a:ext uri="{FF2B5EF4-FFF2-40B4-BE49-F238E27FC236}">
                <a16:creationId xmlns:a16="http://schemas.microsoft.com/office/drawing/2014/main" id="{33F12E96-535B-49B9-ADAE-F58F22DCF480}"/>
              </a:ext>
            </a:extLst>
          </p:cNvPr>
          <p:cNvCxnSpPr>
            <a:cxnSpLocks/>
          </p:cNvCxnSpPr>
          <p:nvPr/>
        </p:nvCxnSpPr>
        <p:spPr>
          <a:xfrm rot="10800000">
            <a:off x="7863286" y="3829050"/>
            <a:ext cx="656349" cy="499126"/>
          </a:xfrm>
          <a:prstGeom prst="curvedConnector3">
            <a:avLst>
              <a:gd name="adj1" fmla="val -2243"/>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28" name="Picture 27" descr="A close up of a logo&#10;&#10;Description automatically generated">
            <a:extLst>
              <a:ext uri="{FF2B5EF4-FFF2-40B4-BE49-F238E27FC236}">
                <a16:creationId xmlns:a16="http://schemas.microsoft.com/office/drawing/2014/main" id="{A9037CDA-1F53-438B-8888-6A6250B5FC07}"/>
              </a:ext>
            </a:extLst>
          </p:cNvPr>
          <p:cNvPicPr>
            <a:picLocks noChangeAspect="1"/>
          </p:cNvPicPr>
          <p:nvPr/>
        </p:nvPicPr>
        <p:blipFill>
          <a:blip r:embed="rId4"/>
          <a:stretch>
            <a:fillRect/>
          </a:stretch>
        </p:blipFill>
        <p:spPr>
          <a:xfrm>
            <a:off x="1760428" y="4427430"/>
            <a:ext cx="381907" cy="381907"/>
          </a:xfrm>
          <a:prstGeom prst="rect">
            <a:avLst/>
          </a:prstGeom>
        </p:spPr>
      </p:pic>
      <p:sp>
        <p:nvSpPr>
          <p:cNvPr id="29" name="Rectangle: Rounded Corners 28">
            <a:extLst>
              <a:ext uri="{FF2B5EF4-FFF2-40B4-BE49-F238E27FC236}">
                <a16:creationId xmlns:a16="http://schemas.microsoft.com/office/drawing/2014/main" id="{828B1A25-FE31-4369-8A08-FEFBA9C75848}"/>
              </a:ext>
            </a:extLst>
          </p:cNvPr>
          <p:cNvSpPr/>
          <p:nvPr/>
        </p:nvSpPr>
        <p:spPr bwMode="auto">
          <a:xfrm>
            <a:off x="1645983" y="4332674"/>
            <a:ext cx="9107742" cy="553998"/>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30" name="Straight Connector 29">
            <a:extLst>
              <a:ext uri="{FF2B5EF4-FFF2-40B4-BE49-F238E27FC236}">
                <a16:creationId xmlns:a16="http://schemas.microsoft.com/office/drawing/2014/main" id="{B8688F13-2E4B-4F21-9418-D0E95A4DA8D3}"/>
              </a:ext>
            </a:extLst>
          </p:cNvPr>
          <p:cNvCxnSpPr>
            <a:cxnSpLocks/>
          </p:cNvCxnSpPr>
          <p:nvPr/>
        </p:nvCxnSpPr>
        <p:spPr>
          <a:xfrm>
            <a:off x="2231533" y="4332674"/>
            <a:ext cx="0" cy="553998"/>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90826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6625" y="2810436"/>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592565"/>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3552978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1667996"/>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6625" y="2286561"/>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068690"/>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9620" y="3894772"/>
            <a:ext cx="2291555" cy="224184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4041" y="428681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6624" y="4905375"/>
            <a:ext cx="2302996" cy="11032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680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4F65-61EC-4D14-9100-A2866E13CB60}"/>
              </a:ext>
            </a:extLst>
          </p:cNvPr>
          <p:cNvSpPr>
            <a:spLocks noGrp="1"/>
          </p:cNvSpPr>
          <p:nvPr>
            <p:ph type="title"/>
          </p:nvPr>
        </p:nvSpPr>
        <p:spPr/>
        <p:txBody>
          <a:bodyPr/>
          <a:lstStyle/>
          <a:p>
            <a:r>
              <a:rPr lang="en-US" dirty="0"/>
              <a:t>Mixing entities in the same container?</a:t>
            </a:r>
          </a:p>
        </p:txBody>
      </p:sp>
      <p:sp>
        <p:nvSpPr>
          <p:cNvPr id="3" name="Content Placeholder 2">
            <a:extLst>
              <a:ext uri="{FF2B5EF4-FFF2-40B4-BE49-F238E27FC236}">
                <a16:creationId xmlns:a16="http://schemas.microsoft.com/office/drawing/2014/main" id="{FCBD5B9A-88DB-403D-899C-10FA7916CD43}"/>
              </a:ext>
            </a:extLst>
          </p:cNvPr>
          <p:cNvSpPr>
            <a:spLocks noGrp="1"/>
          </p:cNvSpPr>
          <p:nvPr>
            <p:ph sz="quarter" idx="10"/>
          </p:nvPr>
        </p:nvSpPr>
        <p:spPr>
          <a:xfrm>
            <a:off x="584200" y="1435100"/>
            <a:ext cx="11018838" cy="2203680"/>
          </a:xfrm>
        </p:spPr>
        <p:txBody>
          <a:bodyPr/>
          <a:lstStyle/>
          <a:p>
            <a:r>
              <a:rPr lang="en-US" dirty="0"/>
              <a:t>Leverage the schema-agnostic nature of Cosmos DB</a:t>
            </a:r>
          </a:p>
          <a:p>
            <a:endParaRPr lang="en-US" dirty="0"/>
          </a:p>
          <a:p>
            <a:r>
              <a:rPr lang="en-US" dirty="0"/>
              <a:t>Suitable when different entity types</a:t>
            </a:r>
          </a:p>
          <a:p>
            <a:pPr lvl="1"/>
            <a:r>
              <a:rPr lang="en-US" dirty="0"/>
              <a:t>share similar access patterns</a:t>
            </a:r>
          </a:p>
          <a:p>
            <a:pPr lvl="1"/>
            <a:r>
              <a:rPr lang="en-US" dirty="0"/>
              <a:t>share the same partition key</a:t>
            </a:r>
          </a:p>
        </p:txBody>
      </p:sp>
    </p:spTree>
    <p:extLst>
      <p:ext uri="{BB962C8B-B14F-4D97-AF65-F5344CB8AC3E}">
        <p14:creationId xmlns:p14="http://schemas.microsoft.com/office/powerpoint/2010/main" val="501011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1667996"/>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salesOrders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6625" y="2286561"/>
            <a:ext cx="2302995" cy="11795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068690"/>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9620" y="3894772"/>
            <a:ext cx="2291555" cy="224184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4041" y="428681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6624" y="4905375"/>
            <a:ext cx="2302996" cy="11032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9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6625" y="2404512"/>
            <a:ext cx="2302995" cy="138833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068690"/>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9620" y="3894772"/>
            <a:ext cx="2291555" cy="224184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4042" y="317428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6625" y="3792846"/>
            <a:ext cx="2302995" cy="122284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5533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6625" y="2404512"/>
            <a:ext cx="2302995" cy="138833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20" y="1068690"/>
            <a:ext cx="1980590" cy="26716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9620" y="3894771"/>
            <a:ext cx="2291555" cy="236315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4042" y="317428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6625" y="3792846"/>
            <a:ext cx="2302995" cy="1283502"/>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9EB18BB-1898-4784-B0B4-77DFCABED2DF}"/>
              </a:ext>
            </a:extLst>
          </p:cNvPr>
          <p:cNvSpPr/>
          <p:nvPr/>
        </p:nvSpPr>
        <p:spPr bwMode="auto">
          <a:xfrm>
            <a:off x="7109620" y="4467935"/>
            <a:ext cx="2291555" cy="2108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79874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6625" y="2404512"/>
            <a:ext cx="2302995" cy="138833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9619" y="991400"/>
            <a:ext cx="2101757" cy="282593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a:t>
            </a:r>
            <a:r>
              <a:rPr lang="en-US" sz="1400" dirty="0" err="1">
                <a:gradFill>
                  <a:gsLst>
                    <a:gs pos="0">
                      <a:srgbClr val="FFFFFF"/>
                    </a:gs>
                    <a:gs pos="100000">
                      <a:srgbClr val="FFFFFF"/>
                    </a:gs>
                  </a:gsLst>
                  <a:lin ang="5400000" scaled="0"/>
                </a:gradFill>
                <a:ea typeface="Segoe UI" pitchFamily="34" charset="0"/>
                <a:cs typeface="Segoe UI" pitchFamily="34" charset="0"/>
              </a:rPr>
              <a:t>salesOrder</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"details":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sku</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"name":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"description":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"price":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"quantity":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9620" y="3894771"/>
            <a:ext cx="2291555" cy="2572704"/>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"customer",</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4042" y="317428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6625" y="3792846"/>
            <a:ext cx="2302995" cy="1388277"/>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9EB18BB-1898-4784-B0B4-77DFCABED2DF}"/>
              </a:ext>
            </a:extLst>
          </p:cNvPr>
          <p:cNvSpPr/>
          <p:nvPr/>
        </p:nvSpPr>
        <p:spPr bwMode="auto">
          <a:xfrm>
            <a:off x="7109619" y="1581602"/>
            <a:ext cx="2101757" cy="2108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2B4673DA-B5EE-4829-AD53-06E617B2C8B2}"/>
              </a:ext>
            </a:extLst>
          </p:cNvPr>
          <p:cNvSpPr/>
          <p:nvPr/>
        </p:nvSpPr>
        <p:spPr bwMode="auto">
          <a:xfrm>
            <a:off x="7077869" y="4487267"/>
            <a:ext cx="2323305" cy="2108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8137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2090397"/>
            <a:ext cx="609894" cy="609894"/>
          </a:xfrm>
          <a:prstGeom prst="rect">
            <a:avLst/>
          </a:prstGeom>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2090397"/>
            <a:ext cx="609894" cy="609894"/>
          </a:xfrm>
          <a:prstGeom prst="rect">
            <a:avLst/>
          </a:prstGeom>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366" y="1910662"/>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2090397"/>
            <a:ext cx="609894" cy="609894"/>
          </a:xfrm>
          <a:prstGeom prst="rect">
            <a:avLst/>
          </a:prstGeom>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2090397"/>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3745314"/>
            <a:ext cx="609894" cy="609894"/>
          </a:xfrm>
          <a:prstGeom prst="rect">
            <a:avLst/>
          </a:prstGeom>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3745314"/>
            <a:ext cx="609894" cy="609894"/>
          </a:xfrm>
          <a:prstGeom prst="rect">
            <a:avLst/>
          </a:prstGeom>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366" y="3565579"/>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3745314"/>
            <a:ext cx="609894" cy="609894"/>
          </a:xfrm>
          <a:prstGeom prst="rect">
            <a:avLst/>
          </a:prstGeom>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3745314"/>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4110" y="5400231"/>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319" y="5400231"/>
            <a:ext cx="609894" cy="609894"/>
          </a:xfrm>
          <a:prstGeom prst="rect">
            <a:avLst/>
          </a:prstGeom>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675" y="5220496"/>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9795" y="5400231"/>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4004" y="5400231"/>
            <a:ext cx="609894" cy="609894"/>
          </a:xfrm>
          <a:prstGeom prst="rect">
            <a:avLst/>
          </a:prstGeom>
        </p:spPr>
      </p:pic>
      <p:sp>
        <p:nvSpPr>
          <p:cNvPr id="23" name="TextBox 22">
            <a:extLst>
              <a:ext uri="{FF2B5EF4-FFF2-40B4-BE49-F238E27FC236}">
                <a16:creationId xmlns:a16="http://schemas.microsoft.com/office/drawing/2014/main" id="{ECB98AE5-5F8E-4429-8F21-0143D25FE2B2}"/>
              </a:ext>
            </a:extLst>
          </p:cNvPr>
          <p:cNvSpPr txBox="1"/>
          <p:nvPr/>
        </p:nvSpPr>
        <p:spPr>
          <a:xfrm>
            <a:off x="6687854" y="2929039"/>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CustomerA</a:t>
            </a:r>
            <a:endParaRPr lang="en-US" sz="2400" dirty="0">
              <a:solidFill>
                <a:schemeClr val="accent2">
                  <a:lumMod val="60000"/>
                  <a:lumOff val="40000"/>
                </a:schemeClr>
              </a:solidFill>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481" y="6238873"/>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CustomerC</a:t>
            </a:r>
            <a:endParaRPr lang="en-US" sz="2400" dirty="0">
              <a:solidFill>
                <a:schemeClr val="accent2">
                  <a:lumMod val="60000"/>
                  <a:lumOff val="40000"/>
                </a:schemeClr>
              </a:solidFill>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854" y="4583956"/>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CustomerB</a:t>
            </a:r>
            <a:endParaRPr lang="en-US" sz="2400" dirty="0">
              <a:solidFill>
                <a:schemeClr val="accent2">
                  <a:lumMod val="60000"/>
                  <a:lumOff val="40000"/>
                </a:schemeClr>
              </a:solidFill>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4773456" y="1114797"/>
            <a:ext cx="1500910"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8672908" y="1110969"/>
            <a:ext cx="1822814"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sales orders</a:t>
            </a:r>
          </a:p>
        </p:txBody>
      </p:sp>
      <p:cxnSp>
        <p:nvCxnSpPr>
          <p:cNvPr id="33" name="Connector: Curved 32">
            <a:extLst>
              <a:ext uri="{FF2B5EF4-FFF2-40B4-BE49-F238E27FC236}">
                <a16:creationId xmlns:a16="http://schemas.microsoft.com/office/drawing/2014/main" id="{2955E5D2-B986-4D5C-919F-98EE0F12407E}"/>
              </a:ext>
            </a:extLst>
          </p:cNvPr>
          <p:cNvCxnSpPr>
            <a:stCxn id="31" idx="3"/>
            <a:endCxn id="8" idx="0"/>
          </p:cNvCxnSpPr>
          <p:nvPr/>
        </p:nvCxnSpPr>
        <p:spPr>
          <a:xfrm>
            <a:off x="6274366" y="1299463"/>
            <a:ext cx="417591"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AF9B8887-D32C-4A46-A611-C6061C08F165}"/>
              </a:ext>
            </a:extLst>
          </p:cNvPr>
          <p:cNvCxnSpPr>
            <a:cxnSpLocks/>
            <a:stCxn id="32" idx="1"/>
            <a:endCxn id="7" idx="0"/>
          </p:cNvCxnSpPr>
          <p:nvPr/>
        </p:nvCxnSpPr>
        <p:spPr>
          <a:xfrm rot="10800000" flipV="1">
            <a:off x="7297748" y="1295635"/>
            <a:ext cx="1375160"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E8179A03-FB4E-455B-BCCC-49211C2136DE}"/>
              </a:ext>
            </a:extLst>
          </p:cNvPr>
          <p:cNvCxnSpPr>
            <a:cxnSpLocks/>
            <a:stCxn id="32" idx="1"/>
            <a:endCxn id="12" idx="0"/>
          </p:cNvCxnSpPr>
          <p:nvPr/>
        </p:nvCxnSpPr>
        <p:spPr>
          <a:xfrm rot="10800000" flipV="1">
            <a:off x="7907642" y="1295635"/>
            <a:ext cx="765266"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11" idx="0"/>
          </p:cNvCxnSpPr>
          <p:nvPr/>
        </p:nvCxnSpPr>
        <p:spPr>
          <a:xfrm rot="10800000" flipV="1">
            <a:off x="8513434" y="1295635"/>
            <a:ext cx="159475"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Tree>
    <p:extLst>
      <p:ext uri="{BB962C8B-B14F-4D97-AF65-F5344CB8AC3E}">
        <p14:creationId xmlns:p14="http://schemas.microsoft.com/office/powerpoint/2010/main" val="4017330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25" y="2616201"/>
            <a:ext cx="5347041" cy="149859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sales order</a:t>
            </a:r>
          </a:p>
          <a:p>
            <a:r>
              <a:rPr lang="en-US" dirty="0"/>
              <a:t>List all sales order for a customer</a:t>
            </a:r>
          </a:p>
        </p:txBody>
      </p:sp>
      <p:sp>
        <p:nvSpPr>
          <p:cNvPr id="26" name="TextBox 25">
            <a:extLst>
              <a:ext uri="{FF2B5EF4-FFF2-40B4-BE49-F238E27FC236}">
                <a16:creationId xmlns:a16="http://schemas.microsoft.com/office/drawing/2014/main" id="{92DC5F8F-95BF-4326-ABC5-854AEF1116E0}"/>
              </a:ext>
            </a:extLst>
          </p:cNvPr>
          <p:cNvSpPr txBox="1"/>
          <p:nvPr/>
        </p:nvSpPr>
        <p:spPr>
          <a:xfrm>
            <a:off x="2277307" y="4394229"/>
            <a:ext cx="8473008" cy="861774"/>
          </a:xfrm>
          <a:prstGeom prst="rect">
            <a:avLst/>
          </a:prstGeom>
          <a:noFill/>
        </p:spPr>
        <p:txBody>
          <a:bodyPr wrap="square" lIns="0" tIns="0" rIns="0" bIns="0" rtlCol="0">
            <a:spAutoFit/>
          </a:bodyPr>
          <a:lstStyle/>
          <a:p>
            <a:r>
              <a:rPr lang="en-US" sz="2800" dirty="0"/>
              <a:t>SELECT * FROM c WHERE </a:t>
            </a:r>
            <a:r>
              <a:rPr lang="en-US" sz="2800" dirty="0" err="1"/>
              <a:t>c.customerId</a:t>
            </a:r>
            <a:r>
              <a:rPr lang="en-US" sz="2800" dirty="0"/>
              <a:t> = '</a:t>
            </a:r>
            <a:r>
              <a:rPr lang="en-US" sz="2800" dirty="0" err="1"/>
              <a:t>CustomerA</a:t>
            </a:r>
            <a:r>
              <a:rPr lang="en-US" sz="2800" dirty="0"/>
              <a:t>' AND </a:t>
            </a:r>
            <a:r>
              <a:rPr lang="en-US" sz="2800" dirty="0" err="1"/>
              <a:t>c.type</a:t>
            </a:r>
            <a:r>
              <a:rPr lang="en-US" sz="2800" dirty="0"/>
              <a:t> = '</a:t>
            </a:r>
            <a:r>
              <a:rPr lang="en-US" sz="2800" dirty="0" err="1"/>
              <a:t>salesOrder</a:t>
            </a:r>
            <a:r>
              <a:rPr lang="en-US" sz="2800" dirty="0"/>
              <a:t>'</a:t>
            </a:r>
          </a:p>
        </p:txBody>
      </p:sp>
      <p:cxnSp>
        <p:nvCxnSpPr>
          <p:cNvPr id="27" name="Connector: Curved 26">
            <a:extLst>
              <a:ext uri="{FF2B5EF4-FFF2-40B4-BE49-F238E27FC236}">
                <a16:creationId xmlns:a16="http://schemas.microsoft.com/office/drawing/2014/main" id="{33F12E96-535B-49B9-ADAE-F58F22DCF480}"/>
              </a:ext>
            </a:extLst>
          </p:cNvPr>
          <p:cNvCxnSpPr>
            <a:cxnSpLocks/>
          </p:cNvCxnSpPr>
          <p:nvPr/>
        </p:nvCxnSpPr>
        <p:spPr>
          <a:xfrm rot="10800000">
            <a:off x="7863286" y="3829050"/>
            <a:ext cx="656349" cy="499126"/>
          </a:xfrm>
          <a:prstGeom prst="curvedConnector3">
            <a:avLst>
              <a:gd name="adj1" fmla="val -2243"/>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28" name="Picture 27" descr="A close up of a logo&#10;&#10;Description automatically generated">
            <a:extLst>
              <a:ext uri="{FF2B5EF4-FFF2-40B4-BE49-F238E27FC236}">
                <a16:creationId xmlns:a16="http://schemas.microsoft.com/office/drawing/2014/main" id="{A9037CDA-1F53-438B-8888-6A6250B5FC07}"/>
              </a:ext>
            </a:extLst>
          </p:cNvPr>
          <p:cNvPicPr>
            <a:picLocks noChangeAspect="1"/>
          </p:cNvPicPr>
          <p:nvPr/>
        </p:nvPicPr>
        <p:blipFill>
          <a:blip r:embed="rId3"/>
          <a:stretch>
            <a:fillRect/>
          </a:stretch>
        </p:blipFill>
        <p:spPr>
          <a:xfrm>
            <a:off x="1760428" y="4648812"/>
            <a:ext cx="381907" cy="381907"/>
          </a:xfrm>
          <a:prstGeom prst="rect">
            <a:avLst/>
          </a:prstGeom>
        </p:spPr>
      </p:pic>
      <p:sp>
        <p:nvSpPr>
          <p:cNvPr id="29" name="Rectangle: Rounded Corners 28">
            <a:extLst>
              <a:ext uri="{FF2B5EF4-FFF2-40B4-BE49-F238E27FC236}">
                <a16:creationId xmlns:a16="http://schemas.microsoft.com/office/drawing/2014/main" id="{828B1A25-FE31-4369-8A08-FEFBA9C75848}"/>
              </a:ext>
            </a:extLst>
          </p:cNvPr>
          <p:cNvSpPr/>
          <p:nvPr/>
        </p:nvSpPr>
        <p:spPr bwMode="auto">
          <a:xfrm>
            <a:off x="1645983" y="4332673"/>
            <a:ext cx="9107742" cy="994975"/>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30" name="Straight Connector 29">
            <a:extLst>
              <a:ext uri="{FF2B5EF4-FFF2-40B4-BE49-F238E27FC236}">
                <a16:creationId xmlns:a16="http://schemas.microsoft.com/office/drawing/2014/main" id="{B8688F13-2E4B-4F21-9418-D0E95A4DA8D3}"/>
              </a:ext>
            </a:extLst>
          </p:cNvPr>
          <p:cNvCxnSpPr>
            <a:cxnSpLocks/>
          </p:cNvCxnSpPr>
          <p:nvPr/>
        </p:nvCxnSpPr>
        <p:spPr>
          <a:xfrm>
            <a:off x="2231533" y="4332674"/>
            <a:ext cx="0" cy="994974"/>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27734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25" y="2616201"/>
            <a:ext cx="5347041" cy="252730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sales order</a:t>
            </a:r>
          </a:p>
          <a:p>
            <a:r>
              <a:rPr lang="en-US" dirty="0"/>
              <a:t>List all sales order for a customer</a:t>
            </a:r>
          </a:p>
          <a:p>
            <a:r>
              <a:rPr lang="en-US" dirty="0"/>
              <a:t>List customers by descending number of sales orders</a:t>
            </a:r>
          </a:p>
        </p:txBody>
      </p:sp>
    </p:spTree>
    <p:extLst>
      <p:ext uri="{BB962C8B-B14F-4D97-AF65-F5344CB8AC3E}">
        <p14:creationId xmlns:p14="http://schemas.microsoft.com/office/powerpoint/2010/main" val="414568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C934-155C-4C02-A64E-9F3A2CDFCF7A}"/>
              </a:ext>
            </a:extLst>
          </p:cNvPr>
          <p:cNvSpPr>
            <a:spLocks noGrp="1"/>
          </p:cNvSpPr>
          <p:nvPr>
            <p:ph type="title"/>
          </p:nvPr>
        </p:nvSpPr>
        <p:spPr/>
        <p:txBody>
          <a:bodyPr/>
          <a:lstStyle/>
          <a:p>
            <a:r>
              <a:rPr lang="en-US" dirty="0" err="1"/>
              <a:t>Denormalizing</a:t>
            </a:r>
            <a:r>
              <a:rPr lang="en-US" dirty="0"/>
              <a:t> the count of sales orders per customer</a:t>
            </a:r>
          </a:p>
        </p:txBody>
      </p:sp>
      <p:sp>
        <p:nvSpPr>
          <p:cNvPr id="3" name="Rectangle: Folded Corner 2">
            <a:extLst>
              <a:ext uri="{FF2B5EF4-FFF2-40B4-BE49-F238E27FC236}">
                <a16:creationId xmlns:a16="http://schemas.microsoft.com/office/drawing/2014/main" id="{D2BBAC1A-90E9-4D9D-8ACA-07706E62C86C}"/>
              </a:ext>
            </a:extLst>
          </p:cNvPr>
          <p:cNvSpPr/>
          <p:nvPr/>
        </p:nvSpPr>
        <p:spPr bwMode="auto">
          <a:xfrm>
            <a:off x="4520889" y="1478129"/>
            <a:ext cx="3150221" cy="454728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"customer",</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Tree>
    <p:extLst>
      <p:ext uri="{BB962C8B-B14F-4D97-AF65-F5344CB8AC3E}">
        <p14:creationId xmlns:p14="http://schemas.microsoft.com/office/powerpoint/2010/main" val="2987499193"/>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C934-155C-4C02-A64E-9F3A2CDFCF7A}"/>
              </a:ext>
            </a:extLst>
          </p:cNvPr>
          <p:cNvSpPr>
            <a:spLocks noGrp="1"/>
          </p:cNvSpPr>
          <p:nvPr>
            <p:ph type="title"/>
          </p:nvPr>
        </p:nvSpPr>
        <p:spPr/>
        <p:txBody>
          <a:bodyPr/>
          <a:lstStyle/>
          <a:p>
            <a:r>
              <a:rPr lang="en-US" dirty="0" err="1"/>
              <a:t>Denormalizing</a:t>
            </a:r>
            <a:r>
              <a:rPr lang="en-US" dirty="0"/>
              <a:t> the count of sales orders per customer</a:t>
            </a:r>
          </a:p>
        </p:txBody>
      </p:sp>
      <p:sp>
        <p:nvSpPr>
          <p:cNvPr id="3" name="Rectangle: Folded Corner 2">
            <a:extLst>
              <a:ext uri="{FF2B5EF4-FFF2-40B4-BE49-F238E27FC236}">
                <a16:creationId xmlns:a16="http://schemas.microsoft.com/office/drawing/2014/main" id="{D2BBAC1A-90E9-4D9D-8ACA-07706E62C86C}"/>
              </a:ext>
            </a:extLst>
          </p:cNvPr>
          <p:cNvSpPr/>
          <p:nvPr/>
        </p:nvSpPr>
        <p:spPr bwMode="auto">
          <a:xfrm>
            <a:off x="4520889" y="1478129"/>
            <a:ext cx="3150221" cy="473016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"id":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"type": "customer",</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customerId</a:t>
            </a:r>
            <a:r>
              <a:rPr lang="en-US" sz="1400" dirty="0">
                <a:gradFill>
                  <a:gsLst>
                    <a:gs pos="0">
                      <a:srgbClr val="FFFFFF"/>
                    </a:gs>
                    <a:gs pos="100000">
                      <a:srgbClr val="FFFFFF"/>
                    </a:gs>
                  </a:gsLst>
                  <a:lin ang="5400000" scaled="0"/>
                </a:gradFill>
                <a:ea typeface="Segoe UI" pitchFamily="34" charset="0"/>
                <a:cs typeface="Segoe UI" pitchFamily="34" charset="0"/>
              </a:rPr>
              <a:t>":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"title": "…",</a:t>
            </a:r>
          </a:p>
          <a:p>
            <a:pPr algn="l"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firstName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lastName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emailAddress</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phoneNumber</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creationDate</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"addresses":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"addressLine1":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"addressLine2":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"password":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"hash":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"salt":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salesOrderCount</a:t>
            </a: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4" name="Rectangle 3">
            <a:extLst>
              <a:ext uri="{FF2B5EF4-FFF2-40B4-BE49-F238E27FC236}">
                <a16:creationId xmlns:a16="http://schemas.microsoft.com/office/drawing/2014/main" id="{4F07421C-2918-4D2B-870C-69160F1F1C4D}"/>
              </a:ext>
            </a:extLst>
          </p:cNvPr>
          <p:cNvSpPr/>
          <p:nvPr/>
        </p:nvSpPr>
        <p:spPr bwMode="auto">
          <a:xfrm>
            <a:off x="4520888" y="5691792"/>
            <a:ext cx="3150221" cy="21088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9622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err="1"/>
              <a:t>Denormalizing</a:t>
            </a:r>
            <a:r>
              <a:rPr lang="en-US" dirty="0"/>
              <a:t> the count of sales orders per customer</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2090397"/>
            <a:ext cx="609894" cy="609894"/>
          </a:xfrm>
          <a:prstGeom prst="rect">
            <a:avLst/>
          </a:prstGeom>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2090397"/>
            <a:ext cx="609894" cy="609894"/>
          </a:xfrm>
          <a:prstGeom prst="rect">
            <a:avLst/>
          </a:prstGeom>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366" y="1910662"/>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2090397"/>
            <a:ext cx="609894" cy="609894"/>
          </a:xfrm>
          <a:prstGeom prst="rect">
            <a:avLst/>
          </a:prstGeom>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2090397"/>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3745314"/>
            <a:ext cx="609894" cy="609894"/>
          </a:xfrm>
          <a:prstGeom prst="rect">
            <a:avLst/>
          </a:prstGeom>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3745314"/>
            <a:ext cx="609894" cy="609894"/>
          </a:xfrm>
          <a:prstGeom prst="rect">
            <a:avLst/>
          </a:prstGeom>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366" y="3565579"/>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3745314"/>
            <a:ext cx="609894" cy="609894"/>
          </a:xfrm>
          <a:prstGeom prst="rect">
            <a:avLst/>
          </a:prstGeom>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3745314"/>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4110" y="5400231"/>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319" y="5400231"/>
            <a:ext cx="609894" cy="609894"/>
          </a:xfrm>
          <a:prstGeom prst="rect">
            <a:avLst/>
          </a:prstGeom>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675" y="5220496"/>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9795" y="5400231"/>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4004" y="5400231"/>
            <a:ext cx="609894" cy="609894"/>
          </a:xfrm>
          <a:prstGeom prst="rect">
            <a:avLst/>
          </a:prstGeom>
        </p:spPr>
      </p:pic>
      <p:sp>
        <p:nvSpPr>
          <p:cNvPr id="23" name="TextBox 22">
            <a:extLst>
              <a:ext uri="{FF2B5EF4-FFF2-40B4-BE49-F238E27FC236}">
                <a16:creationId xmlns:a16="http://schemas.microsoft.com/office/drawing/2014/main" id="{ECB98AE5-5F8E-4429-8F21-0143D25FE2B2}"/>
              </a:ext>
            </a:extLst>
          </p:cNvPr>
          <p:cNvSpPr txBox="1"/>
          <p:nvPr/>
        </p:nvSpPr>
        <p:spPr>
          <a:xfrm>
            <a:off x="6687854" y="2929039"/>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CustomerA</a:t>
            </a:r>
            <a:endParaRPr lang="en-US" sz="2400" dirty="0">
              <a:solidFill>
                <a:schemeClr val="accent2">
                  <a:lumMod val="60000"/>
                  <a:lumOff val="40000"/>
                </a:schemeClr>
              </a:solidFill>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481" y="6238873"/>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CustomerC</a:t>
            </a:r>
            <a:endParaRPr lang="en-US" sz="2400" dirty="0">
              <a:solidFill>
                <a:schemeClr val="accent2">
                  <a:lumMod val="60000"/>
                  <a:lumOff val="40000"/>
                </a:schemeClr>
              </a:solidFill>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854" y="4583956"/>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CustomerB</a:t>
            </a:r>
            <a:endParaRPr lang="en-US" sz="2400" dirty="0">
              <a:solidFill>
                <a:schemeClr val="accent2">
                  <a:lumMod val="60000"/>
                  <a:lumOff val="40000"/>
                </a:schemeClr>
              </a:solidFill>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4773456" y="1114797"/>
            <a:ext cx="1500910"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8672908" y="1110969"/>
            <a:ext cx="1822814"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sales orders</a:t>
            </a:r>
          </a:p>
        </p:txBody>
      </p:sp>
      <p:cxnSp>
        <p:nvCxnSpPr>
          <p:cNvPr id="33" name="Connector: Curved 32">
            <a:extLst>
              <a:ext uri="{FF2B5EF4-FFF2-40B4-BE49-F238E27FC236}">
                <a16:creationId xmlns:a16="http://schemas.microsoft.com/office/drawing/2014/main" id="{2955E5D2-B986-4D5C-919F-98EE0F12407E}"/>
              </a:ext>
            </a:extLst>
          </p:cNvPr>
          <p:cNvCxnSpPr>
            <a:stCxn id="31" idx="3"/>
            <a:endCxn id="8" idx="0"/>
          </p:cNvCxnSpPr>
          <p:nvPr/>
        </p:nvCxnSpPr>
        <p:spPr>
          <a:xfrm>
            <a:off x="6274366" y="1299463"/>
            <a:ext cx="417591"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AF9B8887-D32C-4A46-A611-C6061C08F165}"/>
              </a:ext>
            </a:extLst>
          </p:cNvPr>
          <p:cNvCxnSpPr>
            <a:cxnSpLocks/>
            <a:stCxn id="32" idx="1"/>
            <a:endCxn id="7" idx="0"/>
          </p:cNvCxnSpPr>
          <p:nvPr/>
        </p:nvCxnSpPr>
        <p:spPr>
          <a:xfrm rot="10800000" flipV="1">
            <a:off x="7297748" y="1295635"/>
            <a:ext cx="1375160"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E8179A03-FB4E-455B-BCCC-49211C2136DE}"/>
              </a:ext>
            </a:extLst>
          </p:cNvPr>
          <p:cNvCxnSpPr>
            <a:cxnSpLocks/>
            <a:stCxn id="32" idx="1"/>
            <a:endCxn id="12" idx="0"/>
          </p:cNvCxnSpPr>
          <p:nvPr/>
        </p:nvCxnSpPr>
        <p:spPr>
          <a:xfrm rot="10800000" flipV="1">
            <a:off x="7907642" y="1295635"/>
            <a:ext cx="765266"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11" idx="0"/>
          </p:cNvCxnSpPr>
          <p:nvPr/>
        </p:nvCxnSpPr>
        <p:spPr>
          <a:xfrm rot="10800000" flipV="1">
            <a:off x="8513434" y="1295635"/>
            <a:ext cx="159475" cy="794762"/>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Tree>
    <p:extLst>
      <p:ext uri="{BB962C8B-B14F-4D97-AF65-F5344CB8AC3E}">
        <p14:creationId xmlns:p14="http://schemas.microsoft.com/office/powerpoint/2010/main" val="10869874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err="1"/>
              <a:t>Denormalizing</a:t>
            </a:r>
            <a:r>
              <a:rPr lang="en-US" dirty="0"/>
              <a:t> the count of sales orders per customer</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2090397"/>
            <a:ext cx="609894" cy="609894"/>
          </a:xfrm>
          <a:prstGeom prst="rect">
            <a:avLst/>
          </a:prstGeom>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2090397"/>
            <a:ext cx="609894" cy="609894"/>
          </a:xfrm>
          <a:prstGeom prst="rect">
            <a:avLst/>
          </a:prstGeom>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365" y="1910662"/>
            <a:ext cx="3260159"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2090397"/>
            <a:ext cx="609894" cy="609894"/>
          </a:xfrm>
          <a:prstGeom prst="rect">
            <a:avLst/>
          </a:prstGeom>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2090397"/>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3745314"/>
            <a:ext cx="609894" cy="609894"/>
          </a:xfrm>
          <a:prstGeom prst="rect">
            <a:avLst/>
          </a:prstGeom>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3745314"/>
            <a:ext cx="609894" cy="609894"/>
          </a:xfrm>
          <a:prstGeom prst="rect">
            <a:avLst/>
          </a:prstGeom>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366" y="3565579"/>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3745314"/>
            <a:ext cx="609894" cy="609894"/>
          </a:xfrm>
          <a:prstGeom prst="rect">
            <a:avLst/>
          </a:prstGeom>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3745314"/>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4110" y="5400231"/>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319" y="5400231"/>
            <a:ext cx="609894" cy="609894"/>
          </a:xfrm>
          <a:prstGeom prst="rect">
            <a:avLst/>
          </a:prstGeom>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675" y="5220496"/>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9795" y="5400231"/>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4004" y="5400231"/>
            <a:ext cx="609894" cy="609894"/>
          </a:xfrm>
          <a:prstGeom prst="rect">
            <a:avLst/>
          </a:prstGeom>
        </p:spPr>
      </p:pic>
      <p:sp>
        <p:nvSpPr>
          <p:cNvPr id="23" name="TextBox 22">
            <a:extLst>
              <a:ext uri="{FF2B5EF4-FFF2-40B4-BE49-F238E27FC236}">
                <a16:creationId xmlns:a16="http://schemas.microsoft.com/office/drawing/2014/main" id="{ECB98AE5-5F8E-4429-8F21-0143D25FE2B2}"/>
              </a:ext>
            </a:extLst>
          </p:cNvPr>
          <p:cNvSpPr txBox="1"/>
          <p:nvPr/>
        </p:nvSpPr>
        <p:spPr>
          <a:xfrm>
            <a:off x="6687854" y="2929039"/>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CustomerA</a:t>
            </a:r>
            <a:endParaRPr lang="en-US" sz="2400" dirty="0">
              <a:solidFill>
                <a:schemeClr val="accent2">
                  <a:lumMod val="60000"/>
                  <a:lumOff val="40000"/>
                </a:schemeClr>
              </a:solidFill>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481" y="6238873"/>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CustomerC</a:t>
            </a:r>
            <a:endParaRPr lang="en-US" sz="2400" dirty="0">
              <a:solidFill>
                <a:schemeClr val="accent2">
                  <a:lumMod val="60000"/>
                  <a:lumOff val="40000"/>
                </a:schemeClr>
              </a:solidFill>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854" y="4583956"/>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CustomerB</a:t>
            </a:r>
            <a:endParaRPr lang="en-US" sz="2400" dirty="0">
              <a:solidFill>
                <a:schemeClr val="accent2">
                  <a:lumMod val="60000"/>
                  <a:lumOff val="40000"/>
                </a:schemeClr>
              </a:solidFill>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3262964" y="1114797"/>
            <a:ext cx="3011401"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update the 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9534524" y="1114797"/>
            <a:ext cx="2497055"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add a sales order</a:t>
            </a:r>
          </a:p>
        </p:txBody>
      </p:sp>
      <p:cxnSp>
        <p:nvCxnSpPr>
          <p:cNvPr id="33" name="Connector: Curved 32">
            <a:extLst>
              <a:ext uri="{FF2B5EF4-FFF2-40B4-BE49-F238E27FC236}">
                <a16:creationId xmlns:a16="http://schemas.microsoft.com/office/drawing/2014/main" id="{2955E5D2-B986-4D5C-919F-98EE0F12407E}"/>
              </a:ext>
            </a:extLst>
          </p:cNvPr>
          <p:cNvCxnSpPr>
            <a:cxnSpLocks/>
            <a:stCxn id="31" idx="3"/>
            <a:endCxn id="8" idx="0"/>
          </p:cNvCxnSpPr>
          <p:nvPr/>
        </p:nvCxnSpPr>
        <p:spPr>
          <a:xfrm>
            <a:off x="6274365" y="1299463"/>
            <a:ext cx="417592"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30" idx="0"/>
          </p:cNvCxnSpPr>
          <p:nvPr/>
        </p:nvCxnSpPr>
        <p:spPr>
          <a:xfrm rot="10800000" flipV="1">
            <a:off x="9118400" y="1299463"/>
            <a:ext cx="416124"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pic>
        <p:nvPicPr>
          <p:cNvPr id="30" name="Picture 29" descr="A close up of a logo&#10;&#10;Description automatically generated">
            <a:extLst>
              <a:ext uri="{FF2B5EF4-FFF2-40B4-BE49-F238E27FC236}">
                <a16:creationId xmlns:a16="http://schemas.microsoft.com/office/drawing/2014/main" id="{59E68AA7-17F5-4AFB-B088-BC235958E35E}"/>
              </a:ext>
            </a:extLst>
          </p:cNvPr>
          <p:cNvPicPr>
            <a:picLocks noChangeAspect="1"/>
          </p:cNvPicPr>
          <p:nvPr/>
        </p:nvPicPr>
        <p:blipFill>
          <a:blip r:embed="rId3">
            <a:duotone>
              <a:schemeClr val="accent2">
                <a:shade val="45000"/>
                <a:satMod val="135000"/>
              </a:schemeClr>
              <a:prstClr val="white"/>
            </a:duotone>
          </a:blip>
          <a:stretch>
            <a:fillRect/>
          </a:stretch>
        </p:blipFill>
        <p:spPr>
          <a:xfrm>
            <a:off x="8813453" y="2090397"/>
            <a:ext cx="609894" cy="609894"/>
          </a:xfrm>
          <a:prstGeom prst="rect">
            <a:avLst/>
          </a:prstGeom>
        </p:spPr>
      </p:pic>
    </p:spTree>
    <p:extLst>
      <p:ext uri="{BB962C8B-B14F-4D97-AF65-F5344CB8AC3E}">
        <p14:creationId xmlns:p14="http://schemas.microsoft.com/office/powerpoint/2010/main" val="2721481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22" presetClass="entr" presetSubtype="1"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up)">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22" presetClass="entr" presetSubtype="1"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ipe(up)">
                                      <p:cBhvr>
                                        <p:cTn id="1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err="1"/>
              <a:t>Denormalizing</a:t>
            </a:r>
            <a:r>
              <a:rPr lang="en-US" dirty="0"/>
              <a:t> the count of sales orders per customer</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2090397"/>
            <a:ext cx="609894" cy="609894"/>
          </a:xfrm>
          <a:prstGeom prst="rect">
            <a:avLst/>
          </a:prstGeom>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2090397"/>
            <a:ext cx="609894" cy="609894"/>
          </a:xfrm>
          <a:prstGeom prst="rect">
            <a:avLst/>
          </a:prstGeom>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365" y="1910662"/>
            <a:ext cx="3260159"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2090397"/>
            <a:ext cx="609894" cy="609894"/>
          </a:xfrm>
          <a:prstGeom prst="rect">
            <a:avLst/>
          </a:prstGeom>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2090397"/>
            <a:ext cx="609894" cy="609894"/>
          </a:xfrm>
          <a:prstGeom prst="rect">
            <a:avLst/>
          </a:prstGeom>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801" y="3745314"/>
            <a:ext cx="609894" cy="609894"/>
          </a:xfrm>
          <a:prstGeom prst="rect">
            <a:avLst/>
          </a:prstGeom>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7010" y="3745314"/>
            <a:ext cx="609894" cy="609894"/>
          </a:xfrm>
          <a:prstGeom prst="rect">
            <a:avLst/>
          </a:prstGeom>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366" y="3565579"/>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86" y="3745314"/>
            <a:ext cx="609894" cy="609894"/>
          </a:xfrm>
          <a:prstGeom prst="rect">
            <a:avLst/>
          </a:prstGeom>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2695" y="3745314"/>
            <a:ext cx="609894" cy="609894"/>
          </a:xfrm>
          <a:prstGeom prst="rect">
            <a:avLst/>
          </a:prstGeom>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4110" y="5400231"/>
            <a:ext cx="609894" cy="609894"/>
          </a:xfrm>
          <a:prstGeom prst="rect">
            <a:avLst/>
          </a:prstGeom>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319" y="5400231"/>
            <a:ext cx="609894" cy="609894"/>
          </a:xfrm>
          <a:prstGeom prst="rect">
            <a:avLst/>
          </a:prstGeom>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675" y="5220496"/>
            <a:ext cx="2654040" cy="925530"/>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9795" y="5400231"/>
            <a:ext cx="609894" cy="609894"/>
          </a:xfrm>
          <a:prstGeom prst="rect">
            <a:avLst/>
          </a:prstGeom>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4004" y="5400231"/>
            <a:ext cx="609894" cy="609894"/>
          </a:xfrm>
          <a:prstGeom prst="rect">
            <a:avLst/>
          </a:prstGeom>
        </p:spPr>
      </p:pic>
      <p:sp>
        <p:nvSpPr>
          <p:cNvPr id="23" name="TextBox 22">
            <a:extLst>
              <a:ext uri="{FF2B5EF4-FFF2-40B4-BE49-F238E27FC236}">
                <a16:creationId xmlns:a16="http://schemas.microsoft.com/office/drawing/2014/main" id="{ECB98AE5-5F8E-4429-8F21-0143D25FE2B2}"/>
              </a:ext>
            </a:extLst>
          </p:cNvPr>
          <p:cNvSpPr txBox="1"/>
          <p:nvPr/>
        </p:nvSpPr>
        <p:spPr>
          <a:xfrm>
            <a:off x="6687854" y="2929039"/>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CustomerA</a:t>
            </a:r>
            <a:endParaRPr lang="en-US" sz="2400" dirty="0">
              <a:solidFill>
                <a:schemeClr val="accent2">
                  <a:lumMod val="60000"/>
                  <a:lumOff val="40000"/>
                </a:schemeClr>
              </a:solidFill>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481" y="6238873"/>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CustomerC</a:t>
            </a:r>
            <a:endParaRPr lang="en-US" sz="2400" dirty="0">
              <a:solidFill>
                <a:schemeClr val="accent2">
                  <a:lumMod val="60000"/>
                  <a:lumOff val="40000"/>
                </a:schemeClr>
              </a:solidFill>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854" y="4583956"/>
            <a:ext cx="1825579" cy="369332"/>
          </a:xfrm>
          <a:prstGeom prst="rect">
            <a:avLst/>
          </a:prstGeom>
          <a:noFill/>
        </p:spPr>
        <p:txBody>
          <a:bodyPr wrap="square" lIns="0" tIns="0" rIns="0" bIns="0" rtlCol="0">
            <a:spAutoFit/>
          </a:bodyPr>
          <a:lstStyle/>
          <a:p>
            <a:pPr algn="ctr"/>
            <a:r>
              <a:rPr lang="en-US" sz="2400" dirty="0" err="1">
                <a:solidFill>
                  <a:schemeClr val="accent2">
                    <a:lumMod val="60000"/>
                    <a:lumOff val="40000"/>
                  </a:schemeClr>
                </a:solidFill>
              </a:rPr>
              <a:t>CustomerB</a:t>
            </a:r>
            <a:endParaRPr lang="en-US" sz="2400" dirty="0">
              <a:solidFill>
                <a:schemeClr val="accent2">
                  <a:lumMod val="60000"/>
                  <a:lumOff val="40000"/>
                </a:schemeClr>
              </a:solidFill>
            </a:endParaRPr>
          </a:p>
        </p:txBody>
      </p:sp>
      <p:pic>
        <p:nvPicPr>
          <p:cNvPr id="30" name="Picture 29" descr="A close up of a logo&#10;&#10;Description automatically generated">
            <a:extLst>
              <a:ext uri="{FF2B5EF4-FFF2-40B4-BE49-F238E27FC236}">
                <a16:creationId xmlns:a16="http://schemas.microsoft.com/office/drawing/2014/main" id="{59E68AA7-17F5-4AFB-B088-BC235958E35E}"/>
              </a:ext>
            </a:extLst>
          </p:cNvPr>
          <p:cNvPicPr>
            <a:picLocks noChangeAspect="1"/>
          </p:cNvPicPr>
          <p:nvPr/>
        </p:nvPicPr>
        <p:blipFill>
          <a:blip r:embed="rId3">
            <a:duotone>
              <a:schemeClr val="accent2">
                <a:shade val="45000"/>
                <a:satMod val="135000"/>
              </a:schemeClr>
              <a:prstClr val="white"/>
            </a:duotone>
          </a:blip>
          <a:stretch>
            <a:fillRect/>
          </a:stretch>
        </p:blipFill>
        <p:spPr>
          <a:xfrm>
            <a:off x="8813453" y="2090397"/>
            <a:ext cx="609894" cy="609894"/>
          </a:xfrm>
          <a:prstGeom prst="rect">
            <a:avLst/>
          </a:prstGeom>
        </p:spPr>
      </p:pic>
      <p:sp>
        <p:nvSpPr>
          <p:cNvPr id="27" name="Rectangle: Folded Corner 26">
            <a:extLst>
              <a:ext uri="{FF2B5EF4-FFF2-40B4-BE49-F238E27FC236}">
                <a16:creationId xmlns:a16="http://schemas.microsoft.com/office/drawing/2014/main" id="{331F7618-CCCC-43F6-8118-54CD43B22D2A}"/>
              </a:ext>
            </a:extLst>
          </p:cNvPr>
          <p:cNvSpPr/>
          <p:nvPr/>
        </p:nvSpPr>
        <p:spPr bwMode="auto">
          <a:xfrm>
            <a:off x="692770" y="1607221"/>
            <a:ext cx="4745549" cy="491775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function </a:t>
            </a:r>
            <a:r>
              <a:rPr lang="en-US" sz="1400" dirty="0" err="1">
                <a:gradFill>
                  <a:gsLst>
                    <a:gs pos="0">
                      <a:srgbClr val="FFFFFF"/>
                    </a:gs>
                    <a:gs pos="100000">
                      <a:srgbClr val="FFFFFF"/>
                    </a:gs>
                  </a:gsLst>
                  <a:lin ang="5400000" scaled="0"/>
                </a:gradFill>
                <a:ea typeface="Segoe UI" pitchFamily="34" charset="0"/>
                <a:cs typeface="Segoe UI" pitchFamily="34" charset="0"/>
              </a:rPr>
              <a:t>createSalesOrder</a:t>
            </a:r>
            <a:r>
              <a:rPr lang="en-US" sz="1400" dirty="0">
                <a:gradFill>
                  <a:gsLst>
                    <a:gs pos="0">
                      <a:srgbClr val="FFFFFF"/>
                    </a:gs>
                    <a:gs pos="100000">
                      <a:srgbClr val="FFFFFF"/>
                    </a:gs>
                  </a:gsLst>
                  <a:lin ang="5400000" scaled="0"/>
                </a:gradFill>
                <a:ea typeface="Segoe UI" pitchFamily="34" charset="0"/>
                <a:cs typeface="Segoe UI" pitchFamily="34" charset="0"/>
              </a:rPr>
              <a:t>(order)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var collection = </a:t>
            </a:r>
            <a:r>
              <a:rPr lang="en-US" sz="1400" dirty="0" err="1">
                <a:gradFill>
                  <a:gsLst>
                    <a:gs pos="0">
                      <a:srgbClr val="FFFFFF"/>
                    </a:gs>
                    <a:gs pos="100000">
                      <a:srgbClr val="FFFFFF"/>
                    </a:gs>
                  </a:gsLst>
                  <a:lin ang="5400000" scaled="0"/>
                </a:gradFill>
                <a:ea typeface="Segoe UI" pitchFamily="34" charset="0"/>
                <a:cs typeface="Segoe UI" pitchFamily="34" charset="0"/>
              </a:rPr>
              <a:t>getContext</a:t>
            </a:r>
            <a:r>
              <a:rPr lang="en-US" sz="1400" dirty="0">
                <a:gradFill>
                  <a:gsLst>
                    <a:gs pos="0">
                      <a:srgbClr val="FFFFFF"/>
                    </a:gs>
                    <a:gs pos="100000">
                      <a:srgbClr val="FFFFFF"/>
                    </a:gs>
                  </a:gsLst>
                  <a:lin ang="5400000" scaled="0"/>
                </a:gradFill>
                <a:ea typeface="Segoe UI" pitchFamily="34" charset="0"/>
                <a:cs typeface="Segoe UI" pitchFamily="34" charset="0"/>
              </a:rPr>
              <a:t>().</a:t>
            </a:r>
            <a:r>
              <a:rPr lang="en-US" sz="1400" dirty="0" err="1">
                <a:gradFill>
                  <a:gsLst>
                    <a:gs pos="0">
                      <a:srgbClr val="FFFFFF"/>
                    </a:gs>
                    <a:gs pos="100000">
                      <a:srgbClr val="FFFFFF"/>
                    </a:gs>
                  </a:gsLst>
                  <a:lin ang="5400000" scaled="0"/>
                </a:gradFill>
                <a:ea typeface="Segoe UI" pitchFamily="34" charset="0"/>
                <a:cs typeface="Segoe UI" pitchFamily="34" charset="0"/>
              </a:rPr>
              <a:t>getCollection</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collection.readDocument</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collection.getAltLink</a:t>
            </a:r>
            <a:r>
              <a:rPr lang="en-US" sz="1400" dirty="0">
                <a:gradFill>
                  <a:gsLst>
                    <a:gs pos="0">
                      <a:srgbClr val="FFFFFF"/>
                    </a:gs>
                    <a:gs pos="100000">
                      <a:srgbClr val="FFFFFF"/>
                    </a:gs>
                  </a:gsLst>
                  <a:lin ang="5400000" scaled="0"/>
                </a:gradFill>
                <a:ea typeface="Segoe UI" pitchFamily="34" charset="0"/>
                <a:cs typeface="Segoe UI" pitchFamily="34" charset="0"/>
              </a:rPr>
              <a:t>()}/docs/${</a:t>
            </a:r>
            <a:r>
              <a:rPr lang="en-US" sz="1400" dirty="0" err="1">
                <a:gradFill>
                  <a:gsLst>
                    <a:gs pos="0">
                      <a:srgbClr val="FFFFFF"/>
                    </a:gs>
                    <a:gs pos="100000">
                      <a:srgbClr val="FFFFFF"/>
                    </a:gs>
                  </a:gsLst>
                  <a:lin ang="5400000" scaled="0"/>
                </a:gradFill>
                <a:ea typeface="Segoe UI" pitchFamily="34" charset="0"/>
                <a:cs typeface="Segoe UI" pitchFamily="34" charset="0"/>
              </a:rPr>
              <a:t>order.customerId</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function (err, customer)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if (err) throw err;</a:t>
            </a:r>
          </a:p>
          <a:p>
            <a:pPr defTabSz="932472" fontAlgn="base">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customer.salesOrderCount</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collection.replaceDocument</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customer._self</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customer,</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function (err)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if (err) throw err;</a:t>
            </a:r>
          </a:p>
          <a:p>
            <a:pPr defTabSz="932472" fontAlgn="base">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collection.createDocument</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r>
              <a:rPr lang="en-US" sz="1400" dirty="0" err="1">
                <a:gradFill>
                  <a:gsLst>
                    <a:gs pos="0">
                      <a:srgbClr val="FFFFFF"/>
                    </a:gs>
                    <a:gs pos="100000">
                      <a:srgbClr val="FFFFFF"/>
                    </a:gs>
                  </a:gsLst>
                  <a:lin ang="5400000" scaled="0"/>
                </a:gradFill>
                <a:ea typeface="Segoe UI" pitchFamily="34" charset="0"/>
                <a:cs typeface="Segoe UI" pitchFamily="34" charset="0"/>
              </a:rPr>
              <a:t>collection.getSelfLink</a:t>
            </a:r>
            <a:r>
              <a:rPr lang="en-US" sz="1400" dirty="0">
                <a:gradFill>
                  <a:gsLst>
                    <a:gs pos="0">
                      <a:srgbClr val="FFFFFF"/>
                    </a:gs>
                    <a:gs pos="100000">
                      <a:srgbClr val="FFFFFF"/>
                    </a:gs>
                  </a:gsLst>
                  <a:lin ang="5400000" scaled="0"/>
                </a:gradFill>
                <a:ea typeface="Segoe UI" pitchFamily="34" charset="0"/>
                <a:cs typeface="Segoe UI" pitchFamily="34" charset="0"/>
              </a:rPr>
              <a:t>(),</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order);</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    })</a:t>
            </a:r>
          </a:p>
          <a:p>
            <a:pP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t>
            </a:r>
          </a:p>
        </p:txBody>
      </p:sp>
      <p:sp>
        <p:nvSpPr>
          <p:cNvPr id="34" name="Rectangle 33">
            <a:extLst>
              <a:ext uri="{FF2B5EF4-FFF2-40B4-BE49-F238E27FC236}">
                <a16:creationId xmlns:a16="http://schemas.microsoft.com/office/drawing/2014/main" id="{E6E17754-E364-4A84-8D77-6B630CF01A0F}"/>
              </a:ext>
            </a:extLst>
          </p:cNvPr>
          <p:cNvSpPr/>
          <p:nvPr/>
        </p:nvSpPr>
        <p:spPr bwMode="auto">
          <a:xfrm>
            <a:off x="2902947" y="1748790"/>
            <a:ext cx="531463" cy="232481"/>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78F4F356-3978-4CE5-82F7-1C193F7A12E6}"/>
              </a:ext>
            </a:extLst>
          </p:cNvPr>
          <p:cNvSpPr/>
          <p:nvPr/>
        </p:nvSpPr>
        <p:spPr bwMode="auto">
          <a:xfrm>
            <a:off x="692770" y="2389914"/>
            <a:ext cx="4745549" cy="465328"/>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917C751B-CA35-483C-94F0-ED927F3A2844}"/>
              </a:ext>
            </a:extLst>
          </p:cNvPr>
          <p:cNvSpPr/>
          <p:nvPr/>
        </p:nvSpPr>
        <p:spPr bwMode="auto">
          <a:xfrm>
            <a:off x="692770" y="3450991"/>
            <a:ext cx="4745549" cy="251059"/>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3C4CB0C3-18F4-4D07-875B-53FD33555E14}"/>
              </a:ext>
            </a:extLst>
          </p:cNvPr>
          <p:cNvSpPr/>
          <p:nvPr/>
        </p:nvSpPr>
        <p:spPr bwMode="auto">
          <a:xfrm>
            <a:off x="692770" y="3702050"/>
            <a:ext cx="4745549" cy="628650"/>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BC651B5F-517F-42DE-A0CA-4314DBC0ADC9}"/>
              </a:ext>
            </a:extLst>
          </p:cNvPr>
          <p:cNvSpPr/>
          <p:nvPr/>
        </p:nvSpPr>
        <p:spPr bwMode="auto">
          <a:xfrm>
            <a:off x="692769" y="4972338"/>
            <a:ext cx="4745549" cy="628650"/>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TextBox 39">
            <a:extLst>
              <a:ext uri="{FF2B5EF4-FFF2-40B4-BE49-F238E27FC236}">
                <a16:creationId xmlns:a16="http://schemas.microsoft.com/office/drawing/2014/main" id="{751BEE6D-153E-4129-BD02-05535F83F14A}"/>
              </a:ext>
            </a:extLst>
          </p:cNvPr>
          <p:cNvSpPr txBox="1"/>
          <p:nvPr/>
        </p:nvSpPr>
        <p:spPr>
          <a:xfrm>
            <a:off x="3262964" y="1114797"/>
            <a:ext cx="3011401"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update the customer</a:t>
            </a:r>
          </a:p>
        </p:txBody>
      </p:sp>
      <p:sp>
        <p:nvSpPr>
          <p:cNvPr id="41" name="TextBox 40">
            <a:extLst>
              <a:ext uri="{FF2B5EF4-FFF2-40B4-BE49-F238E27FC236}">
                <a16:creationId xmlns:a16="http://schemas.microsoft.com/office/drawing/2014/main" id="{09A1F159-06DF-4BF4-A111-E994A9CEDC3D}"/>
              </a:ext>
            </a:extLst>
          </p:cNvPr>
          <p:cNvSpPr txBox="1"/>
          <p:nvPr/>
        </p:nvSpPr>
        <p:spPr>
          <a:xfrm>
            <a:off x="9534524" y="1114797"/>
            <a:ext cx="2497055" cy="369332"/>
          </a:xfrm>
          <a:prstGeom prst="rect">
            <a:avLst/>
          </a:prstGeom>
          <a:noFill/>
        </p:spPr>
        <p:txBody>
          <a:bodyPr wrap="square" lIns="0" tIns="0" rIns="0" bIns="0" rtlCol="0">
            <a:spAutoFit/>
          </a:bodyPr>
          <a:lstStyle/>
          <a:p>
            <a:pPr algn="ctr"/>
            <a:r>
              <a:rPr lang="en-US" sz="2400" dirty="0">
                <a:solidFill>
                  <a:schemeClr val="accent1">
                    <a:lumMod val="75000"/>
                  </a:schemeClr>
                </a:solidFill>
              </a:rPr>
              <a:t>add a sales order</a:t>
            </a:r>
          </a:p>
        </p:txBody>
      </p:sp>
      <p:cxnSp>
        <p:nvCxnSpPr>
          <p:cNvPr id="42" name="Connector: Curved 41">
            <a:extLst>
              <a:ext uri="{FF2B5EF4-FFF2-40B4-BE49-F238E27FC236}">
                <a16:creationId xmlns:a16="http://schemas.microsoft.com/office/drawing/2014/main" id="{5A29DB41-C744-4ED1-AFEE-851E88BC94FD}"/>
              </a:ext>
            </a:extLst>
          </p:cNvPr>
          <p:cNvCxnSpPr>
            <a:cxnSpLocks/>
            <a:stCxn id="40" idx="3"/>
          </p:cNvCxnSpPr>
          <p:nvPr/>
        </p:nvCxnSpPr>
        <p:spPr>
          <a:xfrm>
            <a:off x="6274365" y="1299463"/>
            <a:ext cx="417592"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E6FFF522-1C72-4F43-9179-024117A6A1CD}"/>
              </a:ext>
            </a:extLst>
          </p:cNvPr>
          <p:cNvCxnSpPr>
            <a:cxnSpLocks/>
            <a:stCxn id="41" idx="1"/>
          </p:cNvCxnSpPr>
          <p:nvPr/>
        </p:nvCxnSpPr>
        <p:spPr>
          <a:xfrm rot="10800000" flipV="1">
            <a:off x="9118400" y="1299463"/>
            <a:ext cx="416124" cy="790934"/>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937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34"/>
                                        </p:tgtEl>
                                      </p:cBhvr>
                                    </p:animEffect>
                                    <p:set>
                                      <p:cBhvr>
                                        <p:cTn id="12" dur="1" fill="hold">
                                          <p:stCondLst>
                                            <p:cond delay="499"/>
                                          </p:stCondLst>
                                        </p:cTn>
                                        <p:tgtEl>
                                          <p:spTgt spid="34"/>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35"/>
                                        </p:tgtEl>
                                      </p:cBhvr>
                                    </p:animEffect>
                                    <p:set>
                                      <p:cBhvr>
                                        <p:cTn id="20" dur="1" fill="hold">
                                          <p:stCondLst>
                                            <p:cond delay="499"/>
                                          </p:stCondLst>
                                        </p:cTn>
                                        <p:tgtEl>
                                          <p:spTgt spid="35"/>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37"/>
                                        </p:tgtEl>
                                      </p:cBhvr>
                                    </p:animEffect>
                                    <p:set>
                                      <p:cBhvr>
                                        <p:cTn id="28" dur="1" fill="hold">
                                          <p:stCondLst>
                                            <p:cond delay="499"/>
                                          </p:stCondLst>
                                        </p:cTn>
                                        <p:tgtEl>
                                          <p:spTgt spid="37"/>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22" presetClass="entr" presetSubtype="1"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wipe(up)">
                                      <p:cBhvr>
                                        <p:cTn id="37" dur="500"/>
                                        <p:tgtEl>
                                          <p:spTgt spid="4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38"/>
                                        </p:tgtEl>
                                      </p:cBhvr>
                                    </p:animEffect>
                                    <p:set>
                                      <p:cBhvr>
                                        <p:cTn id="42" dur="1" fill="hold">
                                          <p:stCondLst>
                                            <p:cond delay="499"/>
                                          </p:stCondLst>
                                        </p:cTn>
                                        <p:tgtEl>
                                          <p:spTgt spid="38"/>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par>
                                <p:cTn id="49" presetID="22" presetClass="entr" presetSubtype="1"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animBg="1"/>
      <p:bldP spid="35" grpId="1" animBg="1"/>
      <p:bldP spid="37" grpId="0" animBg="1"/>
      <p:bldP spid="37" grpId="1" animBg="1"/>
      <p:bldP spid="38" grpId="0" animBg="1"/>
      <p:bldP spid="38" grpId="1" animBg="1"/>
      <p:bldP spid="39" grpId="0" animBg="1"/>
      <p:bldP spid="40" grpId="0"/>
      <p:bldP spid="4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4042" y="2191871"/>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96000" y="2085445"/>
            <a:ext cx="5347041" cy="252730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Create a sales order</a:t>
            </a:r>
          </a:p>
          <a:p>
            <a:r>
              <a:rPr lang="en-US" dirty="0"/>
              <a:t>List all sales order for a customer</a:t>
            </a:r>
          </a:p>
          <a:p>
            <a:r>
              <a:rPr lang="en-US" dirty="0"/>
              <a:t>List customers by descending number of sales orders</a:t>
            </a:r>
          </a:p>
        </p:txBody>
      </p:sp>
      <p:sp>
        <p:nvSpPr>
          <p:cNvPr id="5" name="TextBox 4">
            <a:extLst>
              <a:ext uri="{FF2B5EF4-FFF2-40B4-BE49-F238E27FC236}">
                <a16:creationId xmlns:a16="http://schemas.microsoft.com/office/drawing/2014/main" id="{18A6723E-CDD9-4D89-891E-3B2FFD71A4B5}"/>
              </a:ext>
            </a:extLst>
          </p:cNvPr>
          <p:cNvSpPr txBox="1"/>
          <p:nvPr/>
        </p:nvSpPr>
        <p:spPr>
          <a:xfrm>
            <a:off x="3162833" y="5034003"/>
            <a:ext cx="7222825" cy="861774"/>
          </a:xfrm>
          <a:prstGeom prst="rect">
            <a:avLst/>
          </a:prstGeom>
          <a:noFill/>
        </p:spPr>
        <p:txBody>
          <a:bodyPr wrap="square" lIns="0" tIns="0" rIns="0" bIns="0" rtlCol="0">
            <a:spAutoFit/>
          </a:bodyPr>
          <a:lstStyle/>
          <a:p>
            <a:r>
              <a:rPr lang="en-US" sz="2800" dirty="0"/>
              <a:t>SELECT * FROM c WHERE </a:t>
            </a:r>
            <a:r>
              <a:rPr lang="en-US" sz="2800" dirty="0" err="1"/>
              <a:t>c.type</a:t>
            </a:r>
            <a:r>
              <a:rPr lang="en-US" sz="2800" dirty="0"/>
              <a:t> = 'customer'</a:t>
            </a:r>
          </a:p>
          <a:p>
            <a:r>
              <a:rPr lang="en-US" sz="2800" dirty="0"/>
              <a:t>ORDER BY </a:t>
            </a:r>
            <a:r>
              <a:rPr lang="en-US" sz="2800" dirty="0" err="1"/>
              <a:t>c.salesOrderCount</a:t>
            </a:r>
            <a:r>
              <a:rPr lang="en-US" sz="2800" dirty="0"/>
              <a:t> DESC</a:t>
            </a:r>
          </a:p>
        </p:txBody>
      </p:sp>
      <p:cxnSp>
        <p:nvCxnSpPr>
          <p:cNvPr id="7" name="Connector: Curved 6">
            <a:extLst>
              <a:ext uri="{FF2B5EF4-FFF2-40B4-BE49-F238E27FC236}">
                <a16:creationId xmlns:a16="http://schemas.microsoft.com/office/drawing/2014/main" id="{63B8FC15-9FF7-41B2-AA2A-ED2D023C17CA}"/>
              </a:ext>
            </a:extLst>
          </p:cNvPr>
          <p:cNvCxnSpPr>
            <a:cxnSpLocks/>
            <a:stCxn id="10" idx="0"/>
          </p:cNvCxnSpPr>
          <p:nvPr/>
        </p:nvCxnSpPr>
        <p:spPr>
          <a:xfrm rot="5400000" flipH="1" flipV="1">
            <a:off x="6431598" y="4464232"/>
            <a:ext cx="535202" cy="481231"/>
          </a:xfrm>
          <a:prstGeom prst="curvedConnector3">
            <a:avLst>
              <a:gd name="adj1" fmla="val 5000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32B3A287-1FA7-4DD8-9A2A-066FA1844449}"/>
              </a:ext>
            </a:extLst>
          </p:cNvPr>
          <p:cNvPicPr>
            <a:picLocks noChangeAspect="1"/>
          </p:cNvPicPr>
          <p:nvPr/>
        </p:nvPicPr>
        <p:blipFill>
          <a:blip r:embed="rId3"/>
          <a:stretch>
            <a:fillRect/>
          </a:stretch>
        </p:blipFill>
        <p:spPr>
          <a:xfrm>
            <a:off x="2645954" y="5315155"/>
            <a:ext cx="381907" cy="381907"/>
          </a:xfrm>
          <a:prstGeom prst="rect">
            <a:avLst/>
          </a:prstGeom>
        </p:spPr>
      </p:pic>
      <p:sp>
        <p:nvSpPr>
          <p:cNvPr id="10" name="Rectangle: Rounded Corners 9">
            <a:extLst>
              <a:ext uri="{FF2B5EF4-FFF2-40B4-BE49-F238E27FC236}">
                <a16:creationId xmlns:a16="http://schemas.microsoft.com/office/drawing/2014/main" id="{38C4F2E9-1B8F-473B-808C-C65B55A7217B}"/>
              </a:ext>
            </a:extLst>
          </p:cNvPr>
          <p:cNvSpPr/>
          <p:nvPr/>
        </p:nvSpPr>
        <p:spPr bwMode="auto">
          <a:xfrm>
            <a:off x="2531509" y="4972448"/>
            <a:ext cx="7854149" cy="1043342"/>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2B904585-BE2A-475C-AE45-2BF4D6F53B29}"/>
              </a:ext>
            </a:extLst>
          </p:cNvPr>
          <p:cNvCxnSpPr>
            <a:cxnSpLocks/>
          </p:cNvCxnSpPr>
          <p:nvPr/>
        </p:nvCxnSpPr>
        <p:spPr>
          <a:xfrm>
            <a:off x="3117059" y="4972448"/>
            <a:ext cx="0" cy="1043342"/>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11823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DB83-5980-4013-AE36-F66CE0A5AE1C}"/>
              </a:ext>
            </a:extLst>
          </p:cNvPr>
          <p:cNvSpPr>
            <a:spLocks noGrp="1"/>
          </p:cNvSpPr>
          <p:nvPr>
            <p:ph type="title"/>
          </p:nvPr>
        </p:nvSpPr>
        <p:spPr/>
        <p:txBody>
          <a:bodyPr/>
          <a:lstStyle/>
          <a:p>
            <a:r>
              <a:rPr lang="en-US" dirty="0"/>
              <a:t>Our final design</a:t>
            </a:r>
          </a:p>
        </p:txBody>
      </p:sp>
      <p:sp>
        <p:nvSpPr>
          <p:cNvPr id="3" name="Cylinder 2">
            <a:extLst>
              <a:ext uri="{FF2B5EF4-FFF2-40B4-BE49-F238E27FC236}">
                <a16:creationId xmlns:a16="http://schemas.microsoft.com/office/drawing/2014/main" id="{9C44D0F7-E0F0-449F-98A0-62B3ADCAF6D9}"/>
              </a:ext>
            </a:extLst>
          </p:cNvPr>
          <p:cNvSpPr/>
          <p:nvPr/>
        </p:nvSpPr>
        <p:spPr bwMode="auto">
          <a:xfrm>
            <a:off x="2328919" y="156535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
        <p:nvSpPr>
          <p:cNvPr id="5" name="Rectangle: Folded Corner 4">
            <a:extLst>
              <a:ext uri="{FF2B5EF4-FFF2-40B4-BE49-F238E27FC236}">
                <a16:creationId xmlns:a16="http://schemas.microsoft.com/office/drawing/2014/main" id="{D58F2DE6-F476-4FCA-8319-DAC5B03DD353}"/>
              </a:ext>
            </a:extLst>
          </p:cNvPr>
          <p:cNvSpPr/>
          <p:nvPr/>
        </p:nvSpPr>
        <p:spPr bwMode="auto">
          <a:xfrm>
            <a:off x="4072338" y="1521313"/>
            <a:ext cx="1481296"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Customer</a:t>
            </a:r>
          </a:p>
        </p:txBody>
      </p:sp>
      <p:cxnSp>
        <p:nvCxnSpPr>
          <p:cNvPr id="7" name="Connector: Elbow 6">
            <a:extLst>
              <a:ext uri="{FF2B5EF4-FFF2-40B4-BE49-F238E27FC236}">
                <a16:creationId xmlns:a16="http://schemas.microsoft.com/office/drawing/2014/main" id="{0A737E56-79BF-4815-85AA-C1C48FC87C28}"/>
              </a:ext>
            </a:extLst>
          </p:cNvPr>
          <p:cNvCxnSpPr>
            <a:cxnSpLocks/>
            <a:stCxn id="3" idx="4"/>
            <a:endCxn id="5" idx="1"/>
          </p:cNvCxnSpPr>
          <p:nvPr/>
        </p:nvCxnSpPr>
        <p:spPr>
          <a:xfrm flipV="1">
            <a:off x="3501502" y="1839896"/>
            <a:ext cx="570836" cy="34401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Cylinder 9">
            <a:extLst>
              <a:ext uri="{FF2B5EF4-FFF2-40B4-BE49-F238E27FC236}">
                <a16:creationId xmlns:a16="http://schemas.microsoft.com/office/drawing/2014/main" id="{FEBFDFBF-F5B6-4892-BEE1-04A9F1160567}"/>
              </a:ext>
            </a:extLst>
          </p:cNvPr>
          <p:cNvSpPr/>
          <p:nvPr/>
        </p:nvSpPr>
        <p:spPr bwMode="auto">
          <a:xfrm>
            <a:off x="6462106" y="424189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productCategories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type</a:t>
            </a:r>
          </a:p>
        </p:txBody>
      </p:sp>
      <p:sp>
        <p:nvSpPr>
          <p:cNvPr id="11" name="Rectangle: Folded Corner 10">
            <a:extLst>
              <a:ext uri="{FF2B5EF4-FFF2-40B4-BE49-F238E27FC236}">
                <a16:creationId xmlns:a16="http://schemas.microsoft.com/office/drawing/2014/main" id="{F6291200-1BDD-4B24-A437-FF19805A08E1}"/>
              </a:ext>
            </a:extLst>
          </p:cNvPr>
          <p:cNvSpPr/>
          <p:nvPr/>
        </p:nvSpPr>
        <p:spPr bwMode="auto">
          <a:xfrm>
            <a:off x="8100190" y="4541876"/>
            <a:ext cx="2329021"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ProductCategory</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2" name="Connector: Elbow 11">
            <a:extLst>
              <a:ext uri="{FF2B5EF4-FFF2-40B4-BE49-F238E27FC236}">
                <a16:creationId xmlns:a16="http://schemas.microsoft.com/office/drawing/2014/main" id="{1A396FFD-2BAB-4580-82B0-552C16B2ECA8}"/>
              </a:ext>
            </a:extLst>
          </p:cNvPr>
          <p:cNvCxnSpPr>
            <a:cxnSpLocks/>
            <a:stCxn id="10" idx="4"/>
            <a:endCxn id="11" idx="1"/>
          </p:cNvCxnSpPr>
          <p:nvPr/>
        </p:nvCxnSpPr>
        <p:spPr>
          <a:xfrm flipV="1">
            <a:off x="7634689" y="4860459"/>
            <a:ext cx="465501"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ylinder 13">
            <a:extLst>
              <a:ext uri="{FF2B5EF4-FFF2-40B4-BE49-F238E27FC236}">
                <a16:creationId xmlns:a16="http://schemas.microsoft.com/office/drawing/2014/main" id="{A7DC42F8-6C70-49AA-A709-ABC3DB57A259}"/>
              </a:ext>
            </a:extLst>
          </p:cNvPr>
          <p:cNvSpPr/>
          <p:nvPr/>
        </p:nvSpPr>
        <p:spPr bwMode="auto">
          <a:xfrm>
            <a:off x="6462106" y="156535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productTags</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type</a:t>
            </a:r>
          </a:p>
        </p:txBody>
      </p:sp>
      <p:sp>
        <p:nvSpPr>
          <p:cNvPr id="15" name="Rectangle: Folded Corner 14">
            <a:extLst>
              <a:ext uri="{FF2B5EF4-FFF2-40B4-BE49-F238E27FC236}">
                <a16:creationId xmlns:a16="http://schemas.microsoft.com/office/drawing/2014/main" id="{9B82218C-2D55-4FD8-A8BB-3910E2187F52}"/>
              </a:ext>
            </a:extLst>
          </p:cNvPr>
          <p:cNvSpPr/>
          <p:nvPr/>
        </p:nvSpPr>
        <p:spPr bwMode="auto">
          <a:xfrm>
            <a:off x="8100191" y="1865331"/>
            <a:ext cx="1643782"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ProductTag</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6" name="Connector: Elbow 15">
            <a:extLst>
              <a:ext uri="{FF2B5EF4-FFF2-40B4-BE49-F238E27FC236}">
                <a16:creationId xmlns:a16="http://schemas.microsoft.com/office/drawing/2014/main" id="{55E36FA4-4549-4BE5-B0BE-19CFAF7AD435}"/>
              </a:ext>
            </a:extLst>
          </p:cNvPr>
          <p:cNvCxnSpPr>
            <a:cxnSpLocks/>
            <a:stCxn id="14" idx="4"/>
            <a:endCxn id="15" idx="1"/>
          </p:cNvCxnSpPr>
          <p:nvPr/>
        </p:nvCxnSpPr>
        <p:spPr>
          <a:xfrm flipV="1">
            <a:off x="7634689" y="2183914"/>
            <a:ext cx="465502"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Cylinder 17">
            <a:extLst>
              <a:ext uri="{FF2B5EF4-FFF2-40B4-BE49-F238E27FC236}">
                <a16:creationId xmlns:a16="http://schemas.microsoft.com/office/drawing/2014/main" id="{438FD901-8B2C-4455-B9FA-CC0E649BDC09}"/>
              </a:ext>
            </a:extLst>
          </p:cNvPr>
          <p:cNvSpPr/>
          <p:nvPr/>
        </p:nvSpPr>
        <p:spPr bwMode="auto">
          <a:xfrm>
            <a:off x="2321813" y="4241895"/>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categoryId</a:t>
            </a:r>
            <a:endParaRPr lang="en-US" sz="2000" dirty="0">
              <a:solidFill>
                <a:schemeClr val="accent1">
                  <a:lumMod val="50000"/>
                </a:schemeClr>
              </a:solidFill>
              <a:ea typeface="Segoe UI" pitchFamily="34" charset="0"/>
              <a:cs typeface="Segoe UI" pitchFamily="34" charset="0"/>
            </a:endParaRPr>
          </a:p>
        </p:txBody>
      </p:sp>
      <p:sp>
        <p:nvSpPr>
          <p:cNvPr id="19" name="Rectangle: Folded Corner 18">
            <a:extLst>
              <a:ext uri="{FF2B5EF4-FFF2-40B4-BE49-F238E27FC236}">
                <a16:creationId xmlns:a16="http://schemas.microsoft.com/office/drawing/2014/main" id="{BBF09B76-2798-4587-A450-DADD49AB73CA}"/>
              </a:ext>
            </a:extLst>
          </p:cNvPr>
          <p:cNvSpPr/>
          <p:nvPr/>
        </p:nvSpPr>
        <p:spPr bwMode="auto">
          <a:xfrm>
            <a:off x="3959898" y="4541876"/>
            <a:ext cx="1291357"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Product</a:t>
            </a:r>
          </a:p>
        </p:txBody>
      </p:sp>
      <p:cxnSp>
        <p:nvCxnSpPr>
          <p:cNvPr id="20" name="Connector: Elbow 19">
            <a:extLst>
              <a:ext uri="{FF2B5EF4-FFF2-40B4-BE49-F238E27FC236}">
                <a16:creationId xmlns:a16="http://schemas.microsoft.com/office/drawing/2014/main" id="{DA9F6317-27FE-4031-83C0-3BFD426FB2C7}"/>
              </a:ext>
            </a:extLst>
          </p:cNvPr>
          <p:cNvCxnSpPr>
            <a:cxnSpLocks/>
            <a:stCxn id="18" idx="4"/>
            <a:endCxn id="19" idx="1"/>
          </p:cNvCxnSpPr>
          <p:nvPr/>
        </p:nvCxnSpPr>
        <p:spPr>
          <a:xfrm flipV="1">
            <a:off x="3494396" y="4860459"/>
            <a:ext cx="465502"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Folded Corner 16">
            <a:extLst>
              <a:ext uri="{FF2B5EF4-FFF2-40B4-BE49-F238E27FC236}">
                <a16:creationId xmlns:a16="http://schemas.microsoft.com/office/drawing/2014/main" id="{F585E77E-E26C-4956-AFD3-6D4912D83CBB}"/>
              </a:ext>
            </a:extLst>
          </p:cNvPr>
          <p:cNvSpPr/>
          <p:nvPr/>
        </p:nvSpPr>
        <p:spPr bwMode="auto">
          <a:xfrm>
            <a:off x="4072338" y="2316124"/>
            <a:ext cx="1643221"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SalesOrder</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21" name="Connector: Elbow 20">
            <a:extLst>
              <a:ext uri="{FF2B5EF4-FFF2-40B4-BE49-F238E27FC236}">
                <a16:creationId xmlns:a16="http://schemas.microsoft.com/office/drawing/2014/main" id="{8FBEADED-1EE6-44B7-81DB-199082C12120}"/>
              </a:ext>
            </a:extLst>
          </p:cNvPr>
          <p:cNvCxnSpPr>
            <a:cxnSpLocks/>
            <a:stCxn id="3" idx="4"/>
            <a:endCxn id="17" idx="1"/>
          </p:cNvCxnSpPr>
          <p:nvPr/>
        </p:nvCxnSpPr>
        <p:spPr>
          <a:xfrm>
            <a:off x="3501502" y="2183915"/>
            <a:ext cx="570836" cy="450792"/>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7007635"/>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DB83-5980-4013-AE36-F66CE0A5AE1C}"/>
              </a:ext>
            </a:extLst>
          </p:cNvPr>
          <p:cNvSpPr>
            <a:spLocks noGrp="1"/>
          </p:cNvSpPr>
          <p:nvPr>
            <p:ph type="title"/>
          </p:nvPr>
        </p:nvSpPr>
        <p:spPr/>
        <p:txBody>
          <a:bodyPr/>
          <a:lstStyle/>
          <a:p>
            <a:r>
              <a:rPr lang="en-US" dirty="0"/>
              <a:t>Our final design, optimized!</a:t>
            </a:r>
          </a:p>
        </p:txBody>
      </p:sp>
      <p:sp>
        <p:nvSpPr>
          <p:cNvPr id="3" name="Cylinder 2">
            <a:extLst>
              <a:ext uri="{FF2B5EF4-FFF2-40B4-BE49-F238E27FC236}">
                <a16:creationId xmlns:a16="http://schemas.microsoft.com/office/drawing/2014/main" id="{9C44D0F7-E0F0-449F-98A0-62B3ADCAF6D9}"/>
              </a:ext>
            </a:extLst>
          </p:cNvPr>
          <p:cNvSpPr/>
          <p:nvPr/>
        </p:nvSpPr>
        <p:spPr bwMode="auto">
          <a:xfrm>
            <a:off x="2328919" y="1565350"/>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customers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customerId</a:t>
            </a:r>
            <a:endParaRPr lang="en-US" sz="2000" dirty="0">
              <a:solidFill>
                <a:schemeClr val="accent1">
                  <a:lumMod val="50000"/>
                </a:schemeClr>
              </a:solidFill>
              <a:ea typeface="Segoe UI" pitchFamily="34" charset="0"/>
              <a:cs typeface="Segoe UI" pitchFamily="34" charset="0"/>
            </a:endParaRPr>
          </a:p>
        </p:txBody>
      </p:sp>
      <p:sp>
        <p:nvSpPr>
          <p:cNvPr id="5" name="Rectangle: Folded Corner 4">
            <a:extLst>
              <a:ext uri="{FF2B5EF4-FFF2-40B4-BE49-F238E27FC236}">
                <a16:creationId xmlns:a16="http://schemas.microsoft.com/office/drawing/2014/main" id="{D58F2DE6-F476-4FCA-8319-DAC5B03DD353}"/>
              </a:ext>
            </a:extLst>
          </p:cNvPr>
          <p:cNvSpPr/>
          <p:nvPr/>
        </p:nvSpPr>
        <p:spPr bwMode="auto">
          <a:xfrm>
            <a:off x="4072338" y="1521313"/>
            <a:ext cx="1481296"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Customer</a:t>
            </a:r>
          </a:p>
        </p:txBody>
      </p:sp>
      <p:cxnSp>
        <p:nvCxnSpPr>
          <p:cNvPr id="7" name="Connector: Elbow 6">
            <a:extLst>
              <a:ext uri="{FF2B5EF4-FFF2-40B4-BE49-F238E27FC236}">
                <a16:creationId xmlns:a16="http://schemas.microsoft.com/office/drawing/2014/main" id="{0A737E56-79BF-4815-85AA-C1C48FC87C28}"/>
              </a:ext>
            </a:extLst>
          </p:cNvPr>
          <p:cNvCxnSpPr>
            <a:cxnSpLocks/>
            <a:stCxn id="3" idx="4"/>
            <a:endCxn id="5" idx="1"/>
          </p:cNvCxnSpPr>
          <p:nvPr/>
        </p:nvCxnSpPr>
        <p:spPr>
          <a:xfrm flipV="1">
            <a:off x="3501502" y="1839896"/>
            <a:ext cx="570836" cy="34401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Rectangle: Folded Corner 10">
            <a:extLst>
              <a:ext uri="{FF2B5EF4-FFF2-40B4-BE49-F238E27FC236}">
                <a16:creationId xmlns:a16="http://schemas.microsoft.com/office/drawing/2014/main" id="{F6291200-1BDD-4B24-A437-FF19805A08E1}"/>
              </a:ext>
            </a:extLst>
          </p:cNvPr>
          <p:cNvSpPr/>
          <p:nvPr/>
        </p:nvSpPr>
        <p:spPr bwMode="auto">
          <a:xfrm>
            <a:off x="8100190" y="3799413"/>
            <a:ext cx="2329021"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ProductCategory</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2" name="Connector: Elbow 11">
            <a:extLst>
              <a:ext uri="{FF2B5EF4-FFF2-40B4-BE49-F238E27FC236}">
                <a16:creationId xmlns:a16="http://schemas.microsoft.com/office/drawing/2014/main" id="{1A396FFD-2BAB-4580-82B0-552C16B2ECA8}"/>
              </a:ext>
            </a:extLst>
          </p:cNvPr>
          <p:cNvCxnSpPr>
            <a:cxnSpLocks/>
            <a:stCxn id="14" idx="4"/>
            <a:endCxn id="11" idx="1"/>
          </p:cNvCxnSpPr>
          <p:nvPr/>
        </p:nvCxnSpPr>
        <p:spPr>
          <a:xfrm>
            <a:off x="7634689" y="3681478"/>
            <a:ext cx="465501" cy="436518"/>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ylinder 13">
            <a:extLst>
              <a:ext uri="{FF2B5EF4-FFF2-40B4-BE49-F238E27FC236}">
                <a16:creationId xmlns:a16="http://schemas.microsoft.com/office/drawing/2014/main" id="{A7DC42F8-6C70-49AA-A709-ABC3DB57A259}"/>
              </a:ext>
            </a:extLst>
          </p:cNvPr>
          <p:cNvSpPr/>
          <p:nvPr/>
        </p:nvSpPr>
        <p:spPr bwMode="auto">
          <a:xfrm>
            <a:off x="6462106" y="3062913"/>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err="1">
                <a:solidFill>
                  <a:schemeClr val="accent1">
                    <a:lumMod val="50000"/>
                  </a:schemeClr>
                </a:solidFill>
                <a:ea typeface="Segoe UI" pitchFamily="34" charset="0"/>
                <a:cs typeface="Segoe UI" pitchFamily="34" charset="0"/>
              </a:rPr>
              <a:t>productMeta</a:t>
            </a:r>
            <a:endParaRPr lang="en-US" sz="2000" dirty="0">
              <a:solidFill>
                <a:schemeClr val="accent1">
                  <a:lumMod val="50000"/>
                </a:schemeClr>
              </a:solidFill>
              <a:ea typeface="Segoe UI" pitchFamily="34" charset="0"/>
              <a:cs typeface="Segoe UI" pitchFamily="34" charset="0"/>
            </a:endParaRP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type</a:t>
            </a:r>
          </a:p>
        </p:txBody>
      </p:sp>
      <p:sp>
        <p:nvSpPr>
          <p:cNvPr id="15" name="Rectangle: Folded Corner 14">
            <a:extLst>
              <a:ext uri="{FF2B5EF4-FFF2-40B4-BE49-F238E27FC236}">
                <a16:creationId xmlns:a16="http://schemas.microsoft.com/office/drawing/2014/main" id="{9B82218C-2D55-4FD8-A8BB-3910E2187F52}"/>
              </a:ext>
            </a:extLst>
          </p:cNvPr>
          <p:cNvSpPr/>
          <p:nvPr/>
        </p:nvSpPr>
        <p:spPr bwMode="auto">
          <a:xfrm>
            <a:off x="8100190" y="2953289"/>
            <a:ext cx="1643782"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ProductTag</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6" name="Connector: Elbow 15">
            <a:extLst>
              <a:ext uri="{FF2B5EF4-FFF2-40B4-BE49-F238E27FC236}">
                <a16:creationId xmlns:a16="http://schemas.microsoft.com/office/drawing/2014/main" id="{55E36FA4-4549-4BE5-B0BE-19CFAF7AD435}"/>
              </a:ext>
            </a:extLst>
          </p:cNvPr>
          <p:cNvCxnSpPr>
            <a:cxnSpLocks/>
            <a:stCxn id="14" idx="4"/>
            <a:endCxn id="15" idx="1"/>
          </p:cNvCxnSpPr>
          <p:nvPr/>
        </p:nvCxnSpPr>
        <p:spPr>
          <a:xfrm flipV="1">
            <a:off x="7634689" y="3271872"/>
            <a:ext cx="465501" cy="409606"/>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Cylinder 17">
            <a:extLst>
              <a:ext uri="{FF2B5EF4-FFF2-40B4-BE49-F238E27FC236}">
                <a16:creationId xmlns:a16="http://schemas.microsoft.com/office/drawing/2014/main" id="{438FD901-8B2C-4455-B9FA-CC0E649BDC09}"/>
              </a:ext>
            </a:extLst>
          </p:cNvPr>
          <p:cNvSpPr/>
          <p:nvPr/>
        </p:nvSpPr>
        <p:spPr bwMode="auto">
          <a:xfrm>
            <a:off x="2328919" y="4241893"/>
            <a:ext cx="1172583" cy="1237129"/>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8800"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products</a:t>
            </a:r>
          </a:p>
          <a:p>
            <a:pPr algn="ctr" defTabSz="932472" fontAlgn="base">
              <a:spcBef>
                <a:spcPct val="0"/>
              </a:spcBef>
              <a:spcAft>
                <a:spcPct val="0"/>
              </a:spcAft>
            </a:pPr>
            <a:r>
              <a:rPr lang="en-US" sz="2000" dirty="0">
                <a:solidFill>
                  <a:schemeClr val="accent1">
                    <a:lumMod val="50000"/>
                  </a:schemeClr>
                </a:solidFill>
                <a:ea typeface="Segoe UI" pitchFamily="34" charset="0"/>
                <a:cs typeface="Segoe UI" pitchFamily="34" charset="0"/>
              </a:rPr>
              <a:t>PK: </a:t>
            </a:r>
            <a:r>
              <a:rPr lang="en-US" sz="2000" dirty="0" err="1">
                <a:solidFill>
                  <a:schemeClr val="accent1">
                    <a:lumMod val="50000"/>
                  </a:schemeClr>
                </a:solidFill>
                <a:ea typeface="Segoe UI" pitchFamily="34" charset="0"/>
                <a:cs typeface="Segoe UI" pitchFamily="34" charset="0"/>
              </a:rPr>
              <a:t>categoryId</a:t>
            </a:r>
            <a:endParaRPr lang="en-US" sz="2000" dirty="0">
              <a:solidFill>
                <a:schemeClr val="accent1">
                  <a:lumMod val="50000"/>
                </a:schemeClr>
              </a:solidFill>
              <a:ea typeface="Segoe UI" pitchFamily="34" charset="0"/>
              <a:cs typeface="Segoe UI" pitchFamily="34" charset="0"/>
            </a:endParaRPr>
          </a:p>
        </p:txBody>
      </p:sp>
      <p:sp>
        <p:nvSpPr>
          <p:cNvPr id="19" name="Rectangle: Folded Corner 18">
            <a:extLst>
              <a:ext uri="{FF2B5EF4-FFF2-40B4-BE49-F238E27FC236}">
                <a16:creationId xmlns:a16="http://schemas.microsoft.com/office/drawing/2014/main" id="{BBF09B76-2798-4587-A450-DADD49AB73CA}"/>
              </a:ext>
            </a:extLst>
          </p:cNvPr>
          <p:cNvSpPr/>
          <p:nvPr/>
        </p:nvSpPr>
        <p:spPr bwMode="auto">
          <a:xfrm>
            <a:off x="3959898" y="4541876"/>
            <a:ext cx="1291357"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Product</a:t>
            </a:r>
          </a:p>
        </p:txBody>
      </p:sp>
      <p:cxnSp>
        <p:nvCxnSpPr>
          <p:cNvPr id="20" name="Connector: Elbow 19">
            <a:extLst>
              <a:ext uri="{FF2B5EF4-FFF2-40B4-BE49-F238E27FC236}">
                <a16:creationId xmlns:a16="http://schemas.microsoft.com/office/drawing/2014/main" id="{DA9F6317-27FE-4031-83C0-3BFD426FB2C7}"/>
              </a:ext>
            </a:extLst>
          </p:cNvPr>
          <p:cNvCxnSpPr>
            <a:cxnSpLocks/>
            <a:stCxn id="18" idx="4"/>
            <a:endCxn id="19" idx="1"/>
          </p:cNvCxnSpPr>
          <p:nvPr/>
        </p:nvCxnSpPr>
        <p:spPr>
          <a:xfrm>
            <a:off x="3501502" y="4860458"/>
            <a:ext cx="458396"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Folded Corner 16">
            <a:extLst>
              <a:ext uri="{FF2B5EF4-FFF2-40B4-BE49-F238E27FC236}">
                <a16:creationId xmlns:a16="http://schemas.microsoft.com/office/drawing/2014/main" id="{F585E77E-E26C-4956-AFD3-6D4912D83CBB}"/>
              </a:ext>
            </a:extLst>
          </p:cNvPr>
          <p:cNvSpPr/>
          <p:nvPr/>
        </p:nvSpPr>
        <p:spPr bwMode="auto">
          <a:xfrm>
            <a:off x="4072338" y="2316124"/>
            <a:ext cx="1643221" cy="63716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gradFill>
                  <a:gsLst>
                    <a:gs pos="0">
                      <a:srgbClr val="FFFFFF"/>
                    </a:gs>
                    <a:gs pos="100000">
                      <a:srgbClr val="FFFFFF"/>
                    </a:gs>
                  </a:gsLst>
                  <a:lin ang="5400000" scaled="0"/>
                </a:gradFill>
                <a:ea typeface="Segoe UI" pitchFamily="34" charset="0"/>
                <a:cs typeface="Segoe UI" pitchFamily="34" charset="0"/>
              </a:rPr>
              <a:t>SalesOrder</a:t>
            </a: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cxnSp>
        <p:nvCxnSpPr>
          <p:cNvPr id="21" name="Connector: Elbow 20">
            <a:extLst>
              <a:ext uri="{FF2B5EF4-FFF2-40B4-BE49-F238E27FC236}">
                <a16:creationId xmlns:a16="http://schemas.microsoft.com/office/drawing/2014/main" id="{8FBEADED-1EE6-44B7-81DB-199082C12120}"/>
              </a:ext>
            </a:extLst>
          </p:cNvPr>
          <p:cNvCxnSpPr>
            <a:cxnSpLocks/>
            <a:stCxn id="3" idx="4"/>
            <a:endCxn id="17" idx="1"/>
          </p:cNvCxnSpPr>
          <p:nvPr/>
        </p:nvCxnSpPr>
        <p:spPr>
          <a:xfrm>
            <a:off x="3501502" y="2183915"/>
            <a:ext cx="570836" cy="450792"/>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23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887B-2914-4B95-963F-04D44DD99B3C}"/>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9BFEA6B0-8863-4C82-B226-1800976B584A}"/>
              </a:ext>
            </a:extLst>
          </p:cNvPr>
          <p:cNvSpPr>
            <a:spLocks noGrp="1"/>
          </p:cNvSpPr>
          <p:nvPr>
            <p:ph sz="quarter" idx="10"/>
          </p:nvPr>
        </p:nvSpPr>
        <p:spPr>
          <a:xfrm>
            <a:off x="584200" y="1435100"/>
            <a:ext cx="11018838" cy="5084469"/>
          </a:xfrm>
        </p:spPr>
        <p:txBody>
          <a:bodyPr/>
          <a:lstStyle/>
          <a:p>
            <a:r>
              <a:rPr lang="en-US" dirty="0"/>
              <a:t>Identify key access patterns and design for them</a:t>
            </a:r>
          </a:p>
          <a:p>
            <a:pPr lvl="1"/>
            <a:endParaRPr lang="en-US" dirty="0"/>
          </a:p>
          <a:p>
            <a:r>
              <a:rPr lang="en-US" dirty="0"/>
              <a:t>Partitioning is critical for best performance and scalability</a:t>
            </a:r>
          </a:p>
          <a:p>
            <a:pPr lvl="1"/>
            <a:endParaRPr lang="en-US" dirty="0"/>
          </a:p>
          <a:p>
            <a:r>
              <a:rPr lang="en-US" dirty="0"/>
              <a:t>Materialize relations between entities by:</a:t>
            </a:r>
          </a:p>
          <a:p>
            <a:pPr lvl="1"/>
            <a:r>
              <a:rPr lang="en-US" dirty="0"/>
              <a:t>Embedding</a:t>
            </a:r>
          </a:p>
          <a:p>
            <a:pPr lvl="1"/>
            <a:r>
              <a:rPr lang="en-US" dirty="0" err="1"/>
              <a:t>Denormalizing</a:t>
            </a:r>
            <a:r>
              <a:rPr lang="en-US" dirty="0"/>
              <a:t> and pre-aggregating</a:t>
            </a:r>
          </a:p>
          <a:p>
            <a:pPr lvl="1"/>
            <a:r>
              <a:rPr lang="en-US" dirty="0"/>
              <a:t>Storing related entities in the same container</a:t>
            </a:r>
          </a:p>
          <a:p>
            <a:pPr lvl="1"/>
            <a:endParaRPr lang="en-US" dirty="0"/>
          </a:p>
          <a:p>
            <a:r>
              <a:rPr lang="en-US" dirty="0"/>
              <a:t>Different methods to implement denormalization</a:t>
            </a:r>
          </a:p>
          <a:p>
            <a:pPr lvl="1"/>
            <a:r>
              <a:rPr lang="en-US" dirty="0"/>
              <a:t>Using the change feed</a:t>
            </a:r>
          </a:p>
          <a:p>
            <a:pPr lvl="1"/>
            <a:r>
              <a:rPr lang="en-US" dirty="0"/>
              <a:t>Using stored procedures</a:t>
            </a:r>
          </a:p>
        </p:txBody>
      </p:sp>
    </p:spTree>
    <p:extLst>
      <p:ext uri="{BB962C8B-B14F-4D97-AF65-F5344CB8AC3E}">
        <p14:creationId xmlns:p14="http://schemas.microsoft.com/office/powerpoint/2010/main" val="300353411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F17D-113E-4176-A438-F7CF73DD54DB}"/>
              </a:ext>
            </a:extLst>
          </p:cNvPr>
          <p:cNvSpPr>
            <a:spLocks noGrp="1"/>
          </p:cNvSpPr>
          <p:nvPr>
            <p:ph type="title"/>
          </p:nvPr>
        </p:nvSpPr>
        <p:spPr/>
        <p:txBody>
          <a:bodyPr/>
          <a:lstStyle/>
          <a:p>
            <a:r>
              <a:rPr lang="en-US" dirty="0"/>
              <a:t>Going further</a:t>
            </a:r>
          </a:p>
        </p:txBody>
      </p:sp>
      <p:sp>
        <p:nvSpPr>
          <p:cNvPr id="3" name="Content Placeholder 2">
            <a:extLst>
              <a:ext uri="{FF2B5EF4-FFF2-40B4-BE49-F238E27FC236}">
                <a16:creationId xmlns:a16="http://schemas.microsoft.com/office/drawing/2014/main" id="{69D8D50B-2C32-4E85-BFCF-6000BC6EF800}"/>
              </a:ext>
            </a:extLst>
          </p:cNvPr>
          <p:cNvSpPr>
            <a:spLocks noGrp="1"/>
          </p:cNvSpPr>
          <p:nvPr>
            <p:ph sz="quarter" idx="10"/>
          </p:nvPr>
        </p:nvSpPr>
        <p:spPr>
          <a:xfrm>
            <a:off x="584200" y="1435100"/>
            <a:ext cx="11018838" cy="1982081"/>
          </a:xfrm>
        </p:spPr>
        <p:txBody>
          <a:bodyPr/>
          <a:lstStyle/>
          <a:p>
            <a:r>
              <a:rPr lang="en-US" dirty="0">
                <a:hlinkClick r:id="rId2"/>
              </a:rPr>
              <a:t>aka.ms/</a:t>
            </a:r>
            <a:r>
              <a:rPr lang="en-US" dirty="0" err="1">
                <a:hlinkClick r:id="rId2"/>
              </a:rPr>
              <a:t>PracticalCosmosDB</a:t>
            </a:r>
            <a:endParaRPr lang="en-US" dirty="0"/>
          </a:p>
          <a:p>
            <a:endParaRPr lang="en-US" dirty="0"/>
          </a:p>
          <a:p>
            <a:r>
              <a:rPr lang="en-US" dirty="0">
                <a:hlinkClick r:id="rId3"/>
              </a:rPr>
              <a:t>azurecosmosdb.com</a:t>
            </a:r>
            <a:endParaRPr lang="en-US" dirty="0"/>
          </a:p>
          <a:p>
            <a:pPr marL="0" indent="0">
              <a:buNone/>
            </a:pPr>
            <a:endParaRPr lang="en-US" dirty="0"/>
          </a:p>
        </p:txBody>
      </p:sp>
    </p:spTree>
    <p:extLst>
      <p:ext uri="{BB962C8B-B14F-4D97-AF65-F5344CB8AC3E}">
        <p14:creationId xmlns:p14="http://schemas.microsoft.com/office/powerpoint/2010/main" val="3654346175"/>
      </p:ext>
    </p:extLst>
  </p:cSld>
  <p:clrMapOvr>
    <a:masterClrMapping/>
  </p:clrMapOvr>
  <p:transition>
    <p:fade/>
  </p:transition>
</p:sld>
</file>

<file path=ppt/theme/theme1.xml><?xml version="1.0" encoding="utf-8"?>
<a:theme xmlns:a="http://schemas.openxmlformats.org/drawingml/2006/main" name="White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9_16x9_Breakout_Template  -  Read-Only" id="{A7B72E17-54BE-42A6-A53A-1279FA83BD10}" vid="{4E284496-52C1-405F-ADD9-D60704CD916A}"/>
    </a:ext>
  </a:extLst>
</a:theme>
</file>

<file path=ppt/theme/theme2.xml><?xml version="1.0" encoding="utf-8"?>
<a:theme xmlns:a="http://schemas.openxmlformats.org/drawingml/2006/main" name="Light Gray Template">
  <a:themeElements>
    <a:clrScheme name="Ignite Breakout - Blue on white and light gray">
      <a:dk1>
        <a:srgbClr val="000000"/>
      </a:dk1>
      <a:lt1>
        <a:srgbClr val="FFFFFF"/>
      </a:lt1>
      <a:dk2>
        <a:srgbClr val="2F2F2F"/>
      </a:dk2>
      <a:lt2>
        <a:srgbClr val="E6E6E6"/>
      </a:lt2>
      <a:accent1>
        <a:srgbClr val="0078D4"/>
      </a:accent1>
      <a:accent2>
        <a:srgbClr val="243A5E"/>
      </a:accent2>
      <a:accent3>
        <a:srgbClr val="D83B01"/>
      </a:accent3>
      <a:accent4>
        <a:srgbClr val="FFB900"/>
      </a:accent4>
      <a:accent5>
        <a:srgbClr val="2F2F2F"/>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9_16x9_Breakout_Template  -  Read-Only" id="{A7B72E17-54BE-42A6-A53A-1279FA83BD10}" vid="{804E87B5-964F-4102-82DD-5C9EFA26887B}"/>
    </a:ext>
  </a:extLst>
</a:theme>
</file>

<file path=ppt/theme/theme3.xml><?xml version="1.0" encoding="utf-8"?>
<a:theme xmlns:a="http://schemas.openxmlformats.org/drawingml/2006/main" name="Black Template">
  <a:themeElements>
    <a:clrScheme name="Ignite Breakout on Black">
      <a:dk1>
        <a:srgbClr val="000000"/>
      </a:dk1>
      <a:lt1>
        <a:srgbClr val="FFFFFF"/>
      </a:lt1>
      <a:dk2>
        <a:srgbClr val="2F2F2F"/>
      </a:dk2>
      <a:lt2>
        <a:srgbClr val="E6E6E6"/>
      </a:lt2>
      <a:accent1>
        <a:srgbClr val="0078D4"/>
      </a:accent1>
      <a:accent2>
        <a:srgbClr val="50E6FF"/>
      </a:accent2>
      <a:accent3>
        <a:srgbClr val="D83B01"/>
      </a:accent3>
      <a:accent4>
        <a:srgbClr val="FFB900"/>
      </a:accent4>
      <a:accent5>
        <a:srgbClr val="737373"/>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9_16x9_Breakout_Template  -  Read-Only" id="{A7B72E17-54BE-42A6-A53A-1279FA83BD10}" vid="{61D7B962-622B-4DC8-9E08-BFEB6217D16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CEDE44D140AD408AAE9C3C2BA907F6" ma:contentTypeVersion="9" ma:contentTypeDescription="Create a new document." ma:contentTypeScope="" ma:versionID="9ff2182d2a32623fcb58d3505fe68171">
  <xsd:schema xmlns:xsd="http://www.w3.org/2001/XMLSchema" xmlns:xs="http://www.w3.org/2001/XMLSchema" xmlns:p="http://schemas.microsoft.com/office/2006/metadata/properties" xmlns:ns1="http://schemas.microsoft.com/sharepoint/v3" xmlns:ns2="f956ba2b-0937-4629-87c2-9b462334c3bf" xmlns:ns3="2c9c91a7-8fee-4387-a1d8-c73c1b8dcfb3" targetNamespace="http://schemas.microsoft.com/office/2006/metadata/properties" ma:root="true" ma:fieldsID="acfc78bf32af56642788ac7b69b396d5" ns1:_="" ns2:_="" ns3:_="">
    <xsd:import namespace="http://schemas.microsoft.com/sharepoint/v3"/>
    <xsd:import namespace="f956ba2b-0937-4629-87c2-9b462334c3bf"/>
    <xsd:import namespace="2c9c91a7-8fee-4387-a1d8-c73c1b8dcfb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DocTags"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56ba2b-0937-4629-87c2-9b462334c3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ocTags" ma:index="13" nillable="true" ma:displayName="MediaServiceDocTags" ma:hidden="true" ma:internalName="MediaServiceDocTag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c9c91a7-8fee-4387-a1d8-c73c1b8dcfb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purl.org/dc/elements/1.1/"/>
    <ds:schemaRef ds:uri="http://schemas.microsoft.com/office/2006/metadata/properties"/>
    <ds:schemaRef ds:uri="http://www.w3.org/XML/1998/namespace"/>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25d45fad-752f-4e10-a5e2-60d3ff5a876f"/>
    <ds:schemaRef ds:uri="17e5faa5-8919-480b-a1bf-168c14aff159"/>
    <ds:schemaRef ds:uri="http://purl.org/dc/terms/"/>
    <ds:schemaRef ds:uri="http://schemas.microsoft.com/sharepoint/v3"/>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9DEE0600-212B-44B9-A589-9E35956526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956ba2b-0937-4629-87c2-9b462334c3bf"/>
    <ds:schemaRef ds:uri="2c9c91a7-8fee-4387-a1d8-c73c1b8dcf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Microsoft_Ignite_2019_16x9_Breakout_Template</Template>
  <TotalTime>6684</TotalTime>
  <Words>12505</Words>
  <Application>Microsoft Office PowerPoint</Application>
  <PresentationFormat>Widescreen</PresentationFormat>
  <Paragraphs>1266</Paragraphs>
  <Slides>76</Slides>
  <Notes>70</Notes>
  <HiddenSlides>1</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76</vt:i4>
      </vt:variant>
    </vt:vector>
  </HeadingPairs>
  <TitlesOfParts>
    <vt:vector size="85" baseType="lpstr">
      <vt:lpstr>Arial</vt:lpstr>
      <vt:lpstr>Consolas</vt:lpstr>
      <vt:lpstr>Segoe UI</vt:lpstr>
      <vt:lpstr>Segoe UI Semibold</vt:lpstr>
      <vt:lpstr>Segoe UI Semilight</vt:lpstr>
      <vt:lpstr>Wingdings</vt:lpstr>
      <vt:lpstr>White Template</vt:lpstr>
      <vt:lpstr>Light Gray Template</vt:lpstr>
      <vt:lpstr>Black Template</vt:lpstr>
      <vt:lpstr>Session's objectives</vt:lpstr>
      <vt:lpstr>What is Azure Cosmos DB?</vt:lpstr>
      <vt:lpstr>What is Azure Cosmos DB?</vt:lpstr>
      <vt:lpstr>What is Azure Cosmos DB?</vt:lpstr>
      <vt:lpstr>What is Azure Cosmos DB?</vt:lpstr>
      <vt:lpstr>So is Azure Cosmos DB suitable for relational workloads?</vt:lpstr>
      <vt:lpstr>Let's look at a concrete example</vt:lpstr>
      <vt:lpstr>Identifying the operations we have to serve</vt:lpstr>
      <vt:lpstr>Now let's implement this model on Azure Cosmos DB!</vt:lpstr>
      <vt:lpstr>Starting with the Customer entity</vt:lpstr>
      <vt:lpstr>Starting with the Customer entity</vt:lpstr>
      <vt:lpstr>To embed or to reference?</vt:lpstr>
      <vt:lpstr>To embed or to reference?</vt:lpstr>
      <vt:lpstr>Our first entity: Customer</vt:lpstr>
      <vt:lpstr>Customer</vt:lpstr>
      <vt:lpstr>What is partitioning?</vt:lpstr>
      <vt:lpstr>What is partitioning?</vt:lpstr>
      <vt:lpstr>What is partitioning?</vt:lpstr>
      <vt:lpstr>What is partitioning?</vt:lpstr>
      <vt:lpstr>What is partitioning?</vt:lpstr>
      <vt:lpstr>What is partitioning?</vt:lpstr>
      <vt:lpstr>What is partitioning?</vt:lpstr>
      <vt:lpstr>What is partitioning?</vt:lpstr>
      <vt:lpstr>What is partitioning?</vt:lpstr>
      <vt:lpstr>Choosing a partition key for customers</vt:lpstr>
      <vt:lpstr>Choosing a partition key for customers</vt:lpstr>
      <vt:lpstr>Choosing a partition key for customers</vt:lpstr>
      <vt:lpstr>Choosing a partition key for customers</vt:lpstr>
      <vt:lpstr>Next: product categories</vt:lpstr>
      <vt:lpstr>Product categories</vt:lpstr>
      <vt:lpstr>Product categories</vt:lpstr>
      <vt:lpstr>Product categories</vt:lpstr>
      <vt:lpstr>Product categories</vt:lpstr>
      <vt:lpstr>Next: product tags</vt:lpstr>
      <vt:lpstr>Product tags</vt:lpstr>
      <vt:lpstr>Product tags</vt:lpstr>
      <vt:lpstr>Product tags</vt:lpstr>
      <vt:lpstr>Product tags</vt:lpstr>
      <vt:lpstr>Next: products</vt:lpstr>
      <vt:lpstr>Products</vt:lpstr>
      <vt:lpstr>Products</vt:lpstr>
      <vt:lpstr>Products</vt:lpstr>
      <vt:lpstr>Products</vt:lpstr>
      <vt:lpstr>Products</vt:lpstr>
      <vt:lpstr>Products: how to return category and tag names?</vt:lpstr>
      <vt:lpstr>Introducing denormalization</vt:lpstr>
      <vt:lpstr>Products: denormalizing category and tag names</vt:lpstr>
      <vt:lpstr>Products: keeping everything in sync</vt:lpstr>
      <vt:lpstr>Cosmos DB's change feed</vt:lpstr>
      <vt:lpstr>Products: keeping everything in sync</vt:lpstr>
      <vt:lpstr>Next: sales orders</vt:lpstr>
      <vt:lpstr>Sales orders</vt:lpstr>
      <vt:lpstr>Sales orders</vt:lpstr>
      <vt:lpstr>Sales orders</vt:lpstr>
      <vt:lpstr>Sales orders</vt:lpstr>
      <vt:lpstr>Sales orders</vt:lpstr>
      <vt:lpstr>Sales orders</vt:lpstr>
      <vt:lpstr>Sales orders</vt:lpstr>
      <vt:lpstr>Mixing entities in the same container?</vt:lpstr>
      <vt:lpstr>Sales orders</vt:lpstr>
      <vt:lpstr>Sales orders: mixing with customers</vt:lpstr>
      <vt:lpstr>Sales orders: mixing with customers</vt:lpstr>
      <vt:lpstr>Sales orders: mixing with customers</vt:lpstr>
      <vt:lpstr>Sales orders: mixing with customers</vt:lpstr>
      <vt:lpstr>Sales orders</vt:lpstr>
      <vt:lpstr>Sales orders</vt:lpstr>
      <vt:lpstr>Denormalizing the count of sales orders per customer</vt:lpstr>
      <vt:lpstr>Denormalizing the count of sales orders per customer</vt:lpstr>
      <vt:lpstr>Denormalizing the count of sales orders per customer</vt:lpstr>
      <vt:lpstr>Denormalizing the count of sales orders per customer</vt:lpstr>
      <vt:lpstr>Denormalizing the count of sales orders per customer</vt:lpstr>
      <vt:lpstr>Sales orders</vt:lpstr>
      <vt:lpstr>Our final design</vt:lpstr>
      <vt:lpstr>Our final design, optimized!</vt:lpstr>
      <vt:lpstr>Key takeaways</vt:lpstr>
      <vt:lpstr>Going further</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101 for relational developers</dc:title>
  <dc:subject>Microsoft Ignite 2019</dc:subject>
  <dc:creator>Brieanne Vanderpool</dc:creator>
  <cp:keywords>Microsoft Ignite 2019</cp:keywords>
  <dc:description/>
  <cp:lastModifiedBy>Peter Lee (CSA)</cp:lastModifiedBy>
  <cp:revision>7</cp:revision>
  <dcterms:created xsi:type="dcterms:W3CDTF">2019-08-26T20:18:51Z</dcterms:created>
  <dcterms:modified xsi:type="dcterms:W3CDTF">2025-12-09T13:37:28Z</dcterms:modified>
  <cp:category>Microsoft Ignite 2019</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0x0101000BCEDE44D140AD408AAE9C3C2BA907F6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TaxKeyword">
    <vt:lpwstr>3435;#Microsoft Ignite 2019|cd3dfa97-b855-4c56-b74a-7fb402ddab1a</vt:lpwstr>
  </property>
  <property fmtid="{D5CDD505-2E9C-101B-9397-08002B2CF9AE}" pid="21" name="_dlc_policyId">
    <vt:lpwstr>0x0101000E4CB7077FEE4FF7AE86D4A500EEC780030016C849C62B10EB41ACA8C7EEDEF40BB20099ECF64382448D48A56095091C66B1A9|-661092312</vt:lpwstr>
  </property>
  <property fmtid="{D5CDD505-2E9C-101B-9397-08002B2CF9AE}" pid="22" name="Confidentiality">
    <vt:lpwstr>14;#customer ready|8986c41d-21c5-4f8f-8a12-ea4625b46858</vt:lpwstr>
  </property>
  <property fmtid="{D5CDD505-2E9C-101B-9397-08002B2CF9AE}" pid="23" name="ItemRetentionFormula">
    <vt:lpwstr>&lt;formula id="Microsoft.Office.RecordsManagement.PolicyFeatures.Expiration.Formula.BuiltIn"&gt;&lt;number&gt;0&lt;/number&gt;&lt;property&gt;Expire_x005f_x0020_Review&lt;/property&gt;&lt;propertyId&gt;4efb7b69-53dd-4711-a372-96a7c80c7a38&lt;/propertyId&gt;&lt;period&gt;days&lt;/period&gt;&lt;/formula&gt;</vt:lpwstr>
  </property>
  <property fmtid="{D5CDD505-2E9C-101B-9397-08002B2CF9AE}" pid="24" name="_dlc_DocIdItemGuid">
    <vt:lpwstr>3a27f9f1-7dad-47f7-8f73-0aada612a835</vt:lpwstr>
  </property>
  <property fmtid="{D5CDD505-2E9C-101B-9397-08002B2CF9AE}" pid="25" name="NewsType">
    <vt:lpwstr/>
  </property>
  <property fmtid="{D5CDD505-2E9C-101B-9397-08002B2CF9AE}" pid="26" name="Region">
    <vt:lpwstr/>
  </property>
  <property fmtid="{D5CDD505-2E9C-101B-9397-08002B2CF9AE}" pid="27" name="ItemType">
    <vt:lpwstr/>
  </property>
  <property fmtid="{D5CDD505-2E9C-101B-9397-08002B2CF9AE}" pid="28" name="MSProducts">
    <vt:lpwstr/>
  </property>
  <property fmtid="{D5CDD505-2E9C-101B-9397-08002B2CF9AE}" pid="29" name="Industries">
    <vt:lpwstr/>
  </property>
  <property fmtid="{D5CDD505-2E9C-101B-9397-08002B2CF9AE}" pid="30" name="Competitors">
    <vt:lpwstr/>
  </property>
  <property fmtid="{D5CDD505-2E9C-101B-9397-08002B2CF9AE}" pid="31" name="ExperienceContentType">
    <vt:lpwstr/>
  </property>
  <property fmtid="{D5CDD505-2E9C-101B-9397-08002B2CF9AE}" pid="32" name="SMSGDomain">
    <vt:lpwstr>21;#Intelligent Cloud|adc2fe87-c79a-4ded-a449-3f86b954069d;#82;# SQL Server Domain|0c0f1824-39dc-4b26-8c74-eff4364b812b</vt:lpwstr>
  </property>
  <property fmtid="{D5CDD505-2E9C-101B-9397-08002B2CF9AE}" pid="33" name="BusinessArchitecture">
    <vt:lpwstr/>
  </property>
  <property fmtid="{D5CDD505-2E9C-101B-9397-08002B2CF9AE}" pid="34" name="Products">
    <vt:lpwstr>91;#Azure SQL Database|e2ac9bca-9ffe-4e7a-8714-5d25e4b5b24a;#73;# SQL Server|261ba873-f3ab-420e-96d6-e3004596a551</vt:lpwstr>
  </property>
  <property fmtid="{D5CDD505-2E9C-101B-9397-08002B2CF9AE}" pid="35" name="l6f004f21209409da86a713c0f24627d">
    <vt:lpwstr/>
  </property>
  <property fmtid="{D5CDD505-2E9C-101B-9397-08002B2CF9AE}" pid="36" name="MSProductsTaxHTField0">
    <vt:lpwstr/>
  </property>
  <property fmtid="{D5CDD505-2E9C-101B-9397-08002B2CF9AE}" pid="37" name="e8080b0481964c759b2c36ae49591b31">
    <vt:lpwstr/>
  </property>
  <property fmtid="{D5CDD505-2E9C-101B-9397-08002B2CF9AE}" pid="38" name="TechnicalLevel">
    <vt:lpwstr>3066;#100 (beginner)|7d022d07-ff67-4af8-910d-8ea6b46b5908</vt:lpwstr>
  </property>
  <property fmtid="{D5CDD505-2E9C-101B-9397-08002B2CF9AE}" pid="39" name="SMSG Items">
    <vt:lpwstr>3091;#documents|e037ed84-7d8e-4cbb-9c8f-61e80301a44f</vt:lpwstr>
  </property>
  <property fmtid="{D5CDD505-2E9C-101B-9397-08002B2CF9AE}" pid="40" name="Audiences">
    <vt:lpwstr/>
  </property>
  <property fmtid="{D5CDD505-2E9C-101B-9397-08002B2CF9AE}" pid="41" name="ldac8aee9d1f469e8cd8c3f8d6a615f2">
    <vt:lpwstr/>
  </property>
  <property fmtid="{D5CDD505-2E9C-101B-9397-08002B2CF9AE}" pid="42" name="Solution Areas">
    <vt:lpwstr>3478;#Data and AI|60d86926-9fc6-4873-ad19-e15bf82160d7</vt:lpwstr>
  </property>
  <property fmtid="{D5CDD505-2E9C-101B-9397-08002B2CF9AE}" pid="43" name="EmployeeRole">
    <vt:lpwstr/>
  </property>
  <property fmtid="{D5CDD505-2E9C-101B-9397-08002B2CF9AE}" pid="44" name="NewsTopic">
    <vt:lpwstr/>
  </property>
  <property fmtid="{D5CDD505-2E9C-101B-9397-08002B2CF9AE}" pid="45" name="Roles">
    <vt:lpwstr/>
  </property>
  <property fmtid="{D5CDD505-2E9C-101B-9397-08002B2CF9AE}" pid="46" name="MSProfessions">
    <vt:lpwstr>3094;#Sales|72627068-acd7-4c1a-8b95-a0256be5dc9f;#3100;# Marketing|6bac43fe-835f-4207-8dba-9b6899aa3139</vt:lpwstr>
  </property>
  <property fmtid="{D5CDD505-2E9C-101B-9397-08002B2CF9AE}" pid="47" name="NewsSource">
    <vt:lpwstr/>
  </property>
  <property fmtid="{D5CDD505-2E9C-101B-9397-08002B2CF9AE}" pid="48" name="SMSGTags">
    <vt:lpwstr/>
  </property>
  <property fmtid="{D5CDD505-2E9C-101B-9397-08002B2CF9AE}" pid="49" name="MSPhysicalGeography">
    <vt:lpwstr/>
  </property>
  <property fmtid="{D5CDD505-2E9C-101B-9397-08002B2CF9AE}" pid="50" name="j3562c58ee414e028925bc902cfc01a1">
    <vt:lpwstr/>
  </property>
  <property fmtid="{D5CDD505-2E9C-101B-9397-08002B2CF9AE}" pid="51" name="EnterpriseDomainTags">
    <vt:lpwstr/>
  </property>
  <property fmtid="{D5CDD505-2E9C-101B-9397-08002B2CF9AE}" pid="52" name="la4444b61d19467597d63190b69ac227">
    <vt:lpwstr/>
  </property>
  <property fmtid="{D5CDD505-2E9C-101B-9397-08002B2CF9AE}" pid="53" name="ActivitiesAndPrograms">
    <vt:lpwstr/>
  </property>
  <property fmtid="{D5CDD505-2E9C-101B-9397-08002B2CF9AE}" pid="54" name="Partners">
    <vt:lpwstr/>
  </property>
  <property fmtid="{D5CDD505-2E9C-101B-9397-08002B2CF9AE}" pid="55" name="Segments">
    <vt:lpwstr/>
  </property>
  <property fmtid="{D5CDD505-2E9C-101B-9397-08002B2CF9AE}" pid="56" name="Topics">
    <vt:lpwstr/>
  </property>
  <property fmtid="{D5CDD505-2E9C-101B-9397-08002B2CF9AE}" pid="57" name="Groups">
    <vt:lpwstr/>
  </property>
  <property fmtid="{D5CDD505-2E9C-101B-9397-08002B2CF9AE}" pid="58" name="Languages">
    <vt:lpwstr/>
  </property>
  <property fmtid="{D5CDD505-2E9C-101B-9397-08002B2CF9AE}" pid="59" name="of67e5d4b76f4a9db8769983fda9cec0">
    <vt:lpwstr/>
  </property>
  <property fmtid="{D5CDD505-2E9C-101B-9397-08002B2CF9AE}" pid="60" name="_docset_NoMedatataSyncRequired">
    <vt:lpwstr>False</vt:lpwstr>
  </property>
</Properties>
</file>